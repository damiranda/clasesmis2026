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390" r:id="rId2"/>
    <p:sldId id="329" r:id="rId3"/>
    <p:sldId id="376" r:id="rId4"/>
    <p:sldId id="428" r:id="rId5"/>
    <p:sldId id="431" r:id="rId6"/>
    <p:sldId id="432" r:id="rId7"/>
    <p:sldId id="433" r:id="rId8"/>
    <p:sldId id="434" r:id="rId9"/>
    <p:sldId id="436" r:id="rId10"/>
    <p:sldId id="438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291" r:id="rId24"/>
    <p:sldId id="455" r:id="rId25"/>
    <p:sldId id="456" r:id="rId26"/>
    <p:sldId id="457" r:id="rId27"/>
    <p:sldId id="458" r:id="rId28"/>
    <p:sldId id="459" r:id="rId29"/>
    <p:sldId id="460" r:id="rId30"/>
    <p:sldId id="470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917" r:id="rId40"/>
    <p:sldId id="259" r:id="rId41"/>
    <p:sldId id="907" r:id="rId42"/>
    <p:sldId id="908" r:id="rId43"/>
    <p:sldId id="909" r:id="rId44"/>
    <p:sldId id="910" r:id="rId45"/>
    <p:sldId id="911" r:id="rId46"/>
    <p:sldId id="912" r:id="rId47"/>
    <p:sldId id="913" r:id="rId48"/>
    <p:sldId id="914" r:id="rId49"/>
    <p:sldId id="916" r:id="rId50"/>
    <p:sldId id="920" r:id="rId51"/>
    <p:sldId id="257" r:id="rId52"/>
    <p:sldId id="258" r:id="rId53"/>
    <p:sldId id="921" r:id="rId54"/>
    <p:sldId id="260" r:id="rId55"/>
    <p:sldId id="261" r:id="rId56"/>
    <p:sldId id="262" r:id="rId57"/>
    <p:sldId id="263" r:id="rId58"/>
    <p:sldId id="266" r:id="rId59"/>
    <p:sldId id="267" r:id="rId60"/>
    <p:sldId id="268" r:id="rId61"/>
    <p:sldId id="923" r:id="rId62"/>
    <p:sldId id="924" r:id="rId63"/>
    <p:sldId id="269" r:id="rId64"/>
    <p:sldId id="922" r:id="rId65"/>
    <p:sldId id="271" r:id="rId66"/>
    <p:sldId id="277" r:id="rId67"/>
    <p:sldId id="309" r:id="rId68"/>
    <p:sldId id="279" r:id="rId69"/>
    <p:sldId id="283" r:id="rId70"/>
    <p:sldId id="284" r:id="rId71"/>
    <p:sldId id="310" r:id="rId72"/>
    <p:sldId id="286" r:id="rId73"/>
    <p:sldId id="287" r:id="rId74"/>
    <p:sldId id="288" r:id="rId75"/>
    <p:sldId id="290" r:id="rId76"/>
    <p:sldId id="918" r:id="rId77"/>
    <p:sldId id="292" r:id="rId78"/>
    <p:sldId id="293" r:id="rId79"/>
    <p:sldId id="294" r:id="rId80"/>
    <p:sldId id="295" r:id="rId81"/>
    <p:sldId id="296" r:id="rId82"/>
    <p:sldId id="297" r:id="rId83"/>
    <p:sldId id="298" r:id="rId84"/>
    <p:sldId id="299" r:id="rId85"/>
    <p:sldId id="300" r:id="rId86"/>
    <p:sldId id="301" r:id="rId87"/>
    <p:sldId id="302" r:id="rId88"/>
    <p:sldId id="303" r:id="rId89"/>
    <p:sldId id="586" r:id="rId90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5"/>
    <p:restoredTop sz="95865"/>
  </p:normalViewPr>
  <p:slideViewPr>
    <p:cSldViewPr snapToGrid="0">
      <p:cViewPr varScale="1">
        <p:scale>
          <a:sx n="71" d="100"/>
          <a:sy n="71" d="100"/>
        </p:scale>
        <p:origin x="17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414EE-CED3-CE4F-A076-F257BBF9AA1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D679D-FB5E-0941-81D5-44C3FB9CB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95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2244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623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744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0219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9645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4112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2680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9299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580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7561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021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297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6627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3888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9674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6578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7948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85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0183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86847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6590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¿Cuándo</a:t>
            </a:r>
            <a:r>
              <a:rPr lang="es-ES" baseline="0" dirty="0"/>
              <a:t> algo / alguien es confiable?</a:t>
            </a:r>
          </a:p>
          <a:p>
            <a:r>
              <a:rPr lang="es-ES" baseline="0" dirty="0"/>
              <a:t>¿Cuándo algo / alguien no es confiable?</a:t>
            </a:r>
          </a:p>
          <a:p>
            <a:endParaRPr lang="es-ES" baseline="0" dirty="0"/>
          </a:p>
          <a:p>
            <a:r>
              <a:rPr lang="es-ES" baseline="0" dirty="0"/>
              <a:t>¿Cuándo una medición es confiable?</a:t>
            </a:r>
          </a:p>
          <a:p>
            <a:endParaRPr lang="es-ES" baseline="0" dirty="0"/>
          </a:p>
          <a:p>
            <a:r>
              <a:rPr lang="es-ES" baseline="0" dirty="0"/>
              <a:t>Mientras mayor es la proporción de la varianza atribuida a varianza verdadera, más confiable es el test</a:t>
            </a: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1C22-7912-4C5B-9E53-7E97D32A1DCB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6874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784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553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074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681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95929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29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1584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42425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24806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8812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73795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61212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78758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50440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87884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26742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49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65095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f4f7a734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f4f7a734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5208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ecd9237362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ecd9237362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9166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C5D09-F2A9-4E8D-856E-24C53D26152D}" type="slidenum">
              <a:rPr lang="es-CL" smtClean="0"/>
              <a:t>77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058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F16E-C07F-7155-82D7-4640E4995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707C6-0DD0-9B89-E2C2-C137CE89E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7435-00E4-3AA4-F1EF-16E72F54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B5B29-8E53-A36F-4C8B-958457AD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E5096-751D-3475-34D0-4F4A0BB9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E678-2B21-499D-7FEF-5C05FC4D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6D835-D97A-AC3F-D47C-3165626D4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EB09-C05A-54E8-E24F-3DBC88C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F9AC-B963-F3E8-6CDC-30A008F0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05E70-E5EB-C0DA-112D-6643D368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5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057E-DAD7-43D6-89A1-6BB80FCE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A2048-4C32-9E16-2D32-D081BDFE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C299-FAF8-625C-B0B3-147D3642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D220E-662E-E843-8424-7619D0E0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4CED8-FECC-7F52-DD3E-7364C7CE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1BE7-A488-AF17-EBB4-AFA3A4F6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2CC9-6AD1-1CD4-7D84-DF0A78DFF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F7A32-8889-8315-7190-AE3E4D716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B4E1E-EA27-10C8-34AD-A66B9F77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4D9C-B818-0BA6-E3BC-CECD07A4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04972-02EA-C94A-338C-CE6880A5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0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C151-5751-3ECD-D7CA-81EACA5F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7C83A-BECF-6C2D-1CDD-530147BE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2526F-2C0A-B400-4DBE-AC3BC23AD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D0C9B-8E7C-47A2-DD8A-E4B944F54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E992A-5DCD-28E3-9138-7944A515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7982-0AFF-25CC-BCF7-B08235FF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99817-227F-52DE-CE63-97BFE90F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62DAA-6F50-0BA7-7E91-816E91D2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5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6126-9FAC-1C32-9E23-1F3A8F36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E4E39-44E9-DD2C-1186-4D5ED9CB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870C9-7FB4-78C2-9C14-C234CE54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F58CE-BEDC-2BF8-8C10-6DEBE77A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2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05467-1EF4-6ECA-CA82-CA17E0B9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ACE96-68A3-B719-29DD-4ACD19E6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B3F7D-E53B-2C14-3851-BC696470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3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11B0-348B-6286-4496-3049F972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52BB1-50BB-123B-4A40-49C2A1A4C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3312-B920-75F0-7337-5EEBF56D5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3F8A8-2E23-FC3B-3A82-5A2CAAC7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5A675-C25D-E54F-F739-3E25AD07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C8910-5337-D064-22B0-270BBFD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7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E5BF-E734-081F-18A6-75B291C5F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426392-B2BC-D75D-F803-C6D92190F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1F251-5E34-1B20-8F75-135BDDF95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1CBE2-1ED1-2AB5-6B27-35466868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530F9-8E1E-9A5E-4461-DAD98F55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E6E6D-95C8-3583-007B-A9E7D8B7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1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ECBD-7841-9573-0DEC-89F3998F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A5464-0CEF-D1A9-C48B-1BD39A420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15A80-8EDE-B96E-78C7-25AE6E7A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B223B-5585-0EEC-D0B0-A6BF165B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0A75F-ECC4-082F-2551-8A56D61B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2F230-3AB4-0A20-1947-D175E7FFE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C9DD2-C948-CC53-80CF-0F7F3E3AA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C3CF-753B-551B-40B1-20810DA0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EFC8-BE2F-7FA3-0DD9-23FB36C3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D2AAD-689D-603A-CAE7-895220E5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23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 con imáge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350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401" y="5084483"/>
            <a:ext cx="11125200" cy="914400"/>
          </a:xfrm>
        </p:spPr>
        <p:txBody>
          <a:bodyPr rtlCol="0" anchor="b">
            <a:normAutofit/>
          </a:bodyPr>
          <a:lstStyle>
            <a:lvl1pPr algn="ctr">
              <a:defRPr sz="3300" spc="-38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9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0"/>
          </p:nvPr>
        </p:nvSpPr>
        <p:spPr>
          <a:xfrm>
            <a:off x="2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1500"/>
            </a:lvl1pPr>
            <a:lvl2pPr marL="342905" indent="0">
              <a:buNone/>
              <a:defRPr sz="2100"/>
            </a:lvl2pPr>
            <a:lvl3pPr marL="685810" indent="0">
              <a:buNone/>
              <a:defRPr sz="1800"/>
            </a:lvl3pPr>
            <a:lvl4pPr marL="1028715" indent="0">
              <a:buNone/>
              <a:defRPr sz="1500"/>
            </a:lvl4pPr>
            <a:lvl5pPr marL="1371620" indent="0">
              <a:buNone/>
              <a:defRPr sz="1500"/>
            </a:lvl5pPr>
            <a:lvl6pPr marL="1714524" indent="0">
              <a:buNone/>
              <a:defRPr sz="1500"/>
            </a:lvl6pPr>
            <a:lvl7pPr marL="2057429" indent="0">
              <a:buNone/>
              <a:defRPr sz="1500"/>
            </a:lvl7pPr>
            <a:lvl8pPr marL="2400334" indent="0">
              <a:buNone/>
              <a:defRPr sz="1500"/>
            </a:lvl8pPr>
            <a:lvl9pPr marL="2743239" indent="0">
              <a:buNone/>
              <a:defRPr sz="15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1"/>
          </p:nvPr>
        </p:nvSpPr>
        <p:spPr>
          <a:xfrm>
            <a:off x="4084321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1500"/>
            </a:lvl1pPr>
            <a:lvl2pPr marL="342905" indent="0">
              <a:buNone/>
              <a:defRPr sz="2100"/>
            </a:lvl2pPr>
            <a:lvl3pPr marL="685810" indent="0">
              <a:buNone/>
              <a:defRPr sz="1800"/>
            </a:lvl3pPr>
            <a:lvl4pPr marL="1028715" indent="0">
              <a:buNone/>
              <a:defRPr sz="1500"/>
            </a:lvl4pPr>
            <a:lvl5pPr marL="1371620" indent="0">
              <a:buNone/>
              <a:defRPr sz="1500"/>
            </a:lvl5pPr>
            <a:lvl6pPr marL="1714524" indent="0">
              <a:buNone/>
              <a:defRPr sz="1500"/>
            </a:lvl6pPr>
            <a:lvl7pPr marL="2057429" indent="0">
              <a:buNone/>
              <a:defRPr sz="1500"/>
            </a:lvl7pPr>
            <a:lvl8pPr marL="2400334" indent="0">
              <a:buNone/>
              <a:defRPr sz="1500"/>
            </a:lvl8pPr>
            <a:lvl9pPr marL="2743239" indent="0">
              <a:buNone/>
              <a:defRPr sz="15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4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1500"/>
            </a:lvl1pPr>
            <a:lvl2pPr marL="342905" indent="0">
              <a:buNone/>
              <a:defRPr sz="2100"/>
            </a:lvl2pPr>
            <a:lvl3pPr marL="685810" indent="0">
              <a:buNone/>
              <a:defRPr sz="1800"/>
            </a:lvl3pPr>
            <a:lvl4pPr marL="1028715" indent="0">
              <a:buNone/>
              <a:defRPr sz="1500"/>
            </a:lvl4pPr>
            <a:lvl5pPr marL="1371620" indent="0">
              <a:buNone/>
              <a:defRPr sz="1500"/>
            </a:lvl5pPr>
            <a:lvl6pPr marL="1714524" indent="0">
              <a:buNone/>
              <a:defRPr sz="1500"/>
            </a:lvl6pPr>
            <a:lvl7pPr marL="2057429" indent="0">
              <a:buNone/>
              <a:defRPr sz="1500"/>
            </a:lvl7pPr>
            <a:lvl8pPr marL="2400334" indent="0">
              <a:buNone/>
              <a:defRPr sz="1500"/>
            </a:lvl8pPr>
            <a:lvl9pPr marL="2743239" indent="0">
              <a:buNone/>
              <a:defRPr sz="15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3401" y="6043123"/>
            <a:ext cx="11125200" cy="5715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 cap="all" spc="38" baseline="0">
                <a:solidFill>
                  <a:schemeClr val="bg1"/>
                </a:solidFill>
              </a:defRPr>
            </a:lvl1pPr>
            <a:lvl2pPr marL="342905" indent="0" algn="ctr">
              <a:buNone/>
              <a:defRPr sz="1500"/>
            </a:lvl2pPr>
            <a:lvl3pPr marL="685810" indent="0" algn="ctr">
              <a:buNone/>
              <a:defRPr sz="1350"/>
            </a:lvl3pPr>
            <a:lvl4pPr marL="1028715" indent="0" algn="ctr">
              <a:buNone/>
              <a:defRPr sz="1200"/>
            </a:lvl4pPr>
            <a:lvl5pPr marL="1371620" indent="0" algn="ctr">
              <a:buNone/>
              <a:defRPr sz="1200"/>
            </a:lvl5pPr>
            <a:lvl6pPr marL="1714524" indent="0" algn="ctr">
              <a:buNone/>
              <a:defRPr sz="1200"/>
            </a:lvl6pPr>
            <a:lvl7pPr marL="2057429" indent="0" algn="ctr">
              <a:buNone/>
              <a:defRPr sz="1200"/>
            </a:lvl7pPr>
            <a:lvl8pPr marL="2400334" indent="0" algn="ctr">
              <a:buNone/>
              <a:defRPr sz="1200"/>
            </a:lvl8pPr>
            <a:lvl9pPr marL="2743239" indent="0" algn="ctr">
              <a:buNone/>
              <a:defRPr sz="12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23273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7146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90570" lvl="1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85854" lvl="2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981139" lvl="3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476424" lvl="4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971709" lvl="5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66993" lvl="6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962278" lvl="7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457563" lvl="8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814517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12175" y="2711050"/>
            <a:ext cx="3367650" cy="6214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87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4861" y="3828991"/>
            <a:ext cx="10002276" cy="415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0" i="0">
                <a:solidFill>
                  <a:srgbClr val="4E4F5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918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3C8BB-9CF0-F027-E0B4-35774F5C0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D18E9-4FA5-EEF6-C35B-D0E1ADDE7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D224D-0347-17C9-1B71-A99156F09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89E8D-AA3C-1440-8FC8-4701F2A5A9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AFFB-4646-5500-1D9C-8897D57E7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B1C2A-F320-8AA3-5442-938629AD8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F3C9-4473-3549-9634-B7E761186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7EC39C07-4A9E-388B-C347-0BF83C81DED4}"/>
              </a:ext>
            </a:extLst>
          </p:cNvPr>
          <p:cNvSpPr/>
          <p:nvPr/>
        </p:nvSpPr>
        <p:spPr>
          <a:xfrm>
            <a:off x="428" y="10012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B859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24050" y="3664201"/>
            <a:ext cx="8343900" cy="685800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sz="5500" b="1" spc="167" dirty="0">
                <a:solidFill>
                  <a:schemeClr val="tx1"/>
                </a:solidFill>
              </a:rPr>
              <a:t>Métodos de la Investigación en Social</a:t>
            </a:r>
            <a:br>
              <a:rPr lang="es-ES" sz="5500" b="1" spc="167" dirty="0">
                <a:solidFill>
                  <a:schemeClr val="tx1"/>
                </a:solidFill>
              </a:rPr>
            </a:br>
            <a:br>
              <a:rPr lang="es-ES" sz="5500" b="1" spc="167" dirty="0">
                <a:solidFill>
                  <a:schemeClr val="tx1"/>
                </a:solidFill>
              </a:rPr>
            </a:br>
            <a:br>
              <a:rPr lang="es-ES" sz="5500" b="1" spc="167" dirty="0">
                <a:solidFill>
                  <a:schemeClr val="tx1"/>
                </a:solidFill>
              </a:rPr>
            </a:br>
            <a:r>
              <a:rPr lang="es-ES" sz="3600" b="1" spc="167" dirty="0">
                <a:solidFill>
                  <a:schemeClr val="tx1"/>
                </a:solidFill>
              </a:rPr>
              <a:t>Clase 7</a:t>
            </a:r>
            <a:endParaRPr lang="es-ES" sz="5500" b="1" spc="167" dirty="0">
              <a:solidFill>
                <a:schemeClr val="tx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82810" y="2643468"/>
            <a:ext cx="9073008" cy="1706533"/>
          </a:xfrm>
        </p:spPr>
        <p:txBody>
          <a:bodyPr rtlCol="0">
            <a:normAutofit/>
          </a:bodyPr>
          <a:lstStyle/>
          <a:p>
            <a:pPr rtl="0"/>
            <a:endParaRPr lang="es-ES" b="1" dirty="0">
              <a:solidFill>
                <a:srgbClr val="0070C0"/>
              </a:solidFill>
              <a:cs typeface="Segoe UI Light" panose="020B0502040204020203" pitchFamily="34" charset="0"/>
            </a:endParaRPr>
          </a:p>
          <a:p>
            <a:pPr rtl="0"/>
            <a:endParaRPr lang="es-ES" b="1" dirty="0">
              <a:solidFill>
                <a:srgbClr val="0070C0"/>
              </a:solidFill>
              <a:cs typeface="Segoe UI Light" panose="020B0502040204020203" pitchFamily="34" charset="0"/>
            </a:endParaRPr>
          </a:p>
          <a:p>
            <a:endParaRPr lang="es-ES" sz="1800" b="1" dirty="0">
              <a:solidFill>
                <a:srgbClr val="0070C0"/>
              </a:solidFill>
              <a:cs typeface="Segoe UI Light" panose="020B0502040204020203" pitchFamily="34" charset="0"/>
            </a:endParaRPr>
          </a:p>
          <a:p>
            <a:pPr marL="7701">
              <a:lnSpc>
                <a:spcPct val="100000"/>
              </a:lnSpc>
              <a:spcBef>
                <a:spcPts val="6"/>
              </a:spcBef>
            </a:pPr>
            <a:endParaRPr lang="es-MX" sz="1800" b="1" dirty="0">
              <a:solidFill>
                <a:srgbClr val="0070C0"/>
              </a:solidFill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2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A0900-63E4-BC41-B3FF-35CD8E64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+mn-lt"/>
              </a:rPr>
              <a:t>A ver hoy</a:t>
            </a:r>
          </a:p>
        </p:txBody>
      </p:sp>
      <p:pic>
        <p:nvPicPr>
          <p:cNvPr id="4" name="Picture 2" descr="Funciones - La medida y las teorías psicológicas, principios éticos y  deontológicos en la medición psicológica.">
            <a:extLst>
              <a:ext uri="{FF2B5EF4-FFF2-40B4-BE49-F238E27FC236}">
                <a16:creationId xmlns:a16="http://schemas.microsoft.com/office/drawing/2014/main" id="{AD49AAF1-C044-5AEF-B20D-7897F06F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5058"/>
          <a:stretch/>
        </p:blipFill>
        <p:spPr bwMode="auto">
          <a:xfrm>
            <a:off x="5523471" y="1690688"/>
            <a:ext cx="6668529" cy="4133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23511-C861-7246-930B-10E86C17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b="1" dirty="0">
                <a:latin typeface="+mj-lt"/>
              </a:rPr>
              <a:t>Medición en Ciencias Sociales</a:t>
            </a:r>
          </a:p>
          <a:p>
            <a:pPr lvl="1"/>
            <a:r>
              <a:rPr lang="es-CL" b="1" dirty="0">
                <a:latin typeface="+mj-lt"/>
              </a:rPr>
              <a:t>Medición en Ciencias Sociales</a:t>
            </a:r>
          </a:p>
          <a:p>
            <a:pPr lvl="1"/>
            <a:r>
              <a:rPr lang="es-CL" b="1" dirty="0">
                <a:latin typeface="+mj-lt"/>
              </a:rPr>
              <a:t>Estándares de Medición</a:t>
            </a:r>
          </a:p>
          <a:p>
            <a:pPr marL="457200" lvl="1" indent="0">
              <a:buNone/>
            </a:pPr>
            <a:endParaRPr lang="es-CL" dirty="0">
              <a:latin typeface="+mj-lt"/>
            </a:endParaRPr>
          </a:p>
          <a:p>
            <a:pPr marL="457200" lvl="1" indent="0">
              <a:buNone/>
            </a:pPr>
            <a:endParaRPr lang="es-CL" dirty="0">
              <a:latin typeface="+mj-lt"/>
            </a:endParaRPr>
          </a:p>
          <a:p>
            <a:pPr marL="0" indent="0">
              <a:buNone/>
            </a:pPr>
            <a:r>
              <a:rPr lang="es-CL" dirty="0">
                <a:latin typeface="+mj-lt"/>
              </a:rPr>
              <a:t>Preguntas y diseños de investigación</a:t>
            </a:r>
          </a:p>
          <a:p>
            <a:pPr lvl="1"/>
            <a:r>
              <a:rPr lang="es-CL" dirty="0">
                <a:latin typeface="+mj-lt"/>
              </a:rPr>
              <a:t>Procedimientos cualitativos</a:t>
            </a:r>
          </a:p>
          <a:p>
            <a:pPr lvl="1"/>
            <a:r>
              <a:rPr lang="es-CL" dirty="0">
                <a:latin typeface="+mj-lt"/>
              </a:rPr>
              <a:t>Procedimientos cuantitativos</a:t>
            </a:r>
          </a:p>
          <a:p>
            <a:pPr lvl="1"/>
            <a:endParaRPr lang="es-CL" dirty="0">
              <a:latin typeface="+mj-lt"/>
            </a:endParaRPr>
          </a:p>
          <a:p>
            <a:pPr lvl="1"/>
            <a:endParaRPr lang="es-CL" dirty="0">
              <a:latin typeface="+mj-lt"/>
            </a:endParaRPr>
          </a:p>
          <a:p>
            <a:pPr marL="0" indent="0">
              <a:buNone/>
            </a:pP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061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8788" y="3471219"/>
            <a:ext cx="10001667" cy="2663455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sz="2400" dirty="0"/>
              <a:t>Depende de qué se está entendiendo por “</a:t>
            </a:r>
            <a:r>
              <a:rPr sz="2400" dirty="0" err="1"/>
              <a:t>medir</a:t>
            </a:r>
            <a:r>
              <a:rPr sz="2400" dirty="0"/>
              <a:t>”.</a:t>
            </a:r>
          </a:p>
          <a:p>
            <a:r>
              <a:rPr sz="2400" dirty="0"/>
              <a:t>Depende de lo que pretendo </a:t>
            </a:r>
            <a:r>
              <a:rPr sz="2400" dirty="0" err="1"/>
              <a:t>medir</a:t>
            </a:r>
            <a:r>
              <a:rPr sz="2400" dirty="0"/>
              <a:t>.</a:t>
            </a:r>
          </a:p>
          <a:p>
            <a:r>
              <a:rPr sz="2400" dirty="0"/>
              <a:t>Depende de lo que pretendo hacer con los resultados de la </a:t>
            </a:r>
            <a:r>
              <a:rPr sz="2400" dirty="0" err="1"/>
              <a:t>medición</a:t>
            </a:r>
            <a:r>
              <a:rPr sz="2400" dirty="0"/>
              <a:t>.</a:t>
            </a:r>
          </a:p>
          <a:p>
            <a:r>
              <a:rPr sz="2400" dirty="0"/>
              <a:t>Depende de la calidad del instrumento de medición que se usó para medir el  atributo.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9761" y="858658"/>
            <a:ext cx="10356697" cy="2079847"/>
          </a:xfrm>
          <a:prstGeom prst="rect">
            <a:avLst/>
          </a:prstGeom>
        </p:spPr>
        <p:txBody>
          <a:bodyPr vert="horz" wrap="square" lIns="0" tIns="40432" rIns="0" bIns="0" rtlCol="0" anchor="ctr">
            <a:spAutoFit/>
          </a:bodyPr>
          <a:lstStyle/>
          <a:p>
            <a:pPr marL="7701" marR="3081" algn="ctr">
              <a:lnSpc>
                <a:spcPts val="5300"/>
              </a:lnSpc>
              <a:spcBef>
                <a:spcPts val="318"/>
              </a:spcBef>
            </a:pPr>
            <a:r>
              <a:rPr sz="4487" spc="340" dirty="0">
                <a:latin typeface="Calibri" panose="020F0502020204030204" pitchFamily="34" charset="0"/>
                <a:cs typeface="Calibri" panose="020F0502020204030204" pitchFamily="34" charset="0"/>
              </a:rPr>
              <a:t>¿De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30" dirty="0"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61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55" dirty="0">
                <a:latin typeface="Calibri" panose="020F0502020204030204" pitchFamily="34" charset="0"/>
                <a:cs typeface="Calibri" panose="020F0502020204030204" pitchFamily="34" charset="0"/>
              </a:rPr>
              <a:t>situación  </a:t>
            </a:r>
            <a:r>
              <a:rPr sz="4487" spc="-9" dirty="0">
                <a:latin typeface="Calibri" panose="020F0502020204030204" pitchFamily="34" charset="0"/>
                <a:cs typeface="Calibri" panose="020F0502020204030204" pitchFamily="34" charset="0"/>
              </a:rPr>
              <a:t>particular </a:t>
            </a:r>
            <a:r>
              <a:rPr sz="4487" spc="206" dirty="0">
                <a:latin typeface="Calibri" panose="020F0502020204030204" pitchFamily="34" charset="0"/>
                <a:cs typeface="Calibri" panose="020F0502020204030204" pitchFamily="34" charset="0"/>
              </a:rPr>
              <a:t>yo </a:t>
            </a:r>
            <a:r>
              <a:rPr sz="4487" spc="215" dirty="0" err="1">
                <a:latin typeface="Calibri" panose="020F0502020204030204" pitchFamily="34" charset="0"/>
                <a:cs typeface="Calibri" panose="020F0502020204030204" pitchFamily="34" charset="0"/>
              </a:rPr>
              <a:t>pueda</a:t>
            </a:r>
            <a:r>
              <a:rPr sz="4487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-1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s-MX" sz="4487" spc="-15" dirty="0" err="1">
                <a:latin typeface="Calibri" panose="020F0502020204030204" pitchFamily="34" charset="0"/>
                <a:cs typeface="Calibri" panose="020F0502020204030204" pitchFamily="34" charset="0"/>
              </a:rPr>
              <a:t>fir</a:t>
            </a:r>
            <a:r>
              <a:rPr sz="4487" spc="-15" dirty="0">
                <a:latin typeface="Calibri" panose="020F0502020204030204" pitchFamily="34" charset="0"/>
                <a:cs typeface="Calibri" panose="020F0502020204030204" pitchFamily="34" charset="0"/>
              </a:rPr>
              <a:t>mar </a:t>
            </a:r>
            <a:r>
              <a:rPr sz="4487" spc="-130" dirty="0"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487" spc="-30" dirty="0">
                <a:latin typeface="Calibri" panose="020F0502020204030204" pitchFamily="34" charset="0"/>
                <a:cs typeface="Calibri" panose="020F0502020204030204" pitchFamily="34" charset="0"/>
              </a:rPr>
              <a:t>no)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4487" spc="252" dirty="0">
                <a:latin typeface="Calibri" panose="020F0502020204030204" pitchFamily="34" charset="0"/>
                <a:cs typeface="Calibri" panose="020F0502020204030204" pitchFamily="34" charset="0"/>
              </a:rPr>
              <a:t>puedo</a:t>
            </a:r>
            <a:r>
              <a:rPr sz="448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88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487" spc="-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9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448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" dirty="0">
                <a:latin typeface="Calibri" panose="020F0502020204030204" pitchFamily="34" charset="0"/>
                <a:cs typeface="Calibri" panose="020F0502020204030204" pitchFamily="34" charset="0"/>
              </a:rPr>
              <a:t>atributo?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183" y="246231"/>
            <a:ext cx="11411634" cy="2531720"/>
          </a:xfrm>
          <a:prstGeom prst="rect">
            <a:avLst/>
          </a:prstGeom>
        </p:spPr>
        <p:txBody>
          <a:bodyPr vert="horz" wrap="square" lIns="0" tIns="1135635" rIns="0" bIns="0" rtlCol="0" anchor="ctr">
            <a:spAutoFit/>
          </a:bodyPr>
          <a:lstStyle/>
          <a:p>
            <a:pPr marL="12322" marR="3081" indent="17328" algn="ctr">
              <a:lnSpc>
                <a:spcPts val="5397"/>
              </a:lnSpc>
              <a:spcBef>
                <a:spcPts val="343"/>
              </a:spcBef>
            </a:pPr>
            <a:r>
              <a:rPr sz="4578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Depende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 </a:t>
            </a:r>
            <a:r>
              <a:rPr sz="4578" b="1" spc="152" dirty="0">
                <a:solidFill>
                  <a:schemeClr val="tx1"/>
                </a:solidFill>
                <a:latin typeface="Calibri" panose="020F0502020204030204" pitchFamily="34" charset="0"/>
              </a:rPr>
              <a:t>la </a:t>
            </a:r>
            <a:r>
              <a:rPr sz="4578" b="1" spc="167" dirty="0" err="1">
                <a:solidFill>
                  <a:schemeClr val="tx1"/>
                </a:solidFill>
                <a:latin typeface="Calibri" panose="020F0502020204030204" pitchFamily="34" charset="0"/>
              </a:rPr>
              <a:t>calidad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79" dirty="0">
                <a:solidFill>
                  <a:schemeClr val="tx1"/>
                </a:solidFill>
                <a:latin typeface="Calibri" panose="020F0502020204030204" pitchFamily="34" charset="0"/>
              </a:rPr>
              <a:t>del </a:t>
            </a:r>
            <a:r>
              <a:rPr sz="4578" b="1" spc="64" dirty="0">
                <a:solidFill>
                  <a:schemeClr val="tx1"/>
                </a:solidFill>
                <a:latin typeface="Calibri" panose="020F0502020204030204" pitchFamily="34" charset="0"/>
              </a:rPr>
              <a:t>instrumento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12" dirty="0">
                <a:solidFill>
                  <a:schemeClr val="tx1"/>
                </a:solidFill>
                <a:latin typeface="Calibri" panose="020F0502020204030204" pitchFamily="34" charset="0"/>
              </a:rPr>
              <a:t>medición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que</a:t>
            </a:r>
            <a:r>
              <a:rPr sz="4578" b="1" spc="-276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8" dirty="0">
                <a:solidFill>
                  <a:schemeClr val="tx1"/>
                </a:solidFill>
                <a:latin typeface="Calibri" panose="020F0502020204030204" pitchFamily="34" charset="0"/>
              </a:rPr>
              <a:t>se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 err="1">
                <a:solidFill>
                  <a:schemeClr val="tx1"/>
                </a:solidFill>
                <a:latin typeface="Calibri" panose="020F0502020204030204" pitchFamily="34" charset="0"/>
              </a:rPr>
              <a:t>usó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09" dirty="0">
                <a:solidFill>
                  <a:schemeClr val="tx1"/>
                </a:solidFill>
                <a:latin typeface="Calibri" panose="020F0502020204030204" pitchFamily="34" charset="0"/>
              </a:rPr>
              <a:t>para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82" dirty="0">
                <a:solidFill>
                  <a:schemeClr val="tx1"/>
                </a:solidFill>
                <a:latin typeface="Calibri" panose="020F0502020204030204" pitchFamily="34" charset="0"/>
              </a:rPr>
              <a:t>medir</a:t>
            </a:r>
            <a:r>
              <a:rPr sz="4578" b="1" spc="-39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15" dirty="0">
                <a:solidFill>
                  <a:schemeClr val="tx1"/>
                </a:solidFill>
                <a:latin typeface="Calibri" panose="020F0502020204030204" pitchFamily="34" charset="0"/>
              </a:rPr>
              <a:t>el</a:t>
            </a:r>
            <a:r>
              <a:rPr sz="4578" b="1" spc="-42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-45" dirty="0">
                <a:solidFill>
                  <a:schemeClr val="tx1"/>
                </a:solidFill>
                <a:latin typeface="Calibri" panose="020F0502020204030204" pitchFamily="34" charset="0"/>
              </a:rPr>
              <a:t>atributo.</a:t>
            </a:r>
            <a:endParaRPr sz="4578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4DCA37A-B313-61D9-1460-3EDEC3704CC5}"/>
              </a:ext>
            </a:extLst>
          </p:cNvPr>
          <p:cNvSpPr txBox="1">
            <a:spLocks/>
          </p:cNvSpPr>
          <p:nvPr/>
        </p:nvSpPr>
        <p:spPr>
          <a:xfrm>
            <a:off x="109728" y="1870402"/>
            <a:ext cx="11644122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5" b="0" i="0" kern="1200">
                <a:solidFill>
                  <a:srgbClr val="CE1F1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228600" marR="3081" indent="38100" algn="ctr">
              <a:lnSpc>
                <a:spcPts val="5397"/>
              </a:lnSpc>
              <a:spcBef>
                <a:spcPts val="343"/>
              </a:spcBef>
            </a:pPr>
            <a:r>
              <a:rPr lang="en-US" sz="4578" b="1" spc="273" dirty="0">
                <a:solidFill>
                  <a:srgbClr val="000000"/>
                </a:solidFill>
              </a:rPr>
              <a:t>¿</a:t>
            </a:r>
            <a:r>
              <a:rPr lang="en-US" sz="4578" b="1" spc="273" dirty="0" err="1">
                <a:solidFill>
                  <a:srgbClr val="000000"/>
                </a:solidFill>
              </a:rPr>
              <a:t>Qué</a:t>
            </a:r>
            <a:r>
              <a:rPr lang="en-US" sz="4578" b="1" spc="-215" dirty="0">
                <a:solidFill>
                  <a:srgbClr val="000000"/>
                </a:solidFill>
              </a:rPr>
              <a:t> </a:t>
            </a:r>
            <a:r>
              <a:rPr lang="en-US" sz="4578" b="1" spc="293" dirty="0">
                <a:solidFill>
                  <a:srgbClr val="000000"/>
                </a:solidFill>
              </a:rPr>
              <a:t>es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dirty="0">
                <a:solidFill>
                  <a:srgbClr val="000000"/>
                </a:solidFill>
              </a:rPr>
              <a:t>la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97" dirty="0" err="1">
                <a:solidFill>
                  <a:srgbClr val="000000"/>
                </a:solidFill>
              </a:rPr>
              <a:t>calidad</a:t>
            </a:r>
            <a:r>
              <a:rPr lang="en-US" sz="4578" b="1" spc="-215" dirty="0">
                <a:solidFill>
                  <a:srgbClr val="000000"/>
                </a:solidFill>
              </a:rPr>
              <a:t> </a:t>
            </a:r>
            <a:r>
              <a:rPr lang="en-US" sz="4578" b="1" spc="255" dirty="0">
                <a:solidFill>
                  <a:srgbClr val="000000"/>
                </a:solidFill>
              </a:rPr>
              <a:t>de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203" dirty="0">
                <a:solidFill>
                  <a:srgbClr val="000000"/>
                </a:solidFill>
              </a:rPr>
              <a:t>un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69" dirty="0" err="1">
                <a:solidFill>
                  <a:srgbClr val="000000"/>
                </a:solidFill>
              </a:rPr>
              <a:t>instrumento</a:t>
            </a:r>
            <a:r>
              <a:rPr lang="en-US" sz="4578" b="1" spc="69" dirty="0">
                <a:solidFill>
                  <a:srgbClr val="000000"/>
                </a:solidFill>
              </a:rPr>
              <a:t> </a:t>
            </a:r>
            <a:r>
              <a:rPr lang="en-US" sz="4578" b="1" spc="255" dirty="0">
                <a:solidFill>
                  <a:srgbClr val="000000"/>
                </a:solidFill>
              </a:rPr>
              <a:t>de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medición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en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Ciencias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Sociales</a:t>
            </a:r>
            <a:r>
              <a:rPr lang="en-US" sz="4578" b="1" spc="164" dirty="0">
                <a:solidFill>
                  <a:srgbClr val="000000"/>
                </a:solidFill>
              </a:rPr>
              <a:t>?</a:t>
            </a:r>
            <a:endParaRPr lang="en-US" sz="4578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5801" y="1598736"/>
            <a:ext cx="10065588" cy="3721128"/>
          </a:xfrm>
          <a:prstGeom prst="rect">
            <a:avLst/>
          </a:prstGeom>
        </p:spPr>
        <p:txBody>
          <a:bodyPr vert="horz" wrap="square" lIns="0" tIns="34271" rIns="0" bIns="0" rtlCol="0">
            <a:spAutoFit/>
          </a:bodyPr>
          <a:lstStyle/>
          <a:p>
            <a:pPr marL="58145" marR="60840" indent="1540" algn="ctr">
              <a:lnSpc>
                <a:spcPts val="4051"/>
              </a:lnSpc>
              <a:spcBef>
                <a:spcPts val="270"/>
              </a:spcBef>
            </a:pPr>
            <a:r>
              <a:rPr sz="3426" spc="191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3426" spc="76" dirty="0">
                <a:latin typeface="Calibri" panose="020F0502020204030204" pitchFamily="34" charset="0"/>
                <a:cs typeface="Calibri" panose="020F0502020204030204" pitchFamily="34" charset="0"/>
              </a:rPr>
              <a:t>ciencias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sociales </a:t>
            </a:r>
            <a:r>
              <a:rPr sz="3426" spc="176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hay </a:t>
            </a:r>
            <a:r>
              <a:rPr sz="3426" spc="167" dirty="0">
                <a:latin typeface="Calibri" panose="020F0502020204030204" pitchFamily="34" charset="0"/>
                <a:cs typeface="Calibri" panose="020F0502020204030204" pitchFamily="34" charset="0"/>
              </a:rPr>
              <a:t>documentos </a:t>
            </a:r>
            <a:r>
              <a:rPr sz="3426" spc="194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3426" spc="203" dirty="0">
                <a:latin typeface="Calibri" panose="020F0502020204030204" pitchFamily="34" charset="0"/>
                <a:cs typeface="Calibri" panose="020F0502020204030204" pitchFamily="34" charset="0"/>
              </a:rPr>
              <a:t>consenso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8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6" dirty="0">
                <a:latin typeface="Calibri" panose="020F0502020204030204" pitchFamily="34" charset="0"/>
                <a:cs typeface="Calibri" panose="020F0502020204030204" pitchFamily="34" charset="0"/>
              </a:rPr>
              <a:t>abarquen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todas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0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64" dirty="0">
                <a:latin typeface="Calibri" panose="020F0502020204030204" pitchFamily="34" charset="0"/>
                <a:cs typeface="Calibri" panose="020F0502020204030204" pitchFamily="34" charset="0"/>
              </a:rPr>
              <a:t>disciplinas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82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3426" dirty="0">
                <a:latin typeface="Calibri" panose="020F0502020204030204" pitchFamily="34" charset="0"/>
                <a:cs typeface="Calibri" panose="020F0502020204030204" pitchFamily="34" charset="0"/>
              </a:rPr>
              <a:t>realizan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24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4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42" dirty="0">
                <a:latin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>
                <a:latin typeface="Calibri" panose="020F0502020204030204" pitchFamily="34" charset="0"/>
                <a:cs typeface="Calibri" panose="020F0502020204030204" pitchFamily="34" charset="0"/>
              </a:rPr>
              <a:t>sociales.</a:t>
            </a:r>
            <a:endParaRPr sz="3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345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 indent="-6931" algn="ctr">
              <a:lnSpc>
                <a:spcPts val="4051"/>
              </a:lnSpc>
              <a:spcBef>
                <a:spcPts val="3"/>
              </a:spcBef>
            </a:pPr>
            <a:r>
              <a:rPr sz="3426" spc="88" dirty="0">
                <a:latin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3" dirty="0">
                <a:latin typeface="Calibri" panose="020F0502020204030204" pitchFamily="34" charset="0"/>
                <a:cs typeface="Calibri" panose="020F0502020204030204" pitchFamily="34" charset="0"/>
              </a:rPr>
              <a:t>sí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hay</a:t>
            </a:r>
            <a:r>
              <a:rPr sz="3426" spc="-2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58" dirty="0">
                <a:latin typeface="Calibri" panose="020F0502020204030204" pitchFamily="34" charset="0"/>
                <a:cs typeface="Calibri" panose="020F0502020204030204" pitchFamily="34" charset="0"/>
              </a:rPr>
              <a:t>lineamientos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6" dirty="0">
                <a:latin typeface="Calibri" panose="020F0502020204030204" pitchFamily="34" charset="0"/>
                <a:cs typeface="Calibri" panose="020F0502020204030204" pitchFamily="34" charset="0"/>
              </a:rPr>
              <a:t>expresados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3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3426" spc="-2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27" dirty="0">
                <a:latin typeface="Calibri" panose="020F0502020204030204" pitchFamily="34" charset="0"/>
                <a:cs typeface="Calibri" panose="020F0502020204030204" pitchFamily="34" charset="0"/>
              </a:rPr>
              <a:t>distintos  </a:t>
            </a:r>
            <a:r>
              <a:rPr sz="3426" spc="197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>
                <a:latin typeface="Calibri" panose="020F0502020204030204" pitchFamily="34" charset="0"/>
                <a:cs typeface="Calibri" panose="020F0502020204030204" pitchFamily="34" charset="0"/>
              </a:rPr>
              <a:t>profesionales,</a:t>
            </a:r>
            <a:r>
              <a:rPr sz="3426" spc="-2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7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3426" spc="-24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64" dirty="0">
                <a:latin typeface="Calibri" panose="020F0502020204030204" pitchFamily="34" charset="0"/>
                <a:cs typeface="Calibri" panose="020F0502020204030204" pitchFamily="34" charset="0"/>
              </a:rPr>
              <a:t>quizá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3426" spc="-2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230" dirty="0" err="1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s-MX"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nfl</a:t>
            </a:r>
            <a:r>
              <a:rPr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uyente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46" dirty="0">
                <a:latin typeface="Calibri" panose="020F0502020204030204" pitchFamily="34" charset="0"/>
                <a:cs typeface="Calibri" panose="020F0502020204030204" pitchFamily="34" charset="0"/>
              </a:rPr>
              <a:t>en  </a:t>
            </a:r>
            <a:r>
              <a:rPr sz="3426" spc="61" dirty="0">
                <a:latin typeface="Calibri" panose="020F0502020204030204" pitchFamily="34" charset="0"/>
                <a:cs typeface="Calibri" panose="020F0502020204030204" pitchFamily="34" charset="0"/>
              </a:rPr>
              <a:t>psicometría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3" dirty="0">
                <a:latin typeface="Calibri" panose="020F0502020204030204" pitchFamily="34" charset="0"/>
                <a:cs typeface="Calibri" panose="020F0502020204030204" pitchFamily="34" charset="0"/>
              </a:rPr>
              <a:t>corresponde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7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9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3426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dirty="0">
                <a:latin typeface="Calibri" panose="020F0502020204030204" pitchFamily="34" charset="0"/>
                <a:cs typeface="Calibri" panose="020F0502020204030204" pitchFamily="34" charset="0"/>
              </a:rPr>
              <a:t>Estándares.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747499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7" dirty="0">
                <a:solidFill>
                  <a:srgbClr val="4E4F52"/>
                </a:solidFill>
                <a:latin typeface="Calibri" panose="020F0502020204030204" pitchFamily="34" charset="0"/>
              </a:rPr>
              <a:t>¿Qué</a:t>
            </a:r>
            <a:r>
              <a:rPr sz="448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0" dirty="0">
                <a:solidFill>
                  <a:srgbClr val="4E4F52"/>
                </a:solidFill>
                <a:latin typeface="Calibri" panose="020F0502020204030204" pitchFamily="34" charset="0"/>
              </a:rPr>
              <a:t>estándares?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Cautelando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calidad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713" y="1107061"/>
            <a:ext cx="11435637" cy="3536295"/>
          </a:xfrm>
          <a:prstGeom prst="rect">
            <a:avLst/>
          </a:prstGeom>
        </p:spPr>
        <p:txBody>
          <a:bodyPr vert="horz" wrap="square" lIns="0" tIns="568395" rIns="0" bIns="0" rtlCol="0">
            <a:spAutoFit/>
          </a:bodyPr>
          <a:lstStyle/>
          <a:p>
            <a:pPr marL="3743977" marR="149790">
              <a:lnSpc>
                <a:spcPts val="2352"/>
              </a:lnSpc>
              <a:spcBef>
                <a:spcPts val="176"/>
              </a:spcBef>
            </a:pPr>
            <a:r>
              <a:rPr sz="2001" spc="-12" dirty="0">
                <a:latin typeface="Calibri" panose="020F0502020204030204" pitchFamily="34" charset="0"/>
              </a:rPr>
              <a:t>Tres </a:t>
            </a:r>
            <a:r>
              <a:rPr sz="2001" spc="88" dirty="0">
                <a:latin typeface="Calibri" panose="020F0502020204030204" pitchFamily="34" charset="0"/>
              </a:rPr>
              <a:t>grandes </a:t>
            </a:r>
            <a:r>
              <a:rPr sz="2001" spc="45" dirty="0">
                <a:latin typeface="Calibri" panose="020F0502020204030204" pitchFamily="34" charset="0"/>
              </a:rPr>
              <a:t>organizaciones </a:t>
            </a:r>
            <a:r>
              <a:rPr sz="2001" spc="36" dirty="0">
                <a:latin typeface="Calibri" panose="020F0502020204030204" pitchFamily="34" charset="0"/>
              </a:rPr>
              <a:t>profesionales </a:t>
            </a:r>
            <a:r>
              <a:rPr sz="2001" spc="76" dirty="0" err="1">
                <a:latin typeface="Calibri" panose="020F0502020204030204" pitchFamily="34" charset="0"/>
              </a:rPr>
              <a:t>en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88" dirty="0" err="1">
                <a:latin typeface="Calibri" panose="020F0502020204030204" pitchFamily="34" charset="0"/>
              </a:rPr>
              <a:t>Estados</a:t>
            </a:r>
            <a:r>
              <a:rPr sz="2001" spc="88" dirty="0">
                <a:latin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</a:rPr>
              <a:t>Unidos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han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publicado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forma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</a:rPr>
              <a:t>conjunta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desde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1954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</a:rPr>
              <a:t>un </a:t>
            </a:r>
            <a:r>
              <a:rPr sz="2001" spc="12" dirty="0">
                <a:latin typeface="Calibri" panose="020F0502020204030204" pitchFamily="34" charset="0"/>
              </a:rPr>
              <a:t>conjunto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82" dirty="0">
                <a:latin typeface="Calibri" panose="020F0502020204030204" pitchFamily="34" charset="0"/>
              </a:rPr>
              <a:t>normas </a:t>
            </a:r>
            <a:r>
              <a:rPr sz="2001" spc="27" dirty="0">
                <a:latin typeface="Calibri" panose="020F0502020204030204" pitchFamily="34" charset="0"/>
              </a:rPr>
              <a:t>orientadas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42" dirty="0">
                <a:latin typeface="Calibri" panose="020F0502020204030204" pitchFamily="34" charset="0"/>
              </a:rPr>
              <a:t>resguardar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36" dirty="0" err="1">
                <a:latin typeface="Calibri" panose="020F0502020204030204" pitchFamily="34" charset="0"/>
              </a:rPr>
              <a:t>calidad</a:t>
            </a:r>
            <a:r>
              <a:rPr sz="2001" spc="36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7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</a:rPr>
              <a:t>educación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y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psicología.</a:t>
            </a:r>
            <a:endParaRPr sz="2001" dirty="0">
              <a:latin typeface="Calibri" panose="020F0502020204030204" pitchFamily="34" charset="0"/>
            </a:endParaRPr>
          </a:p>
          <a:p>
            <a:pPr marL="3743977" marR="3081">
              <a:lnSpc>
                <a:spcPts val="2352"/>
              </a:lnSpc>
              <a:spcBef>
                <a:spcPts val="1489"/>
              </a:spcBef>
            </a:pPr>
            <a:r>
              <a:rPr sz="2001" spc="94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Psicológica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Americana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52" dirty="0">
                <a:latin typeface="Calibri" panose="020F0502020204030204" pitchFamily="34" charset="0"/>
              </a:rPr>
              <a:t>(APA),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 err="1">
                <a:latin typeface="Calibri" panose="020F0502020204030204" pitchFamily="34" charset="0"/>
              </a:rPr>
              <a:t>Asociación</a:t>
            </a:r>
            <a:r>
              <a:rPr sz="2001" spc="6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33" dirty="0">
                <a:latin typeface="Calibri" panose="020F0502020204030204" pitchFamily="34" charset="0"/>
              </a:rPr>
              <a:t>Investigación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52" dirty="0">
                <a:latin typeface="Calibri" panose="020F0502020204030204" pitchFamily="34" charset="0"/>
              </a:rPr>
              <a:t>Americana </a:t>
            </a:r>
            <a:r>
              <a:rPr sz="2001" spc="33" dirty="0">
                <a:latin typeface="Calibri" panose="020F0502020204030204" pitchFamily="34" charset="0"/>
              </a:rPr>
              <a:t>(AERA) </a:t>
            </a:r>
            <a:r>
              <a:rPr sz="2001" spc="97" dirty="0">
                <a:latin typeface="Calibri" panose="020F0502020204030204" pitchFamily="34" charset="0"/>
              </a:rPr>
              <a:t>y </a:t>
            </a:r>
            <a:r>
              <a:rPr sz="2001" spc="15" dirty="0">
                <a:latin typeface="Calibri" panose="020F0502020204030204" pitchFamily="34" charset="0"/>
              </a:rPr>
              <a:t>el  </a:t>
            </a:r>
            <a:r>
              <a:rPr sz="2001" spc="61" dirty="0">
                <a:latin typeface="Calibri" panose="020F0502020204030204" pitchFamily="34" charset="0"/>
              </a:rPr>
              <a:t>Consejo </a:t>
            </a:r>
            <a:r>
              <a:rPr sz="2001" spc="55" dirty="0">
                <a:latin typeface="Calibri" panose="020F0502020204030204" pitchFamily="34" charset="0"/>
              </a:rPr>
              <a:t>Nacional </a:t>
            </a:r>
            <a:r>
              <a:rPr sz="2001" spc="24" dirty="0">
                <a:latin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67" dirty="0">
                <a:latin typeface="Calibri" panose="020F0502020204030204" pitchFamily="34" charset="0"/>
              </a:rPr>
              <a:t>Medición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85" dirty="0">
                <a:latin typeface="Calibri" panose="020F0502020204030204" pitchFamily="34" charset="0"/>
              </a:rPr>
              <a:t>(NCME) </a:t>
            </a:r>
            <a:r>
              <a:rPr sz="2001" spc="33" dirty="0">
                <a:latin typeface="Calibri" panose="020F0502020204030204" pitchFamily="34" charset="0"/>
              </a:rPr>
              <a:t>publicaron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2014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sexta</a:t>
            </a:r>
            <a:r>
              <a:rPr sz="2001" spc="-146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versión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estas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normas: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 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1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r>
              <a:rPr sz="2001" spc="12" dirty="0">
                <a:latin typeface="Calibri" panose="020F0502020204030204" pitchFamily="34" charset="0"/>
              </a:rPr>
              <a:t>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02431" y="1638185"/>
            <a:ext cx="3099605" cy="442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747499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7" dirty="0">
                <a:solidFill>
                  <a:srgbClr val="4E4F52"/>
                </a:solidFill>
                <a:latin typeface="Calibri" panose="020F0502020204030204" pitchFamily="34" charset="0"/>
              </a:rPr>
              <a:t>¿Qué</a:t>
            </a:r>
            <a:r>
              <a:rPr sz="448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0" dirty="0">
                <a:solidFill>
                  <a:srgbClr val="4E4F52"/>
                </a:solidFill>
                <a:latin typeface="Calibri" panose="020F0502020204030204" pitchFamily="34" charset="0"/>
              </a:rPr>
              <a:t>estándares?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Cautelando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calidad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713" y="1107061"/>
            <a:ext cx="11264187" cy="3536295"/>
          </a:xfrm>
          <a:prstGeom prst="rect">
            <a:avLst/>
          </a:prstGeom>
        </p:spPr>
        <p:txBody>
          <a:bodyPr vert="horz" wrap="square" lIns="0" tIns="568395" rIns="0" bIns="0" rtlCol="0">
            <a:spAutoFit/>
          </a:bodyPr>
          <a:lstStyle/>
          <a:p>
            <a:pPr marL="3743977" marR="149790">
              <a:lnSpc>
                <a:spcPts val="2352"/>
              </a:lnSpc>
              <a:spcBef>
                <a:spcPts val="176"/>
              </a:spcBef>
            </a:pPr>
            <a:r>
              <a:rPr sz="2001" spc="-12" dirty="0">
                <a:latin typeface="Calibri" panose="020F0502020204030204" pitchFamily="34" charset="0"/>
              </a:rPr>
              <a:t>Tres </a:t>
            </a:r>
            <a:r>
              <a:rPr sz="2001" spc="88" dirty="0">
                <a:latin typeface="Calibri" panose="020F0502020204030204" pitchFamily="34" charset="0"/>
              </a:rPr>
              <a:t>grandes </a:t>
            </a:r>
            <a:r>
              <a:rPr sz="2001" spc="45" dirty="0">
                <a:latin typeface="Calibri" panose="020F0502020204030204" pitchFamily="34" charset="0"/>
              </a:rPr>
              <a:t>organizaciones </a:t>
            </a:r>
            <a:r>
              <a:rPr sz="2001" spc="36" dirty="0">
                <a:latin typeface="Calibri" panose="020F0502020204030204" pitchFamily="34" charset="0"/>
              </a:rPr>
              <a:t>profesionales </a:t>
            </a:r>
            <a:r>
              <a:rPr sz="2001" spc="76" dirty="0" err="1">
                <a:latin typeface="Calibri" panose="020F0502020204030204" pitchFamily="34" charset="0"/>
              </a:rPr>
              <a:t>en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88" dirty="0" err="1">
                <a:latin typeface="Calibri" panose="020F0502020204030204" pitchFamily="34" charset="0"/>
              </a:rPr>
              <a:t>Estados</a:t>
            </a:r>
            <a:r>
              <a:rPr sz="2001" spc="88" dirty="0">
                <a:latin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</a:rPr>
              <a:t>Unidos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han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publicado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forma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</a:rPr>
              <a:t>conjunta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desde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1954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</a:rPr>
              <a:t>un </a:t>
            </a:r>
            <a:r>
              <a:rPr sz="2001" spc="12" dirty="0">
                <a:latin typeface="Calibri" panose="020F0502020204030204" pitchFamily="34" charset="0"/>
              </a:rPr>
              <a:t>conjunto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82" dirty="0">
                <a:latin typeface="Calibri" panose="020F0502020204030204" pitchFamily="34" charset="0"/>
              </a:rPr>
              <a:t>normas </a:t>
            </a:r>
            <a:r>
              <a:rPr sz="2001" spc="27" dirty="0">
                <a:latin typeface="Calibri" panose="020F0502020204030204" pitchFamily="34" charset="0"/>
              </a:rPr>
              <a:t>orientadas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42" dirty="0">
                <a:latin typeface="Calibri" panose="020F0502020204030204" pitchFamily="34" charset="0"/>
              </a:rPr>
              <a:t>resguardar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36" dirty="0">
                <a:latin typeface="Calibri" panose="020F0502020204030204" pitchFamily="34" charset="0"/>
              </a:rPr>
              <a:t>calidad 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7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</a:rPr>
              <a:t>educación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y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psicología.</a:t>
            </a:r>
            <a:endParaRPr sz="2001" dirty="0">
              <a:latin typeface="Calibri" panose="020F0502020204030204" pitchFamily="34" charset="0"/>
            </a:endParaRPr>
          </a:p>
          <a:p>
            <a:pPr marL="3743977" marR="3081">
              <a:lnSpc>
                <a:spcPts val="2352"/>
              </a:lnSpc>
              <a:spcBef>
                <a:spcPts val="1489"/>
              </a:spcBef>
            </a:pPr>
            <a:r>
              <a:rPr sz="2001" spc="94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Psicológica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Americana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52" dirty="0">
                <a:latin typeface="Calibri" panose="020F0502020204030204" pitchFamily="34" charset="0"/>
              </a:rPr>
              <a:t>(APA),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 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33" dirty="0">
                <a:latin typeface="Calibri" panose="020F0502020204030204" pitchFamily="34" charset="0"/>
              </a:rPr>
              <a:t>Investigación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52" dirty="0">
                <a:latin typeface="Calibri" panose="020F0502020204030204" pitchFamily="34" charset="0"/>
              </a:rPr>
              <a:t>Americana </a:t>
            </a:r>
            <a:r>
              <a:rPr sz="2001" spc="33" dirty="0">
                <a:latin typeface="Calibri" panose="020F0502020204030204" pitchFamily="34" charset="0"/>
              </a:rPr>
              <a:t>(AERA) </a:t>
            </a:r>
            <a:r>
              <a:rPr sz="2001" spc="97" dirty="0">
                <a:latin typeface="Calibri" panose="020F0502020204030204" pitchFamily="34" charset="0"/>
              </a:rPr>
              <a:t>y </a:t>
            </a:r>
            <a:r>
              <a:rPr sz="2001" spc="15" dirty="0">
                <a:latin typeface="Calibri" panose="020F0502020204030204" pitchFamily="34" charset="0"/>
              </a:rPr>
              <a:t>el  </a:t>
            </a:r>
            <a:r>
              <a:rPr sz="2001" spc="61" dirty="0">
                <a:latin typeface="Calibri" panose="020F0502020204030204" pitchFamily="34" charset="0"/>
              </a:rPr>
              <a:t>Consejo </a:t>
            </a:r>
            <a:r>
              <a:rPr sz="2001" spc="55" dirty="0">
                <a:latin typeface="Calibri" panose="020F0502020204030204" pitchFamily="34" charset="0"/>
              </a:rPr>
              <a:t>Nacional </a:t>
            </a:r>
            <a:r>
              <a:rPr sz="2001" spc="24" dirty="0">
                <a:latin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67" dirty="0">
                <a:latin typeface="Calibri" panose="020F0502020204030204" pitchFamily="34" charset="0"/>
              </a:rPr>
              <a:t>Medición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85" dirty="0">
                <a:latin typeface="Calibri" panose="020F0502020204030204" pitchFamily="34" charset="0"/>
              </a:rPr>
              <a:t>(NCME)  </a:t>
            </a:r>
            <a:r>
              <a:rPr sz="2001" spc="33" dirty="0">
                <a:latin typeface="Calibri" panose="020F0502020204030204" pitchFamily="34" charset="0"/>
              </a:rPr>
              <a:t>publicaron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2014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sexta</a:t>
            </a:r>
            <a:r>
              <a:rPr sz="2001" spc="-146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versión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estas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normas: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 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1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r>
              <a:rPr sz="2001" spc="12" dirty="0">
                <a:latin typeface="Calibri" panose="020F0502020204030204" pitchFamily="34" charset="0"/>
              </a:rPr>
              <a:t>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7993" y="1619136"/>
            <a:ext cx="3128483" cy="442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2616" y="1861185"/>
            <a:ext cx="10203056" cy="378567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7701">
              <a:spcBef>
                <a:spcPts val="1292"/>
              </a:spcBef>
            </a:pP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incluye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tres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18950">
              <a:spcBef>
                <a:spcPts val="184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3002" spc="-3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respaldan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sus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propuestos.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94422">
              <a:spcBef>
                <a:spcPts val="1846"/>
              </a:spcBef>
            </a:pPr>
            <a:r>
              <a:rPr sz="3002" b="1" spc="182" dirty="0">
                <a:latin typeface="Calibri" panose="020F0502020204030204" pitchFamily="34" charset="0"/>
                <a:cs typeface="Calibri" panose="020F0502020204030204" pitchFamily="34" charset="0"/>
              </a:rPr>
              <a:t>PRECISIÓN/CONFIABILIDAD</a:t>
            </a:r>
            <a:r>
              <a:rPr sz="3002" b="1" spc="-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realizaciones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3081">
              <a:lnSpc>
                <a:spcPct val="98900"/>
              </a:lnSpc>
              <a:spcBef>
                <a:spcPts val="188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3002" spc="-3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capacidad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responder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características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individuales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contextos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tal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forma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 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produzcan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válidas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intencionados.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9794502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109" dirty="0">
                <a:solidFill>
                  <a:srgbClr val="4E4F52"/>
                </a:solidFill>
                <a:latin typeface="Calibri" panose="020F0502020204030204" pitchFamily="34" charset="0"/>
              </a:rPr>
              <a:t>Tres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fundamentos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7" dirty="0">
                <a:solidFill>
                  <a:srgbClr val="4E4F52"/>
                </a:solidFill>
                <a:latin typeface="Calibri" panose="020F0502020204030204" pitchFamily="34" charset="0"/>
              </a:rPr>
              <a:t>en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64" dirty="0">
                <a:solidFill>
                  <a:srgbClr val="4E4F52"/>
                </a:solidFill>
                <a:latin typeface="Calibri" panose="020F0502020204030204" pitchFamily="34" charset="0"/>
              </a:rPr>
              <a:t>los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88" dirty="0">
                <a:solidFill>
                  <a:srgbClr val="4E4F52"/>
                </a:solidFill>
                <a:latin typeface="Calibri" panose="020F0502020204030204" pitchFamily="34" charset="0"/>
              </a:rPr>
              <a:t>estándares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-18" dirty="0">
                <a:solidFill>
                  <a:srgbClr val="919191"/>
                </a:solidFill>
                <a:latin typeface="Calibri" panose="020F0502020204030204" pitchFamily="34" charset="0"/>
              </a:rPr>
              <a:t>Validez,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precisión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</a:rPr>
              <a:t>e</a:t>
            </a:r>
            <a:r>
              <a:rPr sz="1728" spc="-27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7" dirty="0">
                <a:solidFill>
                  <a:srgbClr val="919191"/>
                </a:solidFill>
                <a:latin typeface="Calibri" panose="020F0502020204030204" pitchFamily="34" charset="0"/>
              </a:rPr>
              <a:t>imparcialidad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3654" y="5954530"/>
            <a:ext cx="7840300" cy="31542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001" spc="-24" dirty="0">
                <a:solidFill>
                  <a:srgbClr val="959595"/>
                </a:solidFill>
                <a:latin typeface="Arial"/>
                <a:cs typeface="Arial"/>
              </a:rPr>
              <a:t>AERA, </a:t>
            </a:r>
            <a:r>
              <a:rPr sz="1001" spc="-33" dirty="0">
                <a:solidFill>
                  <a:srgbClr val="959595"/>
                </a:solidFill>
                <a:latin typeface="Arial"/>
                <a:cs typeface="Arial"/>
              </a:rPr>
              <a:t>APA,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&amp; </a:t>
            </a:r>
            <a:r>
              <a:rPr sz="1001" spc="-12" dirty="0">
                <a:solidFill>
                  <a:srgbClr val="959595"/>
                </a:solidFill>
                <a:latin typeface="Arial"/>
                <a:cs typeface="Arial"/>
              </a:rPr>
              <a:t>NCME.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(2014).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Standards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for </a:t>
            </a:r>
            <a:r>
              <a:rPr sz="1001" spc="9" dirty="0">
                <a:solidFill>
                  <a:srgbClr val="959595"/>
                </a:solidFill>
                <a:latin typeface="Arial"/>
                <a:cs typeface="Arial"/>
              </a:rPr>
              <a:t>educational </a:t>
            </a:r>
            <a:r>
              <a:rPr sz="1001" spc="15" dirty="0">
                <a:solidFill>
                  <a:srgbClr val="959595"/>
                </a:solidFill>
                <a:latin typeface="Arial"/>
                <a:cs typeface="Arial"/>
              </a:rPr>
              <a:t>and psychological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testing. </a:t>
            </a:r>
            <a:r>
              <a:rPr sz="1001" spc="-6" dirty="0">
                <a:solidFill>
                  <a:srgbClr val="959595"/>
                </a:solidFill>
                <a:latin typeface="Arial"/>
                <a:cs typeface="Arial"/>
              </a:rPr>
              <a:t>Washington,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DC: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American Psychological</a:t>
            </a:r>
            <a:r>
              <a:rPr sz="1001" spc="133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Association.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6598" y="1652707"/>
            <a:ext cx="10013604" cy="4471499"/>
          </a:xfrm>
          <a:prstGeom prst="rect">
            <a:avLst/>
          </a:prstGeom>
        </p:spPr>
        <p:txBody>
          <a:bodyPr vert="horz" wrap="square" lIns="0" tIns="25799" rIns="0" bIns="0" rtlCol="0">
            <a:spAutoFit/>
          </a:bodyPr>
          <a:lstStyle/>
          <a:p>
            <a:pPr marL="7701" marR="261844">
              <a:lnSpc>
                <a:spcPts val="2352"/>
              </a:lnSpc>
              <a:spcBef>
                <a:spcPts val="203"/>
              </a:spcBef>
            </a:pP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conceptualizaciones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aquello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han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cambiado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es 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esperable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continúen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haciéndolo.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</a:pP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tabLst>
                <a:tab pos="3532192" algn="l"/>
              </a:tabLst>
            </a:pP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Deﬁnición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clásica</a:t>
            </a:r>
            <a:r>
              <a:rPr sz="2001" spc="-1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 err="1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8" dirty="0">
                <a:latin typeface="Calibri" panose="020F0502020204030204" pitchFamily="34" charset="0"/>
                <a:cs typeface="Calibri" panose="020F0502020204030204" pitchFamily="34" charset="0"/>
              </a:rPr>
              <a:t>“Por</a:t>
            </a:r>
            <a:r>
              <a:rPr sz="2001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entiende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  </a:t>
            </a: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examinación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mide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propone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medir”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(Ruch,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1924).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</a:pP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471318">
              <a:lnSpc>
                <a:spcPts val="2352"/>
              </a:lnSpc>
            </a:pP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actual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“Validez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reﬁere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teoría 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respaldan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interpretaciones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puntajes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pruebas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sus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usos 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propuestos”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(AERA,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APA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NCME,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7" dirty="0">
                <a:latin typeface="Calibri" panose="020F0502020204030204" pitchFamily="34" charset="0"/>
                <a:cs typeface="Calibri" panose="020F0502020204030204" pitchFamily="34" charset="0"/>
              </a:rPr>
              <a:t>2014)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7"/>
              </a:spcBef>
            </a:pP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pasó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entre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clásica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Ruch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Estándares?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4481"/>
            <a:ext cx="10342064" cy="1366640"/>
          </a:xfrm>
          <a:prstGeom prst="rect">
            <a:avLst/>
          </a:prstGeom>
        </p:spPr>
        <p:txBody>
          <a:bodyPr vert="horz" wrap="square" lIns="0" tIns="287258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61"/>
              </a:spcBef>
            </a:pPr>
            <a:r>
              <a:rPr sz="4518" spc="-64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4518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7" dirty="0">
                <a:solidFill>
                  <a:srgbClr val="4E4F52"/>
                </a:solidFill>
                <a:latin typeface="Calibri" panose="020F0502020204030204" pitchFamily="34" charset="0"/>
              </a:rPr>
              <a:t>un</a:t>
            </a:r>
            <a:r>
              <a:rPr sz="4518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4" dirty="0">
                <a:solidFill>
                  <a:srgbClr val="4E4F52"/>
                </a:solidFill>
                <a:latin typeface="Calibri" panose="020F0502020204030204" pitchFamily="34" charset="0"/>
              </a:rPr>
              <a:t>constructo</a:t>
            </a:r>
            <a:r>
              <a:rPr sz="4518" spc="-3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39" dirty="0">
                <a:solidFill>
                  <a:srgbClr val="4E4F52"/>
                </a:solidFill>
                <a:latin typeface="Calibri" panose="020F0502020204030204" pitchFamily="34" charset="0"/>
              </a:rPr>
              <a:t>variado</a:t>
            </a:r>
            <a:r>
              <a:rPr sz="4518" spc="-37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9" dirty="0">
                <a:solidFill>
                  <a:srgbClr val="4E4F52"/>
                </a:solidFill>
                <a:latin typeface="Calibri" panose="020F0502020204030204" pitchFamily="34" charset="0"/>
              </a:rPr>
              <a:t>y</a:t>
            </a:r>
            <a:r>
              <a:rPr sz="4518" spc="-3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lang="es-MX" sz="4518" spc="52" dirty="0" err="1">
                <a:solidFill>
                  <a:srgbClr val="4E4F52"/>
                </a:solidFill>
                <a:latin typeface="Calibri" panose="020F0502020204030204" pitchFamily="34" charset="0"/>
              </a:rPr>
              <a:t>fl</a:t>
            </a:r>
            <a:r>
              <a:rPr sz="4518" spc="52" dirty="0" err="1">
                <a:solidFill>
                  <a:srgbClr val="4E4F52"/>
                </a:solidFill>
                <a:latin typeface="Calibri" panose="020F0502020204030204" pitchFamily="34" charset="0"/>
              </a:rPr>
              <a:t>uido</a:t>
            </a:r>
            <a:endParaRPr sz="4518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67"/>
              </a:spcBef>
            </a:pP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lang="es-MX"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fi</a:t>
            </a:r>
            <a:r>
              <a:rPr sz="1728" spc="24" dirty="0" err="1">
                <a:solidFill>
                  <a:srgbClr val="919191"/>
                </a:solidFill>
                <a:latin typeface="Calibri" panose="020F0502020204030204" pitchFamily="34" charset="0"/>
              </a:rPr>
              <a:t>niciones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267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Validez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8635843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24" dirty="0">
                <a:solidFill>
                  <a:srgbClr val="4E4F52"/>
                </a:solidFill>
                <a:latin typeface="Calibri" panose="020F0502020204030204" pitchFamily="34" charset="0"/>
              </a:rPr>
              <a:t>Primer </a:t>
            </a:r>
            <a:r>
              <a:rPr sz="4487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4487" spc="-72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8" dirty="0">
                <a:solidFill>
                  <a:srgbClr val="4E4F52"/>
                </a:solidFill>
                <a:latin typeface="Calibri" panose="020F0502020204030204" pitchFamily="34" charset="0"/>
              </a:rPr>
              <a:t>Validez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9859" y="1521840"/>
            <a:ext cx="11416587" cy="3567448"/>
          </a:xfrm>
          <a:prstGeom prst="rect">
            <a:avLst/>
          </a:prstGeom>
        </p:spPr>
        <p:txBody>
          <a:bodyPr vert="horz" wrap="square" lIns="0" tIns="223200" rIns="0" bIns="0" rtlCol="0">
            <a:spAutoFit/>
          </a:bodyPr>
          <a:lstStyle/>
          <a:p>
            <a:pPr marL="1305752" marR="278786">
              <a:lnSpc>
                <a:spcPct val="100499"/>
              </a:lnSpc>
              <a:spcBef>
                <a:spcPts val="58"/>
              </a:spcBef>
            </a:pPr>
            <a:r>
              <a:rPr sz="2400" spc="-118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se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refiere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al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grado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evidencia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y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teoría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respaldan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las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interpretaciones 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 sus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355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4" dirty="0">
                <a:latin typeface="Calibri" panose="020F0502020204030204" pitchFamily="34" charset="0"/>
                <a:cs typeface="Calibri"/>
              </a:rPr>
              <a:t>propuestos.</a:t>
            </a:r>
          </a:p>
          <a:p>
            <a:pPr marL="1305752" marR="13092">
              <a:lnSpc>
                <a:spcPct val="100499"/>
              </a:lnSpc>
              <a:spcBef>
                <a:spcPts val="1501"/>
              </a:spcBef>
            </a:pPr>
            <a:r>
              <a:rPr sz="2400" spc="-118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3" dirty="0">
                <a:latin typeface="Calibri" panose="020F0502020204030204" pitchFamily="34" charset="0"/>
                <a:cs typeface="Calibri"/>
              </a:rPr>
              <a:t>es,</a:t>
            </a:r>
            <a:r>
              <a:rPr sz="2400" spc="-246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por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5" dirty="0">
                <a:latin typeface="Calibri" panose="020F0502020204030204" pitchFamily="34" charset="0"/>
                <a:cs typeface="Calibri"/>
              </a:rPr>
              <a:t>ende,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consideración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más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fundamental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el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9" dirty="0">
                <a:latin typeface="Calibri" panose="020F0502020204030204" pitchFamily="34" charset="0"/>
                <a:cs typeface="Calibri"/>
              </a:rPr>
              <a:t>desarrollo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y  la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evaluación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pruebas…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Es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interpretación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las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 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propuestos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son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evaluados,</a:t>
            </a:r>
            <a:r>
              <a:rPr sz="2400" spc="-246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no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3" dirty="0">
                <a:latin typeface="Calibri" panose="020F0502020204030204" pitchFamily="34" charset="0"/>
                <a:cs typeface="Calibri"/>
              </a:rPr>
              <a:t>sí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misma…</a:t>
            </a:r>
          </a:p>
          <a:p>
            <a:pPr marL="1305752" marR="53139">
              <a:lnSpc>
                <a:spcPct val="100499"/>
              </a:lnSpc>
              <a:spcBef>
                <a:spcPts val="1504"/>
              </a:spcBef>
            </a:pPr>
            <a:r>
              <a:rPr sz="2400" spc="-130" dirty="0">
                <a:latin typeface="Calibri" panose="020F0502020204030204" pitchFamily="34" charset="0"/>
                <a:cs typeface="Calibri"/>
              </a:rPr>
              <a:t>Afirmaciones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respecto a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validez 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deben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referirse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a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interpretaciones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particulares 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1" dirty="0">
                <a:latin typeface="Calibri" panose="020F0502020204030204" pitchFamily="34" charset="0"/>
                <a:cs typeface="Calibri"/>
              </a:rPr>
              <a:t>específicos.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Es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incorrecto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usar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incondicionalmente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frase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“la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 </a:t>
            </a:r>
            <a:r>
              <a:rPr sz="2400" spc="-206" dirty="0">
                <a:latin typeface="Calibri" panose="020F0502020204030204" pitchFamily="34" charset="0"/>
                <a:cs typeface="Calibri"/>
              </a:rPr>
              <a:t>prueba”.</a:t>
            </a:r>
          </a:p>
          <a:p>
            <a:pPr marL="1298051" marR="3081" algn="r">
              <a:lnSpc>
                <a:spcPct val="100000"/>
              </a:lnSpc>
              <a:spcBef>
                <a:spcPts val="549"/>
              </a:spcBef>
            </a:pPr>
            <a:r>
              <a:rPr sz="2000" spc="-9" dirty="0">
                <a:latin typeface="Calibri" panose="020F0502020204030204" pitchFamily="34" charset="0"/>
                <a:cs typeface="Calibri"/>
              </a:rPr>
              <a:t>AERA,</a:t>
            </a:r>
            <a:r>
              <a:rPr sz="2000" spc="-17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-33" dirty="0">
                <a:latin typeface="Calibri" panose="020F0502020204030204" pitchFamily="34" charset="0"/>
                <a:cs typeface="Calibri"/>
              </a:rPr>
              <a:t>APA</a:t>
            </a:r>
            <a:r>
              <a:rPr sz="2000" spc="-13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39" dirty="0">
                <a:latin typeface="Calibri" panose="020F0502020204030204" pitchFamily="34" charset="0"/>
                <a:cs typeface="Calibri"/>
              </a:rPr>
              <a:t>y</a:t>
            </a:r>
            <a:r>
              <a:rPr sz="2000" spc="-13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-27" dirty="0">
                <a:latin typeface="Calibri" panose="020F0502020204030204" pitchFamily="34" charset="0"/>
                <a:cs typeface="Calibri"/>
              </a:rPr>
              <a:t>NCME</a:t>
            </a:r>
            <a:r>
              <a:rPr sz="2000" spc="-173" dirty="0">
                <a:latin typeface="Calibri" panose="020F0502020204030204" pitchFamily="34" charset="0"/>
                <a:cs typeface="Calibri"/>
              </a:rPr>
              <a:t> </a:t>
            </a:r>
            <a:r>
              <a:rPr sz="1600" spc="-64" dirty="0">
                <a:latin typeface="Calibri" panose="020F0502020204030204" pitchFamily="34" charset="0"/>
                <a:cs typeface="Calibri"/>
              </a:rPr>
              <a:t>(2014)</a:t>
            </a:r>
            <a:endParaRPr sz="1600" dirty="0">
              <a:latin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7128" y="1700329"/>
            <a:ext cx="9296999" cy="204640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just">
              <a:lnSpc>
                <a:spcPct val="100499"/>
              </a:lnSpc>
              <a:spcBef>
                <a:spcPts val="58"/>
              </a:spcBef>
            </a:pPr>
            <a:r>
              <a:rPr sz="2400" spc="-146" dirty="0">
                <a:latin typeface="Calibri" panose="020F0502020204030204" pitchFamily="34" charset="0"/>
                <a:cs typeface="Calibri"/>
              </a:rPr>
              <a:t>Subrepresentación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(o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deficiencia)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del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constructo: 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“grado </a:t>
            </a:r>
            <a:r>
              <a:rPr sz="2400" spc="-188" dirty="0">
                <a:latin typeface="Calibri" panose="020F0502020204030204" pitchFamily="34" charset="0"/>
                <a:cs typeface="Calibri"/>
              </a:rPr>
              <a:t>con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una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ignora 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(o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0" dirty="0">
                <a:latin typeface="Calibri" panose="020F0502020204030204" pitchFamily="34" charset="0"/>
                <a:cs typeface="Calibri"/>
              </a:rPr>
              <a:t>falla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18" dirty="0">
                <a:latin typeface="Calibri" panose="020F0502020204030204" pitchFamily="34" charset="0"/>
                <a:cs typeface="Calibri"/>
              </a:rPr>
              <a:t>medir)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5" dirty="0">
                <a:latin typeface="Calibri" panose="020F0502020204030204" pitchFamily="34" charset="0"/>
                <a:cs typeface="Calibri"/>
              </a:rPr>
              <a:t>aspectos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relevantes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un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3" dirty="0">
                <a:latin typeface="Calibri" panose="020F0502020204030204" pitchFamily="34" charset="0"/>
                <a:cs typeface="Calibri"/>
              </a:rPr>
              <a:t>constructo”</a:t>
            </a:r>
            <a:endParaRPr sz="2400" dirty="0">
              <a:latin typeface="Calibri" panose="020F0502020204030204" pitchFamily="34" charset="0"/>
              <a:cs typeface="Calibri"/>
            </a:endParaRPr>
          </a:p>
          <a:p>
            <a:pPr marL="7701" marR="3081" algn="just">
              <a:lnSpc>
                <a:spcPct val="100499"/>
              </a:lnSpc>
              <a:spcBef>
                <a:spcPts val="1501"/>
              </a:spcBef>
            </a:pPr>
            <a:r>
              <a:rPr sz="2400" spc="-112" dirty="0">
                <a:latin typeface="Calibri" panose="020F0502020204030204" pitchFamily="34" charset="0"/>
                <a:cs typeface="Calibri"/>
              </a:rPr>
              <a:t>Varianza </a:t>
            </a:r>
            <a:r>
              <a:rPr sz="2400" spc="-127" dirty="0">
                <a:latin typeface="Calibri" panose="020F0502020204030204" pitchFamily="34" charset="0"/>
                <a:cs typeface="Calibri"/>
              </a:rPr>
              <a:t>irrelevante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al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constructo </a:t>
            </a:r>
            <a:r>
              <a:rPr sz="2400" spc="-248" dirty="0">
                <a:latin typeface="Calibri" panose="020F0502020204030204" pitchFamily="34" charset="0"/>
                <a:cs typeface="Calibri"/>
              </a:rPr>
              <a:t>o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contaminación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del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constructo: 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“grado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 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una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se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ven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afectados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por 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procesos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ajenos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a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lo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esta pretende  </a:t>
            </a:r>
            <a:r>
              <a:rPr sz="2400" spc="-161" dirty="0">
                <a:latin typeface="Calibri" panose="020F0502020204030204" pitchFamily="34" charset="0"/>
                <a:cs typeface="Calibri"/>
              </a:rPr>
              <a:t>medir”</a:t>
            </a:r>
            <a:endParaRPr sz="2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2" y="8537"/>
            <a:ext cx="10360162" cy="1361618"/>
          </a:xfrm>
          <a:prstGeom prst="rect">
            <a:avLst/>
          </a:prstGeom>
        </p:spPr>
        <p:txBody>
          <a:bodyPr vert="horz" wrap="square" lIns="0" tIns="267235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104"/>
              </a:spcBef>
            </a:pPr>
            <a:r>
              <a:rPr sz="4700" spc="-73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4700" spc="-2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103" dirty="0">
                <a:solidFill>
                  <a:srgbClr val="4E4F52"/>
                </a:solidFill>
                <a:latin typeface="Calibri" panose="020F0502020204030204" pitchFamily="34" charset="0"/>
              </a:rPr>
              <a:t>elementos</a:t>
            </a:r>
            <a:r>
              <a:rPr sz="4700" spc="-25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130" dirty="0">
                <a:solidFill>
                  <a:srgbClr val="4E4F52"/>
                </a:solidFill>
                <a:latin typeface="Calibri" panose="020F0502020204030204" pitchFamily="34" charset="0"/>
              </a:rPr>
              <a:t>que</a:t>
            </a:r>
            <a:r>
              <a:rPr sz="4700" spc="-25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88" dirty="0">
                <a:solidFill>
                  <a:srgbClr val="4E4F52"/>
                </a:solidFill>
                <a:latin typeface="Calibri" panose="020F0502020204030204" pitchFamily="34" charset="0"/>
              </a:rPr>
              <a:t>la</a:t>
            </a:r>
            <a:r>
              <a:rPr sz="4700" spc="-2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94" dirty="0">
                <a:solidFill>
                  <a:srgbClr val="4E4F52"/>
                </a:solidFill>
                <a:latin typeface="Calibri" panose="020F0502020204030204" pitchFamily="34" charset="0"/>
              </a:rPr>
              <a:t>amenazan</a:t>
            </a:r>
            <a:endParaRPr sz="4700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78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8889" y="4559744"/>
            <a:ext cx="1923012" cy="1046200"/>
          </a:xfrm>
          <a:prstGeom prst="rect">
            <a:avLst/>
          </a:prstGeom>
          <a:solidFill>
            <a:srgbClr val="FFFFFF"/>
          </a:solidFill>
          <a:ln w="17813">
            <a:solidFill>
              <a:srgbClr val="000000"/>
            </a:solidFill>
          </a:ln>
        </p:spPr>
        <p:txBody>
          <a:bodyPr vert="horz" wrap="square" lIns="0" tIns="1540" rIns="0" bIns="0" rtlCol="0">
            <a:spAutoFit/>
          </a:bodyPr>
          <a:lstStyle/>
          <a:p>
            <a:pPr>
              <a:spcBef>
                <a:spcPts val="12"/>
              </a:spcBef>
            </a:pPr>
            <a:endParaRPr sz="1455">
              <a:latin typeface="Times New Roman"/>
              <a:cs typeface="Times New Roman"/>
            </a:endParaRPr>
          </a:p>
          <a:p>
            <a:pPr marL="388915" marR="395076" algn="ctr">
              <a:lnSpc>
                <a:spcPts val="1613"/>
              </a:lnSpc>
            </a:pPr>
            <a:r>
              <a:rPr sz="1364" spc="9" dirty="0">
                <a:solidFill>
                  <a:srgbClr val="4E4F52"/>
                </a:solidFill>
                <a:latin typeface="Cambria"/>
                <a:cs typeface="Cambria"/>
              </a:rPr>
              <a:t>Atributo</a:t>
            </a:r>
            <a:r>
              <a:rPr sz="1364" dirty="0">
                <a:solidFill>
                  <a:srgbClr val="4E4F52"/>
                </a:solidFill>
                <a:latin typeface="Cambria"/>
                <a:cs typeface="Cambria"/>
              </a:rPr>
              <a:t> </a:t>
            </a:r>
            <a:r>
              <a:rPr sz="1364" spc="52" dirty="0">
                <a:solidFill>
                  <a:srgbClr val="4E4F52"/>
                </a:solidFill>
                <a:latin typeface="Cambria"/>
                <a:cs typeface="Cambria"/>
              </a:rPr>
              <a:t>sobre  </a:t>
            </a:r>
            <a:r>
              <a:rPr sz="1364" spc="64" dirty="0">
                <a:solidFill>
                  <a:srgbClr val="4E4F52"/>
                </a:solidFill>
                <a:latin typeface="Cambria"/>
                <a:cs typeface="Cambria"/>
              </a:rPr>
              <a:t>el </a:t>
            </a:r>
            <a:r>
              <a:rPr sz="1364" spc="91" dirty="0">
                <a:solidFill>
                  <a:srgbClr val="4E4F52"/>
                </a:solidFill>
                <a:latin typeface="Cambria"/>
                <a:cs typeface="Cambria"/>
              </a:rPr>
              <a:t>que </a:t>
            </a:r>
            <a:r>
              <a:rPr sz="1364" spc="64" dirty="0">
                <a:solidFill>
                  <a:srgbClr val="4E4F52"/>
                </a:solidFill>
                <a:latin typeface="Cambria"/>
                <a:cs typeface="Cambria"/>
              </a:rPr>
              <a:t>nos  </a:t>
            </a:r>
            <a:r>
              <a:rPr sz="1364" spc="24" dirty="0">
                <a:solidFill>
                  <a:srgbClr val="4E4F52"/>
                </a:solidFill>
                <a:latin typeface="Cambria"/>
                <a:cs typeface="Cambria"/>
              </a:rPr>
              <a:t>interesa </a:t>
            </a:r>
            <a:r>
              <a:rPr sz="1364" spc="58" dirty="0">
                <a:solidFill>
                  <a:srgbClr val="4E4F52"/>
                </a:solidFill>
                <a:latin typeface="Cambria"/>
                <a:cs typeface="Cambria"/>
              </a:rPr>
              <a:t>hacer  </a:t>
            </a:r>
            <a:r>
              <a:rPr sz="1364" spc="52" dirty="0">
                <a:solidFill>
                  <a:srgbClr val="4E4F52"/>
                </a:solidFill>
                <a:latin typeface="Cambria"/>
                <a:cs typeface="Cambria"/>
              </a:rPr>
              <a:t>una</a:t>
            </a:r>
            <a:r>
              <a:rPr sz="1364" spc="9" dirty="0">
                <a:solidFill>
                  <a:srgbClr val="4E4F52"/>
                </a:solidFill>
                <a:latin typeface="Cambria"/>
                <a:cs typeface="Cambria"/>
              </a:rPr>
              <a:t> </a:t>
            </a:r>
            <a:r>
              <a:rPr sz="1364" spc="24" dirty="0">
                <a:solidFill>
                  <a:srgbClr val="4E4F52"/>
                </a:solidFill>
                <a:latin typeface="Cambria"/>
                <a:cs typeface="Cambria"/>
              </a:rPr>
              <a:t>inferencia</a:t>
            </a:r>
            <a:endParaRPr sz="1364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06695" y="4554343"/>
          <a:ext cx="2152415" cy="126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11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101">
                <a:tc gridSpan="4">
                  <a:txBody>
                    <a:bodyPr/>
                    <a:lstStyle/>
                    <a:p>
                      <a:pPr marL="331470" algn="l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spc="85" dirty="0">
                          <a:solidFill>
                            <a:srgbClr val="4E4F52"/>
                          </a:solidFill>
                          <a:latin typeface="Cambria"/>
                          <a:cs typeface="Cambria"/>
                        </a:rPr>
                        <a:t>Subrepresentación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10204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25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851830" y="5191662"/>
            <a:ext cx="951880" cy="0"/>
          </a:xfrm>
          <a:custGeom>
            <a:avLst/>
            <a:gdLst/>
            <a:ahLst/>
            <a:cxnLst/>
            <a:rect l="l" t="t" r="r" b="b"/>
            <a:pathLst>
              <a:path w="1569720">
                <a:moveTo>
                  <a:pt x="1569354" y="0"/>
                </a:moveTo>
                <a:lnTo>
                  <a:pt x="0" y="0"/>
                </a:lnTo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3748131" y="5152775"/>
            <a:ext cx="103967" cy="77783"/>
          </a:xfrm>
          <a:custGeom>
            <a:avLst/>
            <a:gdLst/>
            <a:ahLst/>
            <a:cxnLst/>
            <a:rect l="l" t="t" r="r" b="b"/>
            <a:pathLst>
              <a:path w="171450" h="128270">
                <a:moveTo>
                  <a:pt x="0" y="64127"/>
                </a:moveTo>
                <a:lnTo>
                  <a:pt x="171007" y="128255"/>
                </a:lnTo>
                <a:lnTo>
                  <a:pt x="171007" y="0"/>
                </a:lnTo>
                <a:lnTo>
                  <a:pt x="0" y="64127"/>
                </a:lnTo>
                <a:close/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8762432" y="5834016"/>
            <a:ext cx="1923012" cy="324224"/>
          </a:xfrm>
          <a:custGeom>
            <a:avLst/>
            <a:gdLst/>
            <a:ahLst/>
            <a:cxnLst/>
            <a:rect l="l" t="t" r="r" b="b"/>
            <a:pathLst>
              <a:path w="3171190" h="534670">
                <a:moveTo>
                  <a:pt x="0" y="534669"/>
                </a:moveTo>
                <a:lnTo>
                  <a:pt x="3170772" y="534669"/>
                </a:lnTo>
                <a:lnTo>
                  <a:pt x="3170772" y="0"/>
                </a:lnTo>
                <a:lnTo>
                  <a:pt x="0" y="0"/>
                </a:lnTo>
                <a:lnTo>
                  <a:pt x="0" y="5346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7865862" y="5423538"/>
            <a:ext cx="2819443" cy="410479"/>
          </a:xfrm>
          <a:custGeom>
            <a:avLst/>
            <a:gdLst/>
            <a:ahLst/>
            <a:cxnLst/>
            <a:rect l="l" t="t" r="r" b="b"/>
            <a:pathLst>
              <a:path w="4649469" h="676909">
                <a:moveTo>
                  <a:pt x="0" y="676910"/>
                </a:moveTo>
                <a:lnTo>
                  <a:pt x="4649282" y="676910"/>
                </a:lnTo>
                <a:lnTo>
                  <a:pt x="4649282" y="0"/>
                </a:lnTo>
                <a:lnTo>
                  <a:pt x="0" y="0"/>
                </a:lnTo>
                <a:lnTo>
                  <a:pt x="0" y="6769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7865862" y="4570235"/>
            <a:ext cx="3262267" cy="853303"/>
          </a:xfrm>
          <a:custGeom>
            <a:avLst/>
            <a:gdLst/>
            <a:ahLst/>
            <a:cxnLst/>
            <a:rect l="l" t="t" r="r" b="b"/>
            <a:pathLst>
              <a:path w="5379719" h="1407159">
                <a:moveTo>
                  <a:pt x="0" y="1407159"/>
                </a:moveTo>
                <a:lnTo>
                  <a:pt x="5379626" y="1407159"/>
                </a:lnTo>
                <a:lnTo>
                  <a:pt x="5379626" y="0"/>
                </a:lnTo>
                <a:lnTo>
                  <a:pt x="0" y="0"/>
                </a:lnTo>
                <a:lnTo>
                  <a:pt x="0" y="14071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9205314" y="4159756"/>
            <a:ext cx="1923012" cy="410479"/>
          </a:xfrm>
          <a:custGeom>
            <a:avLst/>
            <a:gdLst/>
            <a:ahLst/>
            <a:cxnLst/>
            <a:rect l="l" t="t" r="r" b="b"/>
            <a:pathLst>
              <a:path w="3171190" h="676909">
                <a:moveTo>
                  <a:pt x="0" y="676909"/>
                </a:moveTo>
                <a:lnTo>
                  <a:pt x="3170772" y="676909"/>
                </a:lnTo>
                <a:lnTo>
                  <a:pt x="3170772" y="0"/>
                </a:lnTo>
                <a:lnTo>
                  <a:pt x="0" y="0"/>
                </a:lnTo>
                <a:lnTo>
                  <a:pt x="0" y="6769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7865862" y="4160069"/>
            <a:ext cx="3262267" cy="1998485"/>
          </a:xfrm>
          <a:custGeom>
            <a:avLst/>
            <a:gdLst/>
            <a:ahLst/>
            <a:cxnLst/>
            <a:rect l="l" t="t" r="r" b="b"/>
            <a:pathLst>
              <a:path w="5379719" h="3295650">
                <a:moveTo>
                  <a:pt x="1478506" y="2761066"/>
                </a:moveTo>
                <a:lnTo>
                  <a:pt x="1478506" y="3295466"/>
                </a:lnTo>
                <a:lnTo>
                  <a:pt x="4649279" y="3295466"/>
                </a:lnTo>
                <a:lnTo>
                  <a:pt x="4649279" y="2084159"/>
                </a:lnTo>
                <a:lnTo>
                  <a:pt x="5379626" y="2084159"/>
                </a:lnTo>
                <a:lnTo>
                  <a:pt x="5379626" y="0"/>
                </a:lnTo>
                <a:lnTo>
                  <a:pt x="2208853" y="0"/>
                </a:lnTo>
                <a:lnTo>
                  <a:pt x="2208853" y="676906"/>
                </a:lnTo>
                <a:lnTo>
                  <a:pt x="0" y="676906"/>
                </a:lnTo>
                <a:lnTo>
                  <a:pt x="0" y="2761066"/>
                </a:lnTo>
                <a:lnTo>
                  <a:pt x="1478506" y="2761066"/>
                </a:lnTo>
                <a:close/>
              </a:path>
            </a:pathLst>
          </a:custGeom>
          <a:ln w="1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7865862" y="4570546"/>
            <a:ext cx="1923012" cy="1264167"/>
          </a:xfrm>
          <a:custGeom>
            <a:avLst/>
            <a:gdLst/>
            <a:ahLst/>
            <a:cxnLst/>
            <a:rect l="l" t="t" r="r" b="b"/>
            <a:pathLst>
              <a:path w="3171190" h="2084704">
                <a:moveTo>
                  <a:pt x="0" y="0"/>
                </a:moveTo>
                <a:lnTo>
                  <a:pt x="3170773" y="0"/>
                </a:lnTo>
                <a:lnTo>
                  <a:pt x="3170773" y="2084159"/>
                </a:lnTo>
                <a:lnTo>
                  <a:pt x="0" y="2084159"/>
                </a:lnTo>
                <a:lnTo>
                  <a:pt x="0" y="0"/>
                </a:lnTo>
                <a:close/>
              </a:path>
            </a:pathLst>
          </a:custGeom>
          <a:ln w="1781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7865862" y="4854499"/>
            <a:ext cx="3262267" cy="21731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018890">
              <a:spcBef>
                <a:spcPts val="58"/>
              </a:spcBef>
            </a:pPr>
            <a:r>
              <a:rPr sz="1364" spc="49" dirty="0">
                <a:solidFill>
                  <a:srgbClr val="4E4F52"/>
                </a:solidFill>
                <a:latin typeface="Cambria"/>
                <a:cs typeface="Cambria"/>
              </a:rPr>
              <a:t>Contaminación</a:t>
            </a:r>
            <a:endParaRPr sz="1364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69457" y="5202464"/>
            <a:ext cx="919534" cy="0"/>
          </a:xfrm>
          <a:custGeom>
            <a:avLst/>
            <a:gdLst/>
            <a:ahLst/>
            <a:cxnLst/>
            <a:rect l="l" t="t" r="r" b="b"/>
            <a:pathLst>
              <a:path w="1516379">
                <a:moveTo>
                  <a:pt x="0" y="0"/>
                </a:moveTo>
                <a:lnTo>
                  <a:pt x="1515914" y="0"/>
                </a:lnTo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7688709" y="5163577"/>
            <a:ext cx="103967" cy="77783"/>
          </a:xfrm>
          <a:custGeom>
            <a:avLst/>
            <a:gdLst/>
            <a:ahLst/>
            <a:cxnLst/>
            <a:rect l="l" t="t" r="r" b="b"/>
            <a:pathLst>
              <a:path w="171450" h="128270">
                <a:moveTo>
                  <a:pt x="171007" y="64127"/>
                </a:moveTo>
                <a:lnTo>
                  <a:pt x="0" y="0"/>
                </a:lnTo>
                <a:lnTo>
                  <a:pt x="0" y="128255"/>
                </a:lnTo>
                <a:lnTo>
                  <a:pt x="171007" y="64127"/>
                </a:lnTo>
                <a:close/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03899" y="2089556"/>
            <a:ext cx="5986214" cy="394904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940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36" dirty="0"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58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229498">
              <a:lnSpc>
                <a:spcPts val="7101"/>
              </a:lnSpc>
              <a:spcBef>
                <a:spcPts val="979"/>
              </a:spcBef>
            </a:pP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1940" spc="73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1940" spc="85" dirty="0"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40" spc="49" dirty="0">
                <a:latin typeface="Calibri" panose="020F0502020204030204" pitchFamily="34" charset="0"/>
                <a:cs typeface="Calibri" panose="020F0502020204030204" pitchFamily="34" charset="0"/>
              </a:rPr>
              <a:t>respuesta  </a:t>
            </a: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1940" spc="12" dirty="0">
                <a:latin typeface="Calibri" panose="020F0502020204030204" pitchFamily="34" charset="0"/>
                <a:cs typeface="Calibri" panose="020F0502020204030204" pitchFamily="34" charset="0"/>
              </a:rPr>
              <a:t>estructura </a:t>
            </a:r>
            <a:r>
              <a:rPr sz="1940" spc="-18" dirty="0">
                <a:latin typeface="Calibri" panose="020F0502020204030204" pitchFamily="34" charset="0"/>
                <a:cs typeface="Calibri" panose="020F0502020204030204" pitchFamily="34" charset="0"/>
              </a:rPr>
              <a:t>interna  </a:t>
            </a: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" dirty="0"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8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12" dirty="0"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1940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21" dirty="0"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31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49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76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58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79603"/>
            <a:ext cx="8923486" cy="1460507"/>
          </a:xfrm>
          <a:prstGeom prst="rect">
            <a:avLst/>
          </a:prstGeom>
        </p:spPr>
        <p:txBody>
          <a:bodyPr vert="horz" wrap="square" lIns="0" tIns="40047" rIns="0" bIns="0" rtlCol="0" anchor="ctr">
            <a:spAutoFit/>
          </a:bodyPr>
          <a:lstStyle/>
          <a:p>
            <a:pPr marL="7701" marR="3081">
              <a:lnSpc>
                <a:spcPts val="4299"/>
              </a:lnSpc>
              <a:spcBef>
                <a:spcPts val="315"/>
              </a:spcBef>
            </a:pPr>
            <a:r>
              <a:rPr sz="3699" spc="-61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</a:rPr>
              <a:t>argumentación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112" dirty="0">
                <a:solidFill>
                  <a:srgbClr val="4E4F52"/>
                </a:solidFill>
                <a:latin typeface="Calibri" panose="020F0502020204030204" pitchFamily="34" charset="0"/>
              </a:rPr>
              <a:t>a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-73" dirty="0">
                <a:solidFill>
                  <a:srgbClr val="4E4F52"/>
                </a:solidFill>
                <a:latin typeface="Calibri" panose="020F0502020204030204" pitchFamily="34" charset="0"/>
              </a:rPr>
              <a:t>partir</a:t>
            </a:r>
            <a:r>
              <a:rPr sz="3699" spc="-29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13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52" dirty="0">
                <a:solidFill>
                  <a:srgbClr val="4E4F52"/>
                </a:solidFill>
                <a:latin typeface="Calibri" panose="020F0502020204030204" pitchFamily="34" charset="0"/>
              </a:rPr>
              <a:t>cinco  </a:t>
            </a:r>
            <a:r>
              <a:rPr sz="3699" spc="33" dirty="0">
                <a:solidFill>
                  <a:srgbClr val="4E4F52"/>
                </a:solidFill>
                <a:latin typeface="Calibri" panose="020F0502020204030204" pitchFamily="34" charset="0"/>
              </a:rPr>
              <a:t>fuentes </a:t>
            </a:r>
            <a:r>
              <a:rPr sz="3699" spc="13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3699" spc="-4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27" dirty="0">
                <a:solidFill>
                  <a:srgbClr val="4E4F52"/>
                </a:solidFill>
                <a:latin typeface="Calibri" panose="020F0502020204030204" pitchFamily="34" charset="0"/>
              </a:rPr>
              <a:t>evidencia</a:t>
            </a:r>
            <a:endParaRPr sz="3699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41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2" y="317420"/>
            <a:ext cx="8129868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106" dirty="0">
                <a:latin typeface="Calibri" panose="020F0502020204030204" pitchFamily="34" charset="0"/>
                <a:cs typeface="Calibri" panose="020F0502020204030204" pitchFamily="34" charset="0"/>
              </a:rPr>
              <a:t>Argumentación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5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3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79" dirty="0">
                <a:latin typeface="Calibri" panose="020F0502020204030204" pitchFamily="34" charset="0"/>
                <a:cs typeface="Calibri" panose="020F0502020204030204" pitchFamily="34" charset="0"/>
              </a:rPr>
              <a:t>partir</a:t>
            </a:r>
            <a:r>
              <a:rPr sz="3699" spc="-2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94" dirty="0">
                <a:latin typeface="Calibri" panose="020F0502020204030204" pitchFamily="34" charset="0"/>
                <a:cs typeface="Calibri" panose="020F0502020204030204" pitchFamily="34" charset="0"/>
              </a:rPr>
              <a:t>cinco</a:t>
            </a:r>
            <a:r>
              <a:rPr sz="3699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67" dirty="0">
                <a:latin typeface="Calibri" panose="020F0502020204030204" pitchFamily="34" charset="0"/>
                <a:cs typeface="Calibri" panose="020F0502020204030204" pitchFamily="34" charset="0"/>
              </a:rPr>
              <a:t>fuentes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61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8169" y="1497144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412" y="3097231"/>
            <a:ext cx="9538049" cy="1641437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Estos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latin typeface="Calibri" panose="020F0502020204030204" pitchFamily="34" charset="0"/>
                <a:cs typeface="Calibri" panose="020F0502020204030204" pitchFamily="34" charset="0"/>
              </a:rPr>
              <a:t>cinco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0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55" dirty="0">
                <a:latin typeface="Calibri" panose="020F0502020204030204" pitchFamily="34" charset="0"/>
                <a:cs typeface="Calibri" panose="020F0502020204030204" pitchFamily="34" charset="0"/>
              </a:rPr>
              <a:t>SON</a:t>
            </a:r>
            <a:r>
              <a:rPr sz="2244" spc="-1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00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9" dirty="0">
                <a:latin typeface="Calibri" panose="020F0502020204030204" pitchFamily="34" charset="0"/>
                <a:cs typeface="Calibri" panose="020F0502020204030204" pitchFamily="34" charset="0"/>
              </a:rPr>
              <a:t>VALIDEZ.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650"/>
              </a:lnSpc>
              <a:spcBef>
                <a:spcPts val="2079"/>
              </a:spcBef>
            </a:pPr>
            <a:r>
              <a:rPr sz="2244" spc="58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244" spc="-1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4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validación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9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3" dirty="0">
                <a:latin typeface="Calibri" panose="020F0502020204030204" pitchFamily="34" charset="0"/>
                <a:cs typeface="Calibri" panose="020F0502020204030204" pitchFamily="34" charset="0"/>
              </a:rPr>
              <a:t>basa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244" spc="88" dirty="0">
                <a:latin typeface="Calibri" panose="020F0502020204030204" pitchFamily="34" charset="0"/>
                <a:cs typeface="Calibri" panose="020F0502020204030204" pitchFamily="34" charset="0"/>
              </a:rPr>
              <a:t>estos </a:t>
            </a:r>
            <a:r>
              <a:rPr sz="2244" spc="33" dirty="0">
                <a:latin typeface="Calibri" panose="020F0502020204030204" pitchFamily="34" charset="0"/>
                <a:cs typeface="Calibri" panose="020F0502020204030204" pitchFamily="34" charset="0"/>
              </a:rPr>
              <a:t>tipos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244" spc="12" dirty="0">
                <a:latin typeface="Calibri" panose="020F0502020204030204" pitchFamily="34" charset="0"/>
                <a:cs typeface="Calibri" panose="020F0502020204030204" pitchFamily="34" charset="0"/>
              </a:rPr>
              <a:t>formar </a:t>
            </a: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42" dirty="0">
                <a:latin typeface="Calibri" panose="020F0502020204030204" pitchFamily="34" charset="0"/>
                <a:cs typeface="Calibri" panose="020F0502020204030204" pitchFamily="34" charset="0"/>
              </a:rPr>
              <a:t>juicio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uniﬁcado </a:t>
            </a:r>
            <a:r>
              <a:rPr sz="2244" spc="91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244" spc="18" dirty="0">
                <a:latin typeface="Calibri" panose="020F0502020204030204" pitchFamily="34" charset="0"/>
                <a:cs typeface="Calibri" panose="020F0502020204030204" pitchFamily="34" charset="0"/>
              </a:rPr>
              <a:t>relación </a:t>
            </a:r>
            <a:r>
              <a:rPr sz="2244" spc="45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244" spc="-3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244" spc="24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244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54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9" dirty="0">
                <a:latin typeface="Calibri" panose="020F0502020204030204" pitchFamily="34" charset="0"/>
                <a:cs typeface="Calibri" panose="020F0502020204030204" pitchFamily="34" charset="0"/>
              </a:rPr>
              <a:t>interpretaciones.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10033"/>
            <a:ext cx="10419847" cy="662198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4245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245" spc="-3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sz="424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504947" cy="535459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4621" algn="just">
              <a:lnSpc>
                <a:spcPts val="2650"/>
              </a:lnSpc>
            </a:pP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“Se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146" dirty="0">
                <a:solidFill>
                  <a:srgbClr val="606060"/>
                </a:solidFill>
                <a:latin typeface="Calibri"/>
                <a:cs typeface="Calibri"/>
              </a:rPr>
              <a:t>obtener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relaciones </a:t>
            </a:r>
            <a:r>
              <a:rPr sz="2213" i="1" spc="-124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constructo 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03" dirty="0">
                <a:solidFill>
                  <a:srgbClr val="606060"/>
                </a:solidFill>
                <a:latin typeface="Calibri"/>
                <a:cs typeface="Calibri"/>
              </a:rPr>
              <a:t>intenta</a:t>
            </a:r>
            <a:r>
              <a:rPr sz="2213" i="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medir”</a:t>
            </a:r>
            <a:endParaRPr sz="2213" dirty="0">
              <a:latin typeface="Calibri"/>
              <a:cs typeface="Calibri"/>
            </a:endParaRPr>
          </a:p>
          <a:p>
            <a:pPr marL="1328086" marR="4621" algn="just">
              <a:lnSpc>
                <a:spcPts val="2650"/>
              </a:lnSpc>
              <a:spcBef>
                <a:spcPts val="1301"/>
              </a:spcBef>
            </a:pPr>
            <a:r>
              <a:rPr sz="2213" i="1" spc="-94" dirty="0">
                <a:solidFill>
                  <a:srgbClr val="606060"/>
                </a:solidFill>
                <a:latin typeface="Calibri"/>
                <a:cs typeface="Calibri"/>
              </a:rPr>
              <a:t>[La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obtención de]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evidencia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basada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67" dirty="0">
                <a:solidFill>
                  <a:srgbClr val="606060"/>
                </a:solidFill>
                <a:latin typeface="Calibri"/>
                <a:cs typeface="Calibri"/>
              </a:rPr>
              <a:t>incluir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lógicos </a:t>
            </a:r>
            <a:r>
              <a:rPr sz="2213" i="1" spc="-224" dirty="0">
                <a:solidFill>
                  <a:srgbClr val="606060"/>
                </a:solidFill>
                <a:latin typeface="Calibri"/>
                <a:cs typeface="Calibri"/>
              </a:rPr>
              <a:t>o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empíricos</a:t>
            </a:r>
            <a:r>
              <a:rPr sz="2213" i="1" spc="-267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adecuación </a:t>
            </a:r>
            <a:r>
              <a:rPr sz="2213" i="1" spc="-170" dirty="0">
                <a:solidFill>
                  <a:srgbClr val="606060"/>
                </a:solidFill>
                <a:latin typeface="Calibri"/>
                <a:cs typeface="Calibri"/>
              </a:rPr>
              <a:t>con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representa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dominio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conceptual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relevancia</a:t>
            </a:r>
            <a:r>
              <a:rPr sz="2213" i="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del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dominio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conceptual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15" dirty="0">
                <a:solidFill>
                  <a:srgbClr val="606060"/>
                </a:solidFill>
                <a:latin typeface="Calibri"/>
                <a:cs typeface="Calibri"/>
              </a:rPr>
              <a:t>interpretación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los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21" dirty="0">
                <a:solidFill>
                  <a:srgbClr val="606060"/>
                </a:solidFill>
                <a:latin typeface="Calibri"/>
                <a:cs typeface="Calibri"/>
              </a:rPr>
              <a:t>puntajes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pretende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hacer”</a:t>
            </a:r>
            <a:endParaRPr sz="2213" dirty="0">
              <a:latin typeface="Calibri"/>
              <a:cs typeface="Calibri"/>
            </a:endParaRPr>
          </a:p>
          <a:p>
            <a:pPr marR="3081" algn="r">
              <a:spcBef>
                <a:spcPts val="455"/>
              </a:spcBef>
            </a:pPr>
            <a:r>
              <a:rPr sz="1759" spc="55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759" spc="-14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18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759" spc="-118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45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759" spc="-11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21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759" spc="-1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546" spc="-61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546" dirty="0">
              <a:latin typeface="Calibri"/>
              <a:cs typeface="Calibri"/>
            </a:endParaRPr>
          </a:p>
          <a:p>
            <a:pPr marL="394691">
              <a:spcBef>
                <a:spcPts val="834"/>
              </a:spcBef>
            </a:pPr>
            <a:r>
              <a:rPr sz="1971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prueba: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marR="56604" indent="-247981">
              <a:lnSpc>
                <a:spcPts val="2298"/>
              </a:lnSpc>
              <a:spcBef>
                <a:spcPts val="1364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Documentación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1971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construcción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 </a:t>
            </a:r>
            <a:r>
              <a:rPr sz="1971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corrección </a:t>
            </a:r>
            <a:r>
              <a:rPr sz="1971" spc="-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(por  </a:t>
            </a:r>
            <a:r>
              <a:rPr sz="1971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plantillas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preguntas,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hipótesis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diﬁcultad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preguntas)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21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-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Literatura</a:t>
            </a:r>
            <a:r>
              <a:rPr sz="1971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34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Caracterización</a:t>
            </a:r>
            <a:r>
              <a:rPr sz="1971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37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Revisiones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2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expertos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10033"/>
            <a:ext cx="10419847" cy="662198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4245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245" spc="-3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sz="424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4518" y="1084422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996" y="2367031"/>
            <a:ext cx="9593884" cy="2839495"/>
          </a:xfrm>
          <a:prstGeom prst="rect">
            <a:avLst/>
          </a:prstGeom>
        </p:spPr>
        <p:txBody>
          <a:bodyPr vert="horz" wrap="square" lIns="0" tIns="192532" rIns="0" bIns="0" rtlCol="0">
            <a:spAutoFit/>
          </a:bodyPr>
          <a:lstStyle/>
          <a:p>
            <a:pPr marL="286873" indent="-279556">
              <a:spcBef>
                <a:spcPts val="1516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244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indent="-279556">
              <a:spcBef>
                <a:spcPts val="1458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consideramos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64691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¿Podemos </a:t>
            </a:r>
            <a:r>
              <a:rPr sz="2244" spc="-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interpretar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244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 </a:t>
            </a:r>
            <a:r>
              <a:rPr sz="2244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sz="2244" spc="-1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  </a:t>
            </a:r>
            <a:r>
              <a:rPr sz="2244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244" spc="-33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cobertura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aspectos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relevantes</a:t>
            </a:r>
            <a:r>
              <a:rPr sz="2244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244" spc="-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través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4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9517256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1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167501"/>
            <a:ext cx="10504947" cy="5240691"/>
          </a:xfrm>
          <a:prstGeom prst="rect">
            <a:avLst/>
          </a:prstGeom>
        </p:spPr>
        <p:txBody>
          <a:bodyPr vert="horz" wrap="square" lIns="0" tIns="98577" rIns="0" bIns="0" rtlCol="0">
            <a:spAutoFit/>
          </a:bodyPr>
          <a:lstStyle/>
          <a:p>
            <a:pPr marL="7701">
              <a:spcBef>
                <a:spcPts val="776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5006">
              <a:lnSpc>
                <a:spcPts val="2450"/>
              </a:lnSpc>
              <a:spcBef>
                <a:spcPts val="946"/>
              </a:spcBef>
              <a:tabLst>
                <a:tab pos="2246078" algn="l"/>
                <a:tab pos="3846404" algn="l"/>
                <a:tab pos="4436322" algn="l"/>
                <a:tab pos="5595750" algn="l"/>
                <a:tab pos="6578818" algn="l"/>
                <a:tab pos="7066695" algn="l"/>
                <a:tab pos="7274244" algn="l"/>
                <a:tab pos="7976216" algn="l"/>
                <a:tab pos="9240766" algn="l"/>
                <a:tab pos="9929645" algn="l"/>
                <a:tab pos="10243858" algn="l"/>
              </a:tabLst>
            </a:pPr>
            <a:r>
              <a:rPr sz="2062" i="1" spc="-464" dirty="0">
                <a:solidFill>
                  <a:srgbClr val="606060"/>
                </a:solidFill>
                <a:latin typeface="Calibri"/>
                <a:cs typeface="Calibri"/>
              </a:rPr>
              <a:t>“</a:t>
            </a:r>
            <a:r>
              <a:rPr sz="2062" i="1" spc="-49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06" dirty="0">
                <a:solidFill>
                  <a:srgbClr val="606060"/>
                </a:solidFill>
                <a:latin typeface="Calibri"/>
                <a:cs typeface="Calibri"/>
              </a:rPr>
              <a:t>lgunas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45" dirty="0">
                <a:solidFill>
                  <a:srgbClr val="606060"/>
                </a:solidFill>
                <a:latin typeface="Calibri"/>
                <a:cs typeface="Calibri"/>
              </a:rPr>
              <a:t>in</a:t>
            </a:r>
            <a:r>
              <a:rPr sz="2062" i="1" spc="-76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erp</a:t>
            </a:r>
            <a:r>
              <a:rPr sz="2062" i="1" spc="-106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spc="-127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43" dirty="0">
                <a:solidFill>
                  <a:srgbClr val="606060"/>
                </a:solidFill>
                <a:latin typeface="Calibri"/>
                <a:cs typeface="Calibri"/>
              </a:rPr>
              <a:t>aciones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43" dirty="0">
                <a:solidFill>
                  <a:srgbClr val="606060"/>
                </a:solidFill>
                <a:latin typeface="Calibri"/>
                <a:cs typeface="Calibri"/>
              </a:rPr>
              <a:t>sob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209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97" dirty="0">
                <a:solidFill>
                  <a:srgbClr val="606060"/>
                </a:solidFill>
                <a:latin typeface="Calibri"/>
                <a:cs typeface="Calibri"/>
              </a:rPr>
              <a:t>onstruc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76" dirty="0">
                <a:solidFill>
                  <a:srgbClr val="606060"/>
                </a:solidFill>
                <a:latin typeface="Calibri"/>
                <a:cs typeface="Calibri"/>
              </a:rPr>
              <a:t>os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49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equie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en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más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206" dirty="0">
                <a:solidFill>
                  <a:srgbClr val="606060"/>
                </a:solidFill>
                <a:latin typeface="Calibri"/>
                <a:cs typeface="Calibri"/>
              </a:rPr>
              <a:t>o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menos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76" dirty="0">
                <a:solidFill>
                  <a:srgbClr val="606060"/>
                </a:solidFill>
                <a:latin typeface="Calibri"/>
                <a:cs typeface="Calibri"/>
              </a:rPr>
              <a:t>explici</a:t>
            </a:r>
            <a:r>
              <a:rPr sz="2062" i="1" spc="-103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27" dirty="0">
                <a:solidFill>
                  <a:srgbClr val="606060"/>
                </a:solidFill>
                <a:latin typeface="Calibri"/>
                <a:cs typeface="Calibri"/>
              </a:rPr>
              <a:t>ación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6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46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139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062" i="1" spc="-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procesos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cognitivos </a:t>
            </a:r>
            <a:r>
              <a:rPr sz="2062" i="1" spc="-118" dirty="0">
                <a:solidFill>
                  <a:srgbClr val="606060"/>
                </a:solidFill>
                <a:latin typeface="Calibri"/>
                <a:cs typeface="Calibri"/>
              </a:rPr>
              <a:t>involucrados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al </a:t>
            </a:r>
            <a:r>
              <a:rPr sz="2062" i="1" spc="-139" dirty="0">
                <a:solidFill>
                  <a:srgbClr val="606060"/>
                </a:solidFill>
                <a:latin typeface="Calibri"/>
                <a:cs typeface="Calibri"/>
              </a:rPr>
              <a:t>responder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una</a:t>
            </a:r>
            <a:r>
              <a:rPr sz="2062" i="1" spc="-370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pregunta”</a:t>
            </a:r>
            <a:endParaRPr sz="2062" dirty="0">
              <a:latin typeface="Calibri"/>
              <a:cs typeface="Calibri"/>
            </a:endParaRPr>
          </a:p>
          <a:p>
            <a:pPr marL="1328086" marR="4621">
              <a:lnSpc>
                <a:spcPts val="2450"/>
              </a:lnSpc>
              <a:spcBef>
                <a:spcPts val="1198"/>
              </a:spcBef>
            </a:pP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“El </a:t>
            </a:r>
            <a:r>
              <a:rPr sz="2062" i="1" spc="-94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proceso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respuesta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062" i="1" spc="-97" dirty="0">
                <a:solidFill>
                  <a:srgbClr val="606060"/>
                </a:solidFill>
                <a:latin typeface="Calibri"/>
                <a:cs typeface="Calibri"/>
              </a:rPr>
              <a:t>individuos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entrega 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información 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respecto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ajuste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el  </a:t>
            </a:r>
            <a:r>
              <a:rPr sz="2062" i="1" spc="-118" dirty="0">
                <a:solidFill>
                  <a:srgbClr val="606060"/>
                </a:solidFill>
                <a:latin typeface="Calibri"/>
                <a:cs typeface="Calibri"/>
              </a:rPr>
              <a:t>constructo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88" dirty="0">
                <a:solidFill>
                  <a:srgbClr val="606060"/>
                </a:solidFill>
                <a:latin typeface="Calibri"/>
                <a:cs typeface="Calibri"/>
              </a:rPr>
              <a:t>naturaleza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82" dirty="0">
                <a:solidFill>
                  <a:srgbClr val="606060"/>
                </a:solidFill>
                <a:latin typeface="Calibri"/>
                <a:cs typeface="Calibri"/>
              </a:rPr>
              <a:t>particular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desempeño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206" dirty="0">
                <a:solidFill>
                  <a:srgbClr val="606060"/>
                </a:solidFill>
                <a:latin typeface="Calibri"/>
                <a:cs typeface="Calibri"/>
              </a:rPr>
              <a:t>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respuesta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6" dirty="0">
                <a:solidFill>
                  <a:srgbClr val="606060"/>
                </a:solidFill>
                <a:latin typeface="Calibri"/>
                <a:cs typeface="Calibri"/>
              </a:rPr>
              <a:t>ejecutado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0" dirty="0">
                <a:solidFill>
                  <a:srgbClr val="606060"/>
                </a:solidFill>
                <a:latin typeface="Calibri"/>
                <a:cs typeface="Calibri"/>
              </a:rPr>
              <a:t>por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los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respondentes”</a:t>
            </a:r>
            <a:endParaRPr sz="2062" dirty="0">
              <a:latin typeface="Calibri"/>
              <a:cs typeface="Calibri"/>
            </a:endParaRPr>
          </a:p>
          <a:p>
            <a:pPr marL="1328086">
              <a:spcBef>
                <a:spcPts val="1149"/>
              </a:spcBef>
            </a:pPr>
            <a:r>
              <a:rPr sz="2062" i="1" spc="-136" dirty="0">
                <a:solidFill>
                  <a:srgbClr val="606060"/>
                </a:solidFill>
                <a:latin typeface="Calibri"/>
                <a:cs typeface="Calibri"/>
              </a:rPr>
              <a:t>“Esta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información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puede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conducir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reconsiderar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el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formato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una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7" dirty="0">
                <a:solidFill>
                  <a:srgbClr val="606060"/>
                </a:solidFill>
                <a:latin typeface="Calibri"/>
                <a:cs typeface="Calibri"/>
              </a:rPr>
              <a:t>prueba”</a:t>
            </a:r>
            <a:endParaRPr sz="2062" dirty="0">
              <a:latin typeface="Calibri"/>
              <a:cs typeface="Calibri"/>
            </a:endParaRPr>
          </a:p>
          <a:p>
            <a:pPr marR="3081" algn="r">
              <a:spcBef>
                <a:spcPts val="506"/>
              </a:spcBef>
            </a:pPr>
            <a:r>
              <a:rPr sz="1637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637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-15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637" spc="-10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42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637" spc="-10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-18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637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455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455" dirty="0">
              <a:latin typeface="Calibri"/>
              <a:cs typeface="Calibri"/>
            </a:endParaRPr>
          </a:p>
          <a:p>
            <a:pPr marL="394691">
              <a:spcBef>
                <a:spcPts val="952"/>
              </a:spcBef>
            </a:pPr>
            <a:r>
              <a:rPr sz="2213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respuesta: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3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Entrevistas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cognitivas,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pensamiento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voz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443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Estudios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2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Eye-tracking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443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registro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3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Tiempos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3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1996" y="2278138"/>
            <a:ext cx="9695926" cy="3186642"/>
          </a:xfrm>
          <a:prstGeom prst="rect">
            <a:avLst/>
          </a:prstGeom>
        </p:spPr>
        <p:txBody>
          <a:bodyPr vert="horz" wrap="square" lIns="0" tIns="192532" rIns="0" bIns="0" rtlCol="0">
            <a:spAutoFit/>
          </a:bodyPr>
          <a:lstStyle/>
          <a:p>
            <a:pPr marL="286873" indent="-279556">
              <a:spcBef>
                <a:spcPts val="1516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¿Están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estudiantes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respondiendo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244" spc="-15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razones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947643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 </a:t>
            </a:r>
            <a:r>
              <a:rPr sz="2244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estrategia </a:t>
            </a:r>
            <a:r>
              <a:rPr sz="2244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 </a:t>
            </a:r>
            <a:r>
              <a:rPr sz="2244" spc="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usando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respondentes </a:t>
            </a:r>
            <a:r>
              <a:rPr sz="2244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resolver </a:t>
            </a:r>
            <a:r>
              <a:rPr sz="2244" spc="-91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6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¿Elicita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44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44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cognitivos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propios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244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244" spc="-8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244" spc="-6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quiere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81598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cobertura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todos los </a:t>
            </a:r>
            <a:r>
              <a:rPr sz="2244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cognitivos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relevantes </a:t>
            </a:r>
            <a:r>
              <a:rPr sz="2244" spc="-6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 </a:t>
            </a:r>
            <a:r>
              <a:rPr sz="2244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través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9517256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1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518" y="1255860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48225"/>
            <a:ext cx="11019393" cy="593346"/>
          </a:xfrm>
          <a:prstGeom prst="rect">
            <a:avLst/>
          </a:prstGeom>
        </p:spPr>
        <p:txBody>
          <a:bodyPr vert="horz" wrap="square" lIns="0" tIns="1001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9"/>
              </a:spcBef>
            </a:pPr>
            <a:r>
              <a:rPr sz="3790" spc="-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1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-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</a:t>
            </a:r>
            <a:endParaRPr sz="379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0506" y="1669166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1" y="0"/>
                </a:moveTo>
                <a:lnTo>
                  <a:pt x="76557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7" y="1244600"/>
                </a:lnTo>
                <a:lnTo>
                  <a:pt x="125264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4" y="1625600"/>
                </a:lnTo>
                <a:lnTo>
                  <a:pt x="947010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2" y="1231900"/>
                </a:lnTo>
                <a:lnTo>
                  <a:pt x="883134" y="1219200"/>
                </a:lnTo>
                <a:lnTo>
                  <a:pt x="125264" y="1219200"/>
                </a:lnTo>
                <a:lnTo>
                  <a:pt x="91265" y="1206500"/>
                </a:lnTo>
                <a:lnTo>
                  <a:pt x="63467" y="1193800"/>
                </a:lnTo>
                <a:lnTo>
                  <a:pt x="44707" y="1168400"/>
                </a:lnTo>
                <a:lnTo>
                  <a:pt x="37823" y="1130300"/>
                </a:lnTo>
                <a:lnTo>
                  <a:pt x="37823" y="114300"/>
                </a:lnTo>
                <a:lnTo>
                  <a:pt x="44705" y="88900"/>
                </a:lnTo>
                <a:lnTo>
                  <a:pt x="63460" y="63500"/>
                </a:lnTo>
                <a:lnTo>
                  <a:pt x="91257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1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2" y="38100"/>
                </a:lnTo>
                <a:lnTo>
                  <a:pt x="1676070" y="63500"/>
                </a:lnTo>
                <a:lnTo>
                  <a:pt x="1694829" y="88900"/>
                </a:lnTo>
                <a:lnTo>
                  <a:pt x="1701713" y="114300"/>
                </a:lnTo>
                <a:lnTo>
                  <a:pt x="1701713" y="1130300"/>
                </a:lnTo>
                <a:lnTo>
                  <a:pt x="1694832" y="1168400"/>
                </a:lnTo>
                <a:lnTo>
                  <a:pt x="1676077" y="1193800"/>
                </a:lnTo>
                <a:lnTo>
                  <a:pt x="1648280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0" y="1562100"/>
                </a:lnTo>
                <a:lnTo>
                  <a:pt x="1253614" y="1257300"/>
                </a:lnTo>
                <a:lnTo>
                  <a:pt x="1614254" y="1257300"/>
                </a:lnTo>
                <a:lnTo>
                  <a:pt x="1662961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6" y="406400"/>
                </a:lnTo>
                <a:lnTo>
                  <a:pt x="571326" y="431800"/>
                </a:lnTo>
                <a:lnTo>
                  <a:pt x="533896" y="482600"/>
                </a:lnTo>
                <a:lnTo>
                  <a:pt x="501038" y="520700"/>
                </a:lnTo>
                <a:lnTo>
                  <a:pt x="475410" y="571500"/>
                </a:lnTo>
                <a:lnTo>
                  <a:pt x="457054" y="609600"/>
                </a:lnTo>
                <a:lnTo>
                  <a:pt x="446010" y="660400"/>
                </a:lnTo>
                <a:lnTo>
                  <a:pt x="442320" y="698500"/>
                </a:lnTo>
                <a:lnTo>
                  <a:pt x="445776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2" y="889000"/>
                </a:lnTo>
                <a:lnTo>
                  <a:pt x="528311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3" y="939800"/>
                </a:lnTo>
                <a:lnTo>
                  <a:pt x="748407" y="927100"/>
                </a:lnTo>
                <a:lnTo>
                  <a:pt x="761381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1" y="863600"/>
                </a:lnTo>
                <a:lnTo>
                  <a:pt x="506317" y="825500"/>
                </a:lnTo>
                <a:lnTo>
                  <a:pt x="491795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7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2" y="317500"/>
                </a:moveTo>
                <a:lnTo>
                  <a:pt x="1173305" y="317500"/>
                </a:lnTo>
                <a:lnTo>
                  <a:pt x="1124139" y="342900"/>
                </a:lnTo>
                <a:lnTo>
                  <a:pt x="1077761" y="368300"/>
                </a:lnTo>
                <a:lnTo>
                  <a:pt x="1034269" y="406400"/>
                </a:lnTo>
                <a:lnTo>
                  <a:pt x="993759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3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1" y="939800"/>
                </a:lnTo>
                <a:lnTo>
                  <a:pt x="1030808" y="952500"/>
                </a:lnTo>
                <a:lnTo>
                  <a:pt x="1112109" y="952500"/>
                </a:lnTo>
                <a:lnTo>
                  <a:pt x="1142588" y="939800"/>
                </a:lnTo>
                <a:lnTo>
                  <a:pt x="1170842" y="927100"/>
                </a:lnTo>
                <a:lnTo>
                  <a:pt x="1183806" y="914400"/>
                </a:lnTo>
                <a:lnTo>
                  <a:pt x="1039092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49" y="825500"/>
                </a:lnTo>
                <a:lnTo>
                  <a:pt x="914228" y="787400"/>
                </a:lnTo>
                <a:lnTo>
                  <a:pt x="905483" y="749300"/>
                </a:lnTo>
                <a:lnTo>
                  <a:pt x="902558" y="698500"/>
                </a:lnTo>
                <a:lnTo>
                  <a:pt x="907769" y="647700"/>
                </a:lnTo>
                <a:lnTo>
                  <a:pt x="923353" y="596900"/>
                </a:lnTo>
                <a:lnTo>
                  <a:pt x="949240" y="546100"/>
                </a:lnTo>
                <a:lnTo>
                  <a:pt x="985360" y="508000"/>
                </a:lnTo>
                <a:lnTo>
                  <a:pt x="1018101" y="469900"/>
                </a:lnTo>
                <a:lnTo>
                  <a:pt x="1053373" y="431800"/>
                </a:lnTo>
                <a:lnTo>
                  <a:pt x="1091100" y="406400"/>
                </a:lnTo>
                <a:lnTo>
                  <a:pt x="1131206" y="381000"/>
                </a:lnTo>
                <a:lnTo>
                  <a:pt x="1173615" y="355600"/>
                </a:lnTo>
                <a:lnTo>
                  <a:pt x="1217286" y="355600"/>
                </a:lnTo>
                <a:lnTo>
                  <a:pt x="1196982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0" y="685800"/>
                </a:lnTo>
                <a:lnTo>
                  <a:pt x="722882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49" y="723900"/>
                </a:lnTo>
                <a:lnTo>
                  <a:pt x="770186" y="736600"/>
                </a:lnTo>
                <a:lnTo>
                  <a:pt x="775484" y="736600"/>
                </a:lnTo>
                <a:lnTo>
                  <a:pt x="784928" y="774700"/>
                </a:lnTo>
                <a:lnTo>
                  <a:pt x="786745" y="800100"/>
                </a:lnTo>
                <a:lnTo>
                  <a:pt x="784393" y="825500"/>
                </a:lnTo>
                <a:lnTo>
                  <a:pt x="777289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1" y="914400"/>
                </a:lnTo>
                <a:lnTo>
                  <a:pt x="796274" y="876300"/>
                </a:lnTo>
                <a:lnTo>
                  <a:pt x="821445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2" y="711200"/>
                </a:lnTo>
                <a:lnTo>
                  <a:pt x="770490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6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2" y="673100"/>
                </a:lnTo>
                <a:lnTo>
                  <a:pt x="1131402" y="685800"/>
                </a:lnTo>
                <a:lnTo>
                  <a:pt x="1145325" y="685800"/>
                </a:lnTo>
                <a:lnTo>
                  <a:pt x="1157816" y="698500"/>
                </a:lnTo>
                <a:lnTo>
                  <a:pt x="1168831" y="698500"/>
                </a:lnTo>
                <a:lnTo>
                  <a:pt x="1178330" y="711200"/>
                </a:lnTo>
                <a:lnTo>
                  <a:pt x="1186090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0" y="774700"/>
                </a:lnTo>
                <a:lnTo>
                  <a:pt x="1209197" y="800100"/>
                </a:lnTo>
                <a:lnTo>
                  <a:pt x="1206842" y="825500"/>
                </a:lnTo>
                <a:lnTo>
                  <a:pt x="1199731" y="838200"/>
                </a:lnTo>
                <a:lnTo>
                  <a:pt x="1187801" y="863600"/>
                </a:lnTo>
                <a:lnTo>
                  <a:pt x="1170986" y="876300"/>
                </a:lnTo>
                <a:lnTo>
                  <a:pt x="1150661" y="889000"/>
                </a:lnTo>
                <a:lnTo>
                  <a:pt x="1128744" y="901700"/>
                </a:lnTo>
                <a:lnTo>
                  <a:pt x="1105074" y="914400"/>
                </a:lnTo>
                <a:lnTo>
                  <a:pt x="1183806" y="914400"/>
                </a:lnTo>
                <a:lnTo>
                  <a:pt x="1218698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0" y="749300"/>
                </a:lnTo>
                <a:lnTo>
                  <a:pt x="1225063" y="711200"/>
                </a:lnTo>
                <a:lnTo>
                  <a:pt x="1192887" y="673100"/>
                </a:lnTo>
                <a:lnTo>
                  <a:pt x="1178376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4" y="381000"/>
                </a:lnTo>
                <a:lnTo>
                  <a:pt x="727796" y="406400"/>
                </a:lnTo>
                <a:lnTo>
                  <a:pt x="690668" y="431800"/>
                </a:lnTo>
                <a:lnTo>
                  <a:pt x="657951" y="457200"/>
                </a:lnTo>
                <a:lnTo>
                  <a:pt x="629744" y="495300"/>
                </a:lnTo>
                <a:lnTo>
                  <a:pt x="603377" y="520700"/>
                </a:lnTo>
                <a:lnTo>
                  <a:pt x="583168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19" y="647700"/>
                </a:lnTo>
                <a:lnTo>
                  <a:pt x="680110" y="635000"/>
                </a:lnTo>
                <a:lnTo>
                  <a:pt x="601931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7" y="546100"/>
                </a:lnTo>
                <a:lnTo>
                  <a:pt x="658214" y="520700"/>
                </a:lnTo>
                <a:lnTo>
                  <a:pt x="687025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4" y="406400"/>
                </a:lnTo>
                <a:lnTo>
                  <a:pt x="815950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6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5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4" y="609600"/>
                </a:lnTo>
                <a:lnTo>
                  <a:pt x="983910" y="647700"/>
                </a:lnTo>
                <a:lnTo>
                  <a:pt x="983407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4" y="635000"/>
                </a:lnTo>
                <a:lnTo>
                  <a:pt x="1032304" y="596900"/>
                </a:lnTo>
                <a:lnTo>
                  <a:pt x="1044361" y="571500"/>
                </a:lnTo>
                <a:lnTo>
                  <a:pt x="1060480" y="546100"/>
                </a:lnTo>
                <a:lnTo>
                  <a:pt x="1080627" y="520700"/>
                </a:lnTo>
                <a:lnTo>
                  <a:pt x="1109441" y="482600"/>
                </a:lnTo>
                <a:lnTo>
                  <a:pt x="1143523" y="457200"/>
                </a:lnTo>
                <a:lnTo>
                  <a:pt x="1182740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0" y="393700"/>
                </a:lnTo>
                <a:lnTo>
                  <a:pt x="1217286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589661" cy="491376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89335" algn="just">
              <a:lnSpc>
                <a:spcPts val="2650"/>
              </a:lnSpc>
              <a:spcBef>
                <a:spcPts val="1834"/>
              </a:spcBef>
            </a:pPr>
            <a:r>
              <a:rPr sz="2213" i="1" spc="-179" dirty="0">
                <a:solidFill>
                  <a:srgbClr val="606060"/>
                </a:solidFill>
                <a:latin typeface="Calibri"/>
                <a:cs typeface="Calibri"/>
              </a:rPr>
              <a:t>“Un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03" dirty="0">
                <a:solidFill>
                  <a:srgbClr val="606060"/>
                </a:solidFill>
                <a:latin typeface="Calibri"/>
                <a:cs typeface="Calibri"/>
              </a:rPr>
              <a:t>estructura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interna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97" dirty="0">
                <a:solidFill>
                  <a:srgbClr val="606060"/>
                </a:solidFill>
                <a:latin typeface="Calibri"/>
                <a:cs typeface="Calibri"/>
              </a:rPr>
              <a:t>indicar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grado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21" dirty="0">
                <a:solidFill>
                  <a:srgbClr val="606060"/>
                </a:solidFill>
                <a:latin typeface="Calibri"/>
                <a:cs typeface="Calibri"/>
              </a:rPr>
              <a:t>relación  </a:t>
            </a:r>
            <a:r>
              <a:rPr sz="2213" i="1" spc="-124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preguntas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sus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demás </a:t>
            </a:r>
            <a:r>
              <a:rPr sz="2213" i="1" spc="-167" dirty="0">
                <a:solidFill>
                  <a:srgbClr val="606060"/>
                </a:solidFill>
                <a:latin typeface="Calibri"/>
                <a:cs typeface="Calibri"/>
              </a:rPr>
              <a:t>componentes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54" dirty="0">
                <a:solidFill>
                  <a:srgbClr val="606060"/>
                </a:solidFill>
                <a:latin typeface="Calibri"/>
                <a:cs typeface="Calibri"/>
              </a:rPr>
              <a:t>adecuan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al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constructo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sobre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 </a:t>
            </a:r>
            <a:r>
              <a:rPr sz="2213" i="1" spc="-112" dirty="0">
                <a:solidFill>
                  <a:srgbClr val="606060"/>
                </a:solidFill>
                <a:latin typeface="Calibri"/>
                <a:cs typeface="Calibri"/>
              </a:rPr>
              <a:t>cual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49" dirty="0">
                <a:solidFill>
                  <a:srgbClr val="606060"/>
                </a:solidFill>
                <a:latin typeface="Calibri"/>
                <a:cs typeface="Calibri"/>
              </a:rPr>
              <a:t>basan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</a:t>
            </a:r>
            <a:r>
              <a:rPr sz="2213" i="1" spc="-2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interepretaciones”</a:t>
            </a:r>
            <a:endParaRPr sz="2213" dirty="0">
              <a:latin typeface="Calibri"/>
              <a:cs typeface="Calibri"/>
            </a:endParaRPr>
          </a:p>
          <a:p>
            <a:pPr marR="87410" algn="r">
              <a:spcBef>
                <a:spcPts val="421"/>
              </a:spcBef>
            </a:pPr>
            <a:r>
              <a:rPr sz="1759" spc="55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759" spc="-14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18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759" spc="-118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45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759" spc="-11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21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759" spc="-1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546" spc="-61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546" dirty="0">
              <a:latin typeface="Calibri"/>
              <a:cs typeface="Calibri"/>
            </a:endParaRPr>
          </a:p>
          <a:p>
            <a:pPr marL="394691" marR="86639">
              <a:lnSpc>
                <a:spcPts val="2201"/>
              </a:lnSpc>
              <a:spcBef>
                <a:spcPts val="1076"/>
              </a:spcBef>
            </a:pPr>
            <a:r>
              <a:rPr sz="1850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obedece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pregunta: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comportan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850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espera?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4691" marR="296499">
              <a:lnSpc>
                <a:spcPts val="2201"/>
              </a:lnSpc>
              <a:spcBef>
                <a:spcPts val="1246"/>
              </a:spcBef>
            </a:pP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Esto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supone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existencia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850" spc="-1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suﬁcientemente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poder</a:t>
            </a:r>
            <a:r>
              <a:rPr sz="1850" spc="-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1850" spc="-1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estas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predicciones.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175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4691">
              <a:spcBef>
                <a:spcPts val="3"/>
              </a:spcBef>
            </a:pPr>
            <a:r>
              <a:rPr sz="1850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1850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interna: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4772" marR="3081" indent="-235274">
              <a:lnSpc>
                <a:spcPts val="2201"/>
              </a:lnSpc>
              <a:spcBef>
                <a:spcPts val="1319"/>
              </a:spcBef>
              <a:buClr>
                <a:srgbClr val="7C8597"/>
              </a:buClr>
              <a:buSzPct val="75409"/>
              <a:buFont typeface="Microsoft Sans Serif"/>
              <a:buChar char="◉"/>
              <a:tabLst>
                <a:tab pos="794772" algn="l"/>
                <a:tab pos="795157" algn="l"/>
              </a:tabLst>
            </a:pPr>
            <a:r>
              <a:rPr sz="1850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estadística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recogidas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contrastan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1850" spc="-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 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patrones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esperaba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recoger</a:t>
            </a:r>
            <a:r>
              <a:rPr sz="1850" spc="-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patrones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observan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empiricamente.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7089809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3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3699" spc="-27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2208530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7" y="1255859"/>
            <a:ext cx="10564632" cy="470018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64691">
              <a:lnSpc>
                <a:spcPct val="100499"/>
              </a:lnSpc>
            </a:pPr>
            <a:r>
              <a:rPr sz="2486" i="1" spc="-139" dirty="0">
                <a:solidFill>
                  <a:srgbClr val="606060"/>
                </a:solidFill>
                <a:latin typeface="Calibri"/>
                <a:cs typeface="Calibri"/>
              </a:rPr>
              <a:t>“El </a:t>
            </a:r>
            <a:r>
              <a:rPr sz="2486" i="1" spc="-112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486" i="1" spc="-136" dirty="0">
                <a:solidFill>
                  <a:srgbClr val="606060"/>
                </a:solidFill>
                <a:latin typeface="Calibri"/>
                <a:cs typeface="Calibri"/>
              </a:rPr>
              <a:t>relación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los resultados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158" dirty="0">
                <a:solidFill>
                  <a:srgbClr val="606060"/>
                </a:solidFill>
                <a:latin typeface="Calibri"/>
                <a:cs typeface="Calibri"/>
              </a:rPr>
              <a:t>pruebas </a:t>
            </a:r>
            <a:r>
              <a:rPr sz="2486" i="1" spc="-188" dirty="0">
                <a:solidFill>
                  <a:srgbClr val="606060"/>
                </a:solidFill>
                <a:latin typeface="Calibri"/>
                <a:cs typeface="Calibri"/>
              </a:rPr>
              <a:t>con 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variables 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externas  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 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486" i="1" spc="-4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58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486" i="1" spc="-185" dirty="0">
                <a:solidFill>
                  <a:srgbClr val="606060"/>
                </a:solidFill>
                <a:latin typeface="Calibri"/>
                <a:cs typeface="Calibri"/>
              </a:rPr>
              <a:t>proveen </a:t>
            </a:r>
            <a:r>
              <a:rPr sz="2486" i="1" spc="-127" dirty="0">
                <a:solidFill>
                  <a:srgbClr val="606060"/>
                </a:solidFill>
                <a:latin typeface="Calibri"/>
                <a:cs typeface="Calibri"/>
              </a:rPr>
              <a:t>otra </a:t>
            </a:r>
            <a:r>
              <a:rPr sz="2486" i="1" spc="-143" dirty="0">
                <a:solidFill>
                  <a:srgbClr val="606060"/>
                </a:solidFill>
                <a:latin typeface="Calibri"/>
                <a:cs typeface="Calibri"/>
              </a:rPr>
              <a:t>fuente </a:t>
            </a:r>
            <a:r>
              <a:rPr sz="2486" i="1" spc="-136" dirty="0">
                <a:solidFill>
                  <a:srgbClr val="606060"/>
                </a:solidFill>
                <a:latin typeface="Calibri"/>
                <a:cs typeface="Calibri"/>
              </a:rPr>
              <a:t>importante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evidencia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validez”</a:t>
            </a:r>
            <a:endParaRPr sz="2486" dirty="0">
              <a:latin typeface="Calibri"/>
              <a:cs typeface="Calibri"/>
            </a:endParaRPr>
          </a:p>
          <a:p>
            <a:pPr marR="62765" algn="r">
              <a:spcBef>
                <a:spcPts val="552"/>
              </a:spcBef>
            </a:pPr>
            <a:r>
              <a:rPr sz="2001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200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0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2001" spc="-13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3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01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6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200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28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  <a:p>
            <a:pPr>
              <a:spcBef>
                <a:spcPts val="33"/>
              </a:spcBef>
            </a:pPr>
            <a:endParaRPr sz="3335" dirty="0">
              <a:latin typeface="Calibri"/>
              <a:cs typeface="Calibri"/>
            </a:endParaRPr>
          </a:p>
          <a:p>
            <a:pPr marL="394691"/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2244" spc="-1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incluye: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861773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convergente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discriminante </a:t>
            </a:r>
            <a:r>
              <a:rPr sz="2244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(relación </a:t>
            </a:r>
            <a:r>
              <a:rPr sz="2244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positiva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244" spc="-27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ciertas 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sz="2244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44" spc="-1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negativa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inexistente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otras)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Examinación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relaciones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 la </a:t>
            </a:r>
            <a:r>
              <a:rPr sz="2244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244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criterio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externo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 </a:t>
            </a:r>
            <a:r>
              <a:rPr sz="2244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medio 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diseños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concurrentes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predictivos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8312388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3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219127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255860"/>
            <a:ext cx="10710186" cy="483938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210245">
              <a:lnSpc>
                <a:spcPct val="100499"/>
              </a:lnSpc>
              <a:tabLst>
                <a:tab pos="2573383" algn="l"/>
                <a:tab pos="2896451" algn="l"/>
                <a:tab pos="4214140" algn="l"/>
                <a:tab pos="4585342" algn="l"/>
                <a:tab pos="5735528" algn="l"/>
                <a:tab pos="6366648" algn="l"/>
                <a:tab pos="7325072" algn="l"/>
                <a:tab pos="7844524" algn="l"/>
                <a:tab pos="8342797" algn="l"/>
                <a:tab pos="9692061" algn="l"/>
                <a:tab pos="10183788" algn="l"/>
              </a:tabLst>
            </a:pPr>
            <a:r>
              <a:rPr sz="2486" i="1" spc="-197" dirty="0">
                <a:solidFill>
                  <a:srgbClr val="606060"/>
                </a:solidFill>
                <a:latin typeface="Calibri"/>
                <a:cs typeface="Calibri"/>
              </a:rPr>
              <a:t>“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I</a:t>
            </a:r>
            <a:r>
              <a:rPr sz="2486" i="1" spc="-161" dirty="0">
                <a:solidFill>
                  <a:srgbClr val="606060"/>
                </a:solidFill>
                <a:latin typeface="Calibri"/>
                <a:cs typeface="Calibri"/>
              </a:rPr>
              <a:t>n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oluc</a:t>
            </a:r>
            <a:r>
              <a:rPr sz="2486" i="1" spc="-127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58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243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ole</a:t>
            </a:r>
            <a:r>
              <a:rPr sz="2486" i="1" spc="-185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ción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61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videncia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pa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61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</a:t>
            </a:r>
            <a:r>
              <a:rPr sz="2486" i="1" spc="-103" dirty="0">
                <a:solidFill>
                  <a:srgbClr val="606060"/>
                </a:solidFill>
                <a:latin typeface="Calibri"/>
                <a:cs typeface="Calibri"/>
              </a:rPr>
              <a:t>aluar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qué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64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an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ap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70" dirty="0">
                <a:solidFill>
                  <a:srgbClr val="606060"/>
                </a:solidFill>
                <a:latin typeface="Calibri"/>
                <a:cs typeface="Calibri"/>
              </a:rPr>
              <a:t>opiadas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son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12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43" dirty="0">
                <a:solidFill>
                  <a:srgbClr val="606060"/>
                </a:solidFill>
                <a:latin typeface="Calibri"/>
                <a:cs typeface="Calibri"/>
              </a:rPr>
              <a:t>interpretaciones </a:t>
            </a:r>
            <a:r>
              <a:rPr sz="2486" i="1" spc="-164" dirty="0">
                <a:solidFill>
                  <a:srgbClr val="606060"/>
                </a:solidFill>
                <a:latin typeface="Calibri"/>
                <a:cs typeface="Calibri"/>
              </a:rPr>
              <a:t>propuestas 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para 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486" i="1" spc="-176" dirty="0">
                <a:solidFill>
                  <a:srgbClr val="606060"/>
                </a:solidFill>
                <a:latin typeface="Calibri"/>
                <a:cs typeface="Calibri"/>
              </a:rPr>
              <a:t>usos</a:t>
            </a:r>
            <a:r>
              <a:rPr sz="2486" i="1" spc="-38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70" dirty="0">
                <a:solidFill>
                  <a:srgbClr val="606060"/>
                </a:solidFill>
                <a:latin typeface="Calibri"/>
                <a:cs typeface="Calibri"/>
              </a:rPr>
              <a:t>intencionados.”</a:t>
            </a:r>
            <a:endParaRPr sz="2486" dirty="0">
              <a:latin typeface="Calibri"/>
              <a:cs typeface="Calibri"/>
            </a:endParaRPr>
          </a:p>
          <a:p>
            <a:pPr marR="208320" algn="r">
              <a:spcBef>
                <a:spcPts val="552"/>
              </a:spcBef>
            </a:pPr>
            <a:r>
              <a:rPr sz="2001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200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0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2001" spc="-13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3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01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6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200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28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  <a:p>
            <a:pPr>
              <a:spcBef>
                <a:spcPts val="21"/>
              </a:spcBef>
            </a:pPr>
            <a:endParaRPr sz="2304" dirty="0">
              <a:latin typeface="Calibri"/>
              <a:cs typeface="Calibri"/>
            </a:endParaRPr>
          </a:p>
          <a:p>
            <a:pPr marL="394691"/>
            <a:r>
              <a:rPr sz="2213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evaluación: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401237" indent="-279556">
              <a:lnSpc>
                <a:spcPts val="2601"/>
              </a:lnSpc>
              <a:spcBef>
                <a:spcPts val="1577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1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Busca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distinguir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relacionadas </a:t>
            </a:r>
            <a:r>
              <a:rPr sz="2213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directamente </a:t>
            </a:r>
            <a:r>
              <a:rPr sz="2213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213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interpretación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13" spc="-1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213" spc="-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aquellas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indirectas</a:t>
            </a:r>
            <a:r>
              <a:rPr sz="2213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podrían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ocurrir</a:t>
            </a:r>
            <a:r>
              <a:rPr sz="2213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213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2213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largo</a:t>
            </a:r>
            <a:r>
              <a:rPr sz="2213" spc="-3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plazo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3081" indent="-279556">
              <a:lnSpc>
                <a:spcPts val="2601"/>
              </a:lnSpc>
              <a:spcBef>
                <a:spcPts val="14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Incluye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13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examinación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213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práctica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13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13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instrumentos, 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inesperadas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especulación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teorías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acción.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40" y="1863383"/>
            <a:ext cx="11073686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2159824" marR="3081" indent="88565">
              <a:lnSpc>
                <a:spcPts val="5397"/>
              </a:lnSpc>
              <a:spcBef>
                <a:spcPts val="343"/>
              </a:spcBef>
            </a:pPr>
            <a:r>
              <a:rPr sz="4578" b="0" spc="334" dirty="0">
                <a:solidFill>
                  <a:srgbClr val="000000"/>
                </a:solidFill>
                <a:latin typeface="Calibri" panose="020F0502020204030204" pitchFamily="34" charset="0"/>
              </a:rPr>
              <a:t>Segundo </a:t>
            </a:r>
            <a:r>
              <a:rPr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  <a:t>fundamento:  </a:t>
            </a:r>
            <a:r>
              <a:rPr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Precisión/conﬁabilidad</a:t>
            </a:r>
            <a:endParaRPr sz="4578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0712" y="1986058"/>
            <a:ext cx="10087922" cy="3421560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Toda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cierto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asociado.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Mientras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nuestro 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incertidumbre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dicha 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algn="just">
              <a:spcBef>
                <a:spcPts val="1874"/>
              </a:spcBef>
            </a:pPr>
            <a:r>
              <a:rPr sz="2001" spc="17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menor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79" dirty="0">
                <a:latin typeface="Calibri" panose="020F0502020204030204" pitchFamily="34" charset="0"/>
                <a:cs typeface="Calibri" panose="020F0502020204030204" pitchFamily="34" charset="0"/>
              </a:rPr>
              <a:t>error,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decimos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precisa.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algn="just">
              <a:spcBef>
                <a:spcPts val="1947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pregunta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79" dirty="0">
                <a:latin typeface="Calibri" panose="020F0502020204030204" pitchFamily="34" charset="0"/>
                <a:cs typeface="Calibri" panose="020F0502020204030204" pitchFamily="34" charset="0"/>
              </a:rPr>
              <a:t>error,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pregunta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siempre:</a:t>
            </a:r>
          </a:p>
          <a:p>
            <a:pPr marL="336161" algn="ctr">
              <a:spcBef>
                <a:spcPts val="1950"/>
              </a:spcBef>
            </a:pP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¿CUÁN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94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0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4" dirty="0">
                <a:latin typeface="Calibri" panose="020F0502020204030204" pitchFamily="34" charset="0"/>
                <a:cs typeface="Calibri" panose="020F0502020204030204" pitchFamily="34" charset="0"/>
              </a:rPr>
              <a:t>MEDICIÓN?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322" algn="ctr">
              <a:spcBef>
                <a:spcPts val="1950"/>
              </a:spcBef>
            </a:pP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bien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552" algn="ctr">
              <a:spcBef>
                <a:spcPts val="1947"/>
              </a:spcBef>
            </a:pPr>
            <a:r>
              <a:rPr sz="2001" spc="161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TAN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PRECISA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94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4" dirty="0">
                <a:latin typeface="Calibri" panose="020F0502020204030204" pitchFamily="34" charset="0"/>
                <a:cs typeface="Calibri" panose="020F0502020204030204" pitchFamily="34" charset="0"/>
              </a:rPr>
              <a:t>MEDICIÓN?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6187988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49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Calibri" panose="020F0502020204030204" pitchFamily="34" charset="0"/>
              </a:rPr>
              <a:t>error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91" dirty="0">
                <a:solidFill>
                  <a:srgbClr val="919191"/>
                </a:solidFill>
                <a:latin typeface="Calibri" panose="020F0502020204030204" pitchFamily="34" charset="0"/>
              </a:rPr>
              <a:t>como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un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</a:rPr>
              <a:t>aspecto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siempre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1" dirty="0">
                <a:solidFill>
                  <a:srgbClr val="919191"/>
                </a:solidFill>
                <a:latin typeface="Calibri" panose="020F0502020204030204" pitchFamily="34" charset="0"/>
              </a:rPr>
              <a:t>presente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892695"/>
          </a:xfrm>
        </p:spPr>
        <p:txBody>
          <a:bodyPr>
            <a:normAutofit/>
          </a:bodyPr>
          <a:lstStyle/>
          <a:p>
            <a:r>
              <a:rPr lang="es-ES" sz="2000" dirty="0">
                <a:cs typeface="CordiaUPC" panose="020B0304020202020204" pitchFamily="34" charset="-34"/>
              </a:rPr>
              <a:t>… de la teoría clásica de test: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E54A-632E-4D37-84FF-6B908DE169FA}" type="slidenum">
              <a:rPr lang="es-ES" sz="1100" smtClean="0">
                <a:cs typeface="CordiaUPC" panose="020B0304020202020204" pitchFamily="34" charset="-34"/>
              </a:rPr>
              <a:pPr/>
              <a:t>23</a:t>
            </a:fld>
            <a:endParaRPr lang="es-ES" sz="1100" dirty="0">
              <a:cs typeface="CordiaUPC" panose="020B0304020202020204" pitchFamily="34" charset="-34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351585" y="2348881"/>
            <a:ext cx="28103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X =   T +  E</a:t>
            </a:r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3575720" y="2996952"/>
            <a:ext cx="0" cy="10801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2711624" y="4149081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puntaje observado</a:t>
            </a:r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4151784" y="2996952"/>
            <a:ext cx="0" cy="5760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3719736" y="3645025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puntaje verdadero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655840" y="2996952"/>
            <a:ext cx="0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4367808" y="3212978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cs typeface="CordiaUPC" panose="020B0304020202020204" pitchFamily="34" charset="-34"/>
              </a:rPr>
              <a:t>error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6384032" y="2348881"/>
            <a:ext cx="328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=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tr.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+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e</a:t>
            </a:r>
            <a:endParaRPr lang="es-ES" sz="2800" i="1" baseline="-25000" dirty="0">
              <a:solidFill>
                <a:srgbClr val="1F497D">
                  <a:lumMod val="50000"/>
                </a:srgbClr>
              </a:solidFill>
              <a:cs typeface="CordiaUPC" panose="020B0304020202020204" pitchFamily="34" charset="-34"/>
            </a:endParaRPr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7608168" y="2996952"/>
            <a:ext cx="0" cy="10801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6744072" y="41490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Varianza de la distribución de los puntajes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>
            <a:off x="8184232" y="2996952"/>
            <a:ext cx="0" cy="5760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7752184" y="3645025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varianza  verdadera</a:t>
            </a:r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9192344" y="2996952"/>
            <a:ext cx="0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8904312" y="3212978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cs typeface="CordiaUPC" panose="020B0304020202020204" pitchFamily="34" charset="-34"/>
              </a:rPr>
              <a:t>varianza del error</a:t>
            </a:r>
          </a:p>
        </p:txBody>
      </p:sp>
      <p:sp>
        <p:nvSpPr>
          <p:cNvPr id="24" name="2 Marcador de contenido"/>
          <p:cNvSpPr txBox="1">
            <a:spLocks/>
          </p:cNvSpPr>
          <p:nvPr/>
        </p:nvSpPr>
        <p:spPr>
          <a:xfrm>
            <a:off x="1919536" y="4840562"/>
            <a:ext cx="4968552" cy="892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s-ES" dirty="0">
                <a:solidFill>
                  <a:schemeClr val="tx2">
                    <a:lumMod val="50000"/>
                  </a:schemeClr>
                </a:solidFill>
                <a:cs typeface="CordiaUPC" panose="020B0304020202020204" pitchFamily="34" charset="-34"/>
              </a:rPr>
              <a:t>Confiabilidad: la proporción de la varianza total que se atribuye a la varianza verdadera</a:t>
            </a:r>
          </a:p>
        </p:txBody>
      </p:sp>
      <p:sp>
        <p:nvSpPr>
          <p:cNvPr id="25" name="24 Elipse"/>
          <p:cNvSpPr/>
          <p:nvPr/>
        </p:nvSpPr>
        <p:spPr>
          <a:xfrm>
            <a:off x="8017934" y="2416380"/>
            <a:ext cx="526338" cy="5800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cs typeface="CordiaUPC" panose="020B0304020202020204" pitchFamily="34" charset="-34"/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6362851" y="5085185"/>
            <a:ext cx="2566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 err="1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r</a:t>
            </a:r>
            <a:r>
              <a:rPr lang="es-ES" sz="2800" i="1" baseline="-25000" dirty="0" err="1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xx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=s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tr </a:t>
            </a:r>
            <a:r>
              <a:rPr lang="es-ES" sz="2800" b="1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/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s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endParaRPr lang="es-ES" sz="2800" i="1" baseline="-25000" dirty="0">
              <a:solidFill>
                <a:srgbClr val="1F497D">
                  <a:lumMod val="50000"/>
                </a:srgbClr>
              </a:solidFill>
              <a:cs typeface="CordiaUPC" panose="020B0304020202020204" pitchFamily="34" charset="-34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FF2BB5B5-9A81-2CA3-1C94-683CAC132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6187988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+mn-lt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+mn-lt"/>
              </a:rPr>
              <a:t>de</a:t>
            </a:r>
            <a:r>
              <a:rPr sz="4487" spc="-491" dirty="0">
                <a:solidFill>
                  <a:srgbClr val="4E4F52"/>
                </a:solidFill>
                <a:latin typeface="+mn-lt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+mn-lt"/>
              </a:rPr>
              <a:t>medición</a:t>
            </a:r>
            <a:endParaRPr sz="4487" dirty="0">
              <a:latin typeface="+mn-lt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42" dirty="0">
                <a:solidFill>
                  <a:srgbClr val="919191"/>
                </a:solidFill>
                <a:latin typeface="+mn-lt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+mn-lt"/>
              </a:rPr>
              <a:t>error</a:t>
            </a:r>
            <a:r>
              <a:rPr sz="1728" spc="-130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91" dirty="0">
                <a:solidFill>
                  <a:srgbClr val="919191"/>
                </a:solidFill>
                <a:latin typeface="+mn-lt"/>
              </a:rPr>
              <a:t>como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+mn-lt"/>
              </a:rPr>
              <a:t>un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+mn-lt"/>
              </a:rPr>
              <a:t>aspecto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+mn-lt"/>
              </a:rPr>
              <a:t>siempre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21" dirty="0">
                <a:solidFill>
                  <a:srgbClr val="919191"/>
                </a:solidFill>
                <a:latin typeface="+mn-lt"/>
              </a:rPr>
              <a:t>presente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+mn-lt"/>
              </a:rPr>
              <a:t>en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+mn-lt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+mn-lt"/>
              </a:rPr>
              <a:t>medición</a:t>
            </a:r>
            <a:endParaRPr sz="1728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5" grpId="0"/>
      <p:bldP spid="17" grpId="0"/>
      <p:bldP spid="19" grpId="0"/>
      <p:bldP spid="21" grpId="0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8013" y="1889001"/>
            <a:ext cx="10227315" cy="3839968"/>
          </a:xfrm>
          <a:prstGeom prst="rect">
            <a:avLst/>
          </a:prstGeom>
        </p:spPr>
        <p:txBody>
          <a:bodyPr vert="horz" wrap="square" lIns="0" tIns="72777" rIns="0" bIns="0" rtlCol="0">
            <a:spAutoFit/>
          </a:bodyPr>
          <a:lstStyle/>
          <a:p>
            <a:pPr marL="7701">
              <a:spcBef>
                <a:spcPts val="572"/>
              </a:spcBef>
            </a:pPr>
            <a:r>
              <a:rPr sz="2001" spc="215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ESTÁ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INCOMPLETA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30" dirty="0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ASOCIADO.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34772">
              <a:lnSpc>
                <a:spcPts val="2049"/>
              </a:lnSpc>
              <a:spcBef>
                <a:spcPts val="561"/>
              </a:spcBef>
            </a:pPr>
            <a:r>
              <a:rPr sz="1728" spc="173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posible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interpretar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adecuadamente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conocer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42" dirty="0">
                <a:latin typeface="Calibri" panose="020F0502020204030204" pitchFamily="34" charset="0"/>
                <a:cs typeface="Calibri" panose="020F0502020204030204" pitchFamily="34" charset="0"/>
              </a:rPr>
              <a:t>(o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tácitamente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asumir)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" dirty="0">
                <a:latin typeface="Calibri" panose="020F0502020204030204" pitchFamily="34" charset="0"/>
                <a:cs typeface="Calibri" panose="020F0502020204030204" pitchFamily="34" charset="0"/>
              </a:rPr>
              <a:t>nivel 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172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asociado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24" dirty="0">
                <a:latin typeface="Calibri" panose="020F0502020204030204" pitchFamily="34" charset="0"/>
                <a:cs typeface="Calibri" panose="020F0502020204030204" pitchFamily="34" charset="0"/>
              </a:rPr>
              <a:t>esta.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5"/>
              </a:spcBef>
            </a:pPr>
            <a:endParaRPr sz="251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0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4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PEQUEÑO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6" dirty="0"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03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049"/>
              </a:lnSpc>
              <a:spcBef>
                <a:spcPts val="561"/>
              </a:spcBef>
            </a:pPr>
            <a:r>
              <a:rPr sz="1728" spc="58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bien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2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1728" spc="-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interesa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nuestras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8" dirty="0">
                <a:latin typeface="Calibri" panose="020F0502020204030204" pitchFamily="34" charset="0"/>
                <a:cs typeface="Calibri" panose="020F0502020204030204" pitchFamily="34" charset="0"/>
              </a:rPr>
              <a:t>sean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1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precisas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posibles,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pretende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dar</a:t>
            </a:r>
            <a:r>
              <a:rPr sz="1728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informará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nuestras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decisiones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 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“suﬁcientemente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1" dirty="0">
                <a:latin typeface="Calibri" panose="020F0502020204030204" pitchFamily="34" charset="0"/>
                <a:cs typeface="Calibri" panose="020F0502020204030204" pitchFamily="34" charset="0"/>
              </a:rPr>
              <a:t>precisa”.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78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MAYORES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2" dirty="0">
                <a:latin typeface="Calibri" panose="020F0502020204030204" pitchFamily="34" charset="0"/>
                <a:cs typeface="Calibri" panose="020F0502020204030204" pitchFamily="34" charset="0"/>
              </a:rPr>
              <a:t>DEMANDAN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PRECISIÓN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466">
              <a:lnSpc>
                <a:spcPts val="2049"/>
              </a:lnSpc>
              <a:spcBef>
                <a:spcPts val="557"/>
              </a:spcBef>
            </a:pPr>
            <a:r>
              <a:rPr sz="1728" spc="1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general,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razonable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7" dirty="0">
                <a:latin typeface="Calibri" panose="020F0502020204030204" pitchFamily="34" charset="0"/>
                <a:cs typeface="Calibri" panose="020F0502020204030204" pitchFamily="34" charset="0"/>
              </a:rPr>
              <a:t>mientras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mayores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8" dirty="0">
                <a:latin typeface="Calibri" panose="020F0502020204030204" pitchFamily="34" charset="0"/>
                <a:cs typeface="Calibri" panose="020F0502020204030204" pitchFamily="34" charset="0"/>
              </a:rPr>
              <a:t>sean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desprenden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8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uso 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dará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1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necesidad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dirty="0">
                <a:latin typeface="Calibri" panose="020F0502020204030204" pitchFamily="34" charset="0"/>
                <a:cs typeface="Calibri" panose="020F0502020204030204" pitchFamily="34" charset="0"/>
              </a:rPr>
              <a:t>precisión.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66738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49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Aspectos</a:t>
            </a:r>
            <a:r>
              <a:rPr sz="1728" spc="-94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importantes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respecto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8" dirty="0">
                <a:solidFill>
                  <a:srgbClr val="919191"/>
                </a:solidFill>
                <a:latin typeface="Calibri" panose="020F0502020204030204" pitchFamily="34" charset="0"/>
              </a:rPr>
              <a:t>del</a:t>
            </a:r>
            <a:r>
              <a:rPr sz="1728" spc="-14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Calibri" panose="020F0502020204030204" pitchFamily="34" charset="0"/>
              </a:rPr>
              <a:t>error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73721" y="1713028"/>
            <a:ext cx="10556045" cy="419430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222567">
              <a:lnSpc>
                <a:spcPct val="100499"/>
              </a:lnSpc>
              <a:spcBef>
                <a:spcPts val="58"/>
              </a:spcBef>
            </a:pPr>
            <a:r>
              <a:rPr sz="2486" i="1" spc="-152" dirty="0">
                <a:latin typeface="Calibri"/>
                <a:cs typeface="Calibri"/>
              </a:rPr>
              <a:t>Cuando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se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reporta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el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cantidad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3" dirty="0">
                <a:latin typeface="Calibri"/>
                <a:cs typeface="Calibri"/>
              </a:rPr>
              <a:t>física,</a:t>
            </a:r>
            <a:r>
              <a:rPr sz="2486" i="1" spc="-240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es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obligatorio  </a:t>
            </a:r>
            <a:r>
              <a:rPr sz="2486" i="1" spc="-179" dirty="0">
                <a:latin typeface="Calibri"/>
                <a:cs typeface="Calibri"/>
              </a:rPr>
              <a:t>que </a:t>
            </a:r>
            <a:r>
              <a:rPr sz="2486" i="1" spc="-215" dirty="0">
                <a:latin typeface="Calibri"/>
                <a:cs typeface="Calibri"/>
              </a:rPr>
              <a:t>se </a:t>
            </a:r>
            <a:r>
              <a:rPr sz="2486" i="1" spc="-154" dirty="0">
                <a:latin typeface="Calibri"/>
                <a:cs typeface="Calibri"/>
              </a:rPr>
              <a:t>entregue </a:t>
            </a:r>
            <a:r>
              <a:rPr sz="2486" i="1" spc="-127" dirty="0">
                <a:latin typeface="Calibri"/>
                <a:cs typeface="Calibri"/>
              </a:rPr>
              <a:t>alguna </a:t>
            </a:r>
            <a:r>
              <a:rPr sz="2486" i="1" spc="-133" dirty="0">
                <a:latin typeface="Calibri"/>
                <a:cs typeface="Calibri"/>
              </a:rPr>
              <a:t>indicación </a:t>
            </a:r>
            <a:r>
              <a:rPr sz="2486" i="1" spc="-106" dirty="0">
                <a:latin typeface="Calibri"/>
                <a:cs typeface="Calibri"/>
              </a:rPr>
              <a:t>cuantitativa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36" dirty="0">
                <a:latin typeface="Calibri"/>
                <a:cs typeface="Calibri"/>
              </a:rPr>
              <a:t>calidad </a:t>
            </a:r>
            <a:r>
              <a:rPr sz="2486" i="1" spc="-149" dirty="0">
                <a:latin typeface="Calibri"/>
                <a:cs typeface="Calibri"/>
              </a:rPr>
              <a:t>del </a:t>
            </a:r>
            <a:r>
              <a:rPr sz="2486" i="1" spc="-143" dirty="0">
                <a:latin typeface="Calibri"/>
                <a:cs typeface="Calibri"/>
              </a:rPr>
              <a:t>resultado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79" dirty="0">
                <a:latin typeface="Calibri"/>
                <a:cs typeface="Calibri"/>
              </a:rPr>
              <a:t>que  </a:t>
            </a:r>
            <a:r>
              <a:rPr sz="2486" i="1" spc="-158" dirty="0">
                <a:latin typeface="Calibri"/>
                <a:cs typeface="Calibri"/>
              </a:rPr>
              <a:t>quienes </a:t>
            </a:r>
            <a:r>
              <a:rPr sz="2486" i="1" spc="-146" dirty="0">
                <a:latin typeface="Calibri"/>
                <a:cs typeface="Calibri"/>
              </a:rPr>
              <a:t>los </a:t>
            </a:r>
            <a:r>
              <a:rPr sz="2486" i="1" spc="-161" dirty="0">
                <a:latin typeface="Calibri"/>
                <a:cs typeface="Calibri"/>
              </a:rPr>
              <a:t>usen </a:t>
            </a:r>
            <a:r>
              <a:rPr sz="2486" i="1" spc="-170" dirty="0">
                <a:latin typeface="Calibri"/>
                <a:cs typeface="Calibri"/>
              </a:rPr>
              <a:t>puedan </a:t>
            </a:r>
            <a:r>
              <a:rPr sz="2486" i="1" spc="-130" dirty="0">
                <a:latin typeface="Calibri"/>
                <a:cs typeface="Calibri"/>
              </a:rPr>
              <a:t>determinar </a:t>
            </a:r>
            <a:r>
              <a:rPr sz="2486" i="1" spc="-139" dirty="0">
                <a:latin typeface="Calibri"/>
                <a:cs typeface="Calibri"/>
              </a:rPr>
              <a:t>su</a:t>
            </a:r>
            <a:r>
              <a:rPr sz="2486" i="1" spc="-421" dirty="0">
                <a:latin typeface="Calibri"/>
                <a:cs typeface="Calibri"/>
              </a:rPr>
              <a:t> </a:t>
            </a:r>
            <a:r>
              <a:rPr sz="2486" i="1" spc="-121" dirty="0">
                <a:latin typeface="Calibri"/>
                <a:cs typeface="Calibri"/>
              </a:rPr>
              <a:t>confiabilidad.</a:t>
            </a:r>
            <a:endParaRPr sz="2486" dirty="0">
              <a:latin typeface="Calibri"/>
              <a:cs typeface="Calibri"/>
            </a:endParaRPr>
          </a:p>
          <a:p>
            <a:pPr marL="7701" marR="364656">
              <a:lnSpc>
                <a:spcPct val="100499"/>
              </a:lnSpc>
              <a:spcBef>
                <a:spcPts val="1501"/>
              </a:spcBef>
            </a:pPr>
            <a:r>
              <a:rPr sz="2486" i="1" spc="-45" dirty="0">
                <a:latin typeface="Calibri"/>
                <a:cs typeface="Calibri"/>
              </a:rPr>
              <a:t>Sin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0" dirty="0">
                <a:latin typeface="Calibri"/>
                <a:cs typeface="Calibri"/>
              </a:rPr>
              <a:t>esta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indicación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resultados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no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pueden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4" dirty="0">
                <a:latin typeface="Calibri"/>
                <a:cs typeface="Calibri"/>
              </a:rPr>
              <a:t>ser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5" dirty="0">
                <a:latin typeface="Calibri"/>
                <a:cs typeface="Calibri"/>
              </a:rPr>
              <a:t>comparados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entre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85" dirty="0">
                <a:latin typeface="Calibri"/>
                <a:cs typeface="Calibri"/>
              </a:rPr>
              <a:t>sí,</a:t>
            </a:r>
            <a:r>
              <a:rPr sz="2486" i="1" spc="-243" dirty="0">
                <a:latin typeface="Calibri"/>
                <a:cs typeface="Calibri"/>
              </a:rPr>
              <a:t> </a:t>
            </a:r>
            <a:r>
              <a:rPr sz="2486" i="1" spc="-69" dirty="0">
                <a:latin typeface="Calibri"/>
                <a:cs typeface="Calibri"/>
              </a:rPr>
              <a:t>ni  </a:t>
            </a:r>
            <a:r>
              <a:rPr sz="2486" i="1" spc="-188" dirty="0">
                <a:latin typeface="Calibri"/>
                <a:cs typeface="Calibri"/>
              </a:rPr>
              <a:t>con </a:t>
            </a:r>
            <a:r>
              <a:rPr sz="2486" i="1" spc="-152" dirty="0">
                <a:latin typeface="Calibri"/>
                <a:cs typeface="Calibri"/>
              </a:rPr>
              <a:t>valores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52" dirty="0">
                <a:latin typeface="Calibri"/>
                <a:cs typeface="Calibri"/>
              </a:rPr>
              <a:t>referencia </a:t>
            </a:r>
            <a:r>
              <a:rPr sz="2486" i="1" spc="-167" dirty="0">
                <a:latin typeface="Calibri"/>
                <a:cs typeface="Calibri"/>
              </a:rPr>
              <a:t>entregados </a:t>
            </a:r>
            <a:r>
              <a:rPr sz="2486" i="1" spc="-158" dirty="0">
                <a:latin typeface="Calibri"/>
                <a:cs typeface="Calibri"/>
              </a:rPr>
              <a:t>por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54" dirty="0">
                <a:latin typeface="Calibri"/>
                <a:cs typeface="Calibri"/>
              </a:rPr>
              <a:t>especificación </a:t>
            </a:r>
            <a:r>
              <a:rPr sz="2486" i="1" spc="-248" dirty="0">
                <a:latin typeface="Calibri"/>
                <a:cs typeface="Calibri"/>
              </a:rPr>
              <a:t>o</a:t>
            </a:r>
            <a:r>
              <a:rPr sz="2486" i="1" spc="-449" dirty="0">
                <a:latin typeface="Calibri"/>
                <a:cs typeface="Calibri"/>
              </a:rPr>
              <a:t> </a:t>
            </a:r>
            <a:r>
              <a:rPr sz="2486" i="1" spc="-161" dirty="0">
                <a:latin typeface="Calibri"/>
                <a:cs typeface="Calibri"/>
              </a:rPr>
              <a:t>estándar.</a:t>
            </a:r>
            <a:endParaRPr sz="2486" dirty="0">
              <a:latin typeface="Calibri"/>
              <a:cs typeface="Calibri"/>
            </a:endParaRPr>
          </a:p>
          <a:p>
            <a:pPr marL="7701" marR="74317">
              <a:lnSpc>
                <a:spcPct val="100499"/>
              </a:lnSpc>
              <a:spcBef>
                <a:spcPts val="1504"/>
              </a:spcBef>
            </a:pPr>
            <a:r>
              <a:rPr sz="2486" i="1" spc="-109" dirty="0">
                <a:latin typeface="Calibri"/>
                <a:cs typeface="Calibri"/>
              </a:rPr>
              <a:t>Es, </a:t>
            </a:r>
            <a:r>
              <a:rPr sz="2486" i="1" spc="-158" dirty="0">
                <a:latin typeface="Calibri"/>
                <a:cs typeface="Calibri"/>
              </a:rPr>
              <a:t>por </a:t>
            </a:r>
            <a:r>
              <a:rPr sz="2486" i="1" spc="-185" dirty="0">
                <a:latin typeface="Calibri"/>
                <a:cs typeface="Calibri"/>
              </a:rPr>
              <a:t>ende, </a:t>
            </a:r>
            <a:r>
              <a:rPr sz="2486" i="1" spc="-167" dirty="0">
                <a:latin typeface="Calibri"/>
                <a:cs typeface="Calibri"/>
              </a:rPr>
              <a:t>necesario </a:t>
            </a:r>
            <a:r>
              <a:rPr sz="2486" i="1" spc="-179" dirty="0">
                <a:latin typeface="Calibri"/>
                <a:cs typeface="Calibri"/>
              </a:rPr>
              <a:t>que </a:t>
            </a:r>
            <a:r>
              <a:rPr sz="2486" i="1" spc="-115" dirty="0">
                <a:latin typeface="Calibri"/>
                <a:cs typeface="Calibri"/>
              </a:rPr>
              <a:t>exista </a:t>
            </a:r>
            <a:r>
              <a:rPr sz="2486" i="1" spc="-106" dirty="0">
                <a:latin typeface="Calibri"/>
                <a:cs typeface="Calibri"/>
              </a:rPr>
              <a:t>un </a:t>
            </a:r>
            <a:r>
              <a:rPr sz="2486" i="1" spc="-158" dirty="0">
                <a:latin typeface="Calibri"/>
                <a:cs typeface="Calibri"/>
              </a:rPr>
              <a:t>procedimiento </a:t>
            </a:r>
            <a:r>
              <a:rPr sz="2486" i="1" spc="-139" dirty="0">
                <a:latin typeface="Calibri"/>
                <a:cs typeface="Calibri"/>
              </a:rPr>
              <a:t>fácilmente </a:t>
            </a:r>
            <a:r>
              <a:rPr sz="2486" i="1" spc="-143" dirty="0">
                <a:latin typeface="Calibri"/>
                <a:cs typeface="Calibri"/>
              </a:rPr>
              <a:t>implementable,  </a:t>
            </a:r>
            <a:r>
              <a:rPr sz="2486" i="1" spc="-158" dirty="0">
                <a:latin typeface="Calibri"/>
                <a:cs typeface="Calibri"/>
              </a:rPr>
              <a:t>comprensible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9" dirty="0">
                <a:latin typeface="Calibri"/>
                <a:cs typeface="Calibri"/>
              </a:rPr>
              <a:t>ampliamente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8" dirty="0">
                <a:latin typeface="Calibri"/>
                <a:cs typeface="Calibri"/>
              </a:rPr>
              <a:t>aceptado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para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15" dirty="0">
                <a:latin typeface="Calibri"/>
                <a:cs typeface="Calibri"/>
              </a:rPr>
              <a:t>caracterizar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calidad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6" dirty="0">
                <a:latin typeface="Calibri"/>
                <a:cs typeface="Calibri"/>
              </a:rPr>
              <a:t>un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  </a:t>
            </a:r>
            <a:r>
              <a:rPr sz="2486" i="1" spc="-143" dirty="0">
                <a:latin typeface="Calibri"/>
                <a:cs typeface="Calibri"/>
              </a:rPr>
              <a:t>medición,</a:t>
            </a:r>
            <a:r>
              <a:rPr sz="2486" i="1" spc="-246" dirty="0">
                <a:latin typeface="Calibri"/>
                <a:cs typeface="Calibri"/>
              </a:rPr>
              <a:t> </a:t>
            </a:r>
            <a:r>
              <a:rPr sz="2486" i="1" spc="-185" dirty="0">
                <a:latin typeface="Calibri"/>
                <a:cs typeface="Calibri"/>
              </a:rPr>
              <a:t>esto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73" dirty="0">
                <a:latin typeface="Calibri"/>
                <a:cs typeface="Calibri"/>
              </a:rPr>
              <a:t>es,</a:t>
            </a:r>
            <a:r>
              <a:rPr sz="2486" i="1" spc="-246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para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0" dirty="0">
                <a:latin typeface="Calibri"/>
                <a:cs typeface="Calibri"/>
              </a:rPr>
              <a:t>evaluar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expresar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su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b="1" i="1" spc="-154" dirty="0">
                <a:latin typeface="Palatino Linotype"/>
                <a:cs typeface="Palatino Linotype"/>
              </a:rPr>
              <a:t>incertidumbre</a:t>
            </a:r>
            <a:r>
              <a:rPr sz="2486" i="1" spc="-154" dirty="0">
                <a:latin typeface="Calibri"/>
                <a:cs typeface="Calibri"/>
              </a:rPr>
              <a:t>.</a:t>
            </a:r>
            <a:endParaRPr sz="2486" dirty="0">
              <a:latin typeface="Calibri"/>
              <a:cs typeface="Calibri"/>
            </a:endParaRPr>
          </a:p>
          <a:p>
            <a:pPr>
              <a:spcBef>
                <a:spcPts val="6"/>
              </a:spcBef>
            </a:pPr>
            <a:endParaRPr sz="2820" dirty="0">
              <a:latin typeface="Calibri"/>
              <a:cs typeface="Calibri"/>
            </a:endParaRPr>
          </a:p>
          <a:p>
            <a:pPr marL="2657712">
              <a:spcBef>
                <a:spcPts val="3"/>
              </a:spcBef>
            </a:pPr>
            <a:r>
              <a:rPr sz="2001" spc="-39" dirty="0">
                <a:latin typeface="Calibri"/>
                <a:cs typeface="Calibri"/>
              </a:rPr>
              <a:t>Guía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2001" spc="-45" dirty="0">
                <a:latin typeface="Calibri"/>
                <a:cs typeface="Calibri"/>
              </a:rPr>
              <a:t>para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dirty="0">
                <a:latin typeface="Calibri"/>
                <a:cs typeface="Calibri"/>
              </a:rPr>
              <a:t>la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49" dirty="0">
                <a:latin typeface="Calibri"/>
                <a:cs typeface="Calibri"/>
              </a:rPr>
              <a:t>expresión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58" dirty="0">
                <a:latin typeface="Calibri"/>
                <a:cs typeface="Calibri"/>
              </a:rPr>
              <a:t>de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2001" dirty="0">
                <a:latin typeface="Calibri"/>
                <a:cs typeface="Calibri"/>
              </a:rPr>
              <a:t>la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39" dirty="0">
                <a:latin typeface="Calibri"/>
                <a:cs typeface="Calibri"/>
              </a:rPr>
              <a:t>incertidumbre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58" dirty="0">
                <a:latin typeface="Calibri"/>
                <a:cs typeface="Calibri"/>
              </a:rPr>
              <a:t>en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medición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1940" spc="55" dirty="0">
                <a:latin typeface="Calibri"/>
                <a:cs typeface="Calibri"/>
              </a:rPr>
              <a:t>—</a:t>
            </a:r>
            <a:r>
              <a:rPr sz="1940" spc="-106" dirty="0">
                <a:latin typeface="Calibri"/>
                <a:cs typeface="Calibri"/>
              </a:rPr>
              <a:t> </a:t>
            </a:r>
            <a:r>
              <a:rPr sz="1728" spc="-45" dirty="0">
                <a:latin typeface="Calibri"/>
                <a:cs typeface="Calibri"/>
              </a:rPr>
              <a:t>JCGM</a:t>
            </a:r>
            <a:r>
              <a:rPr sz="1728" spc="-100" dirty="0">
                <a:latin typeface="Calibri"/>
                <a:cs typeface="Calibri"/>
              </a:rPr>
              <a:t> </a:t>
            </a:r>
            <a:r>
              <a:rPr sz="1728" spc="-12" dirty="0">
                <a:latin typeface="Calibri"/>
                <a:cs typeface="Calibri"/>
              </a:rPr>
              <a:t>(2008)</a:t>
            </a:r>
            <a:endParaRPr sz="1728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9061725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9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 </a:t>
            </a:r>
            <a:r>
              <a:rPr sz="4487" spc="-91" dirty="0">
                <a:solidFill>
                  <a:srgbClr val="4E4F52"/>
                </a:solidFill>
                <a:latin typeface="Calibri" panose="020F0502020204030204" pitchFamily="34" charset="0"/>
              </a:rPr>
              <a:t>(en </a:t>
            </a:r>
            <a:r>
              <a:rPr sz="4487" spc="39" dirty="0">
                <a:solidFill>
                  <a:srgbClr val="4E4F52"/>
                </a:solidFill>
                <a:latin typeface="Calibri" panose="020F0502020204030204" pitchFamily="34" charset="0"/>
              </a:rPr>
              <a:t>metrología)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18" dirty="0">
                <a:solidFill>
                  <a:srgbClr val="919191"/>
                </a:solidFill>
                <a:latin typeface="Calibri" panose="020F0502020204030204" pitchFamily="34" charset="0"/>
              </a:rPr>
              <a:t>Toda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" dirty="0">
                <a:solidFill>
                  <a:srgbClr val="919191"/>
                </a:solidFill>
                <a:latin typeface="Calibri" panose="020F0502020204030204" pitchFamily="34" charset="0"/>
              </a:rPr>
              <a:t>tiene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un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</a:rPr>
              <a:t>grado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9" dirty="0">
                <a:solidFill>
                  <a:srgbClr val="919191"/>
                </a:solidFill>
                <a:latin typeface="Calibri" panose="020F0502020204030204" pitchFamily="34" charset="0"/>
              </a:rPr>
              <a:t>incertidumbre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asociada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0976" y="2278137"/>
            <a:ext cx="10378693" cy="2884073"/>
          </a:xfrm>
          <a:prstGeom prst="rect">
            <a:avLst/>
          </a:prstGeom>
        </p:spPr>
        <p:txBody>
          <a:bodyPr vert="horz" wrap="square" lIns="0" tIns="199849" rIns="0" bIns="0" rtlCol="0">
            <a:spAutoFit/>
          </a:bodyPr>
          <a:lstStyle/>
          <a:p>
            <a:pPr marL="7701">
              <a:spcBef>
                <a:spcPts val="1574"/>
              </a:spcBef>
            </a:pPr>
            <a:r>
              <a:rPr sz="2486" i="1" spc="-39" dirty="0">
                <a:latin typeface="Calibri"/>
                <a:cs typeface="Calibri"/>
              </a:rPr>
              <a:t>El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27" dirty="0">
                <a:latin typeface="Calibri"/>
                <a:cs typeface="Calibri"/>
              </a:rPr>
              <a:t>error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76" dirty="0">
                <a:latin typeface="Calibri"/>
                <a:cs typeface="Calibri"/>
              </a:rPr>
              <a:t>reduce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1" dirty="0">
                <a:latin typeface="Calibri"/>
                <a:cs typeface="Calibri"/>
              </a:rPr>
              <a:t>utilidad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puntajes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pruebas.</a:t>
            </a:r>
            <a:endParaRPr sz="2486" dirty="0">
              <a:latin typeface="Calibri"/>
              <a:cs typeface="Calibri"/>
            </a:endParaRPr>
          </a:p>
          <a:p>
            <a:pPr marL="7701" marR="460922">
              <a:lnSpc>
                <a:spcPct val="100499"/>
              </a:lnSpc>
              <a:spcBef>
                <a:spcPts val="1501"/>
              </a:spcBef>
            </a:pPr>
            <a:r>
              <a:rPr sz="2486" i="1" spc="-88" dirty="0">
                <a:latin typeface="Calibri"/>
                <a:cs typeface="Calibri"/>
              </a:rPr>
              <a:t>Limita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qué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tanto</a:t>
            </a:r>
            <a:r>
              <a:rPr sz="2486" i="1" spc="-194" dirty="0">
                <a:latin typeface="Calibri"/>
                <a:cs typeface="Calibri"/>
              </a:rPr>
              <a:t> puede </a:t>
            </a:r>
            <a:r>
              <a:rPr sz="2486" i="1" spc="-130" dirty="0">
                <a:latin typeface="Calibri"/>
                <a:cs typeface="Calibri"/>
              </a:rPr>
              <a:t>generalizarse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6" dirty="0">
                <a:latin typeface="Calibri"/>
                <a:cs typeface="Calibri"/>
              </a:rPr>
              <a:t>un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mas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allá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las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características  </a:t>
            </a:r>
            <a:r>
              <a:rPr sz="2486" i="1" spc="-121" dirty="0">
                <a:latin typeface="Calibri"/>
                <a:cs typeface="Calibri"/>
              </a:rPr>
              <a:t>particulares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39" dirty="0">
                <a:latin typeface="Calibri"/>
                <a:cs typeface="Calibri"/>
              </a:rPr>
              <a:t>aplicación </a:t>
            </a:r>
            <a:r>
              <a:rPr sz="2486" i="1" spc="-158" dirty="0">
                <a:latin typeface="Calibri"/>
                <a:cs typeface="Calibri"/>
              </a:rPr>
              <a:t>específica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3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prueba.</a:t>
            </a:r>
            <a:endParaRPr sz="2486" dirty="0">
              <a:latin typeface="Calibri"/>
              <a:cs typeface="Calibri"/>
            </a:endParaRPr>
          </a:p>
          <a:p>
            <a:pPr marL="7701" marR="167888">
              <a:lnSpc>
                <a:spcPct val="100499"/>
              </a:lnSpc>
              <a:spcBef>
                <a:spcPts val="1501"/>
              </a:spcBef>
            </a:pPr>
            <a:r>
              <a:rPr sz="2486" i="1" spc="-185" dirty="0">
                <a:latin typeface="Calibri"/>
                <a:cs typeface="Calibri"/>
              </a:rPr>
              <a:t>Reduce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confianza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se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94" dirty="0">
                <a:latin typeface="Calibri"/>
                <a:cs typeface="Calibri"/>
              </a:rPr>
              <a:t>puede </a:t>
            </a:r>
            <a:r>
              <a:rPr sz="2486" i="1" spc="-143" dirty="0">
                <a:latin typeface="Calibri"/>
                <a:cs typeface="Calibri"/>
              </a:rPr>
              <a:t>tener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en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resultados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8" dirty="0">
                <a:latin typeface="Calibri"/>
                <a:cs typeface="Calibri"/>
              </a:rPr>
              <a:t>por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00" dirty="0">
                <a:latin typeface="Calibri"/>
                <a:cs typeface="Calibri"/>
              </a:rPr>
              <a:t>ende  </a:t>
            </a:r>
            <a:r>
              <a:rPr sz="2486" i="1" spc="-182" dirty="0">
                <a:latin typeface="Calibri"/>
                <a:cs typeface="Calibri"/>
              </a:rPr>
              <a:t>en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b="1" i="1" spc="-206" dirty="0">
                <a:latin typeface="Palatino Linotype"/>
                <a:cs typeface="Palatino Linotype"/>
              </a:rPr>
              <a:t>confiabilidad/precisión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346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puntajes.</a:t>
            </a:r>
            <a:endParaRPr sz="2486" dirty="0">
              <a:latin typeface="Calibri"/>
              <a:cs typeface="Calibri"/>
            </a:endParaRPr>
          </a:p>
          <a:p>
            <a:pPr marR="3081" algn="r">
              <a:spcBef>
                <a:spcPts val="552"/>
              </a:spcBef>
            </a:pPr>
            <a:r>
              <a:rPr sz="2001" spc="-9" dirty="0">
                <a:latin typeface="Calibri"/>
                <a:cs typeface="Calibri"/>
              </a:rPr>
              <a:t>AERA,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APA</a:t>
            </a:r>
            <a:r>
              <a:rPr sz="2001" spc="-130" dirty="0">
                <a:latin typeface="Calibri"/>
                <a:cs typeface="Calibri"/>
              </a:rPr>
              <a:t> </a:t>
            </a:r>
            <a:r>
              <a:rPr sz="2001" spc="39" dirty="0">
                <a:latin typeface="Calibri"/>
                <a:cs typeface="Calibri"/>
              </a:rPr>
              <a:t>y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-27" dirty="0">
                <a:latin typeface="Calibri"/>
                <a:cs typeface="Calibri"/>
              </a:rPr>
              <a:t>NCME</a:t>
            </a:r>
            <a:r>
              <a:rPr sz="2001" spc="-18" dirty="0">
                <a:latin typeface="Calibri"/>
                <a:cs typeface="Calibri"/>
              </a:rPr>
              <a:t> </a:t>
            </a:r>
            <a:r>
              <a:rPr sz="1728" spc="-45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8635843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4" dirty="0">
                <a:solidFill>
                  <a:srgbClr val="4E4F52"/>
                </a:solidFill>
                <a:latin typeface="Calibri" panose="020F0502020204030204" pitchFamily="34" charset="0"/>
              </a:rPr>
              <a:t>El </a:t>
            </a:r>
            <a:r>
              <a:rPr sz="4487" spc="-112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9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356914"/>
            <a:ext cx="10342064" cy="575140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3669" spc="203" dirty="0">
                <a:solidFill>
                  <a:srgbClr val="4E4F52"/>
                </a:solidFill>
                <a:latin typeface="Calibri" panose="020F0502020204030204" pitchFamily="34" charset="0"/>
              </a:rPr>
              <a:t>Segundo </a:t>
            </a:r>
            <a:r>
              <a:rPr sz="3669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3669" spc="-56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69" spc="82" dirty="0">
                <a:solidFill>
                  <a:srgbClr val="4E4F52"/>
                </a:solidFill>
                <a:latin typeface="Calibri" panose="020F0502020204030204" pitchFamily="34" charset="0"/>
              </a:rPr>
              <a:t>Conﬁabilidad/Precisión</a:t>
            </a:r>
            <a:endParaRPr sz="3669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13" y="2182895"/>
            <a:ext cx="10126042" cy="3316146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estándares,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incertidumbre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considerado 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términos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conﬁabilidad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instrumento.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1840"/>
              </a:spcBef>
            </a:pPr>
            <a:r>
              <a:rPr sz="2486" spc="158" dirty="0">
                <a:latin typeface="Calibri" panose="020F0502020204030204" pitchFamily="34" charset="0"/>
                <a:cs typeface="Calibri" panose="020F0502020204030204" pitchFamily="34" charset="0"/>
              </a:rPr>
              <a:t>CONFIABILIDAD </a:t>
            </a:r>
            <a:r>
              <a:rPr sz="2486" spc="258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486" spc="-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73" dirty="0">
                <a:latin typeface="Calibri" panose="020F0502020204030204" pitchFamily="34" charset="0"/>
                <a:cs typeface="Calibri" panose="020F0502020204030204" pitchFamily="34" charset="0"/>
              </a:rPr>
              <a:t>FUNDAMENTO: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518296">
              <a:lnSpc>
                <a:spcPts val="2947"/>
              </a:lnSpc>
              <a:spcBef>
                <a:spcPts val="594"/>
              </a:spcBef>
            </a:pPr>
            <a:r>
              <a:rPr sz="2486" spc="127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consistencia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486" spc="103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puntajes </a:t>
            </a:r>
            <a:r>
              <a:rPr sz="2486" dirty="0"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486" spc="33" dirty="0">
                <a:latin typeface="Calibri" panose="020F0502020204030204" pitchFamily="34" charset="0"/>
                <a:cs typeface="Calibri" panose="020F0502020204030204" pitchFamily="34" charset="0"/>
              </a:rPr>
              <a:t>realizaciones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486" spc="112" dirty="0">
                <a:latin typeface="Calibri" panose="020F0502020204030204" pitchFamily="34" charset="0"/>
                <a:cs typeface="Calibri" panose="020F0502020204030204" pitchFamily="34" charset="0"/>
              </a:rPr>
              <a:t>un  </a:t>
            </a:r>
            <a:r>
              <a:rPr sz="2486" spc="49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4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independientemente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64" dirty="0">
                <a:latin typeface="Calibri" panose="020F0502020204030204" pitchFamily="34" charset="0"/>
                <a:cs typeface="Calibri" panose="020F0502020204030204" pitchFamily="34" charset="0"/>
              </a:rPr>
              <a:t>cómo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5" dirty="0">
                <a:latin typeface="Calibri" panose="020F0502020204030204" pitchFamily="34" charset="0"/>
                <a:cs typeface="Calibri" panose="020F0502020204030204" pitchFamily="34" charset="0"/>
              </a:rPr>
              <a:t>esta 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24" dirty="0">
                <a:latin typeface="Calibri" panose="020F0502020204030204" pitchFamily="34" charset="0"/>
                <a:cs typeface="Calibri" panose="020F0502020204030204" pitchFamily="34" charset="0"/>
              </a:rPr>
              <a:t>sea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9" dirty="0">
                <a:latin typeface="Calibri" panose="020F0502020204030204" pitchFamily="34" charset="0"/>
                <a:cs typeface="Calibri" panose="020F0502020204030204" pitchFamily="34" charset="0"/>
              </a:rPr>
              <a:t>calculada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15" dirty="0">
                <a:latin typeface="Calibri" panose="020F0502020204030204" pitchFamily="34" charset="0"/>
                <a:cs typeface="Calibri" panose="020F0502020204030204" pitchFamily="34" charset="0"/>
              </a:rPr>
              <a:t>reportada.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048144">
              <a:lnSpc>
                <a:spcPts val="2352"/>
              </a:lnSpc>
              <a:spcBef>
                <a:spcPts val="2034"/>
              </a:spcBef>
            </a:pP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fundamento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apunta,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palabras,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variación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observaría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si  repitiéramos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ocaciones.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4518" y="1084422"/>
            <a:ext cx="8585015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10297397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267" dirty="0">
                <a:solidFill>
                  <a:srgbClr val="4E4F52"/>
                </a:solidFill>
                <a:latin typeface="Calibri" panose="020F0502020204030204" pitchFamily="34" charset="0"/>
              </a:rPr>
              <a:t>Dos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212" dirty="0">
                <a:solidFill>
                  <a:srgbClr val="4E4F52"/>
                </a:solidFill>
                <a:latin typeface="Calibri" panose="020F0502020204030204" pitchFamily="34" charset="0"/>
              </a:rPr>
              <a:t>usos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27" dirty="0">
                <a:solidFill>
                  <a:srgbClr val="4E4F52"/>
                </a:solidFill>
                <a:latin typeface="Calibri" panose="020F0502020204030204" pitchFamily="34" charset="0"/>
              </a:rPr>
              <a:t>del</a:t>
            </a:r>
            <a:r>
              <a:rPr sz="4487" spc="-382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concepto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-79" dirty="0">
                <a:solidFill>
                  <a:srgbClr val="4E4F52"/>
                </a:solidFill>
                <a:latin typeface="Calibri" panose="020F0502020204030204" pitchFamily="34" charset="0"/>
              </a:rPr>
              <a:t>“Conﬁabilidad”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972322"/>
          </a:xfrm>
          <a:prstGeom prst="rect">
            <a:avLst/>
          </a:prstGeom>
        </p:spPr>
        <p:txBody>
          <a:bodyPr vert="horz" wrap="square" lIns="0" tIns="428705" rIns="0" bIns="0" rtlCol="0">
            <a:spAutoFit/>
          </a:bodyPr>
          <a:lstStyle/>
          <a:p>
            <a:pPr marL="48518" marR="669241">
              <a:lnSpc>
                <a:spcPts val="2352"/>
              </a:lnSpc>
              <a:spcBef>
                <a:spcPts val="176"/>
              </a:spcBef>
            </a:pPr>
            <a:r>
              <a:rPr sz="2001" spc="127" dirty="0">
                <a:latin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estándares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</a:rPr>
              <a:t>distinguen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entre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</a:rPr>
              <a:t>dos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</a:rPr>
              <a:t>usos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</a:rPr>
              <a:t>palabra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ciencias  </a:t>
            </a:r>
            <a:r>
              <a:rPr sz="2001" spc="12" dirty="0">
                <a:latin typeface="Calibri" panose="020F0502020204030204" pitchFamily="34" charset="0"/>
              </a:rPr>
              <a:t>sociales:</a:t>
            </a:r>
            <a:endParaRPr sz="2001" dirty="0">
              <a:latin typeface="Calibri" panose="020F0502020204030204" pitchFamily="34" charset="0"/>
            </a:endParaRPr>
          </a:p>
          <a:p>
            <a:pPr marL="505589" marR="761272">
              <a:lnSpc>
                <a:spcPts val="2352"/>
              </a:lnSpc>
              <a:spcBef>
                <a:spcPts val="1995"/>
              </a:spcBef>
            </a:pPr>
            <a:r>
              <a:rPr sz="2001" spc="49" dirty="0">
                <a:latin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primer</a:t>
            </a:r>
            <a:r>
              <a:rPr sz="2001" spc="-139" dirty="0">
                <a:latin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</a:rPr>
              <a:t>sentido,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</a:rPr>
              <a:t>recién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revisamos,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está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69" dirty="0">
                <a:latin typeface="Calibri" panose="020F0502020204030204" pitchFamily="34" charset="0"/>
              </a:rPr>
              <a:t>asociado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consistencia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 err="1">
                <a:latin typeface="Calibri" panose="020F0502020204030204" pitchFamily="34" charset="0"/>
              </a:rPr>
              <a:t>los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18" dirty="0" err="1">
                <a:latin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mediciones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repetidas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llamado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“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conﬁabilidad/precisión</a:t>
            </a:r>
            <a:r>
              <a:rPr sz="2001" spc="-6" dirty="0">
                <a:latin typeface="Calibri" panose="020F0502020204030204" pitchFamily="34" charset="0"/>
              </a:rPr>
              <a:t>”.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05589" marR="3081">
              <a:lnSpc>
                <a:spcPts val="2352"/>
              </a:lnSpc>
              <a:spcBef>
                <a:spcPts val="1995"/>
              </a:spcBef>
            </a:pPr>
            <a:r>
              <a:rPr sz="2001" spc="49" dirty="0">
                <a:latin typeface="Calibri" panose="020F0502020204030204" pitchFamily="34" charset="0"/>
              </a:rPr>
              <a:t>El </a:t>
            </a:r>
            <a:r>
              <a:rPr sz="2001" spc="124" dirty="0">
                <a:latin typeface="Calibri" panose="020F0502020204030204" pitchFamily="34" charset="0"/>
              </a:rPr>
              <a:t>segundo </a:t>
            </a:r>
            <a:r>
              <a:rPr sz="2001" spc="39" dirty="0">
                <a:latin typeface="Calibri" panose="020F0502020204030204" pitchFamily="34" charset="0"/>
              </a:rPr>
              <a:t>sentido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21" dirty="0">
                <a:latin typeface="Calibri" panose="020F0502020204030204" pitchFamily="34" charset="0"/>
              </a:rPr>
              <a:t>conﬁabilidad </a:t>
            </a:r>
            <a:r>
              <a:rPr sz="2001" spc="121" dirty="0">
                <a:latin typeface="Calibri" panose="020F0502020204030204" pitchFamily="34" charset="0"/>
              </a:rPr>
              <a:t>se </a:t>
            </a:r>
            <a:r>
              <a:rPr sz="2001" spc="-30" dirty="0">
                <a:latin typeface="Calibri" panose="020F0502020204030204" pitchFamily="34" charset="0"/>
              </a:rPr>
              <a:t>reﬁere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67" dirty="0">
                <a:latin typeface="Calibri" panose="020F0502020204030204" pitchFamily="34" charset="0"/>
              </a:rPr>
              <a:t>una </a:t>
            </a:r>
            <a:r>
              <a:rPr sz="2001" spc="24" dirty="0">
                <a:latin typeface="Calibri" panose="020F0502020204030204" pitchFamily="34" charset="0"/>
              </a:rPr>
              <a:t>forma </a:t>
            </a:r>
            <a:r>
              <a:rPr sz="2001" spc="-6" dirty="0">
                <a:latin typeface="Calibri" panose="020F0502020204030204" pitchFamily="34" charset="0"/>
              </a:rPr>
              <a:t>particular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-6" dirty="0">
                <a:latin typeface="Calibri" panose="020F0502020204030204" pitchFamily="34" charset="0"/>
              </a:rPr>
              <a:t>cuantiﬁcar  </a:t>
            </a:r>
            <a:r>
              <a:rPr sz="2001" spc="39" dirty="0">
                <a:latin typeface="Calibri" panose="020F0502020204030204" pitchFamily="34" charset="0"/>
              </a:rPr>
              <a:t>esta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consistencia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</a:rPr>
              <a:t>puntajes,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</a:rPr>
              <a:t>decir,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al</a:t>
            </a:r>
            <a:r>
              <a:rPr sz="2001" spc="-154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coeﬁciente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</a:rPr>
              <a:t>teoría 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-3" dirty="0">
                <a:latin typeface="Calibri" panose="020F0502020204030204" pitchFamily="34" charset="0"/>
              </a:rPr>
              <a:t>puntaje</a:t>
            </a:r>
            <a:r>
              <a:rPr sz="2001" spc="-349" dirty="0">
                <a:latin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</a:rPr>
              <a:t>verdadero.</a:t>
            </a:r>
          </a:p>
          <a:p>
            <a:pPr marL="48518" marR="432042">
              <a:lnSpc>
                <a:spcPts val="2352"/>
              </a:lnSpc>
              <a:spcBef>
                <a:spcPts val="1988"/>
              </a:spcBef>
            </a:pPr>
            <a:r>
              <a:rPr sz="2001" spc="149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</a:rPr>
              <a:t>importante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recordar</a:t>
            </a:r>
            <a:r>
              <a:rPr sz="2001" spc="-143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</a:rPr>
              <a:t>lo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fundamental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primero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</a:rPr>
              <a:t>estos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sentidos,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 err="1">
                <a:latin typeface="Calibri" panose="020F0502020204030204" pitchFamily="34" charset="0"/>
              </a:rPr>
              <a:t>mientras</a:t>
            </a:r>
            <a:r>
              <a:rPr sz="2001" spc="21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</a:rPr>
              <a:t>coeﬁcientes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son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</a:rPr>
              <a:t>formas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estimar</a:t>
            </a:r>
            <a:r>
              <a:rPr sz="2001" spc="-139" dirty="0">
                <a:latin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</a:rPr>
              <a:t>este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fundamento.</a:t>
            </a:r>
            <a:endParaRPr sz="200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356914"/>
            <a:ext cx="10342064" cy="575140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3669" spc="203" dirty="0">
                <a:solidFill>
                  <a:srgbClr val="4E4F52"/>
                </a:solidFill>
                <a:latin typeface="Calibri" panose="020F0502020204030204" pitchFamily="34" charset="0"/>
              </a:rPr>
              <a:t>Segundo </a:t>
            </a:r>
            <a:r>
              <a:rPr sz="3669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3669" spc="-56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69" spc="82" dirty="0">
                <a:solidFill>
                  <a:srgbClr val="4E4F52"/>
                </a:solidFill>
                <a:latin typeface="Calibri" panose="020F0502020204030204" pitchFamily="34" charset="0"/>
              </a:rPr>
              <a:t>Conﬁabilidad/Precisión</a:t>
            </a:r>
            <a:endParaRPr sz="3669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394048" cy="478719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750875">
              <a:lnSpc>
                <a:spcPts val="2947"/>
              </a:lnSpc>
              <a:spcBef>
                <a:spcPts val="1701"/>
              </a:spcBef>
            </a:pP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6" dirty="0">
                <a:latin typeface="Calibri" panose="020F0502020204030204" pitchFamily="34" charset="0"/>
                <a:cs typeface="Calibri" panose="020F0502020204030204" pitchFamily="34" charset="0"/>
              </a:rPr>
              <a:t>principal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tema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91" dirty="0">
                <a:latin typeface="Calibri" panose="020F0502020204030204" pitchFamily="34" charset="0"/>
                <a:cs typeface="Calibri" panose="020F0502020204030204" pitchFamily="34" charset="0"/>
              </a:rPr>
              <a:t>cálculo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7" dirty="0">
                <a:latin typeface="Calibri" panose="020F0502020204030204" pitchFamily="34" charset="0"/>
                <a:cs typeface="Calibri" panose="020F0502020204030204" pitchFamily="34" charset="0"/>
              </a:rPr>
              <a:t>conﬁabilidad/precisión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73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486" spc="39" dirty="0">
                <a:latin typeface="Calibri" panose="020F0502020204030204" pitchFamily="34" charset="0"/>
                <a:cs typeface="Calibri" panose="020F0502020204030204" pitchFamily="34" charset="0"/>
              </a:rPr>
              <a:t>diﬁcultad</a:t>
            </a:r>
            <a:r>
              <a:rPr sz="2486" spc="-1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2486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06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1" dirty="0">
                <a:latin typeface="Calibri" panose="020F0502020204030204" pitchFamily="34" charset="0"/>
                <a:cs typeface="Calibri" panose="020F0502020204030204" pitchFamily="34" charset="0"/>
              </a:rPr>
              <a:t>repetidas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486" spc="-1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3" dirty="0">
                <a:latin typeface="Calibri" panose="020F0502020204030204" pitchFamily="34" charset="0"/>
                <a:cs typeface="Calibri" panose="020F0502020204030204" pitchFamily="34" charset="0"/>
              </a:rPr>
              <a:t>ciencias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45" dirty="0">
                <a:latin typeface="Calibri" panose="020F0502020204030204" pitchFamily="34" charset="0"/>
                <a:cs typeface="Calibri" panose="020F0502020204030204" pitchFamily="34" charset="0"/>
              </a:rPr>
              <a:t>sociales.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125146">
              <a:lnSpc>
                <a:spcPts val="2352"/>
              </a:lnSpc>
              <a:spcBef>
                <a:spcPts val="1982"/>
              </a:spcBef>
            </a:pP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Después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todo,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razonable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esperar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persona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responda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veces,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sea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independiente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anteriores.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31190">
              <a:lnSpc>
                <a:spcPts val="2352"/>
              </a:lnSpc>
              <a:spcBef>
                <a:spcPts val="1992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“conﬁabilidad/precisión”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puede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ser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estimada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muchas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formas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distintas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 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ciencias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sociales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dependiendo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cosas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121" dirty="0">
                <a:latin typeface="Calibri" panose="020F0502020204030204" pitchFamily="34" charset="0"/>
                <a:cs typeface="Calibri" panose="020F0502020204030204" pitchFamily="34" charset="0"/>
              </a:rPr>
              <a:t>(a)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69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09" dirty="0"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estadístico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esté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 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analizar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3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respuestas.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3081">
              <a:lnSpc>
                <a:spcPts val="2352"/>
              </a:lnSpc>
              <a:spcBef>
                <a:spcPts val="1988"/>
              </a:spcBef>
            </a:pP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métodos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diseños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intentan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solucionar</a:t>
            </a:r>
            <a:r>
              <a:rPr sz="200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problema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falta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repetidas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independientes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diferentes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formas.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40" y="1863383"/>
            <a:ext cx="11073686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712788" marR="3081" algn="ctr">
              <a:lnSpc>
                <a:spcPts val="5397"/>
              </a:lnSpc>
              <a:spcBef>
                <a:spcPts val="343"/>
              </a:spcBef>
            </a:pPr>
            <a:r>
              <a:rPr lang="es-ES" sz="4578" b="0" spc="334" dirty="0">
                <a:solidFill>
                  <a:srgbClr val="000000"/>
                </a:solidFill>
                <a:latin typeface="Calibri" panose="020F0502020204030204" pitchFamily="34" charset="0"/>
              </a:rPr>
              <a:t>Tercer</a:t>
            </a:r>
            <a:r>
              <a:rPr lang="es-ES" sz="4578" spc="334" dirty="0">
                <a:solidFill>
                  <a:srgbClr val="000000"/>
                </a:solidFill>
              </a:rPr>
              <a:t> </a:t>
            </a:r>
            <a:r>
              <a:rPr sz="4578" b="0" spc="49" dirty="0" err="1">
                <a:solidFill>
                  <a:srgbClr val="000000"/>
                </a:solidFill>
                <a:latin typeface="Calibri" panose="020F0502020204030204" pitchFamily="34" charset="0"/>
              </a:rPr>
              <a:t>fundamento</a:t>
            </a:r>
            <a:r>
              <a:rPr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br>
              <a:rPr lang="es-ES"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s-MX"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imparcialidad</a:t>
            </a:r>
            <a:endParaRPr sz="4578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17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9146824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15" dirty="0">
                <a:solidFill>
                  <a:srgbClr val="4E4F52"/>
                </a:solidFill>
                <a:latin typeface="Calibri" panose="020F0502020204030204" pitchFamily="34" charset="0"/>
              </a:rPr>
              <a:t>Tercer </a:t>
            </a:r>
            <a:r>
              <a:rPr sz="4487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4487" spc="-48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4" dirty="0">
                <a:solidFill>
                  <a:srgbClr val="4E4F52"/>
                </a:solidFill>
                <a:latin typeface="Calibri" panose="020F0502020204030204" pitchFamily="34" charset="0"/>
              </a:rPr>
              <a:t>Imparcialidad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063" y="1890815"/>
            <a:ext cx="10312414" cy="3603917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(publicada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2014)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incluyó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como 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tercer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fundamento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medición,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además de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tradicionales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validez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3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conﬁabilidad.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2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0490" marR="378133">
              <a:lnSpc>
                <a:spcPct val="100499"/>
              </a:lnSpc>
            </a:pPr>
            <a:r>
              <a:rPr sz="2486" i="1" spc="-152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8" dirty="0">
                <a:latin typeface="Calibri"/>
                <a:cs typeface="Calibri"/>
              </a:rPr>
              <a:t>prueba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es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18" dirty="0">
                <a:latin typeface="Calibri"/>
                <a:cs typeface="Calibri"/>
              </a:rPr>
              <a:t>imparcial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6" dirty="0">
                <a:latin typeface="Calibri"/>
                <a:cs typeface="Calibri"/>
              </a:rPr>
              <a:t>acuerdo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definición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64" dirty="0">
                <a:latin typeface="Calibri"/>
                <a:cs typeface="Calibri"/>
              </a:rPr>
              <a:t>estándares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12" dirty="0">
                <a:latin typeface="Calibri"/>
                <a:cs typeface="Calibri"/>
              </a:rPr>
              <a:t>re</a:t>
            </a:r>
            <a:r>
              <a:rPr sz="2486" i="1" spc="-112" dirty="0">
                <a:latin typeface="Adobe Hebrew"/>
                <a:cs typeface="Adobe Hebrew"/>
              </a:rPr>
              <a:t>f</a:t>
            </a:r>
            <a:r>
              <a:rPr sz="2486" i="1" spc="-112" dirty="0">
                <a:latin typeface="Calibri"/>
                <a:cs typeface="Calibri"/>
              </a:rPr>
              <a:t>leja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el  </a:t>
            </a:r>
            <a:r>
              <a:rPr sz="2486" i="1" spc="-161" dirty="0">
                <a:latin typeface="Calibri"/>
                <a:cs typeface="Calibri"/>
              </a:rPr>
              <a:t>mismo </a:t>
            </a:r>
            <a:r>
              <a:rPr sz="2486" i="1" spc="-143" dirty="0">
                <a:latin typeface="Calibri"/>
                <a:cs typeface="Calibri"/>
              </a:rPr>
              <a:t>constructo </a:t>
            </a:r>
            <a:r>
              <a:rPr sz="2486" i="1" spc="-248" dirty="0">
                <a:latin typeface="Calibri"/>
                <a:cs typeface="Calibri"/>
              </a:rPr>
              <a:t>o </a:t>
            </a:r>
            <a:r>
              <a:rPr sz="2486" i="1" spc="-146" dirty="0">
                <a:latin typeface="Calibri"/>
                <a:cs typeface="Calibri"/>
              </a:rPr>
              <a:t>constructos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70" dirty="0">
                <a:latin typeface="Calibri"/>
                <a:cs typeface="Calibri"/>
              </a:rPr>
              <a:t>todas </a:t>
            </a:r>
            <a:r>
              <a:rPr sz="2486" i="1" spc="-158" dirty="0">
                <a:latin typeface="Calibri"/>
                <a:cs typeface="Calibri"/>
              </a:rPr>
              <a:t>quienes </a:t>
            </a:r>
            <a:r>
              <a:rPr sz="2486" i="1" spc="-176" dirty="0">
                <a:latin typeface="Calibri"/>
                <a:cs typeface="Calibri"/>
              </a:rPr>
              <a:t>responden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39" dirty="0">
                <a:latin typeface="Calibri"/>
                <a:cs typeface="Calibri"/>
              </a:rPr>
              <a:t>prueba, </a:t>
            </a:r>
            <a:r>
              <a:rPr sz="2486" i="1" spc="-97" dirty="0">
                <a:latin typeface="Calibri"/>
                <a:cs typeface="Calibri"/>
              </a:rPr>
              <a:t>y </a:t>
            </a:r>
            <a:r>
              <a:rPr sz="2486" i="1" spc="-152" dirty="0">
                <a:latin typeface="Calibri"/>
                <a:cs typeface="Calibri"/>
              </a:rPr>
              <a:t>sus  </a:t>
            </a:r>
            <a:r>
              <a:rPr sz="2486" i="1" spc="-136" dirty="0">
                <a:latin typeface="Calibri"/>
                <a:cs typeface="Calibri"/>
              </a:rPr>
              <a:t>puntajes </a:t>
            </a:r>
            <a:r>
              <a:rPr sz="2486" i="1" spc="-130" dirty="0">
                <a:latin typeface="Calibri"/>
                <a:cs typeface="Calibri"/>
              </a:rPr>
              <a:t>tienen </a:t>
            </a:r>
            <a:r>
              <a:rPr sz="2486" i="1" spc="-133" dirty="0">
                <a:latin typeface="Calibri"/>
                <a:cs typeface="Calibri"/>
              </a:rPr>
              <a:t>el </a:t>
            </a:r>
            <a:r>
              <a:rPr sz="2486" i="1" spc="-161" dirty="0">
                <a:latin typeface="Calibri"/>
                <a:cs typeface="Calibri"/>
              </a:rPr>
              <a:t>mismo </a:t>
            </a:r>
            <a:r>
              <a:rPr sz="2486" i="1" spc="-130" dirty="0">
                <a:latin typeface="Calibri"/>
                <a:cs typeface="Calibri"/>
              </a:rPr>
              <a:t>significado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85" dirty="0">
                <a:latin typeface="Calibri"/>
                <a:cs typeface="Calibri"/>
              </a:rPr>
              <a:t>todos </a:t>
            </a:r>
            <a:r>
              <a:rPr sz="2486" i="1" spc="-146" dirty="0">
                <a:latin typeface="Calibri"/>
                <a:cs typeface="Calibri"/>
              </a:rPr>
              <a:t>los </a:t>
            </a:r>
            <a:r>
              <a:rPr sz="2486" i="1" spc="-118" dirty="0">
                <a:latin typeface="Calibri"/>
                <a:cs typeface="Calibri"/>
              </a:rPr>
              <a:t>individuos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54" dirty="0">
                <a:latin typeface="Calibri"/>
                <a:cs typeface="Calibri"/>
              </a:rPr>
              <a:t>población </a:t>
            </a:r>
            <a:r>
              <a:rPr sz="2486" i="1" spc="-215" dirty="0">
                <a:latin typeface="Calibri"/>
                <a:cs typeface="Calibri"/>
              </a:rPr>
              <a:t>de  </a:t>
            </a:r>
            <a:r>
              <a:rPr sz="2486" i="1" spc="-130" dirty="0">
                <a:latin typeface="Calibri"/>
                <a:cs typeface="Calibri"/>
              </a:rPr>
              <a:t>interés;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58" dirty="0">
                <a:latin typeface="Calibri"/>
                <a:cs typeface="Calibri"/>
              </a:rPr>
              <a:t>prueba </a:t>
            </a:r>
            <a:r>
              <a:rPr sz="2486" i="1" spc="-164" dirty="0">
                <a:latin typeface="Calibri"/>
                <a:cs typeface="Calibri"/>
              </a:rPr>
              <a:t>ecuánime </a:t>
            </a:r>
            <a:r>
              <a:rPr sz="2486" i="1" spc="-182" dirty="0">
                <a:latin typeface="Calibri"/>
                <a:cs typeface="Calibri"/>
              </a:rPr>
              <a:t>no </a:t>
            </a:r>
            <a:r>
              <a:rPr sz="2486" i="1" spc="-179" dirty="0">
                <a:latin typeface="Calibri"/>
                <a:cs typeface="Calibri"/>
              </a:rPr>
              <a:t>da </a:t>
            </a:r>
            <a:r>
              <a:rPr sz="2486" i="1" spc="-139" dirty="0">
                <a:latin typeface="Calibri"/>
                <a:cs typeface="Calibri"/>
              </a:rPr>
              <a:t>ventajas </a:t>
            </a:r>
            <a:r>
              <a:rPr sz="2486" i="1" spc="-248" dirty="0">
                <a:latin typeface="Calibri"/>
                <a:cs typeface="Calibri"/>
              </a:rPr>
              <a:t>o </a:t>
            </a:r>
            <a:r>
              <a:rPr sz="2486" i="1" spc="-158" dirty="0">
                <a:latin typeface="Calibri"/>
                <a:cs typeface="Calibri"/>
              </a:rPr>
              <a:t>desventajas </a:t>
            </a:r>
            <a:r>
              <a:rPr sz="2486" i="1" spc="-182" dirty="0">
                <a:latin typeface="Calibri"/>
                <a:cs typeface="Calibri"/>
              </a:rPr>
              <a:t>a </a:t>
            </a:r>
            <a:r>
              <a:rPr sz="2486" i="1" spc="-146" dirty="0">
                <a:latin typeface="Calibri"/>
                <a:cs typeface="Calibri"/>
              </a:rPr>
              <a:t>algunos </a:t>
            </a:r>
            <a:r>
              <a:rPr sz="2486" i="1" spc="-118" dirty="0">
                <a:latin typeface="Calibri"/>
                <a:cs typeface="Calibri"/>
              </a:rPr>
              <a:t>individuos  </a:t>
            </a:r>
            <a:r>
              <a:rPr sz="2486" i="1" spc="-176" dirty="0">
                <a:latin typeface="Calibri"/>
                <a:cs typeface="Calibri"/>
              </a:rPr>
              <a:t>debido </a:t>
            </a:r>
            <a:r>
              <a:rPr sz="2486" i="1" spc="-182" dirty="0">
                <a:latin typeface="Calibri"/>
                <a:cs typeface="Calibri"/>
              </a:rPr>
              <a:t>a </a:t>
            </a:r>
            <a:r>
              <a:rPr sz="2486" i="1" spc="-133" dirty="0">
                <a:latin typeface="Calibri"/>
                <a:cs typeface="Calibri"/>
              </a:rPr>
              <a:t>características </a:t>
            </a:r>
            <a:r>
              <a:rPr sz="2486" i="1" spc="-130" dirty="0">
                <a:latin typeface="Calibri"/>
                <a:cs typeface="Calibri"/>
              </a:rPr>
              <a:t>irrelevantes </a:t>
            </a:r>
            <a:r>
              <a:rPr sz="2486" i="1" spc="-97" dirty="0">
                <a:latin typeface="Calibri"/>
                <a:cs typeface="Calibri"/>
              </a:rPr>
              <a:t>al </a:t>
            </a:r>
            <a:r>
              <a:rPr sz="2486" i="1" spc="-143" dirty="0">
                <a:latin typeface="Calibri"/>
                <a:cs typeface="Calibri"/>
              </a:rPr>
              <a:t>constructo</a:t>
            </a:r>
            <a:r>
              <a:rPr sz="2486" i="1" spc="-443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0" dirty="0">
                <a:latin typeface="Calibri"/>
                <a:cs typeface="Calibri"/>
              </a:rPr>
              <a:t>interés.</a:t>
            </a:r>
            <a:endParaRPr sz="2486" dirty="0">
              <a:latin typeface="Calibri"/>
              <a:cs typeface="Calibri"/>
            </a:endParaRPr>
          </a:p>
          <a:p>
            <a:pPr marR="246441" algn="r">
              <a:spcBef>
                <a:spcPts val="542"/>
              </a:spcBef>
            </a:pPr>
            <a:r>
              <a:rPr sz="2001" spc="-9" dirty="0">
                <a:latin typeface="Calibri"/>
                <a:cs typeface="Calibri"/>
              </a:rPr>
              <a:t>AERA,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APA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39" dirty="0">
                <a:latin typeface="Calibri"/>
                <a:cs typeface="Calibri"/>
              </a:rPr>
              <a:t>y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-27" dirty="0">
                <a:latin typeface="Calibri"/>
                <a:cs typeface="Calibri"/>
              </a:rPr>
              <a:t>NCME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1728" spc="-64" dirty="0"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2" y="1820336"/>
            <a:ext cx="10460664" cy="4004609"/>
          </a:xfrm>
          <a:prstGeom prst="rect">
            <a:avLst/>
          </a:prstGeom>
        </p:spPr>
        <p:txBody>
          <a:bodyPr vert="horz" wrap="square" lIns="0" tIns="28880" rIns="0" bIns="0" rtlCol="0">
            <a:spAutoFit/>
          </a:bodyPr>
          <a:lstStyle/>
          <a:p>
            <a:pPr marL="7701" marR="3081">
              <a:lnSpc>
                <a:spcPts val="2547"/>
              </a:lnSpc>
              <a:spcBef>
                <a:spcPts val="227"/>
              </a:spcBef>
              <a:tabLst>
                <a:tab pos="455146" algn="l"/>
                <a:tab pos="1441295" algn="l"/>
                <a:tab pos="2490979" algn="l"/>
                <a:tab pos="3677361" algn="l"/>
                <a:tab pos="4368936" algn="l"/>
                <a:tab pos="5505645" algn="l"/>
                <a:tab pos="6836811" algn="l"/>
                <a:tab pos="7213019" algn="l"/>
                <a:tab pos="8628899" algn="l"/>
                <a:tab pos="8990859" algn="l"/>
                <a:tab pos="10113706" algn="l"/>
              </a:tabLst>
            </a:pP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El	</a:t>
            </a:r>
            <a:r>
              <a:rPr sz="2183" spc="176" dirty="0">
                <a:latin typeface="Calibri" panose="020F0502020204030204" pitchFamily="34" charset="0"/>
                <a:cs typeface="Calibri" panose="020F0502020204030204" pitchFamily="34" charset="0"/>
              </a:rPr>
              <a:t>sesgo	</a:t>
            </a:r>
            <a:r>
              <a:rPr sz="2183" spc="49" dirty="0">
                <a:latin typeface="Calibri" panose="020F0502020204030204" pitchFamily="34" charset="0"/>
                <a:cs typeface="Calibri" panose="020F0502020204030204" pitchFamily="34" charset="0"/>
              </a:rPr>
              <a:t>ocur</a:t>
            </a:r>
            <a:r>
              <a:rPr sz="2183" spc="-2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12" dirty="0">
                <a:latin typeface="Calibri" panose="020F0502020204030204" pitchFamily="34" charset="0"/>
                <a:cs typeface="Calibri" panose="020F0502020204030204" pitchFamily="34" charset="0"/>
              </a:rPr>
              <a:t>cuando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-1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2183" spc="2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spc="6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spc="-3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39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8" dirty="0">
                <a:latin typeface="Calibri" panose="020F0502020204030204" pitchFamily="34" charset="0"/>
                <a:cs typeface="Calibri" panose="020F0502020204030204" pitchFamily="34" charset="0"/>
              </a:rPr>
              <a:t>perjudica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30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00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examinados.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183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6" dirty="0"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  <a:r>
              <a:rPr sz="2183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27" dirty="0">
                <a:latin typeface="Calibri" panose="020F0502020204030204" pitchFamily="34" charset="0"/>
                <a:cs typeface="Calibri" panose="020F0502020204030204" pitchFamily="34" charset="0"/>
              </a:rPr>
              <a:t>género,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33" dirty="0">
                <a:latin typeface="Calibri" panose="020F0502020204030204" pitchFamily="34" charset="0"/>
                <a:cs typeface="Calibri" panose="020F0502020204030204" pitchFamily="34" charset="0"/>
              </a:rPr>
              <a:t>idioma,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3" dirty="0">
                <a:latin typeface="Calibri" panose="020F0502020204030204" pitchFamily="34" charset="0"/>
                <a:cs typeface="Calibri" panose="020F0502020204030204" pitchFamily="34" charset="0"/>
              </a:rPr>
              <a:t>origen</a:t>
            </a:r>
            <a:r>
              <a:rPr sz="2183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67" dirty="0">
                <a:latin typeface="Calibri" panose="020F0502020204030204" pitchFamily="34" charset="0"/>
                <a:cs typeface="Calibri" panose="020F0502020204030204" pitchFamily="34" charset="0"/>
              </a:rPr>
              <a:t>étnico,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" dirty="0">
                <a:latin typeface="Calibri" panose="020F0502020204030204" pitchFamily="34" charset="0"/>
                <a:cs typeface="Calibri" panose="020F0502020204030204" pitchFamily="34" charset="0"/>
              </a:rPr>
              <a:t>estatus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socioeconómico.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547"/>
              </a:lnSpc>
              <a:spcBef>
                <a:spcPts val="1455"/>
              </a:spcBef>
            </a:pP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183" spc="42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183" spc="-58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183" spc="52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183" spc="30" dirty="0">
                <a:latin typeface="Calibri" panose="020F0502020204030204" pitchFamily="34" charset="0"/>
                <a:cs typeface="Calibri" panose="020F0502020204030204" pitchFamily="34" charset="0"/>
              </a:rPr>
              <a:t>psicológicas, </a:t>
            </a: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hablan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183" spc="176" dirty="0">
                <a:latin typeface="Calibri" panose="020F0502020204030204" pitchFamily="34" charset="0"/>
                <a:cs typeface="Calibri" panose="020F0502020204030204" pitchFamily="34" charset="0"/>
              </a:rPr>
              <a:t>sesgo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amenaza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fundamental</a:t>
            </a:r>
            <a:r>
              <a:rPr sz="2183" spc="-1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67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pruebas.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547"/>
              </a:lnSpc>
              <a:spcBef>
                <a:spcPts val="1507"/>
              </a:spcBef>
              <a:tabLst>
                <a:tab pos="1189462" algn="l"/>
                <a:tab pos="1841376" algn="l"/>
                <a:tab pos="3379322" algn="l"/>
                <a:tab pos="5109414" algn="l"/>
                <a:tab pos="5787897" algn="l"/>
                <a:tab pos="6441736" algn="l"/>
                <a:tab pos="7585376" algn="l"/>
                <a:tab pos="8087884" algn="l"/>
                <a:tab pos="8491816" algn="l"/>
                <a:tab pos="9878432" algn="l"/>
              </a:tabLst>
            </a:pPr>
            <a:r>
              <a:rPr sz="2183" spc="115" dirty="0">
                <a:latin typeface="Calibri" panose="020F0502020204030204" pitchFamily="34" charset="0"/>
                <a:cs typeface="Calibri" panose="020F0502020204030204" pitchFamily="34" charset="0"/>
              </a:rPr>
              <a:t>Añaden	</a:t>
            </a:r>
            <a:r>
              <a:rPr sz="2183" spc="161" dirty="0">
                <a:latin typeface="Calibri" panose="020F0502020204030204" pitchFamily="34" charset="0"/>
                <a:cs typeface="Calibri" panose="020F0502020204030204" pitchFamily="34" charset="0"/>
              </a:rPr>
              <a:t>dos	</a:t>
            </a:r>
            <a:r>
              <a:rPr sz="2183" spc="115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24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2183" spc="1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106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64" dirty="0">
                <a:latin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importa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46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han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2183" spc="9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gido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-9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spc="-30" dirty="0">
                <a:latin typeface="Calibri" panose="020F0502020204030204" pitchFamily="34" charset="0"/>
                <a:cs typeface="Calibri" panose="020F0502020204030204" pitchFamily="34" charset="0"/>
              </a:rPr>
              <a:t>tu</a:t>
            </a:r>
            <a:r>
              <a:rPr sz="2183" spc="-4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-127" dirty="0">
                <a:latin typeface="Calibri" panose="020F0502020204030204" pitchFamily="34" charset="0"/>
                <a:cs typeface="Calibri" panose="020F0502020204030204" pitchFamily="34" charset="0"/>
              </a:rPr>
              <a:t>a,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pa</a:t>
            </a:r>
            <a:r>
              <a:rPr sz="2183" spc="12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183" spc="12" dirty="0">
                <a:latin typeface="Calibri" panose="020F0502020204030204" pitchFamily="34" charset="0"/>
                <a:cs typeface="Calibri" panose="020F0502020204030204" pitchFamily="34" charset="0"/>
              </a:rPr>
              <a:t>minimizar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183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sesgo.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04247" marR="3466" indent="-273395" algn="just">
              <a:lnSpc>
                <a:spcPts val="2547"/>
              </a:lnSpc>
              <a:spcBef>
                <a:spcPts val="1455"/>
              </a:spcBef>
              <a:buClr>
                <a:srgbClr val="4B77B6"/>
              </a:buClr>
              <a:buFont typeface="Microsoft Sans Serif"/>
              <a:buChar char="◉"/>
              <a:tabLst>
                <a:tab pos="1004631" algn="l"/>
              </a:tabLst>
            </a:pPr>
            <a:r>
              <a:rPr sz="2183" spc="52" dirty="0">
                <a:latin typeface="Calibri" panose="020F0502020204030204" pitchFamily="34" charset="0"/>
                <a:cs typeface="Calibri" panose="020F0502020204030204" pitchFamily="34" charset="0"/>
              </a:rPr>
              <a:t>Accesibilidad: </a:t>
            </a:r>
            <a:r>
              <a:rPr sz="2183" spc="112" dirty="0">
                <a:latin typeface="Calibri" panose="020F0502020204030204" pitchFamily="34" charset="0"/>
                <a:cs typeface="Calibri" panose="020F0502020204030204" pitchFamily="34" charset="0"/>
              </a:rPr>
              <a:t>Todos quienes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toman </a:t>
            </a:r>
            <a:r>
              <a:rPr sz="2183" spc="18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183" spc="106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183" spc="143" dirty="0">
                <a:latin typeface="Calibri" panose="020F0502020204030204" pitchFamily="34" charset="0"/>
                <a:cs typeface="Calibri" panose="020F0502020204030204" pitchFamily="34" charset="0"/>
              </a:rPr>
              <a:t>deben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tener </a:t>
            </a:r>
            <a:r>
              <a:rPr sz="2183" spc="-1140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sz="2183" spc="-53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8" dirty="0">
                <a:latin typeface="Calibri" panose="020F0502020204030204" pitchFamily="34" charset="0"/>
                <a:cs typeface="Calibri" panose="020F0502020204030204" pitchFamily="34" charset="0"/>
              </a:rPr>
              <a:t>oportunidad 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sin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obstáculos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61" dirty="0">
                <a:latin typeface="Calibri" panose="020F0502020204030204" pitchFamily="34" charset="0"/>
                <a:cs typeface="Calibri" panose="020F0502020204030204" pitchFamily="34" charset="0"/>
              </a:rPr>
              <a:t>demostrar </a:t>
            </a: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su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habilidad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constructo  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183" spc="14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183" spc="-4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8" dirty="0">
                <a:latin typeface="Calibri" panose="020F0502020204030204" pitchFamily="34" charset="0"/>
                <a:cs typeface="Calibri" panose="020F0502020204030204" pitchFamily="34" charset="0"/>
              </a:rPr>
              <a:t>esté </a:t>
            </a:r>
            <a:r>
              <a:rPr sz="2183" spc="21" dirty="0">
                <a:latin typeface="Calibri" panose="020F0502020204030204" pitchFamily="34" charset="0"/>
                <a:cs typeface="Calibri" panose="020F0502020204030204" pitchFamily="34" charset="0"/>
              </a:rPr>
              <a:t>midiendo.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04247" marR="3851" indent="-273395" algn="just">
              <a:lnSpc>
                <a:spcPts val="2547"/>
              </a:lnSpc>
              <a:spcBef>
                <a:spcPts val="1507"/>
              </a:spcBef>
              <a:buClr>
                <a:srgbClr val="4B77B6"/>
              </a:buClr>
              <a:buFont typeface="Microsoft Sans Serif"/>
              <a:buChar char="◉"/>
              <a:tabLst>
                <a:tab pos="1004631" algn="l"/>
              </a:tabLst>
            </a:pP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183" spc="-3" dirty="0">
                <a:latin typeface="Calibri" panose="020F0502020204030204" pitchFamily="34" charset="0"/>
                <a:cs typeface="Calibri" panose="020F0502020204030204" pitchFamily="34" charset="0"/>
              </a:rPr>
              <a:t>universal: </a:t>
            </a:r>
            <a:r>
              <a:rPr sz="2183" spc="173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enfoque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pruebas 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183" spc="-655" dirty="0">
                <a:latin typeface="Calibri" panose="020F0502020204030204" pitchFamily="34" charset="0"/>
                <a:cs typeface="Calibri" panose="020F0502020204030204" pitchFamily="34" charset="0"/>
              </a:rPr>
              <a:t>busca 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maximizar</a:t>
            </a:r>
            <a:r>
              <a:rPr sz="2183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accesibilidad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4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examinados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destinados.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2770" y="-415"/>
            <a:ext cx="10444491" cy="1371276"/>
          </a:xfrm>
          <a:prstGeom prst="rect">
            <a:avLst/>
          </a:prstGeom>
        </p:spPr>
        <p:txBody>
          <a:bodyPr vert="horz" wrap="square" lIns="0" tIns="301120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71"/>
              </a:spcBef>
            </a:pPr>
            <a:r>
              <a:rPr sz="4457" spc="58" dirty="0">
                <a:solidFill>
                  <a:srgbClr val="4E4F52"/>
                </a:solidFill>
                <a:latin typeface="Calibri" panose="020F0502020204030204" pitchFamily="34" charset="0"/>
              </a:rPr>
              <a:t>Imparcialidad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200" dirty="0">
                <a:solidFill>
                  <a:srgbClr val="4E4F52"/>
                </a:solidFill>
                <a:latin typeface="Calibri" panose="020F0502020204030204" pitchFamily="34" charset="0"/>
              </a:rPr>
              <a:t>como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88" dirty="0">
                <a:solidFill>
                  <a:srgbClr val="4E4F52"/>
                </a:solidFill>
                <a:latin typeface="Calibri" panose="020F0502020204030204" pitchFamily="34" charset="0"/>
              </a:rPr>
              <a:t>ausencia</a:t>
            </a:r>
            <a:r>
              <a:rPr sz="445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167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276" dirty="0">
                <a:solidFill>
                  <a:srgbClr val="4E4F52"/>
                </a:solidFill>
                <a:latin typeface="Calibri" panose="020F0502020204030204" pitchFamily="34" charset="0"/>
              </a:rPr>
              <a:t>sesgo</a:t>
            </a:r>
            <a:endParaRPr sz="4457" dirty="0">
              <a:latin typeface="Calibri" panose="020F0502020204030204" pitchFamily="34" charset="0"/>
            </a:endParaRPr>
          </a:p>
          <a:p>
            <a:pPr marL="39276">
              <a:lnSpc>
                <a:spcPct val="100000"/>
              </a:lnSpc>
              <a:spcBef>
                <a:spcPts val="931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777124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161" dirty="0">
                <a:solidFill>
                  <a:srgbClr val="4E4F52"/>
                </a:solidFill>
                <a:latin typeface="Calibri" panose="020F0502020204030204" pitchFamily="34" charset="0"/>
              </a:rPr>
              <a:t>Impa</a:t>
            </a:r>
            <a:r>
              <a:rPr sz="4487" spc="-355" dirty="0">
                <a:solidFill>
                  <a:srgbClr val="4E4F52"/>
                </a:solidFill>
                <a:latin typeface="Calibri" panose="020F0502020204030204" pitchFamily="34" charset="0"/>
              </a:rPr>
              <a:t>r</a:t>
            </a:r>
            <a:r>
              <a:rPr sz="4487" spc="243" dirty="0">
                <a:solidFill>
                  <a:srgbClr val="4E4F52"/>
                </a:solidFill>
                <a:latin typeface="Calibri" panose="020F0502020204030204" pitchFamily="34" charset="0"/>
              </a:rPr>
              <a:t>cialidad/Sesgo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Enfatizando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063" y="2138448"/>
            <a:ext cx="9878061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Imparcialidad: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evaluación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ecuánime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mide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todos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69" dirty="0">
                <a:latin typeface="Calibri" panose="020F0502020204030204" pitchFamily="34" charset="0"/>
                <a:cs typeface="Calibri" panose="020F0502020204030204" pitchFamily="34" charset="0"/>
              </a:rPr>
              <a:t>evaluados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interés,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permitiendo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interpretar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resultados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igual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validez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001" spc="-3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ellos.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063" y="3840129"/>
            <a:ext cx="9869974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Sesgo: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diﬁeren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cuanto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estado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real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5" dirty="0">
                <a:latin typeface="Calibri" panose="020F0502020204030204" pitchFamily="34" charset="0"/>
                <a:cs typeface="Calibri" panose="020F0502020204030204" pitchFamily="34" charset="0"/>
              </a:rPr>
              <a:t>atributo.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embargo,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sugiere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sí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lo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hacen.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palabras,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existe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sesgo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cuando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mismo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está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midiendo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dos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sz="2001" spc="85" dirty="0">
                <a:latin typeface="Calibri" panose="020F0502020204030204" pitchFamily="34" charset="0"/>
                <a:cs typeface="Calibri" panose="020F0502020204030204" pitchFamily="34" charset="0"/>
              </a:rPr>
              <a:t>personas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obtienen 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puntuaciones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3" dirty="0">
                <a:latin typeface="Calibri" panose="020F0502020204030204" pitchFamily="34" charset="0"/>
                <a:cs typeface="Calibri" panose="020F0502020204030204" pitchFamily="34" charset="0"/>
              </a:rPr>
              <a:t>distintas.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291408"/>
            <a:ext cx="1691589" cy="699842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4487" spc="318" dirty="0">
                <a:solidFill>
                  <a:srgbClr val="4E4F52"/>
                </a:solidFill>
                <a:latin typeface="Calibri" panose="020F0502020204030204" pitchFamily="34" charset="0"/>
              </a:rPr>
              <a:t>Sesgo</a:t>
            </a:r>
            <a:endParaRPr sz="4487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2402" y="2089117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/>
          <p:nvPr/>
        </p:nvSpPr>
        <p:spPr>
          <a:xfrm>
            <a:off x="1660748" y="204724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1183887" y="204724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 txBox="1"/>
          <p:nvPr/>
        </p:nvSpPr>
        <p:spPr>
          <a:xfrm>
            <a:off x="824518" y="1084422"/>
            <a:ext cx="2626525" cy="71832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2718">
              <a:spcBef>
                <a:spcPts val="1725"/>
              </a:spcBef>
            </a:pPr>
            <a:r>
              <a:rPr sz="1455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sz="1455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generador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8993" y="2142583"/>
            <a:ext cx="146055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40180" y="1013288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4">
                <a:moveTo>
                  <a:pt x="0" y="0"/>
                </a:moveTo>
                <a:lnTo>
                  <a:pt x="326063" y="0"/>
                </a:lnTo>
                <a:lnTo>
                  <a:pt x="326063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8240182" y="1013287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4">
                <a:moveTo>
                  <a:pt x="0" y="0"/>
                </a:moveTo>
                <a:lnTo>
                  <a:pt x="326055" y="0"/>
                </a:lnTo>
                <a:lnTo>
                  <a:pt x="326055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8042461" y="1141226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8042461" y="1141224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8437906" y="1141226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8437901" y="1141224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8635625" y="123427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2" y="0"/>
                </a:lnTo>
                <a:lnTo>
                  <a:pt x="326052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8635622" y="123426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8833343" y="1280793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2" y="0"/>
                </a:lnTo>
                <a:lnTo>
                  <a:pt x="326052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8833343" y="1280790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5" y="0"/>
                </a:lnTo>
                <a:lnTo>
                  <a:pt x="326055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9031062" y="1327315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63" y="0"/>
                </a:lnTo>
                <a:lnTo>
                  <a:pt x="326063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9031062" y="1327313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9228788" y="123427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2" y="0"/>
                </a:lnTo>
                <a:lnTo>
                  <a:pt x="326052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9228783" y="123426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9426505" y="1431990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2" y="0"/>
                </a:lnTo>
                <a:lnTo>
                  <a:pt x="326052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9426503" y="1431989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5" y="0"/>
                </a:lnTo>
                <a:lnTo>
                  <a:pt x="326055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9624224" y="1676234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2" y="0"/>
                </a:lnTo>
                <a:lnTo>
                  <a:pt x="326052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9624224" y="1676231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5" y="0"/>
                </a:lnTo>
                <a:lnTo>
                  <a:pt x="326055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9821943" y="186232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63" y="0"/>
                </a:lnTo>
                <a:lnTo>
                  <a:pt x="326063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9821943" y="186232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0019669" y="192047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2" y="0"/>
                </a:lnTo>
                <a:lnTo>
                  <a:pt x="326052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0019664" y="192047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217387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2" y="0"/>
                </a:lnTo>
                <a:lnTo>
                  <a:pt x="326052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0217384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0415106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2" y="0"/>
                </a:lnTo>
                <a:lnTo>
                  <a:pt x="326052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0415104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0612825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63" y="0"/>
                </a:lnTo>
                <a:lnTo>
                  <a:pt x="326063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0612825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7844743" y="1199379"/>
            <a:ext cx="197923" cy="884108"/>
          </a:xfrm>
          <a:custGeom>
            <a:avLst/>
            <a:gdLst/>
            <a:ahLst/>
            <a:cxnLst/>
            <a:rect l="l" t="t" r="r" b="b"/>
            <a:pathLst>
              <a:path w="326390" h="1457960">
                <a:moveTo>
                  <a:pt x="0" y="0"/>
                </a:moveTo>
                <a:lnTo>
                  <a:pt x="326052" y="0"/>
                </a:lnTo>
                <a:lnTo>
                  <a:pt x="326052" y="1457659"/>
                </a:lnTo>
                <a:lnTo>
                  <a:pt x="0" y="1457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7844741" y="1199376"/>
            <a:ext cx="197923" cy="884108"/>
          </a:xfrm>
          <a:custGeom>
            <a:avLst/>
            <a:gdLst/>
            <a:ahLst/>
            <a:cxnLst/>
            <a:rect l="l" t="t" r="r" b="b"/>
            <a:pathLst>
              <a:path w="326390" h="1457960">
                <a:moveTo>
                  <a:pt x="0" y="0"/>
                </a:moveTo>
                <a:lnTo>
                  <a:pt x="326055" y="0"/>
                </a:lnTo>
                <a:lnTo>
                  <a:pt x="326055" y="1457659"/>
                </a:lnTo>
                <a:lnTo>
                  <a:pt x="0" y="145765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7647024" y="1280793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2" y="0"/>
                </a:lnTo>
                <a:lnTo>
                  <a:pt x="326052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7647020" y="1280790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5" y="0"/>
                </a:lnTo>
                <a:lnTo>
                  <a:pt x="326055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7449299" y="1327315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63" y="0"/>
                </a:lnTo>
                <a:lnTo>
                  <a:pt x="326063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7449300" y="1327313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7251580" y="1397099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2" y="0"/>
                </a:lnTo>
                <a:lnTo>
                  <a:pt x="326052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7251580" y="1397097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5" y="0"/>
                </a:lnTo>
                <a:lnTo>
                  <a:pt x="326055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7053861" y="1431990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2" y="0"/>
                </a:lnTo>
                <a:lnTo>
                  <a:pt x="326052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7053859" y="1431989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5" y="0"/>
                </a:lnTo>
                <a:lnTo>
                  <a:pt x="326055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6856143" y="146688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2" y="0"/>
                </a:lnTo>
                <a:lnTo>
                  <a:pt x="326052" y="1016526"/>
                </a:lnTo>
                <a:lnTo>
                  <a:pt x="0" y="1016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6856139" y="1466881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6658418" y="146688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63" y="0"/>
                </a:lnTo>
                <a:lnTo>
                  <a:pt x="326063" y="1016526"/>
                </a:lnTo>
                <a:lnTo>
                  <a:pt x="0" y="1016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6658419" y="1466881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6460699" y="1525035"/>
            <a:ext cx="197923" cy="558344"/>
          </a:xfrm>
          <a:custGeom>
            <a:avLst/>
            <a:gdLst/>
            <a:ahLst/>
            <a:cxnLst/>
            <a:rect l="l" t="t" r="r" b="b"/>
            <a:pathLst>
              <a:path w="326390" h="920750">
                <a:moveTo>
                  <a:pt x="0" y="0"/>
                </a:moveTo>
                <a:lnTo>
                  <a:pt x="326052" y="0"/>
                </a:lnTo>
                <a:lnTo>
                  <a:pt x="326052" y="920627"/>
                </a:lnTo>
                <a:lnTo>
                  <a:pt x="0" y="920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6460699" y="1525033"/>
            <a:ext cx="197923" cy="558344"/>
          </a:xfrm>
          <a:custGeom>
            <a:avLst/>
            <a:gdLst/>
            <a:ahLst/>
            <a:cxnLst/>
            <a:rect l="l" t="t" r="r" b="b"/>
            <a:pathLst>
              <a:path w="326390" h="920750">
                <a:moveTo>
                  <a:pt x="0" y="0"/>
                </a:moveTo>
                <a:lnTo>
                  <a:pt x="326055" y="0"/>
                </a:lnTo>
                <a:lnTo>
                  <a:pt x="326055" y="920627"/>
                </a:lnTo>
                <a:lnTo>
                  <a:pt x="0" y="92062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6262980" y="1583188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4">
                <a:moveTo>
                  <a:pt x="0" y="0"/>
                </a:moveTo>
                <a:lnTo>
                  <a:pt x="326053" y="0"/>
                </a:lnTo>
                <a:lnTo>
                  <a:pt x="326053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6262978" y="1583186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4">
                <a:moveTo>
                  <a:pt x="0" y="0"/>
                </a:moveTo>
                <a:lnTo>
                  <a:pt x="326055" y="0"/>
                </a:lnTo>
                <a:lnTo>
                  <a:pt x="326055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6065259" y="1629711"/>
            <a:ext cx="197923" cy="453606"/>
          </a:xfrm>
          <a:custGeom>
            <a:avLst/>
            <a:gdLst/>
            <a:ahLst/>
            <a:cxnLst/>
            <a:rect l="l" t="t" r="r" b="b"/>
            <a:pathLst>
              <a:path w="326390" h="748029">
                <a:moveTo>
                  <a:pt x="0" y="0"/>
                </a:moveTo>
                <a:lnTo>
                  <a:pt x="326054" y="0"/>
                </a:lnTo>
                <a:lnTo>
                  <a:pt x="326054" y="748009"/>
                </a:lnTo>
                <a:lnTo>
                  <a:pt x="0" y="7480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6065258" y="1629709"/>
            <a:ext cx="197923" cy="453606"/>
          </a:xfrm>
          <a:custGeom>
            <a:avLst/>
            <a:gdLst/>
            <a:ahLst/>
            <a:cxnLst/>
            <a:rect l="l" t="t" r="r" b="b"/>
            <a:pathLst>
              <a:path w="326390" h="748029">
                <a:moveTo>
                  <a:pt x="0" y="0"/>
                </a:moveTo>
                <a:lnTo>
                  <a:pt x="326055" y="0"/>
                </a:lnTo>
                <a:lnTo>
                  <a:pt x="326055" y="748009"/>
                </a:lnTo>
                <a:lnTo>
                  <a:pt x="0" y="74800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5867539" y="1734386"/>
            <a:ext cx="197923" cy="349254"/>
          </a:xfrm>
          <a:custGeom>
            <a:avLst/>
            <a:gdLst/>
            <a:ahLst/>
            <a:cxnLst/>
            <a:rect l="l" t="t" r="r" b="b"/>
            <a:pathLst>
              <a:path w="326390" h="575945">
                <a:moveTo>
                  <a:pt x="0" y="0"/>
                </a:moveTo>
                <a:lnTo>
                  <a:pt x="326056" y="0"/>
                </a:lnTo>
                <a:lnTo>
                  <a:pt x="326056" y="575391"/>
                </a:lnTo>
                <a:lnTo>
                  <a:pt x="0" y="5753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5867538" y="1734384"/>
            <a:ext cx="197923" cy="349254"/>
          </a:xfrm>
          <a:custGeom>
            <a:avLst/>
            <a:gdLst/>
            <a:ahLst/>
            <a:cxnLst/>
            <a:rect l="l" t="t" r="r" b="b"/>
            <a:pathLst>
              <a:path w="326390" h="575945">
                <a:moveTo>
                  <a:pt x="0" y="0"/>
                </a:moveTo>
                <a:lnTo>
                  <a:pt x="326055" y="0"/>
                </a:lnTo>
                <a:lnTo>
                  <a:pt x="326055" y="575391"/>
                </a:lnTo>
                <a:lnTo>
                  <a:pt x="0" y="57539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5669819" y="1676234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4" y="0"/>
                </a:lnTo>
                <a:lnTo>
                  <a:pt x="326054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5669818" y="1676231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5" y="0"/>
                </a:lnTo>
                <a:lnTo>
                  <a:pt x="326055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5472098" y="1769279"/>
            <a:ext cx="197923" cy="314212"/>
          </a:xfrm>
          <a:custGeom>
            <a:avLst/>
            <a:gdLst/>
            <a:ahLst/>
            <a:cxnLst/>
            <a:rect l="l" t="t" r="r" b="b"/>
            <a:pathLst>
              <a:path w="326390" h="518160">
                <a:moveTo>
                  <a:pt x="0" y="0"/>
                </a:moveTo>
                <a:lnTo>
                  <a:pt x="326056" y="0"/>
                </a:lnTo>
                <a:lnTo>
                  <a:pt x="326056" y="517852"/>
                </a:lnTo>
                <a:lnTo>
                  <a:pt x="0" y="5178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5472097" y="1769276"/>
            <a:ext cx="197923" cy="314212"/>
          </a:xfrm>
          <a:custGeom>
            <a:avLst/>
            <a:gdLst/>
            <a:ahLst/>
            <a:cxnLst/>
            <a:rect l="l" t="t" r="r" b="b"/>
            <a:pathLst>
              <a:path w="326390" h="518160">
                <a:moveTo>
                  <a:pt x="0" y="0"/>
                </a:moveTo>
                <a:lnTo>
                  <a:pt x="326055" y="0"/>
                </a:lnTo>
                <a:lnTo>
                  <a:pt x="326055" y="517852"/>
                </a:lnTo>
                <a:lnTo>
                  <a:pt x="0" y="51785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5274378" y="1827432"/>
            <a:ext cx="197923" cy="256068"/>
          </a:xfrm>
          <a:custGeom>
            <a:avLst/>
            <a:gdLst/>
            <a:ahLst/>
            <a:cxnLst/>
            <a:rect l="l" t="t" r="r" b="b"/>
            <a:pathLst>
              <a:path w="326390" h="422275">
                <a:moveTo>
                  <a:pt x="0" y="0"/>
                </a:moveTo>
                <a:lnTo>
                  <a:pt x="326054" y="0"/>
                </a:lnTo>
                <a:lnTo>
                  <a:pt x="326054" y="421953"/>
                </a:lnTo>
                <a:lnTo>
                  <a:pt x="0" y="421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5274377" y="1827429"/>
            <a:ext cx="197923" cy="256068"/>
          </a:xfrm>
          <a:custGeom>
            <a:avLst/>
            <a:gdLst/>
            <a:ahLst/>
            <a:cxnLst/>
            <a:rect l="l" t="t" r="r" b="b"/>
            <a:pathLst>
              <a:path w="326390" h="422275">
                <a:moveTo>
                  <a:pt x="0" y="0"/>
                </a:moveTo>
                <a:lnTo>
                  <a:pt x="326055" y="0"/>
                </a:lnTo>
                <a:lnTo>
                  <a:pt x="326055" y="421954"/>
                </a:lnTo>
                <a:lnTo>
                  <a:pt x="0" y="42195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5076658" y="186232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4" y="0"/>
                </a:lnTo>
                <a:lnTo>
                  <a:pt x="326054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5076657" y="186232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4878938" y="192047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6" y="0"/>
                </a:lnTo>
                <a:lnTo>
                  <a:pt x="326056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4878937" y="192047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4681218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4" y="0"/>
                </a:lnTo>
                <a:lnTo>
                  <a:pt x="326054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4681216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71"/>
          <p:cNvSpPr/>
          <p:nvPr/>
        </p:nvSpPr>
        <p:spPr>
          <a:xfrm>
            <a:off x="4483497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6" y="0"/>
                </a:lnTo>
                <a:lnTo>
                  <a:pt x="326056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72"/>
          <p:cNvSpPr/>
          <p:nvPr/>
        </p:nvSpPr>
        <p:spPr>
          <a:xfrm>
            <a:off x="4483496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" name="object 73"/>
          <p:cNvSpPr/>
          <p:nvPr/>
        </p:nvSpPr>
        <p:spPr>
          <a:xfrm>
            <a:off x="4285776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4" y="0"/>
                </a:lnTo>
                <a:lnTo>
                  <a:pt x="326054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" name="object 74"/>
          <p:cNvSpPr/>
          <p:nvPr/>
        </p:nvSpPr>
        <p:spPr>
          <a:xfrm>
            <a:off x="4285776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object 75"/>
          <p:cNvSpPr/>
          <p:nvPr/>
        </p:nvSpPr>
        <p:spPr>
          <a:xfrm>
            <a:off x="4088056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6" y="0"/>
                </a:lnTo>
                <a:lnTo>
                  <a:pt x="326056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" name="object 76"/>
          <p:cNvSpPr/>
          <p:nvPr/>
        </p:nvSpPr>
        <p:spPr>
          <a:xfrm>
            <a:off x="4088055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77"/>
          <p:cNvSpPr/>
          <p:nvPr/>
        </p:nvSpPr>
        <p:spPr>
          <a:xfrm>
            <a:off x="8285541" y="1389439"/>
            <a:ext cx="107001" cy="27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78"/>
          <p:cNvSpPr/>
          <p:nvPr/>
        </p:nvSpPr>
        <p:spPr>
          <a:xfrm>
            <a:off x="1772402" y="3473159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79"/>
          <p:cNvSpPr/>
          <p:nvPr/>
        </p:nvSpPr>
        <p:spPr>
          <a:xfrm>
            <a:off x="1660748" y="3431289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" name="object 80"/>
          <p:cNvSpPr/>
          <p:nvPr/>
        </p:nvSpPr>
        <p:spPr>
          <a:xfrm>
            <a:off x="11183887" y="3431289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" name="object 81"/>
          <p:cNvSpPr txBox="1"/>
          <p:nvPr/>
        </p:nvSpPr>
        <p:spPr>
          <a:xfrm>
            <a:off x="1876355" y="2749424"/>
            <a:ext cx="2120551" cy="453125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740"/>
              </a:lnSpc>
              <a:spcBef>
                <a:spcPts val="133"/>
              </a:spcBef>
            </a:pP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Foco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 </a:t>
            </a:r>
            <a:r>
              <a:rPr sz="1455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sz="1455" spc="-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1455" spc="-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455" spc="-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018993" y="3527132"/>
            <a:ext cx="146055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715387" y="3527132"/>
            <a:ext cx="13115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240180" y="2408961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4">
                <a:moveTo>
                  <a:pt x="0" y="0"/>
                </a:moveTo>
                <a:lnTo>
                  <a:pt x="326063" y="0"/>
                </a:lnTo>
                <a:lnTo>
                  <a:pt x="326063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" name="object 85"/>
          <p:cNvSpPr/>
          <p:nvPr/>
        </p:nvSpPr>
        <p:spPr>
          <a:xfrm>
            <a:off x="8240182" y="2408959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4">
                <a:moveTo>
                  <a:pt x="0" y="0"/>
                </a:moveTo>
                <a:lnTo>
                  <a:pt x="326055" y="0"/>
                </a:lnTo>
                <a:lnTo>
                  <a:pt x="326055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" name="object 86"/>
          <p:cNvSpPr/>
          <p:nvPr/>
        </p:nvSpPr>
        <p:spPr>
          <a:xfrm>
            <a:off x="8285541" y="2639276"/>
            <a:ext cx="107001" cy="27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" name="object 87"/>
          <p:cNvSpPr/>
          <p:nvPr/>
        </p:nvSpPr>
        <p:spPr>
          <a:xfrm>
            <a:off x="1772402" y="4752526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" name="object 88"/>
          <p:cNvSpPr/>
          <p:nvPr/>
        </p:nvSpPr>
        <p:spPr>
          <a:xfrm>
            <a:off x="1660748" y="4710656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" name="object 89"/>
          <p:cNvSpPr/>
          <p:nvPr/>
        </p:nvSpPr>
        <p:spPr>
          <a:xfrm>
            <a:off x="11183887" y="4710656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" name="object 90"/>
          <p:cNvSpPr txBox="1"/>
          <p:nvPr/>
        </p:nvSpPr>
        <p:spPr>
          <a:xfrm>
            <a:off x="1876355" y="4073732"/>
            <a:ext cx="3183714" cy="453125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740"/>
              </a:lnSpc>
              <a:spcBef>
                <a:spcPts val="133"/>
              </a:spcBef>
              <a:tabLst>
                <a:tab pos="1448996" algn="l"/>
              </a:tabLst>
            </a:pPr>
            <a:r>
              <a:rPr sz="1455" spc="79" dirty="0" err="1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Esperamos</a:t>
            </a:r>
            <a:r>
              <a:rPr sz="1455" spc="-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s-ES"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 err="1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</a:t>
            </a:r>
            <a:r>
              <a:rPr sz="1455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455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 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disperse </a:t>
            </a:r>
            <a:r>
              <a:rPr sz="1455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nuestra </a:t>
            </a:r>
            <a:r>
              <a:rPr sz="1455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estimación,</a:t>
            </a:r>
            <a:r>
              <a:rPr sz="1455" spc="-2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pero…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871470" y="4806875"/>
            <a:ext cx="16080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715388" y="4806875"/>
            <a:ext cx="145901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8240180" y="3688328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5">
                <a:moveTo>
                  <a:pt x="0" y="0"/>
                </a:moveTo>
                <a:lnTo>
                  <a:pt x="326063" y="0"/>
                </a:lnTo>
                <a:lnTo>
                  <a:pt x="326063" y="1764534"/>
                </a:lnTo>
                <a:lnTo>
                  <a:pt x="0" y="1764534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" name="object 94"/>
          <p:cNvSpPr/>
          <p:nvPr/>
        </p:nvSpPr>
        <p:spPr>
          <a:xfrm>
            <a:off x="8240182" y="3688325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5">
                <a:moveTo>
                  <a:pt x="0" y="0"/>
                </a:moveTo>
                <a:lnTo>
                  <a:pt x="326055" y="0"/>
                </a:lnTo>
                <a:lnTo>
                  <a:pt x="326055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" name="object 95"/>
          <p:cNvSpPr/>
          <p:nvPr/>
        </p:nvSpPr>
        <p:spPr>
          <a:xfrm>
            <a:off x="8042461" y="3886048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2" y="0"/>
                </a:lnTo>
                <a:lnTo>
                  <a:pt x="326052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" name="object 96"/>
          <p:cNvSpPr/>
          <p:nvPr/>
        </p:nvSpPr>
        <p:spPr>
          <a:xfrm>
            <a:off x="8042461" y="3886046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5" y="0"/>
                </a:lnTo>
                <a:lnTo>
                  <a:pt x="326055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" name="object 97"/>
          <p:cNvSpPr/>
          <p:nvPr/>
        </p:nvSpPr>
        <p:spPr>
          <a:xfrm>
            <a:off x="7844743" y="4072139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2" y="0"/>
                </a:lnTo>
                <a:lnTo>
                  <a:pt x="326052" y="1131603"/>
                </a:lnTo>
                <a:lnTo>
                  <a:pt x="0" y="113160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" name="object 98"/>
          <p:cNvSpPr/>
          <p:nvPr/>
        </p:nvSpPr>
        <p:spPr>
          <a:xfrm>
            <a:off x="7844741" y="4072136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5" y="0"/>
                </a:lnTo>
                <a:lnTo>
                  <a:pt x="326055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" name="object 99"/>
          <p:cNvSpPr/>
          <p:nvPr/>
        </p:nvSpPr>
        <p:spPr>
          <a:xfrm>
            <a:off x="7647024" y="4002354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2" y="0"/>
                </a:lnTo>
                <a:lnTo>
                  <a:pt x="326052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" name="object 100"/>
          <p:cNvSpPr/>
          <p:nvPr/>
        </p:nvSpPr>
        <p:spPr>
          <a:xfrm>
            <a:off x="7647020" y="4002352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" name="object 101"/>
          <p:cNvSpPr/>
          <p:nvPr/>
        </p:nvSpPr>
        <p:spPr>
          <a:xfrm>
            <a:off x="7449299" y="390931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63" y="0"/>
                </a:lnTo>
                <a:lnTo>
                  <a:pt x="326063" y="1400119"/>
                </a:lnTo>
                <a:lnTo>
                  <a:pt x="0" y="140011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" name="object 102"/>
          <p:cNvSpPr/>
          <p:nvPr/>
        </p:nvSpPr>
        <p:spPr>
          <a:xfrm>
            <a:off x="7449300" y="390930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" name="object 103"/>
          <p:cNvSpPr/>
          <p:nvPr/>
        </p:nvSpPr>
        <p:spPr>
          <a:xfrm>
            <a:off x="7251580" y="3816265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" name="object 104"/>
          <p:cNvSpPr/>
          <p:nvPr/>
        </p:nvSpPr>
        <p:spPr>
          <a:xfrm>
            <a:off x="7251580" y="3816262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" name="object 105"/>
          <p:cNvSpPr/>
          <p:nvPr/>
        </p:nvSpPr>
        <p:spPr>
          <a:xfrm>
            <a:off x="7053861" y="414192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2" y="0"/>
                </a:lnTo>
                <a:lnTo>
                  <a:pt x="326052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" name="object 106"/>
          <p:cNvSpPr/>
          <p:nvPr/>
        </p:nvSpPr>
        <p:spPr>
          <a:xfrm>
            <a:off x="7053859" y="4141919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" name="object 107"/>
          <p:cNvSpPr/>
          <p:nvPr/>
        </p:nvSpPr>
        <p:spPr>
          <a:xfrm>
            <a:off x="6856143" y="453736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2" y="0"/>
                </a:lnTo>
                <a:lnTo>
                  <a:pt x="326052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" name="object 108"/>
          <p:cNvSpPr/>
          <p:nvPr/>
        </p:nvSpPr>
        <p:spPr>
          <a:xfrm>
            <a:off x="6856139" y="4537360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" name="object 109"/>
          <p:cNvSpPr/>
          <p:nvPr/>
        </p:nvSpPr>
        <p:spPr>
          <a:xfrm>
            <a:off x="8437906" y="4002354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2" y="0"/>
                </a:lnTo>
                <a:lnTo>
                  <a:pt x="326052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" name="object 110"/>
          <p:cNvSpPr/>
          <p:nvPr/>
        </p:nvSpPr>
        <p:spPr>
          <a:xfrm>
            <a:off x="8437901" y="4002352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" name="object 111"/>
          <p:cNvSpPr/>
          <p:nvPr/>
        </p:nvSpPr>
        <p:spPr>
          <a:xfrm>
            <a:off x="8635625" y="414192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2" y="0"/>
                </a:lnTo>
                <a:lnTo>
                  <a:pt x="326052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" name="object 112"/>
          <p:cNvSpPr/>
          <p:nvPr/>
        </p:nvSpPr>
        <p:spPr>
          <a:xfrm>
            <a:off x="8635622" y="4141919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" name="object 113"/>
          <p:cNvSpPr/>
          <p:nvPr/>
        </p:nvSpPr>
        <p:spPr>
          <a:xfrm>
            <a:off x="8833343" y="4258229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5">
                <a:moveTo>
                  <a:pt x="0" y="0"/>
                </a:moveTo>
                <a:lnTo>
                  <a:pt x="326052" y="0"/>
                </a:lnTo>
                <a:lnTo>
                  <a:pt x="326052" y="824727"/>
                </a:lnTo>
                <a:lnTo>
                  <a:pt x="0" y="824727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" name="object 114"/>
          <p:cNvSpPr/>
          <p:nvPr/>
        </p:nvSpPr>
        <p:spPr>
          <a:xfrm>
            <a:off x="8833343" y="4258226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5">
                <a:moveTo>
                  <a:pt x="0" y="0"/>
                </a:moveTo>
                <a:lnTo>
                  <a:pt x="326055" y="0"/>
                </a:lnTo>
                <a:lnTo>
                  <a:pt x="326055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" name="object 115"/>
          <p:cNvSpPr/>
          <p:nvPr/>
        </p:nvSpPr>
        <p:spPr>
          <a:xfrm>
            <a:off x="9031062" y="4455948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63" y="0"/>
                </a:lnTo>
                <a:lnTo>
                  <a:pt x="326063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" name="object 116"/>
          <p:cNvSpPr/>
          <p:nvPr/>
        </p:nvSpPr>
        <p:spPr>
          <a:xfrm>
            <a:off x="9031062" y="4455946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5" y="0"/>
                </a:lnTo>
                <a:lnTo>
                  <a:pt x="326055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" name="object 117"/>
          <p:cNvSpPr/>
          <p:nvPr/>
        </p:nvSpPr>
        <p:spPr>
          <a:xfrm>
            <a:off x="9228788" y="459551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2" y="0"/>
                </a:lnTo>
                <a:lnTo>
                  <a:pt x="326052" y="268515"/>
                </a:lnTo>
                <a:lnTo>
                  <a:pt x="0" y="26851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" name="object 118"/>
          <p:cNvSpPr/>
          <p:nvPr/>
        </p:nvSpPr>
        <p:spPr>
          <a:xfrm>
            <a:off x="9228783" y="459551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" name="object 119"/>
          <p:cNvSpPr/>
          <p:nvPr/>
        </p:nvSpPr>
        <p:spPr>
          <a:xfrm>
            <a:off x="1848001" y="6124938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" name="object 120"/>
          <p:cNvSpPr/>
          <p:nvPr/>
        </p:nvSpPr>
        <p:spPr>
          <a:xfrm>
            <a:off x="1736347" y="608306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" name="object 121"/>
          <p:cNvSpPr/>
          <p:nvPr/>
        </p:nvSpPr>
        <p:spPr>
          <a:xfrm>
            <a:off x="11259486" y="608306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" name="object 122"/>
          <p:cNvSpPr txBox="1"/>
          <p:nvPr/>
        </p:nvSpPr>
        <p:spPr>
          <a:xfrm>
            <a:off x="9715388" y="6177366"/>
            <a:ext cx="145901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8309969" y="5060740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5">
                <a:moveTo>
                  <a:pt x="0" y="0"/>
                </a:moveTo>
                <a:lnTo>
                  <a:pt x="326052" y="0"/>
                </a:lnTo>
                <a:lnTo>
                  <a:pt x="326052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" name="object 124"/>
          <p:cNvSpPr/>
          <p:nvPr/>
        </p:nvSpPr>
        <p:spPr>
          <a:xfrm>
            <a:off x="8309965" y="5060737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5">
                <a:moveTo>
                  <a:pt x="0" y="0"/>
                </a:moveTo>
                <a:lnTo>
                  <a:pt x="326055" y="0"/>
                </a:lnTo>
                <a:lnTo>
                  <a:pt x="326055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" name="object 125"/>
          <p:cNvSpPr/>
          <p:nvPr/>
        </p:nvSpPr>
        <p:spPr>
          <a:xfrm>
            <a:off x="8112244" y="5246829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63" y="0"/>
                </a:lnTo>
                <a:lnTo>
                  <a:pt x="326063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" name="object 126"/>
          <p:cNvSpPr/>
          <p:nvPr/>
        </p:nvSpPr>
        <p:spPr>
          <a:xfrm>
            <a:off x="8112244" y="5246827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5" y="0"/>
                </a:lnTo>
                <a:lnTo>
                  <a:pt x="326055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" name="object 127"/>
          <p:cNvSpPr/>
          <p:nvPr/>
        </p:nvSpPr>
        <p:spPr>
          <a:xfrm>
            <a:off x="7914525" y="5444549"/>
            <a:ext cx="197923" cy="674633"/>
          </a:xfrm>
          <a:custGeom>
            <a:avLst/>
            <a:gdLst/>
            <a:ahLst/>
            <a:cxnLst/>
            <a:rect l="l" t="t" r="r" b="b"/>
            <a:pathLst>
              <a:path w="326390" h="1112520">
                <a:moveTo>
                  <a:pt x="0" y="0"/>
                </a:moveTo>
                <a:lnTo>
                  <a:pt x="326052" y="0"/>
                </a:lnTo>
                <a:lnTo>
                  <a:pt x="326052" y="1112424"/>
                </a:lnTo>
                <a:lnTo>
                  <a:pt x="0" y="1112424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" name="object 128"/>
          <p:cNvSpPr/>
          <p:nvPr/>
        </p:nvSpPr>
        <p:spPr>
          <a:xfrm>
            <a:off x="7914525" y="5444547"/>
            <a:ext cx="197923" cy="674633"/>
          </a:xfrm>
          <a:custGeom>
            <a:avLst/>
            <a:gdLst/>
            <a:ahLst/>
            <a:cxnLst/>
            <a:rect l="l" t="t" r="r" b="b"/>
            <a:pathLst>
              <a:path w="326390" h="1112520">
                <a:moveTo>
                  <a:pt x="0" y="0"/>
                </a:moveTo>
                <a:lnTo>
                  <a:pt x="326055" y="0"/>
                </a:lnTo>
                <a:lnTo>
                  <a:pt x="326055" y="1112424"/>
                </a:lnTo>
                <a:lnTo>
                  <a:pt x="0" y="111242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" name="object 129"/>
          <p:cNvSpPr/>
          <p:nvPr/>
        </p:nvSpPr>
        <p:spPr>
          <a:xfrm>
            <a:off x="7716806" y="5374766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2" y="0"/>
                </a:lnTo>
                <a:lnTo>
                  <a:pt x="326052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" name="object 130"/>
          <p:cNvSpPr/>
          <p:nvPr/>
        </p:nvSpPr>
        <p:spPr>
          <a:xfrm>
            <a:off x="7716804" y="5374763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5" y="0"/>
                </a:lnTo>
                <a:lnTo>
                  <a:pt x="326055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" name="object 131"/>
          <p:cNvSpPr/>
          <p:nvPr/>
        </p:nvSpPr>
        <p:spPr>
          <a:xfrm>
            <a:off x="7519087" y="5281722"/>
            <a:ext cx="197923" cy="837515"/>
          </a:xfrm>
          <a:custGeom>
            <a:avLst/>
            <a:gdLst/>
            <a:ahLst/>
            <a:cxnLst/>
            <a:rect l="l" t="t" r="r" b="b"/>
            <a:pathLst>
              <a:path w="326390" h="1381125">
                <a:moveTo>
                  <a:pt x="0" y="0"/>
                </a:moveTo>
                <a:lnTo>
                  <a:pt x="326052" y="0"/>
                </a:lnTo>
                <a:lnTo>
                  <a:pt x="326052" y="1380940"/>
                </a:lnTo>
                <a:lnTo>
                  <a:pt x="0" y="1380940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" name="object 132"/>
          <p:cNvSpPr/>
          <p:nvPr/>
        </p:nvSpPr>
        <p:spPr>
          <a:xfrm>
            <a:off x="7519084" y="5281719"/>
            <a:ext cx="197923" cy="837515"/>
          </a:xfrm>
          <a:custGeom>
            <a:avLst/>
            <a:gdLst/>
            <a:ahLst/>
            <a:cxnLst/>
            <a:rect l="l" t="t" r="r" b="b"/>
            <a:pathLst>
              <a:path w="326390" h="1381125">
                <a:moveTo>
                  <a:pt x="0" y="0"/>
                </a:moveTo>
                <a:lnTo>
                  <a:pt x="326055" y="0"/>
                </a:lnTo>
                <a:lnTo>
                  <a:pt x="326055" y="1380940"/>
                </a:lnTo>
                <a:lnTo>
                  <a:pt x="0" y="138094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" name="object 133"/>
          <p:cNvSpPr/>
          <p:nvPr/>
        </p:nvSpPr>
        <p:spPr>
          <a:xfrm>
            <a:off x="7321362" y="5188677"/>
            <a:ext cx="197923" cy="930701"/>
          </a:xfrm>
          <a:custGeom>
            <a:avLst/>
            <a:gdLst/>
            <a:ahLst/>
            <a:cxnLst/>
            <a:rect l="l" t="t" r="r" b="b"/>
            <a:pathLst>
              <a:path w="326390" h="1534795">
                <a:moveTo>
                  <a:pt x="0" y="0"/>
                </a:moveTo>
                <a:lnTo>
                  <a:pt x="326063" y="0"/>
                </a:lnTo>
                <a:lnTo>
                  <a:pt x="326063" y="1534378"/>
                </a:lnTo>
                <a:lnTo>
                  <a:pt x="0" y="1534378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" name="object 134"/>
          <p:cNvSpPr/>
          <p:nvPr/>
        </p:nvSpPr>
        <p:spPr>
          <a:xfrm>
            <a:off x="7321363" y="5188674"/>
            <a:ext cx="197923" cy="930701"/>
          </a:xfrm>
          <a:custGeom>
            <a:avLst/>
            <a:gdLst/>
            <a:ahLst/>
            <a:cxnLst/>
            <a:rect l="l" t="t" r="r" b="b"/>
            <a:pathLst>
              <a:path w="326390" h="1534795">
                <a:moveTo>
                  <a:pt x="0" y="0"/>
                </a:moveTo>
                <a:lnTo>
                  <a:pt x="326055" y="0"/>
                </a:lnTo>
                <a:lnTo>
                  <a:pt x="326055" y="1534378"/>
                </a:lnTo>
                <a:lnTo>
                  <a:pt x="0" y="153437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" name="object 135"/>
          <p:cNvSpPr/>
          <p:nvPr/>
        </p:nvSpPr>
        <p:spPr>
          <a:xfrm>
            <a:off x="7123643" y="5514334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2" y="0"/>
                </a:lnTo>
                <a:lnTo>
                  <a:pt x="326052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" name="object 136"/>
          <p:cNvSpPr/>
          <p:nvPr/>
        </p:nvSpPr>
        <p:spPr>
          <a:xfrm>
            <a:off x="7123643" y="5514331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5" y="0"/>
                </a:lnTo>
                <a:lnTo>
                  <a:pt x="326055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" name="object 137"/>
          <p:cNvSpPr/>
          <p:nvPr/>
        </p:nvSpPr>
        <p:spPr>
          <a:xfrm>
            <a:off x="6925925" y="589814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2" y="0"/>
                </a:lnTo>
                <a:lnTo>
                  <a:pt x="326052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" name="object 138"/>
          <p:cNvSpPr/>
          <p:nvPr/>
        </p:nvSpPr>
        <p:spPr>
          <a:xfrm>
            <a:off x="6925923" y="589814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" name="object 139"/>
          <p:cNvSpPr/>
          <p:nvPr/>
        </p:nvSpPr>
        <p:spPr>
          <a:xfrm>
            <a:off x="8507687" y="5374766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2" y="0"/>
                </a:lnTo>
                <a:lnTo>
                  <a:pt x="326052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" name="object 140"/>
          <p:cNvSpPr/>
          <p:nvPr/>
        </p:nvSpPr>
        <p:spPr>
          <a:xfrm>
            <a:off x="8507686" y="5374763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5" y="0"/>
                </a:lnTo>
                <a:lnTo>
                  <a:pt x="326055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" name="object 141"/>
          <p:cNvSpPr/>
          <p:nvPr/>
        </p:nvSpPr>
        <p:spPr>
          <a:xfrm>
            <a:off x="8705406" y="5514334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2" y="0"/>
                </a:lnTo>
                <a:lnTo>
                  <a:pt x="326052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" name="object 142"/>
          <p:cNvSpPr/>
          <p:nvPr/>
        </p:nvSpPr>
        <p:spPr>
          <a:xfrm>
            <a:off x="8705406" y="5514331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5" y="0"/>
                </a:lnTo>
                <a:lnTo>
                  <a:pt x="326055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" name="object 143"/>
          <p:cNvSpPr/>
          <p:nvPr/>
        </p:nvSpPr>
        <p:spPr>
          <a:xfrm>
            <a:off x="8903125" y="5630640"/>
            <a:ext cx="197923" cy="488647"/>
          </a:xfrm>
          <a:custGeom>
            <a:avLst/>
            <a:gdLst/>
            <a:ahLst/>
            <a:cxnLst/>
            <a:rect l="l" t="t" r="r" b="b"/>
            <a:pathLst>
              <a:path w="326390" h="805815">
                <a:moveTo>
                  <a:pt x="0" y="0"/>
                </a:moveTo>
                <a:lnTo>
                  <a:pt x="326063" y="0"/>
                </a:lnTo>
                <a:lnTo>
                  <a:pt x="326063" y="805548"/>
                </a:lnTo>
                <a:lnTo>
                  <a:pt x="0" y="805548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" name="object 144"/>
          <p:cNvSpPr/>
          <p:nvPr/>
        </p:nvSpPr>
        <p:spPr>
          <a:xfrm>
            <a:off x="8903126" y="5630637"/>
            <a:ext cx="197923" cy="488647"/>
          </a:xfrm>
          <a:custGeom>
            <a:avLst/>
            <a:gdLst/>
            <a:ahLst/>
            <a:cxnLst/>
            <a:rect l="l" t="t" r="r" b="b"/>
            <a:pathLst>
              <a:path w="326390" h="805815">
                <a:moveTo>
                  <a:pt x="0" y="0"/>
                </a:moveTo>
                <a:lnTo>
                  <a:pt x="326055" y="0"/>
                </a:lnTo>
                <a:lnTo>
                  <a:pt x="326055" y="805548"/>
                </a:lnTo>
                <a:lnTo>
                  <a:pt x="0" y="80554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" name="object 145"/>
          <p:cNvSpPr/>
          <p:nvPr/>
        </p:nvSpPr>
        <p:spPr>
          <a:xfrm>
            <a:off x="9100851" y="5816729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2" y="0"/>
                </a:lnTo>
                <a:lnTo>
                  <a:pt x="326052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" name="object 146"/>
          <p:cNvSpPr/>
          <p:nvPr/>
        </p:nvSpPr>
        <p:spPr>
          <a:xfrm>
            <a:off x="9100846" y="5816726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5" y="0"/>
                </a:lnTo>
                <a:lnTo>
                  <a:pt x="326055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" name="object 147"/>
          <p:cNvSpPr/>
          <p:nvPr/>
        </p:nvSpPr>
        <p:spPr>
          <a:xfrm>
            <a:off x="9298568" y="5967928"/>
            <a:ext cx="197923" cy="151330"/>
          </a:xfrm>
          <a:custGeom>
            <a:avLst/>
            <a:gdLst/>
            <a:ahLst/>
            <a:cxnLst/>
            <a:rect l="l" t="t" r="r" b="b"/>
            <a:pathLst>
              <a:path w="326390" h="249554">
                <a:moveTo>
                  <a:pt x="0" y="0"/>
                </a:moveTo>
                <a:lnTo>
                  <a:pt x="326052" y="0"/>
                </a:lnTo>
                <a:lnTo>
                  <a:pt x="326052" y="249335"/>
                </a:lnTo>
                <a:lnTo>
                  <a:pt x="0" y="24933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" name="object 148"/>
          <p:cNvSpPr/>
          <p:nvPr/>
        </p:nvSpPr>
        <p:spPr>
          <a:xfrm>
            <a:off x="9298566" y="5967924"/>
            <a:ext cx="197923" cy="151330"/>
          </a:xfrm>
          <a:custGeom>
            <a:avLst/>
            <a:gdLst/>
            <a:ahLst/>
            <a:cxnLst/>
            <a:rect l="l" t="t" r="r" b="b"/>
            <a:pathLst>
              <a:path w="326390" h="249554">
                <a:moveTo>
                  <a:pt x="0" y="0"/>
                </a:moveTo>
                <a:lnTo>
                  <a:pt x="326055" y="0"/>
                </a:lnTo>
                <a:lnTo>
                  <a:pt x="326055" y="249336"/>
                </a:lnTo>
                <a:lnTo>
                  <a:pt x="0" y="24933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" name="object 149"/>
          <p:cNvSpPr/>
          <p:nvPr/>
        </p:nvSpPr>
        <p:spPr>
          <a:xfrm>
            <a:off x="2436510" y="5793468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89" h="326390">
                <a:moveTo>
                  <a:pt x="0" y="0"/>
                </a:moveTo>
                <a:lnTo>
                  <a:pt x="326054" y="0"/>
                </a:lnTo>
                <a:lnTo>
                  <a:pt x="326054" y="326056"/>
                </a:lnTo>
                <a:lnTo>
                  <a:pt x="0" y="326056"/>
                </a:lnTo>
                <a:lnTo>
                  <a:pt x="0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" name="object 150"/>
          <p:cNvSpPr/>
          <p:nvPr/>
        </p:nvSpPr>
        <p:spPr>
          <a:xfrm>
            <a:off x="2436510" y="5793466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89" h="326390">
                <a:moveTo>
                  <a:pt x="0" y="0"/>
                </a:moveTo>
                <a:lnTo>
                  <a:pt x="326055" y="0"/>
                </a:lnTo>
                <a:lnTo>
                  <a:pt x="326055" y="326055"/>
                </a:lnTo>
                <a:lnTo>
                  <a:pt x="0" y="3260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" name="object 151"/>
          <p:cNvSpPr/>
          <p:nvPr/>
        </p:nvSpPr>
        <p:spPr>
          <a:xfrm>
            <a:off x="4006642" y="5793468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90" h="326390">
                <a:moveTo>
                  <a:pt x="0" y="0"/>
                </a:moveTo>
                <a:lnTo>
                  <a:pt x="326054" y="0"/>
                </a:lnTo>
                <a:lnTo>
                  <a:pt x="326054" y="326056"/>
                </a:lnTo>
                <a:lnTo>
                  <a:pt x="0" y="326056"/>
                </a:lnTo>
                <a:lnTo>
                  <a:pt x="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" name="object 152"/>
          <p:cNvSpPr/>
          <p:nvPr/>
        </p:nvSpPr>
        <p:spPr>
          <a:xfrm>
            <a:off x="4006641" y="5793466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90" h="326390">
                <a:moveTo>
                  <a:pt x="0" y="0"/>
                </a:moveTo>
                <a:lnTo>
                  <a:pt x="326055" y="0"/>
                </a:lnTo>
                <a:lnTo>
                  <a:pt x="326055" y="326055"/>
                </a:lnTo>
                <a:lnTo>
                  <a:pt x="0" y="3260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" name="object 153"/>
          <p:cNvSpPr txBox="1"/>
          <p:nvPr/>
        </p:nvSpPr>
        <p:spPr>
          <a:xfrm>
            <a:off x="1871470" y="5286795"/>
            <a:ext cx="4051264" cy="107605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2322" marR="3081">
              <a:lnSpc>
                <a:spcPts val="1740"/>
              </a:lnSpc>
              <a:spcBef>
                <a:spcPts val="133"/>
              </a:spcBef>
            </a:pPr>
            <a:r>
              <a:rPr sz="1455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ocurre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miramos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455" spc="-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1455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variación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relaciona</a:t>
            </a:r>
            <a:r>
              <a:rPr sz="1455" spc="-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455" spc="-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sexo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responden?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5204">
              <a:spcBef>
                <a:spcPts val="164"/>
              </a:spcBef>
              <a:tabLst>
                <a:tab pos="2413966" algn="l"/>
              </a:tabLst>
            </a:pPr>
            <a:r>
              <a:rPr sz="1455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Mujeres	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Hombres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133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5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9715387" y="2177026"/>
            <a:ext cx="13115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2616" y="1861185"/>
            <a:ext cx="10203056" cy="378567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7701">
              <a:spcBef>
                <a:spcPts val="1292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incluye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tres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18950">
              <a:spcBef>
                <a:spcPts val="184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3002" spc="-3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respaldan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sus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propuestos.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94422">
              <a:spcBef>
                <a:spcPts val="1846"/>
              </a:spcBef>
            </a:pPr>
            <a:r>
              <a:rPr sz="3002" b="1" spc="182" dirty="0">
                <a:latin typeface="Calibri" panose="020F0502020204030204" pitchFamily="34" charset="0"/>
                <a:cs typeface="Calibri" panose="020F0502020204030204" pitchFamily="34" charset="0"/>
              </a:rPr>
              <a:t>PRECISIÓN/CONFIABILIDAD</a:t>
            </a:r>
            <a:r>
              <a:rPr sz="3002" b="1" spc="-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realizaciones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3081">
              <a:lnSpc>
                <a:spcPct val="98900"/>
              </a:lnSpc>
              <a:spcBef>
                <a:spcPts val="188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3002" spc="-3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capacidad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responder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características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individuales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contextos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tal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forma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 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produzcan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válidas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intencionados.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9794502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109" dirty="0">
                <a:solidFill>
                  <a:srgbClr val="4E4F52"/>
                </a:solidFill>
                <a:latin typeface="Calibri" panose="020F0502020204030204" pitchFamily="34" charset="0"/>
              </a:rPr>
              <a:t>Tres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fundamentos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7" dirty="0">
                <a:solidFill>
                  <a:srgbClr val="4E4F52"/>
                </a:solidFill>
                <a:latin typeface="Calibri" panose="020F0502020204030204" pitchFamily="34" charset="0"/>
              </a:rPr>
              <a:t>en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64" dirty="0">
                <a:solidFill>
                  <a:srgbClr val="4E4F52"/>
                </a:solidFill>
                <a:latin typeface="Calibri" panose="020F0502020204030204" pitchFamily="34" charset="0"/>
              </a:rPr>
              <a:t>los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88" dirty="0">
                <a:solidFill>
                  <a:srgbClr val="4E4F52"/>
                </a:solidFill>
                <a:latin typeface="Calibri" panose="020F0502020204030204" pitchFamily="34" charset="0"/>
              </a:rPr>
              <a:t>estándares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-18" dirty="0">
                <a:solidFill>
                  <a:srgbClr val="919191"/>
                </a:solidFill>
                <a:latin typeface="Calibri" panose="020F0502020204030204" pitchFamily="34" charset="0"/>
              </a:rPr>
              <a:t>Validez,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precisión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367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7" dirty="0">
                <a:solidFill>
                  <a:srgbClr val="919191"/>
                </a:solidFill>
                <a:latin typeface="Calibri" panose="020F0502020204030204" pitchFamily="34" charset="0"/>
              </a:rPr>
              <a:t>imparcialidad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3654" y="5954530"/>
            <a:ext cx="7840300" cy="31542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001" spc="-24" dirty="0">
                <a:solidFill>
                  <a:srgbClr val="959595"/>
                </a:solidFill>
                <a:latin typeface="Arial"/>
                <a:cs typeface="Arial"/>
              </a:rPr>
              <a:t>AERA, </a:t>
            </a:r>
            <a:r>
              <a:rPr sz="1001" spc="-33" dirty="0">
                <a:solidFill>
                  <a:srgbClr val="959595"/>
                </a:solidFill>
                <a:latin typeface="Arial"/>
                <a:cs typeface="Arial"/>
              </a:rPr>
              <a:t>APA,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&amp; </a:t>
            </a:r>
            <a:r>
              <a:rPr sz="1001" spc="-12" dirty="0">
                <a:solidFill>
                  <a:srgbClr val="959595"/>
                </a:solidFill>
                <a:latin typeface="Arial"/>
                <a:cs typeface="Arial"/>
              </a:rPr>
              <a:t>NCME.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(2014).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Standards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for </a:t>
            </a:r>
            <a:r>
              <a:rPr sz="1001" spc="9" dirty="0">
                <a:solidFill>
                  <a:srgbClr val="959595"/>
                </a:solidFill>
                <a:latin typeface="Arial"/>
                <a:cs typeface="Arial"/>
              </a:rPr>
              <a:t>educational </a:t>
            </a:r>
            <a:r>
              <a:rPr sz="1001" spc="15" dirty="0">
                <a:solidFill>
                  <a:srgbClr val="959595"/>
                </a:solidFill>
                <a:latin typeface="Arial"/>
                <a:cs typeface="Arial"/>
              </a:rPr>
              <a:t>and psychological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testing. </a:t>
            </a:r>
            <a:r>
              <a:rPr sz="1001" spc="-6" dirty="0">
                <a:solidFill>
                  <a:srgbClr val="959595"/>
                </a:solidFill>
                <a:latin typeface="Arial"/>
                <a:cs typeface="Arial"/>
              </a:rPr>
              <a:t>Washington,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DC: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American Psychological</a:t>
            </a:r>
            <a:r>
              <a:rPr sz="1001" spc="133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Association.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3412" y="1413329"/>
            <a:ext cx="10363243" cy="4060189"/>
          </a:xfrm>
          <a:prstGeom prst="rect">
            <a:avLst/>
          </a:prstGeom>
        </p:spPr>
        <p:txBody>
          <a:bodyPr vert="horz" wrap="square" lIns="0" tIns="39662" rIns="0" bIns="0" rtlCol="0">
            <a:spAutoFit/>
          </a:bodyPr>
          <a:lstStyle/>
          <a:p>
            <a:pPr marL="115519" marR="108203" algn="ctr">
              <a:lnSpc>
                <a:spcPts val="5197"/>
              </a:lnSpc>
              <a:spcBef>
                <a:spcPts val="312"/>
              </a:spcBef>
            </a:pPr>
            <a:r>
              <a:rPr sz="4396" spc="33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¿De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situación </a:t>
            </a:r>
            <a:r>
              <a:rPr sz="4396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particular </a:t>
            </a:r>
            <a:r>
              <a:rPr sz="4396" spc="20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 </a:t>
            </a:r>
            <a:r>
              <a:rPr sz="4396" spc="2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pueda </a:t>
            </a:r>
            <a:r>
              <a:rPr sz="4396" spc="-1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aﬁrmar </a:t>
            </a:r>
            <a:r>
              <a:rPr sz="4396" spc="-1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396" spc="-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no)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4396" spc="24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puedo</a:t>
            </a:r>
            <a:r>
              <a:rPr sz="4396" spc="-98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8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 </a:t>
            </a:r>
            <a:r>
              <a:rPr sz="4396" spc="191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4396" spc="1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atributo?</a:t>
            </a:r>
            <a:endParaRPr sz="4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445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 algn="ctr">
              <a:lnSpc>
                <a:spcPts val="5197"/>
              </a:lnSpc>
              <a:spcBef>
                <a:spcPts val="3"/>
              </a:spcBef>
            </a:pPr>
            <a:r>
              <a:rPr sz="4396" spc="1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¿Cuándo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decir</a:t>
            </a:r>
            <a:r>
              <a:rPr sz="4396" spc="-3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0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logramos  </a:t>
            </a:r>
            <a:r>
              <a:rPr sz="4396" spc="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396" spc="-3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9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8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interesa?</a:t>
            </a:r>
            <a:endParaRPr sz="4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71099"/>
            <a:ext cx="10349380" cy="3900204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/>
          <a:p>
            <a: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880" spc="-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880" spc="179" dirty="0" err="1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usó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2880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880" spc="-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  <a:buClr>
                <a:srgbClr val="424242"/>
              </a:buClr>
              <a:buFont typeface="Trebuchet MS"/>
              <a:buAutoNum type="arabicPeriod"/>
            </a:pP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20758">
              <a:lnSpc>
                <a:spcPts val="3347"/>
              </a:lnSpc>
              <a:spcBef>
                <a:spcPts val="3"/>
              </a:spcBef>
              <a:buAutoNum type="arabicPeriod"/>
              <a:tabLst>
                <a:tab pos="360805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4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pretendo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1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2880" spc="-20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880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"/>
              </a:spcBef>
              <a:buClr>
                <a:srgbClr val="424242"/>
              </a:buClr>
              <a:buFont typeface="Trebuchet MS"/>
              <a:buAutoNum type="arabicPeriod"/>
            </a:pPr>
            <a:endParaRPr sz="26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5041" indent="-357724">
              <a:buAutoNum type="arabicPeriod"/>
              <a:tabLst>
                <a:tab pos="365426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4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pretendo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"/>
              </a:spcBef>
              <a:buClr>
                <a:srgbClr val="424242"/>
              </a:buClr>
              <a:buFont typeface="Trebuchet MS"/>
              <a:buAutoNum type="arabicPeriod"/>
            </a:pPr>
            <a:endParaRPr sz="278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9661" indent="-362345">
              <a:buAutoNum type="arabicPeriod"/>
              <a:tabLst>
                <a:tab pos="370047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entendiendo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880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2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“medir”.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21191"/>
            <a:ext cx="10377875" cy="4425493"/>
          </a:xfrm>
          <a:prstGeom prst="rect">
            <a:avLst/>
          </a:prstGeom>
        </p:spPr>
        <p:txBody>
          <a:bodyPr vert="horz" wrap="square" lIns="0" tIns="40817" rIns="0" bIns="0" rtlCol="0">
            <a:spAutoFit/>
          </a:bodyPr>
          <a:lstStyle/>
          <a:p>
            <a:pPr marL="7701" marR="949568">
              <a:lnSpc>
                <a:spcPts val="5700"/>
              </a:lnSpc>
              <a:spcBef>
                <a:spcPts val="321"/>
              </a:spcBef>
            </a:pPr>
            <a:r>
              <a:rPr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“…w</a:t>
            </a:r>
            <a:r>
              <a:rPr lang="es-ES"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e </a:t>
            </a:r>
            <a:r>
              <a:rPr lang="es-ES"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  </a:t>
            </a:r>
            <a:r>
              <a:rPr sz="4400" spc="215" dirty="0">
                <a:solidFill>
                  <a:srgbClr val="424242"/>
                </a:solidFill>
                <a:cs typeface="Calibri" panose="020F0502020204030204" pitchFamily="34" charset="0"/>
              </a:rPr>
              <a:t>should </a:t>
            </a:r>
            <a:r>
              <a:rPr sz="4400" spc="-112" dirty="0">
                <a:solidFill>
                  <a:srgbClr val="424242"/>
                </a:solidFill>
                <a:cs typeface="Calibri" panose="020F0502020204030204" pitchFamily="34" charset="0"/>
              </a:rPr>
              <a:t>at </a:t>
            </a:r>
            <a:r>
              <a:rPr sz="4400" spc="27" dirty="0">
                <a:solidFill>
                  <a:srgbClr val="424242"/>
                </a:solidFill>
                <a:cs typeface="Calibri" panose="020F0502020204030204" pitchFamily="34" charset="0"/>
              </a:rPr>
              <a:t>the </a:t>
            </a:r>
            <a:r>
              <a:rPr sz="4400" spc="94" dirty="0">
                <a:solidFill>
                  <a:srgbClr val="424242"/>
                </a:solidFill>
                <a:cs typeface="Calibri" panose="020F0502020204030204" pitchFamily="34" charset="0"/>
              </a:rPr>
              <a:t>very </a:t>
            </a:r>
            <a:r>
              <a:rPr sz="4400" spc="58" dirty="0">
                <a:solidFill>
                  <a:srgbClr val="424242"/>
                </a:solidFill>
                <a:cs typeface="Calibri" panose="020F0502020204030204" pitchFamily="34" charset="0"/>
              </a:rPr>
              <a:t>least </a:t>
            </a:r>
            <a:r>
              <a:rPr sz="4400" spc="42" dirty="0">
                <a:solidFill>
                  <a:srgbClr val="424242"/>
                </a:solidFill>
                <a:cs typeface="Calibri" panose="020F0502020204030204" pitchFamily="34" charset="0"/>
              </a:rPr>
              <a:t>not  </a:t>
            </a:r>
            <a:r>
              <a:rPr sz="4400" spc="94" dirty="0">
                <a:solidFill>
                  <a:srgbClr val="424242"/>
                </a:solidFill>
                <a:cs typeface="Calibri" panose="020F0502020204030204" pitchFamily="34" charset="0"/>
              </a:rPr>
              <a:t>expect </a:t>
            </a:r>
            <a:r>
              <a:rPr sz="4400" spc="-88" dirty="0">
                <a:solidFill>
                  <a:srgbClr val="424242"/>
                </a:solidFill>
                <a:cs typeface="Calibri" panose="020F0502020204030204" pitchFamily="34" charset="0"/>
              </a:rPr>
              <a:t>that </a:t>
            </a:r>
            <a:r>
              <a:rPr sz="4400" spc="164" dirty="0">
                <a:solidFill>
                  <a:srgbClr val="424242"/>
                </a:solidFill>
                <a:cs typeface="Calibri" panose="020F0502020204030204" pitchFamily="34" charset="0"/>
              </a:rPr>
              <a:t>psychological  </a:t>
            </a:r>
            <a:r>
              <a:rPr sz="4400" spc="158" dirty="0">
                <a:solidFill>
                  <a:srgbClr val="424242"/>
                </a:solidFill>
                <a:cs typeface="Calibri" panose="020F0502020204030204" pitchFamily="34" charset="0"/>
              </a:rPr>
              <a:t>measurement</a:t>
            </a:r>
            <a:r>
              <a:rPr sz="4400" spc="-236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246" dirty="0">
                <a:solidFill>
                  <a:srgbClr val="424242"/>
                </a:solidFill>
                <a:cs typeface="Calibri" panose="020F0502020204030204" pitchFamily="34" charset="0"/>
              </a:rPr>
              <a:t>be</a:t>
            </a:r>
            <a:r>
              <a:rPr sz="4400" spc="-233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149" dirty="0">
                <a:solidFill>
                  <a:srgbClr val="424242"/>
                </a:solidFill>
                <a:cs typeface="Calibri" panose="020F0502020204030204" pitchFamily="34" charset="0"/>
              </a:rPr>
              <a:t>any</a:t>
            </a:r>
            <a:r>
              <a:rPr sz="4400" spc="-364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64" dirty="0">
                <a:solidFill>
                  <a:srgbClr val="424242"/>
                </a:solidFill>
                <a:cs typeface="Calibri" panose="020F0502020204030204" pitchFamily="34" charset="0"/>
              </a:rPr>
              <a:t>easier</a:t>
            </a:r>
            <a:r>
              <a:rPr sz="4400" spc="-349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76" dirty="0">
                <a:solidFill>
                  <a:srgbClr val="424242"/>
                </a:solidFill>
                <a:cs typeface="Calibri" panose="020F0502020204030204" pitchFamily="34" charset="0"/>
              </a:rPr>
              <a:t>[than  </a:t>
            </a:r>
            <a:r>
              <a:rPr sz="4400" spc="109" dirty="0">
                <a:solidFill>
                  <a:srgbClr val="424242"/>
                </a:solidFill>
                <a:cs typeface="Calibri" panose="020F0502020204030204" pitchFamily="34" charset="0"/>
              </a:rPr>
              <a:t>physical</a:t>
            </a:r>
            <a:r>
              <a:rPr sz="4400" spc="-376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12" dirty="0">
                <a:solidFill>
                  <a:srgbClr val="424242"/>
                </a:solidFill>
                <a:cs typeface="Calibri" panose="020F0502020204030204" pitchFamily="34" charset="0"/>
              </a:rPr>
              <a:t>measurement]”</a:t>
            </a:r>
            <a:endParaRPr sz="4400" dirty="0"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4400" dirty="0">
              <a:cs typeface="Calibri" panose="020F0502020204030204" pitchFamily="34" charset="0"/>
            </a:endParaRPr>
          </a:p>
          <a:p>
            <a:pPr marR="3081" algn="r"/>
            <a:r>
              <a:rPr sz="4400" spc="263" dirty="0">
                <a:solidFill>
                  <a:srgbClr val="424242"/>
                </a:solidFill>
                <a:cs typeface="Calibri" panose="020F0502020204030204" pitchFamily="34" charset="0"/>
              </a:rPr>
              <a:t>- </a:t>
            </a:r>
            <a:r>
              <a:rPr sz="4400" spc="61" dirty="0">
                <a:solidFill>
                  <a:srgbClr val="424242"/>
                </a:solidFill>
                <a:cs typeface="Calibri" panose="020F0502020204030204" pitchFamily="34" charset="0"/>
              </a:rPr>
              <a:t>Maul,</a:t>
            </a:r>
            <a:r>
              <a:rPr sz="4400" spc="-755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24" dirty="0">
                <a:solidFill>
                  <a:srgbClr val="424242"/>
                </a:solidFill>
                <a:cs typeface="Calibri" panose="020F0502020204030204" pitchFamily="34" charset="0"/>
              </a:rPr>
              <a:t>2017</a:t>
            </a:r>
            <a:endParaRPr sz="44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A0900-63E4-BC41-B3FF-35CD8E64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+mn-lt"/>
              </a:rPr>
              <a:t>A ver hoy</a:t>
            </a:r>
          </a:p>
        </p:txBody>
      </p:sp>
      <p:pic>
        <p:nvPicPr>
          <p:cNvPr id="4" name="Picture 2" descr="Funciones - La medida y las teorías psicológicas, principios éticos y  deontológicos en la medición psicológica.">
            <a:extLst>
              <a:ext uri="{FF2B5EF4-FFF2-40B4-BE49-F238E27FC236}">
                <a16:creationId xmlns:a16="http://schemas.microsoft.com/office/drawing/2014/main" id="{AD49AAF1-C044-5AEF-B20D-7897F06F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5058"/>
          <a:stretch/>
        </p:blipFill>
        <p:spPr bwMode="auto">
          <a:xfrm>
            <a:off x="5523471" y="1690688"/>
            <a:ext cx="6668529" cy="4133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23511-C861-7246-930B-10E86C17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>
                <a:latin typeface="+mj-lt"/>
              </a:rPr>
              <a:t>Medición en Ciencias Sociales</a:t>
            </a:r>
          </a:p>
          <a:p>
            <a:pPr lvl="1"/>
            <a:r>
              <a:rPr lang="es-CL" dirty="0">
                <a:latin typeface="+mj-lt"/>
              </a:rPr>
              <a:t>Medición en Ciencias Sociales</a:t>
            </a:r>
          </a:p>
          <a:p>
            <a:pPr lvl="1"/>
            <a:r>
              <a:rPr lang="es-CL" dirty="0">
                <a:latin typeface="+mj-lt"/>
              </a:rPr>
              <a:t>Estándares de Medición</a:t>
            </a:r>
          </a:p>
          <a:p>
            <a:pPr marL="457200" lvl="1" indent="0">
              <a:buNone/>
            </a:pPr>
            <a:endParaRPr lang="es-CL" dirty="0">
              <a:latin typeface="+mj-lt"/>
            </a:endParaRPr>
          </a:p>
          <a:p>
            <a:pPr marL="457200" lvl="1" indent="0">
              <a:buNone/>
            </a:pPr>
            <a:endParaRPr lang="es-CL" dirty="0">
              <a:latin typeface="+mj-lt"/>
            </a:endParaRPr>
          </a:p>
          <a:p>
            <a:pPr marL="0" indent="0">
              <a:buNone/>
            </a:pPr>
            <a:r>
              <a:rPr lang="es-CL" b="1" dirty="0">
                <a:latin typeface="+mj-lt"/>
              </a:rPr>
              <a:t>Preguntas y diseños de investigación</a:t>
            </a:r>
          </a:p>
          <a:p>
            <a:pPr lvl="1"/>
            <a:r>
              <a:rPr lang="es-CL" b="1" dirty="0">
                <a:latin typeface="+mj-lt"/>
              </a:rPr>
              <a:t>Procedimientos cualitativos</a:t>
            </a:r>
          </a:p>
          <a:p>
            <a:pPr lvl="1"/>
            <a:r>
              <a:rPr lang="es-CL" b="1" dirty="0">
                <a:latin typeface="+mj-lt"/>
              </a:rPr>
              <a:t>Procedimientos cuantitativos</a:t>
            </a:r>
          </a:p>
          <a:p>
            <a:pPr lvl="1"/>
            <a:endParaRPr lang="es-CL" dirty="0">
              <a:latin typeface="+mj-lt"/>
            </a:endParaRPr>
          </a:p>
          <a:p>
            <a:pPr lvl="1"/>
            <a:endParaRPr lang="es-CL" dirty="0">
              <a:latin typeface="+mj-lt"/>
            </a:endParaRPr>
          </a:p>
          <a:p>
            <a:pPr marL="0" indent="0">
              <a:buNone/>
            </a:pP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53181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84B7E250-1C88-090C-DD01-02D9E52A7780}"/>
              </a:ext>
            </a:extLst>
          </p:cNvPr>
          <p:cNvGrpSpPr/>
          <p:nvPr/>
        </p:nvGrpSpPr>
        <p:grpSpPr>
          <a:xfrm>
            <a:off x="838200" y="1795522"/>
            <a:ext cx="10515600" cy="4826951"/>
            <a:chOff x="703447" y="2034925"/>
            <a:chExt cx="8750935" cy="3447771"/>
          </a:xfrm>
        </p:grpSpPr>
        <p:sp>
          <p:nvSpPr>
            <p:cNvPr id="4" name="object 4"/>
            <p:cNvSpPr/>
            <p:nvPr/>
          </p:nvSpPr>
          <p:spPr>
            <a:xfrm>
              <a:off x="1279194" y="2273687"/>
              <a:ext cx="7799070" cy="2867604"/>
            </a:xfrm>
            <a:custGeom>
              <a:avLst/>
              <a:gdLst/>
              <a:ahLst/>
              <a:cxnLst/>
              <a:rect l="l" t="t" r="r" b="b"/>
              <a:pathLst>
                <a:path w="7799070" h="3261995">
                  <a:moveTo>
                    <a:pt x="0" y="543661"/>
                  </a:moveTo>
                  <a:lnTo>
                    <a:pt x="1993" y="496752"/>
                  </a:lnTo>
                  <a:lnTo>
                    <a:pt x="7863" y="450951"/>
                  </a:lnTo>
                  <a:lnTo>
                    <a:pt x="17448" y="406421"/>
                  </a:lnTo>
                  <a:lnTo>
                    <a:pt x="30585" y="363326"/>
                  </a:lnTo>
                  <a:lnTo>
                    <a:pt x="47110" y="321828"/>
                  </a:lnTo>
                  <a:lnTo>
                    <a:pt x="66861" y="282091"/>
                  </a:lnTo>
                  <a:lnTo>
                    <a:pt x="89674" y="244278"/>
                  </a:lnTo>
                  <a:lnTo>
                    <a:pt x="115387" y="208552"/>
                  </a:lnTo>
                  <a:lnTo>
                    <a:pt x="143836" y="175077"/>
                  </a:lnTo>
                  <a:lnTo>
                    <a:pt x="174859" y="144015"/>
                  </a:lnTo>
                  <a:lnTo>
                    <a:pt x="208292" y="115531"/>
                  </a:lnTo>
                  <a:lnTo>
                    <a:pt x="243973" y="89786"/>
                  </a:lnTo>
                  <a:lnTo>
                    <a:pt x="281739" y="66944"/>
                  </a:lnTo>
                  <a:lnTo>
                    <a:pt x="321427" y="47169"/>
                  </a:lnTo>
                  <a:lnTo>
                    <a:pt x="362873" y="30623"/>
                  </a:lnTo>
                  <a:lnTo>
                    <a:pt x="405914" y="17470"/>
                  </a:lnTo>
                  <a:lnTo>
                    <a:pt x="450389" y="7873"/>
                  </a:lnTo>
                  <a:lnTo>
                    <a:pt x="496133" y="1995"/>
                  </a:lnTo>
                  <a:lnTo>
                    <a:pt x="542983" y="0"/>
                  </a:lnTo>
                  <a:lnTo>
                    <a:pt x="7256086" y="0"/>
                  </a:lnTo>
                  <a:lnTo>
                    <a:pt x="7302936" y="1995"/>
                  </a:lnTo>
                  <a:lnTo>
                    <a:pt x="7348680" y="7873"/>
                  </a:lnTo>
                  <a:lnTo>
                    <a:pt x="7393155" y="17470"/>
                  </a:lnTo>
                  <a:lnTo>
                    <a:pt x="7436196" y="30623"/>
                  </a:lnTo>
                  <a:lnTo>
                    <a:pt x="7477642" y="47169"/>
                  </a:lnTo>
                  <a:lnTo>
                    <a:pt x="7517330" y="66944"/>
                  </a:lnTo>
                  <a:lnTo>
                    <a:pt x="7555096" y="89786"/>
                  </a:lnTo>
                  <a:lnTo>
                    <a:pt x="7590777" y="115531"/>
                  </a:lnTo>
                  <a:lnTo>
                    <a:pt x="7624210" y="144015"/>
                  </a:lnTo>
                  <a:lnTo>
                    <a:pt x="7655233" y="175077"/>
                  </a:lnTo>
                  <a:lnTo>
                    <a:pt x="7683682" y="208552"/>
                  </a:lnTo>
                  <a:lnTo>
                    <a:pt x="7709395" y="244278"/>
                  </a:lnTo>
                  <a:lnTo>
                    <a:pt x="7732208" y="282091"/>
                  </a:lnTo>
                  <a:lnTo>
                    <a:pt x="7751959" y="321828"/>
                  </a:lnTo>
                  <a:lnTo>
                    <a:pt x="7768484" y="363326"/>
                  </a:lnTo>
                  <a:lnTo>
                    <a:pt x="7781621" y="406421"/>
                  </a:lnTo>
                  <a:lnTo>
                    <a:pt x="7791206" y="450951"/>
                  </a:lnTo>
                  <a:lnTo>
                    <a:pt x="7797076" y="496752"/>
                  </a:lnTo>
                  <a:lnTo>
                    <a:pt x="7799069" y="543661"/>
                  </a:lnTo>
                  <a:lnTo>
                    <a:pt x="7799069" y="2718258"/>
                  </a:lnTo>
                  <a:lnTo>
                    <a:pt x="7797076" y="2765167"/>
                  </a:lnTo>
                  <a:lnTo>
                    <a:pt x="7791206" y="2810968"/>
                  </a:lnTo>
                  <a:lnTo>
                    <a:pt x="7781621" y="2855498"/>
                  </a:lnTo>
                  <a:lnTo>
                    <a:pt x="7768484" y="2898594"/>
                  </a:lnTo>
                  <a:lnTo>
                    <a:pt x="7751959" y="2940092"/>
                  </a:lnTo>
                  <a:lnTo>
                    <a:pt x="7732208" y="2979829"/>
                  </a:lnTo>
                  <a:lnTo>
                    <a:pt x="7709395" y="3017642"/>
                  </a:lnTo>
                  <a:lnTo>
                    <a:pt x="7683682" y="3053367"/>
                  </a:lnTo>
                  <a:lnTo>
                    <a:pt x="7655233" y="3086843"/>
                  </a:lnTo>
                  <a:lnTo>
                    <a:pt x="7624210" y="3117904"/>
                  </a:lnTo>
                  <a:lnTo>
                    <a:pt x="7590777" y="3146389"/>
                  </a:lnTo>
                  <a:lnTo>
                    <a:pt x="7555096" y="3172134"/>
                  </a:lnTo>
                  <a:lnTo>
                    <a:pt x="7517330" y="3194976"/>
                  </a:lnTo>
                  <a:lnTo>
                    <a:pt x="7477642" y="3214751"/>
                  </a:lnTo>
                  <a:lnTo>
                    <a:pt x="7436196" y="3231297"/>
                  </a:lnTo>
                  <a:lnTo>
                    <a:pt x="7393155" y="3244450"/>
                  </a:lnTo>
                  <a:lnTo>
                    <a:pt x="7348680" y="3254047"/>
                  </a:lnTo>
                  <a:lnTo>
                    <a:pt x="7302936" y="3259925"/>
                  </a:lnTo>
                  <a:lnTo>
                    <a:pt x="7256086" y="3261920"/>
                  </a:lnTo>
                  <a:lnTo>
                    <a:pt x="542983" y="3261920"/>
                  </a:lnTo>
                  <a:lnTo>
                    <a:pt x="496133" y="3259925"/>
                  </a:lnTo>
                  <a:lnTo>
                    <a:pt x="450389" y="3254047"/>
                  </a:lnTo>
                  <a:lnTo>
                    <a:pt x="405914" y="3244450"/>
                  </a:lnTo>
                  <a:lnTo>
                    <a:pt x="362873" y="3231297"/>
                  </a:lnTo>
                  <a:lnTo>
                    <a:pt x="321427" y="3214751"/>
                  </a:lnTo>
                  <a:lnTo>
                    <a:pt x="281739" y="3194976"/>
                  </a:lnTo>
                  <a:lnTo>
                    <a:pt x="243973" y="3172134"/>
                  </a:lnTo>
                  <a:lnTo>
                    <a:pt x="208292" y="3146389"/>
                  </a:lnTo>
                  <a:lnTo>
                    <a:pt x="174859" y="3117904"/>
                  </a:lnTo>
                  <a:lnTo>
                    <a:pt x="143836" y="3086843"/>
                  </a:lnTo>
                  <a:lnTo>
                    <a:pt x="115387" y="3053367"/>
                  </a:lnTo>
                  <a:lnTo>
                    <a:pt x="89674" y="3017642"/>
                  </a:lnTo>
                  <a:lnTo>
                    <a:pt x="66861" y="2979829"/>
                  </a:lnTo>
                  <a:lnTo>
                    <a:pt x="47110" y="2940092"/>
                  </a:lnTo>
                  <a:lnTo>
                    <a:pt x="30585" y="2898594"/>
                  </a:lnTo>
                  <a:lnTo>
                    <a:pt x="17448" y="2855498"/>
                  </a:lnTo>
                  <a:lnTo>
                    <a:pt x="7863" y="2810968"/>
                  </a:lnTo>
                  <a:lnTo>
                    <a:pt x="1993" y="2765167"/>
                  </a:lnTo>
                  <a:lnTo>
                    <a:pt x="0" y="2718258"/>
                  </a:lnTo>
                  <a:lnTo>
                    <a:pt x="0" y="543661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923229" y="2795998"/>
              <a:ext cx="1442720" cy="1775999"/>
            </a:xfrm>
            <a:custGeom>
              <a:avLst/>
              <a:gdLst/>
              <a:ahLst/>
              <a:cxnLst/>
              <a:rect l="l" t="t" r="r" b="b"/>
              <a:pathLst>
                <a:path w="1442720" h="1550670">
                  <a:moveTo>
                    <a:pt x="1442311" y="0"/>
                  </a:moveTo>
                  <a:lnTo>
                    <a:pt x="0" y="0"/>
                  </a:lnTo>
                  <a:lnTo>
                    <a:pt x="0" y="1550207"/>
                  </a:lnTo>
                  <a:lnTo>
                    <a:pt x="1442311" y="1550207"/>
                  </a:lnTo>
                  <a:lnTo>
                    <a:pt x="1442311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23229" y="2819400"/>
              <a:ext cx="1442720" cy="1752600"/>
            </a:xfrm>
            <a:custGeom>
              <a:avLst/>
              <a:gdLst/>
              <a:ahLst/>
              <a:cxnLst/>
              <a:rect l="l" t="t" r="r" b="b"/>
              <a:pathLst>
                <a:path w="1442720" h="1550670">
                  <a:moveTo>
                    <a:pt x="0" y="0"/>
                  </a:moveTo>
                  <a:lnTo>
                    <a:pt x="1442310" y="0"/>
                  </a:lnTo>
                  <a:lnTo>
                    <a:pt x="1442310" y="1550207"/>
                  </a:lnTo>
                  <a:lnTo>
                    <a:pt x="0" y="155020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03447" y="3240904"/>
              <a:ext cx="1066165" cy="50223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25773" rIns="0" bIns="0" rtlCol="0">
              <a:spAutoFit/>
            </a:bodyPr>
            <a:lstStyle/>
            <a:p>
              <a:pPr>
                <a:spcBef>
                  <a:spcPts val="202"/>
                </a:spcBef>
              </a:pPr>
              <a:endParaRPr sz="1100" b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marL="163615" marR="146245" indent="-10086" algn="just"/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Definiendo</a:t>
              </a:r>
              <a:r>
                <a:rPr sz="1100" b="1" spc="14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el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problema</a:t>
              </a:r>
              <a:r>
                <a:rPr sz="1100" b="1" spc="88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investigación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144580" y="3736091"/>
              <a:ext cx="1068070" cy="48855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40340" rIns="0" bIns="0" rtlCol="0">
              <a:spAutoFit/>
            </a:bodyPr>
            <a:lstStyle/>
            <a:p>
              <a:pPr marL="111504" marR="106462" indent="-560" algn="ctr">
                <a:lnSpc>
                  <a:spcPct val="94700"/>
                </a:lnSpc>
                <a:spcBef>
                  <a:spcPts val="317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Revision</a:t>
              </a:r>
              <a:r>
                <a:rPr sz="1100" b="1" spc="10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investigaciones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previas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hallazgos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135257" y="2932679"/>
              <a:ext cx="1068070" cy="415266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72838" rIns="0" bIns="0" rtlCol="0">
              <a:spAutoFit/>
            </a:bodyPr>
            <a:lstStyle/>
            <a:p>
              <a:pPr marL="121030" marR="116547" algn="ctr">
                <a:spcBef>
                  <a:spcPts val="574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Revision</a:t>
              </a:r>
              <a:r>
                <a:rPr sz="1100" b="1" spc="62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6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los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conceptos</a:t>
              </a:r>
              <a:r>
                <a:rPr sz="1100" b="1" spc="88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teorias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888865" y="2616759"/>
              <a:ext cx="1486504" cy="12731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0085" rIns="0" bIns="0" rtlCol="0">
              <a:spAutoFit/>
            </a:bodyPr>
            <a:lstStyle/>
            <a:p>
              <a:pPr marL="11206" marR="4483">
                <a:lnSpc>
                  <a:spcPct val="102600"/>
                </a:lnSpc>
                <a:spcBef>
                  <a:spcPts val="79"/>
                </a:spcBef>
              </a:pPr>
              <a:r>
                <a:rPr sz="11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Revision</a:t>
              </a:r>
              <a:r>
                <a:rPr sz="1100" b="1" spc="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de</a:t>
              </a:r>
              <a:r>
                <a:rPr sz="1100" b="1" spc="49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la </a:t>
              </a:r>
              <a:r>
                <a:rPr sz="1100" b="1" spc="-9" dirty="0">
                  <a:solidFill>
                    <a:schemeClr val="tx1"/>
                  </a:solidFill>
                  <a:latin typeface="Calibri Light"/>
                  <a:cs typeface="Calibri Light"/>
                </a:rPr>
                <a:t>literatura</a:t>
              </a:r>
              <a:endParaRPr sz="11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73860" y="3180782"/>
              <a:ext cx="1014094" cy="854710"/>
            </a:xfrm>
            <a:custGeom>
              <a:avLst/>
              <a:gdLst/>
              <a:ahLst/>
              <a:cxnLst/>
              <a:rect l="l" t="t" r="r" b="b"/>
              <a:pathLst>
                <a:path w="1014095" h="854710">
                  <a:moveTo>
                    <a:pt x="1013738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013738" y="854678"/>
                  </a:lnTo>
                  <a:lnTo>
                    <a:pt x="1013738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73860" y="3180782"/>
              <a:ext cx="1014094" cy="854710"/>
            </a:xfrm>
            <a:custGeom>
              <a:avLst/>
              <a:gdLst/>
              <a:ahLst/>
              <a:cxnLst/>
              <a:rect l="l" t="t" r="r" b="b"/>
              <a:pathLst>
                <a:path w="1014095" h="854710">
                  <a:moveTo>
                    <a:pt x="0" y="0"/>
                  </a:moveTo>
                  <a:lnTo>
                    <a:pt x="1013737" y="0"/>
                  </a:lnTo>
                  <a:lnTo>
                    <a:pt x="1013737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552125" y="3440018"/>
              <a:ext cx="857885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65296" marR="4483" indent="-154649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Formulación</a:t>
              </a:r>
              <a:r>
                <a:rPr sz="1100" b="1" spc="11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hipótesis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8338" y="3546962"/>
              <a:ext cx="213810" cy="84772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8" name="object 18"/>
            <p:cNvSpPr/>
            <p:nvPr/>
          </p:nvSpPr>
          <p:spPr>
            <a:xfrm>
              <a:off x="4618289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10" h="854710">
                  <a:moveTo>
                    <a:pt x="1120881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0881" y="854678"/>
                  </a:lnTo>
                  <a:lnTo>
                    <a:pt x="1120881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618289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10" h="854710">
                  <a:moveTo>
                    <a:pt x="0" y="0"/>
                  </a:moveTo>
                  <a:lnTo>
                    <a:pt x="1120880" y="0"/>
                  </a:lnTo>
                  <a:lnTo>
                    <a:pt x="1120880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700368" y="3281522"/>
              <a:ext cx="957581" cy="4984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6724" rIns="0" bIns="0" rtlCol="0">
              <a:spAutoFit/>
            </a:bodyPr>
            <a:lstStyle/>
            <a:p>
              <a:pPr marL="11206" marR="4483" indent="-560" algn="ctr">
                <a:lnSpc>
                  <a:spcPct val="103299"/>
                </a:lnSpc>
                <a:spcBef>
                  <a:spcPts val="53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Diseño</a:t>
              </a:r>
              <a:r>
                <a:rPr sz="1100" b="1" spc="93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investigación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(inlcuye</a:t>
              </a:r>
              <a:r>
                <a:rPr sz="1100" b="1" spc="6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el</a:t>
              </a:r>
              <a:r>
                <a:rPr sz="1100" b="1" spc="53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diseño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3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la</a:t>
              </a:r>
              <a:r>
                <a:rPr sz="1100" b="1" spc="3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muestra)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5675" y="3558726"/>
              <a:ext cx="214983" cy="847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3" name="object 23"/>
            <p:cNvSpPr/>
            <p:nvPr/>
          </p:nvSpPr>
          <p:spPr>
            <a:xfrm>
              <a:off x="5851022" y="3180782"/>
              <a:ext cx="1122680" cy="854710"/>
            </a:xfrm>
            <a:custGeom>
              <a:avLst/>
              <a:gdLst/>
              <a:ahLst/>
              <a:cxnLst/>
              <a:rect l="l" t="t" r="r" b="b"/>
              <a:pathLst>
                <a:path w="1122679" h="854710">
                  <a:moveTo>
                    <a:pt x="1122058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2058" y="854678"/>
                  </a:lnTo>
                  <a:lnTo>
                    <a:pt x="1122058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851022" y="3180782"/>
              <a:ext cx="1122680" cy="854710"/>
            </a:xfrm>
            <a:custGeom>
              <a:avLst/>
              <a:gdLst/>
              <a:ahLst/>
              <a:cxnLst/>
              <a:rect l="l" t="t" r="r" b="b"/>
              <a:pathLst>
                <a:path w="1122679" h="854710">
                  <a:moveTo>
                    <a:pt x="0" y="0"/>
                  </a:moveTo>
                  <a:lnTo>
                    <a:pt x="1122058" y="0"/>
                  </a:lnTo>
                  <a:lnTo>
                    <a:pt x="1122058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940167" y="3440018"/>
              <a:ext cx="942339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 marR="4483" indent="51549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Recolección</a:t>
              </a:r>
              <a:r>
                <a:rPr sz="1100" b="1" spc="10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datos</a:t>
              </a:r>
              <a:r>
                <a:rPr sz="1100" b="1" spc="49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(ejecución)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3762" y="3555191"/>
              <a:ext cx="214983" cy="8477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8" name="object 28"/>
            <p:cNvSpPr/>
            <p:nvPr/>
          </p:nvSpPr>
          <p:spPr>
            <a:xfrm>
              <a:off x="7103771" y="3183140"/>
              <a:ext cx="1122680" cy="855980"/>
            </a:xfrm>
            <a:custGeom>
              <a:avLst/>
              <a:gdLst/>
              <a:ahLst/>
              <a:cxnLst/>
              <a:rect l="l" t="t" r="r" b="b"/>
              <a:pathLst>
                <a:path w="1122679" h="855979">
                  <a:moveTo>
                    <a:pt x="1122057" y="0"/>
                  </a:moveTo>
                  <a:lnTo>
                    <a:pt x="0" y="0"/>
                  </a:lnTo>
                  <a:lnTo>
                    <a:pt x="0" y="855856"/>
                  </a:lnTo>
                  <a:lnTo>
                    <a:pt x="1122057" y="855856"/>
                  </a:lnTo>
                  <a:lnTo>
                    <a:pt x="1122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103771" y="3183140"/>
              <a:ext cx="1122680" cy="855980"/>
            </a:xfrm>
            <a:custGeom>
              <a:avLst/>
              <a:gdLst/>
              <a:ahLst/>
              <a:cxnLst/>
              <a:rect l="l" t="t" r="r" b="b"/>
              <a:pathLst>
                <a:path w="1122679" h="855979">
                  <a:moveTo>
                    <a:pt x="0" y="0"/>
                  </a:moveTo>
                  <a:lnTo>
                    <a:pt x="1122058" y="0"/>
                  </a:lnTo>
                  <a:lnTo>
                    <a:pt x="1122058" y="855856"/>
                  </a:lnTo>
                  <a:lnTo>
                    <a:pt x="0" y="855856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7276510" y="3443066"/>
              <a:ext cx="774700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211802" marR="4483" indent="-201156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Análisis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los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datos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332972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09" h="854710">
                  <a:moveTo>
                    <a:pt x="1120880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0880" y="854678"/>
                  </a:lnTo>
                  <a:lnTo>
                    <a:pt x="112088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332972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09" h="854710">
                  <a:moveTo>
                    <a:pt x="0" y="0"/>
                  </a:moveTo>
                  <a:lnTo>
                    <a:pt x="1120880" y="0"/>
                  </a:lnTo>
                  <a:lnTo>
                    <a:pt x="1120880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453318" y="3440018"/>
              <a:ext cx="878205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210122" marR="4483" indent="-199475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Interpretación</a:t>
              </a:r>
              <a:r>
                <a:rPr sz="1100" b="1" spc="10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reporte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2362" y="3541067"/>
              <a:ext cx="213810" cy="8477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971" y="3543401"/>
              <a:ext cx="214984" cy="847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39" name="object 39"/>
            <p:cNvSpPr/>
            <p:nvPr/>
          </p:nvSpPr>
          <p:spPr>
            <a:xfrm>
              <a:off x="5188149" y="2667976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0"/>
                  </a:moveTo>
                  <a:lnTo>
                    <a:pt x="0" y="480977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178729" y="2667976"/>
              <a:ext cx="2564765" cy="0"/>
            </a:xfrm>
            <a:custGeom>
              <a:avLst/>
              <a:gdLst/>
              <a:ahLst/>
              <a:cxnLst/>
              <a:rect l="l" t="t" r="r" b="b"/>
              <a:pathLst>
                <a:path w="2564765">
                  <a:moveTo>
                    <a:pt x="2564368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743097" y="2667976"/>
              <a:ext cx="9525" cy="513080"/>
            </a:xfrm>
            <a:custGeom>
              <a:avLst/>
              <a:gdLst/>
              <a:ahLst/>
              <a:cxnLst/>
              <a:rect l="l" t="t" r="r" b="b"/>
              <a:pathLst>
                <a:path w="9525" h="513080">
                  <a:moveTo>
                    <a:pt x="9419" y="0"/>
                  </a:moveTo>
                  <a:lnTo>
                    <a:pt x="0" y="512806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18055" y="2484072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59" y="8590"/>
                  </a:lnTo>
                  <a:lnTo>
                    <a:pt x="486384" y="15045"/>
                  </a:lnTo>
                  <a:lnTo>
                    <a:pt x="426811" y="23154"/>
                  </a:lnTo>
                  <a:lnTo>
                    <a:pt x="370002" y="32833"/>
                  </a:lnTo>
                  <a:lnTo>
                    <a:pt x="316223" y="43997"/>
                  </a:lnTo>
                  <a:lnTo>
                    <a:pt x="265737" y="56559"/>
                  </a:lnTo>
                  <a:lnTo>
                    <a:pt x="218807" y="70437"/>
                  </a:lnTo>
                  <a:lnTo>
                    <a:pt x="175698" y="85544"/>
                  </a:lnTo>
                  <a:lnTo>
                    <a:pt x="136672" y="101797"/>
                  </a:lnTo>
                  <a:lnTo>
                    <a:pt x="101995" y="119109"/>
                  </a:lnTo>
                  <a:lnTo>
                    <a:pt x="46737" y="156574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19"/>
                  </a:lnTo>
                  <a:lnTo>
                    <a:pt x="71928" y="343580"/>
                  </a:lnTo>
                  <a:lnTo>
                    <a:pt x="136672" y="379179"/>
                  </a:lnTo>
                  <a:lnTo>
                    <a:pt x="175698" y="395432"/>
                  </a:lnTo>
                  <a:lnTo>
                    <a:pt x="218807" y="410539"/>
                  </a:lnTo>
                  <a:lnTo>
                    <a:pt x="265737" y="424416"/>
                  </a:lnTo>
                  <a:lnTo>
                    <a:pt x="316223" y="436979"/>
                  </a:lnTo>
                  <a:lnTo>
                    <a:pt x="370002" y="448143"/>
                  </a:lnTo>
                  <a:lnTo>
                    <a:pt x="426811" y="457821"/>
                  </a:lnTo>
                  <a:lnTo>
                    <a:pt x="486384" y="465931"/>
                  </a:lnTo>
                  <a:lnTo>
                    <a:pt x="548459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1"/>
                  </a:lnTo>
                  <a:lnTo>
                    <a:pt x="1124111" y="448143"/>
                  </a:lnTo>
                  <a:lnTo>
                    <a:pt x="1177890" y="436979"/>
                  </a:lnTo>
                  <a:lnTo>
                    <a:pt x="1228377" y="424416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79"/>
                  </a:lnTo>
                  <a:lnTo>
                    <a:pt x="1392120" y="361867"/>
                  </a:lnTo>
                  <a:lnTo>
                    <a:pt x="1447377" y="324402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9"/>
                  </a:lnTo>
                  <a:lnTo>
                    <a:pt x="1467429" y="176557"/>
                  </a:lnTo>
                  <a:lnTo>
                    <a:pt x="1422186" y="137396"/>
                  </a:lnTo>
                  <a:lnTo>
                    <a:pt x="1357442" y="101797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7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18055" y="2484072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2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20" y="119109"/>
                  </a:lnTo>
                  <a:lnTo>
                    <a:pt x="1447377" y="156574"/>
                  </a:lnTo>
                  <a:lnTo>
                    <a:pt x="1482079" y="197260"/>
                  </a:lnTo>
                  <a:lnTo>
                    <a:pt x="1494115" y="240488"/>
                  </a:lnTo>
                  <a:lnTo>
                    <a:pt x="1491062" y="262377"/>
                  </a:lnTo>
                  <a:lnTo>
                    <a:pt x="1467430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2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150802" y="2521522"/>
              <a:ext cx="828675" cy="13998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2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200" b="1" spc="-9" dirty="0">
                  <a:solidFill>
                    <a:schemeClr val="tx1"/>
                  </a:solidFill>
                  <a:latin typeface="Calibri Light"/>
                  <a:cs typeface="Calibri Light"/>
                </a:rPr>
                <a:t>forward</a:t>
              </a:r>
              <a:endParaRPr sz="12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6438229" y="2698306"/>
              <a:ext cx="254635" cy="128993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b="1" spc="-18" dirty="0">
                  <a:solidFill>
                    <a:schemeClr val="tx1"/>
                  </a:solidFill>
                  <a:latin typeface="Calibri Light"/>
                  <a:cs typeface="Calibri Light"/>
                </a:rPr>
                <a:t>(FF)</a:t>
              </a:r>
              <a:endParaRPr sz="1100" b="1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010555" y="2034925"/>
              <a:ext cx="1801751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59" y="8590"/>
                  </a:lnTo>
                  <a:lnTo>
                    <a:pt x="486384" y="15045"/>
                  </a:lnTo>
                  <a:lnTo>
                    <a:pt x="426811" y="23154"/>
                  </a:lnTo>
                  <a:lnTo>
                    <a:pt x="370002" y="32833"/>
                  </a:lnTo>
                  <a:lnTo>
                    <a:pt x="316223" y="43996"/>
                  </a:lnTo>
                  <a:lnTo>
                    <a:pt x="265737" y="56559"/>
                  </a:lnTo>
                  <a:lnTo>
                    <a:pt x="218807" y="70437"/>
                  </a:lnTo>
                  <a:lnTo>
                    <a:pt x="175698" y="85544"/>
                  </a:lnTo>
                  <a:lnTo>
                    <a:pt x="136672" y="101796"/>
                  </a:lnTo>
                  <a:lnTo>
                    <a:pt x="101995" y="119108"/>
                  </a:lnTo>
                  <a:lnTo>
                    <a:pt x="46737" y="156573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19"/>
                  </a:lnTo>
                  <a:lnTo>
                    <a:pt x="71928" y="343580"/>
                  </a:lnTo>
                  <a:lnTo>
                    <a:pt x="136672" y="379179"/>
                  </a:lnTo>
                  <a:lnTo>
                    <a:pt x="175698" y="395432"/>
                  </a:lnTo>
                  <a:lnTo>
                    <a:pt x="218807" y="410539"/>
                  </a:lnTo>
                  <a:lnTo>
                    <a:pt x="265737" y="424416"/>
                  </a:lnTo>
                  <a:lnTo>
                    <a:pt x="316223" y="436979"/>
                  </a:lnTo>
                  <a:lnTo>
                    <a:pt x="370002" y="448143"/>
                  </a:lnTo>
                  <a:lnTo>
                    <a:pt x="426811" y="457821"/>
                  </a:lnTo>
                  <a:lnTo>
                    <a:pt x="486384" y="465931"/>
                  </a:lnTo>
                  <a:lnTo>
                    <a:pt x="548459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1"/>
                  </a:lnTo>
                  <a:lnTo>
                    <a:pt x="1124111" y="448143"/>
                  </a:lnTo>
                  <a:lnTo>
                    <a:pt x="1177890" y="436979"/>
                  </a:lnTo>
                  <a:lnTo>
                    <a:pt x="1228377" y="424416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79"/>
                  </a:lnTo>
                  <a:lnTo>
                    <a:pt x="1392120" y="361867"/>
                  </a:lnTo>
                  <a:lnTo>
                    <a:pt x="1447377" y="324402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8"/>
                  </a:lnTo>
                  <a:lnTo>
                    <a:pt x="1467429" y="176556"/>
                  </a:lnTo>
                  <a:lnTo>
                    <a:pt x="1422186" y="137396"/>
                  </a:lnTo>
                  <a:lnTo>
                    <a:pt x="1357442" y="101796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6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010555" y="2034925"/>
              <a:ext cx="1801751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2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20" y="119109"/>
                  </a:lnTo>
                  <a:lnTo>
                    <a:pt x="1447377" y="156574"/>
                  </a:lnTo>
                  <a:lnTo>
                    <a:pt x="1482079" y="197260"/>
                  </a:lnTo>
                  <a:lnTo>
                    <a:pt x="1494115" y="240488"/>
                  </a:lnTo>
                  <a:lnTo>
                    <a:pt x="1491062" y="262377"/>
                  </a:lnTo>
                  <a:lnTo>
                    <a:pt x="1467430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2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200" b="1">
                <a:solidFill>
                  <a:schemeClr val="tx1"/>
                </a:solidFill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4407139" y="2169788"/>
              <a:ext cx="1220159" cy="13649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490" rIns="0" bIns="0" rtlCol="0">
              <a:spAutoFit/>
            </a:bodyPr>
            <a:lstStyle/>
            <a:p>
              <a:pPr marL="264473" marR="4483" indent="-253827">
                <a:lnSpc>
                  <a:spcPts val="1253"/>
                </a:lnSpc>
                <a:spcBef>
                  <a:spcPts val="146"/>
                </a:spcBef>
              </a:pP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400" b="1" spc="-62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forward </a:t>
              </a:r>
              <a:r>
                <a:rPr sz="1400" b="1" spc="-18" dirty="0">
                  <a:solidFill>
                    <a:schemeClr val="tx1"/>
                  </a:solidFill>
                  <a:latin typeface="Calibri Light"/>
                  <a:cs typeface="Calibri Light"/>
                </a:rPr>
                <a:t>(FF)</a:t>
              </a:r>
              <a:endParaRPr sz="14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159030" y="5001366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29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60" y="8590"/>
                  </a:lnTo>
                  <a:lnTo>
                    <a:pt x="486385" y="15045"/>
                  </a:lnTo>
                  <a:lnTo>
                    <a:pt x="426811" y="23154"/>
                  </a:lnTo>
                  <a:lnTo>
                    <a:pt x="370003" y="32833"/>
                  </a:lnTo>
                  <a:lnTo>
                    <a:pt x="316224" y="43997"/>
                  </a:lnTo>
                  <a:lnTo>
                    <a:pt x="265738" y="56559"/>
                  </a:lnTo>
                  <a:lnTo>
                    <a:pt x="218808" y="70437"/>
                  </a:lnTo>
                  <a:lnTo>
                    <a:pt x="175698" y="85544"/>
                  </a:lnTo>
                  <a:lnTo>
                    <a:pt x="136673" y="101797"/>
                  </a:lnTo>
                  <a:lnTo>
                    <a:pt x="101995" y="119109"/>
                  </a:lnTo>
                  <a:lnTo>
                    <a:pt x="46737" y="156574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20"/>
                  </a:lnTo>
                  <a:lnTo>
                    <a:pt x="71929" y="343580"/>
                  </a:lnTo>
                  <a:lnTo>
                    <a:pt x="136673" y="379180"/>
                  </a:lnTo>
                  <a:lnTo>
                    <a:pt x="175698" y="395432"/>
                  </a:lnTo>
                  <a:lnTo>
                    <a:pt x="218808" y="410539"/>
                  </a:lnTo>
                  <a:lnTo>
                    <a:pt x="265738" y="424417"/>
                  </a:lnTo>
                  <a:lnTo>
                    <a:pt x="316224" y="436980"/>
                  </a:lnTo>
                  <a:lnTo>
                    <a:pt x="370003" y="448143"/>
                  </a:lnTo>
                  <a:lnTo>
                    <a:pt x="426811" y="457822"/>
                  </a:lnTo>
                  <a:lnTo>
                    <a:pt x="486385" y="465931"/>
                  </a:lnTo>
                  <a:lnTo>
                    <a:pt x="548460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2"/>
                  </a:lnTo>
                  <a:lnTo>
                    <a:pt x="1124111" y="448143"/>
                  </a:lnTo>
                  <a:lnTo>
                    <a:pt x="1177890" y="436980"/>
                  </a:lnTo>
                  <a:lnTo>
                    <a:pt x="1228377" y="424417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80"/>
                  </a:lnTo>
                  <a:lnTo>
                    <a:pt x="1392120" y="361868"/>
                  </a:lnTo>
                  <a:lnTo>
                    <a:pt x="1447377" y="324403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9"/>
                  </a:lnTo>
                  <a:lnTo>
                    <a:pt x="1467429" y="176557"/>
                  </a:lnTo>
                  <a:lnTo>
                    <a:pt x="1422186" y="137396"/>
                  </a:lnTo>
                  <a:lnTo>
                    <a:pt x="1357442" y="101797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7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159030" y="5001366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29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1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19" y="119109"/>
                  </a:lnTo>
                  <a:lnTo>
                    <a:pt x="1447377" y="156574"/>
                  </a:lnTo>
                  <a:lnTo>
                    <a:pt x="1482078" y="197260"/>
                  </a:lnTo>
                  <a:lnTo>
                    <a:pt x="1494114" y="240488"/>
                  </a:lnTo>
                  <a:lnTo>
                    <a:pt x="1491061" y="262377"/>
                  </a:lnTo>
                  <a:lnTo>
                    <a:pt x="1467429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1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600" b="1">
                <a:solidFill>
                  <a:schemeClr val="tx1"/>
                </a:solidFill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4493040" y="5116280"/>
              <a:ext cx="826135" cy="1619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4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back</a:t>
              </a:r>
              <a:r>
                <a:rPr sz="14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(F)</a:t>
              </a:r>
              <a:endParaRPr sz="14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6749B96-85EE-576B-E68B-CB6E1D3A1D49}"/>
                </a:ext>
              </a:extLst>
            </p:cNvPr>
            <p:cNvGrpSpPr/>
            <p:nvPr/>
          </p:nvGrpSpPr>
          <p:grpSpPr>
            <a:xfrm>
              <a:off x="6882507" y="4077077"/>
              <a:ext cx="1543670" cy="246379"/>
              <a:chOff x="6591501" y="4312580"/>
              <a:chExt cx="1543670" cy="246379"/>
            </a:xfrm>
          </p:grpSpPr>
          <p:sp>
            <p:nvSpPr>
              <p:cNvPr id="55" name="object 55"/>
              <p:cNvSpPr/>
              <p:nvPr/>
            </p:nvSpPr>
            <p:spPr>
              <a:xfrm>
                <a:off x="6591501" y="4312580"/>
                <a:ext cx="1532255" cy="246379"/>
              </a:xfrm>
              <a:custGeom>
                <a:avLst/>
                <a:gdLst/>
                <a:ahLst/>
                <a:cxnLst/>
                <a:rect l="l" t="t" r="r" b="b"/>
                <a:pathLst>
                  <a:path w="1532254" h="246379">
                    <a:moveTo>
                      <a:pt x="262559" y="28295"/>
                    </a:moveTo>
                    <a:lnTo>
                      <a:pt x="84772" y="28295"/>
                    </a:lnTo>
                    <a:lnTo>
                      <a:pt x="84772" y="0"/>
                    </a:lnTo>
                    <a:lnTo>
                      <a:pt x="0" y="42430"/>
                    </a:lnTo>
                    <a:lnTo>
                      <a:pt x="84772" y="84874"/>
                    </a:lnTo>
                    <a:lnTo>
                      <a:pt x="84772" y="56578"/>
                    </a:lnTo>
                    <a:lnTo>
                      <a:pt x="262559" y="56578"/>
                    </a:lnTo>
                    <a:lnTo>
                      <a:pt x="262559" y="28295"/>
                    </a:lnTo>
                    <a:close/>
                  </a:path>
                  <a:path w="1532254" h="246379">
                    <a:moveTo>
                      <a:pt x="275513" y="173875"/>
                    </a:moveTo>
                    <a:lnTo>
                      <a:pt x="265430" y="145656"/>
                    </a:lnTo>
                    <a:lnTo>
                      <a:pt x="237921" y="122618"/>
                    </a:lnTo>
                    <a:lnTo>
                      <a:pt x="197129" y="107073"/>
                    </a:lnTo>
                    <a:lnTo>
                      <a:pt x="147180" y="101384"/>
                    </a:lnTo>
                    <a:lnTo>
                      <a:pt x="97218" y="107073"/>
                    </a:lnTo>
                    <a:lnTo>
                      <a:pt x="56426" y="122618"/>
                    </a:lnTo>
                    <a:lnTo>
                      <a:pt x="28930" y="145656"/>
                    </a:lnTo>
                    <a:lnTo>
                      <a:pt x="18846" y="173875"/>
                    </a:lnTo>
                    <a:lnTo>
                      <a:pt x="28930" y="202095"/>
                    </a:lnTo>
                    <a:lnTo>
                      <a:pt x="56426" y="225145"/>
                    </a:lnTo>
                    <a:lnTo>
                      <a:pt x="97218" y="240677"/>
                    </a:lnTo>
                    <a:lnTo>
                      <a:pt x="147180" y="246380"/>
                    </a:lnTo>
                    <a:lnTo>
                      <a:pt x="197129" y="240677"/>
                    </a:lnTo>
                    <a:lnTo>
                      <a:pt x="237921" y="225145"/>
                    </a:lnTo>
                    <a:lnTo>
                      <a:pt x="265430" y="202095"/>
                    </a:lnTo>
                    <a:lnTo>
                      <a:pt x="275513" y="173875"/>
                    </a:lnTo>
                    <a:close/>
                  </a:path>
                  <a:path w="1532254" h="246379">
                    <a:moveTo>
                      <a:pt x="1531797" y="28295"/>
                    </a:moveTo>
                    <a:lnTo>
                      <a:pt x="1352829" y="28295"/>
                    </a:lnTo>
                    <a:lnTo>
                      <a:pt x="1352829" y="0"/>
                    </a:lnTo>
                    <a:lnTo>
                      <a:pt x="1268056" y="42430"/>
                    </a:lnTo>
                    <a:lnTo>
                      <a:pt x="1352829" y="84874"/>
                    </a:lnTo>
                    <a:lnTo>
                      <a:pt x="1352829" y="56578"/>
                    </a:lnTo>
                    <a:lnTo>
                      <a:pt x="1531797" y="56578"/>
                    </a:lnTo>
                    <a:lnTo>
                      <a:pt x="1531797" y="28295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/>
              <a:lstStyle/>
              <a:p>
                <a:endParaRPr sz="11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7879267" y="4387933"/>
                <a:ext cx="255904" cy="145415"/>
              </a:xfrm>
              <a:custGeom>
                <a:avLst/>
                <a:gdLst/>
                <a:ahLst/>
                <a:cxnLst/>
                <a:rect l="l" t="t" r="r" b="b"/>
                <a:pathLst>
                  <a:path w="255904" h="145414">
                    <a:moveTo>
                      <a:pt x="0" y="72500"/>
                    </a:moveTo>
                    <a:lnTo>
                      <a:pt x="10039" y="44279"/>
                    </a:lnTo>
                    <a:lnTo>
                      <a:pt x="37416" y="21234"/>
                    </a:lnTo>
                    <a:lnTo>
                      <a:pt x="78022" y="5697"/>
                    </a:lnTo>
                    <a:lnTo>
                      <a:pt x="127747" y="0"/>
                    </a:lnTo>
                    <a:lnTo>
                      <a:pt x="177472" y="5697"/>
                    </a:lnTo>
                    <a:lnTo>
                      <a:pt x="218078" y="21234"/>
                    </a:lnTo>
                    <a:lnTo>
                      <a:pt x="245456" y="44279"/>
                    </a:lnTo>
                    <a:lnTo>
                      <a:pt x="255495" y="72500"/>
                    </a:lnTo>
                    <a:lnTo>
                      <a:pt x="245456" y="100720"/>
                    </a:lnTo>
                    <a:lnTo>
                      <a:pt x="218078" y="123765"/>
                    </a:lnTo>
                    <a:lnTo>
                      <a:pt x="177472" y="139303"/>
                    </a:lnTo>
                    <a:lnTo>
                      <a:pt x="127747" y="145000"/>
                    </a:lnTo>
                    <a:lnTo>
                      <a:pt x="78022" y="139303"/>
                    </a:lnTo>
                    <a:lnTo>
                      <a:pt x="37416" y="123765"/>
                    </a:lnTo>
                    <a:lnTo>
                      <a:pt x="10039" y="100720"/>
                    </a:lnTo>
                    <a:lnTo>
                      <a:pt x="0" y="72500"/>
                    </a:lnTo>
                    <a:close/>
                  </a:path>
                </a:pathLst>
              </a:cu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/>
              <a:lstStyle/>
              <a:p>
                <a:endParaRPr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object 61"/>
              <p:cNvSpPr txBox="1"/>
              <p:nvPr/>
            </p:nvSpPr>
            <p:spPr>
              <a:xfrm>
                <a:off x="7955325" y="4361896"/>
                <a:ext cx="95885" cy="128993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100" b="1" spc="-44" dirty="0">
                    <a:solidFill>
                      <a:schemeClr val="tx1"/>
                    </a:solidFill>
                    <a:latin typeface="Calibri Light"/>
                    <a:cs typeface="Calibri Light"/>
                  </a:rPr>
                  <a:t>F</a:t>
                </a:r>
                <a:endParaRPr sz="1100" b="1" dirty="0">
                  <a:solidFill>
                    <a:schemeClr val="tx1"/>
                  </a:solidFill>
                  <a:latin typeface="Calibri Light"/>
                  <a:cs typeface="Calibri Light"/>
                </a:endParaRPr>
              </a:p>
            </p:txBody>
          </p:sp>
        </p:grpSp>
        <p:sp>
          <p:nvSpPr>
            <p:cNvPr id="67" name="object 61">
              <a:extLst>
                <a:ext uri="{FF2B5EF4-FFF2-40B4-BE49-F238E27FC236}">
                  <a16:creationId xmlns:a16="http://schemas.microsoft.com/office/drawing/2014/main" id="{0B7A3391-EE4D-19B7-35F8-13F10F997F14}"/>
                </a:ext>
              </a:extLst>
            </p:cNvPr>
            <p:cNvSpPr txBox="1"/>
            <p:nvPr/>
          </p:nvSpPr>
          <p:spPr>
            <a:xfrm>
              <a:off x="6973702" y="4171028"/>
              <a:ext cx="95885" cy="13998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b="1" spc="-44" dirty="0">
                  <a:solidFill>
                    <a:schemeClr val="tx1"/>
                  </a:solidFill>
                  <a:latin typeface="Calibri Light"/>
                  <a:cs typeface="Calibri Light"/>
                </a:rPr>
                <a:t>F</a:t>
              </a:r>
              <a:endParaRPr sz="12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pic>
          <p:nvPicPr>
            <p:cNvPr id="69" name="object 17">
              <a:extLst>
                <a:ext uri="{FF2B5EF4-FFF2-40B4-BE49-F238E27FC236}">
                  <a16:creationId xmlns:a16="http://schemas.microsoft.com/office/drawing/2014/main" id="{B1571423-521C-3BB1-A4B4-A818D323E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5258" y="3512309"/>
              <a:ext cx="213810" cy="84772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sp>
        <p:nvSpPr>
          <p:cNvPr id="2" name="1 Título">
            <a:extLst>
              <a:ext uri="{FF2B5EF4-FFF2-40B4-BE49-F238E27FC236}">
                <a16:creationId xmlns:a16="http://schemas.microsoft.com/office/drawing/2014/main" id="{CA5C54C6-F160-B9D1-997B-98CD6254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b="1" dirty="0">
                <a:latin typeface="Abadi" panose="020B0604020104020204" pitchFamily="34" charset="0"/>
                <a:ea typeface="Verdana" pitchFamily="34" charset="0"/>
                <a:cs typeface="Verdana" pitchFamily="34" charset="0"/>
              </a:rPr>
              <a:t>El proceso de investigación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Problema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El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problematización</a:t>
            </a:r>
            <a:r>
              <a:rPr lang="en-US" dirty="0">
                <a:effectLst/>
                <a:latin typeface="Abadi" panose="020B0604020104020204" pitchFamily="34" charset="0"/>
              </a:rPr>
              <a:t> es un </a:t>
            </a:r>
            <a:r>
              <a:rPr lang="en-US" dirty="0" err="1">
                <a:effectLst/>
                <a:latin typeface="Abadi" panose="020B0604020104020204" pitchFamily="34" charset="0"/>
              </a:rPr>
              <a:t>texto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articulado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investigador</a:t>
            </a:r>
            <a:r>
              <a:rPr lang="en-US" dirty="0">
                <a:effectLst/>
                <a:latin typeface="Abadi" panose="020B0604020104020204" pitchFamily="34" charset="0"/>
              </a:rPr>
              <a:t>(a) </a:t>
            </a:r>
            <a:r>
              <a:rPr lang="en-US" dirty="0" err="1">
                <a:effectLst/>
                <a:latin typeface="Abadi" panose="020B0604020104020204" pitchFamily="34" charset="0"/>
              </a:rPr>
              <a:t>logra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fundamentar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justificar</a:t>
            </a:r>
            <a:r>
              <a:rPr lang="en-US" dirty="0">
                <a:effectLst/>
                <a:latin typeface="Abadi" panose="020B0604020104020204" pitchFamily="34" charset="0"/>
              </a:rPr>
              <a:t> la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/</a:t>
            </a:r>
            <a:r>
              <a:rPr lang="en-US" dirty="0" err="1">
                <a:effectLst/>
                <a:latin typeface="Abadi" panose="020B0604020104020204" pitchFamily="34" charset="0"/>
              </a:rPr>
              <a:t>necesidad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r>
              <a:rPr lang="en-US" dirty="0">
                <a:effectLst/>
                <a:latin typeface="Abadi" panose="020B0604020104020204" pitchFamily="34" charset="0"/>
              </a:rPr>
              <a:t> un </a:t>
            </a:r>
            <a:r>
              <a:rPr lang="en-US" dirty="0" err="1">
                <a:effectLst/>
                <a:latin typeface="Abadi" panose="020B0604020104020204" pitchFamily="34" charset="0"/>
              </a:rPr>
              <a:t>determinado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un </a:t>
            </a:r>
            <a:r>
              <a:rPr lang="en-US" dirty="0" err="1">
                <a:effectLst/>
                <a:latin typeface="Abadi" panose="020B0604020104020204" pitchFamily="34" charset="0"/>
              </a:rPr>
              <a:t>determinado</a:t>
            </a:r>
            <a:r>
              <a:rPr lang="en-US" dirty="0">
                <a:effectLst/>
                <a:latin typeface="Abadi" panose="020B0604020104020204" pitchFamily="34" charset="0"/>
              </a:rPr>
              <a:t> campo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El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es un </a:t>
            </a:r>
            <a:r>
              <a:rPr lang="en-US" dirty="0" err="1">
                <a:effectLst/>
                <a:latin typeface="Abadi" panose="020B0604020104020204" pitchFamily="34" charset="0"/>
              </a:rPr>
              <a:t>argumento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articulado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presenta</a:t>
            </a:r>
            <a:r>
              <a:rPr lang="en-US" dirty="0">
                <a:effectLst/>
                <a:latin typeface="Abadi" panose="020B0604020104020204" pitchFamily="34" charset="0"/>
              </a:rPr>
              <a:t> al lector las </a:t>
            </a:r>
            <a:r>
              <a:rPr lang="en-US" dirty="0" err="1">
                <a:effectLst/>
                <a:latin typeface="Abadi" panose="020B0604020104020204" pitchFamily="34" charset="0"/>
              </a:rPr>
              <a:t>definiciones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conceptuales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antecedentes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teóricos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empíricos</a:t>
            </a:r>
            <a:r>
              <a:rPr lang="en-US" dirty="0">
                <a:effectLst/>
                <a:latin typeface="Abadi" panose="020B0604020104020204" pitchFamily="34" charset="0"/>
              </a:rPr>
              <a:t> de ese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su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posibles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aportes</a:t>
            </a:r>
            <a:r>
              <a:rPr lang="en-US" dirty="0">
                <a:effectLst/>
                <a:latin typeface="Abadi" panose="020B0604020104020204" pitchFamily="34" charset="0"/>
              </a:rPr>
              <a:t> a la </a:t>
            </a:r>
            <a:r>
              <a:rPr lang="en-US" dirty="0" err="1">
                <a:effectLst/>
                <a:latin typeface="Abadi" panose="020B0604020104020204" pitchFamily="34" charset="0"/>
              </a:rPr>
              <a:t>disciplina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Todos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– 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cualitativos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cuantitativos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teóricos</a:t>
            </a:r>
            <a:r>
              <a:rPr lang="en-US" dirty="0">
                <a:effectLst/>
                <a:latin typeface="Abadi" panose="020B0604020104020204" pitchFamily="34" charset="0"/>
              </a:rPr>
              <a:t> – </a:t>
            </a:r>
            <a:r>
              <a:rPr lang="en-US" dirty="0" err="1">
                <a:effectLst/>
                <a:latin typeface="Abadi" panose="020B0604020104020204" pitchFamily="34" charset="0"/>
              </a:rPr>
              <a:t>comienzan</a:t>
            </a:r>
            <a:r>
              <a:rPr lang="en-US" dirty="0">
                <a:effectLst/>
                <a:latin typeface="Abadi" panose="020B0604020104020204" pitchFamily="34" charset="0"/>
              </a:rPr>
              <a:t> con un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, y es ese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al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dar</a:t>
            </a:r>
            <a:r>
              <a:rPr lang="en-US" dirty="0" err="1">
                <a:latin typeface="Abadi" panose="020B0604020104020204" pitchFamily="34" charset="0"/>
              </a:rPr>
              <a:t>á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respuesta</a:t>
            </a:r>
            <a:r>
              <a:rPr lang="en-US" dirty="0">
                <a:effectLst/>
                <a:latin typeface="Abadi" panose="020B0604020104020204" pitchFamily="34" charset="0"/>
              </a:rPr>
              <a:t> con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proceso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455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Problema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Definición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a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Caracterásticas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componentes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Caracterásticas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desarrollo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se sabe y </a:t>
            </a: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no se sabe </a:t>
            </a:r>
            <a:r>
              <a:rPr lang="en-US" dirty="0" err="1">
                <a:effectLst/>
                <a:latin typeface="Abadi" panose="020B0604020104020204" pitchFamily="34" charset="0"/>
              </a:rPr>
              <a:t>sobre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evidencia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contradictoria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existe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respecto</a:t>
            </a:r>
            <a:r>
              <a:rPr lang="en-US" dirty="0">
                <a:effectLst/>
                <a:latin typeface="Abadi" panose="020B0604020104020204" pitchFamily="34" charset="0"/>
              </a:rPr>
              <a:t> al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Que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similares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existen</a:t>
            </a:r>
            <a:r>
              <a:rPr lang="en-US" dirty="0">
                <a:effectLst/>
                <a:latin typeface="Abadi" panose="020B0604020104020204" pitchFamily="34" charset="0"/>
              </a:rPr>
              <a:t> (</a:t>
            </a:r>
            <a:r>
              <a:rPr lang="en-US" dirty="0" err="1">
                <a:effectLst/>
                <a:latin typeface="Abadi" panose="020B0604020104020204" pitchFamily="34" charset="0"/>
              </a:rPr>
              <a:t>nacionales</a:t>
            </a:r>
            <a:r>
              <a:rPr lang="en-US" dirty="0">
                <a:effectLst/>
                <a:latin typeface="Abadi" panose="020B0604020104020204" pitchFamily="34" charset="0"/>
              </a:rPr>
              <a:t> e </a:t>
            </a:r>
            <a:r>
              <a:rPr lang="en-US" dirty="0" err="1">
                <a:effectLst/>
                <a:latin typeface="Abadi" panose="020B0604020104020204" pitchFamily="34" charset="0"/>
              </a:rPr>
              <a:t>internacionales</a:t>
            </a:r>
            <a:r>
              <a:rPr lang="en-US" dirty="0">
                <a:effectLst/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hace</a:t>
            </a:r>
            <a:r>
              <a:rPr lang="en-US" dirty="0">
                <a:effectLst/>
                <a:latin typeface="Abadi" panose="020B0604020104020204" pitchFamily="34" charset="0"/>
              </a:rPr>
              <a:t> que </a:t>
            </a:r>
            <a:r>
              <a:rPr lang="en-US" dirty="0" err="1">
                <a:effectLst/>
                <a:latin typeface="Abadi" panose="020B0604020104020204" pitchFamily="34" charset="0"/>
              </a:rPr>
              <a:t>esa</a:t>
            </a:r>
            <a:r>
              <a:rPr lang="en-US" dirty="0">
                <a:effectLst/>
                <a:latin typeface="Abadi" panose="020B0604020104020204" pitchFamily="34" charset="0"/>
              </a:rPr>
              <a:t> población </a:t>
            </a:r>
            <a:r>
              <a:rPr lang="en-US" dirty="0" err="1">
                <a:effectLst/>
                <a:latin typeface="Abadi" panose="020B0604020104020204" pitchFamily="34" charset="0"/>
              </a:rPr>
              <a:t>deba</a:t>
            </a:r>
            <a:r>
              <a:rPr lang="en-US" dirty="0">
                <a:effectLst/>
                <a:latin typeface="Abadi" panose="020B0604020104020204" pitchFamily="34" charset="0"/>
              </a:rPr>
              <a:t> de ser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investigada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Cuál</a:t>
            </a:r>
            <a:r>
              <a:rPr lang="en-US" dirty="0">
                <a:effectLst/>
                <a:latin typeface="Abadi" panose="020B0604020104020204" pitchFamily="34" charset="0"/>
              </a:rPr>
              <a:t> es la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r>
              <a:rPr lang="en-US" dirty="0">
                <a:effectLst/>
                <a:latin typeface="Abadi" panose="020B0604020104020204" pitchFamily="34" charset="0"/>
              </a:rPr>
              <a:t> ese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esa</a:t>
            </a:r>
            <a:r>
              <a:rPr lang="en-US" dirty="0">
                <a:effectLst/>
                <a:latin typeface="Abadi" panose="020B0604020104020204" pitchFamily="34" charset="0"/>
              </a:rPr>
              <a:t> población (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teórica</a:t>
            </a:r>
            <a:r>
              <a:rPr lang="en-US" dirty="0">
                <a:effectLst/>
                <a:latin typeface="Abadi" panose="020B0604020104020204" pitchFamily="34" charset="0"/>
              </a:rPr>
              <a:t>, social y </a:t>
            </a:r>
            <a:r>
              <a:rPr lang="en-US" dirty="0" err="1">
                <a:effectLst/>
                <a:latin typeface="Abadi" panose="020B0604020104020204" pitchFamily="34" charset="0"/>
              </a:rPr>
              <a:t>práctica</a:t>
            </a:r>
            <a:r>
              <a:rPr lang="en-US" dirty="0">
                <a:effectLst/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contribuciones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desprenden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posibles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resultados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Pregunta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55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Pregunta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badi" panose="020B0604020104020204" pitchFamily="34" charset="0"/>
              </a:rPr>
              <a:t>L</a:t>
            </a:r>
            <a:r>
              <a:rPr lang="en-US" dirty="0">
                <a:effectLst/>
                <a:latin typeface="Abadi" panose="020B0604020104020204" pitchFamily="34" charset="0"/>
              </a:rPr>
              <a:t>a </a:t>
            </a:r>
            <a:r>
              <a:rPr lang="en-US" dirty="0" err="1">
                <a:effectLst/>
                <a:latin typeface="Abadi" panose="020B0604020104020204" pitchFamily="34" charset="0"/>
              </a:rPr>
              <a:t>pregunta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tiene</a:t>
            </a:r>
            <a:r>
              <a:rPr lang="en-US" dirty="0">
                <a:effectLst/>
                <a:latin typeface="Abadi" panose="020B0604020104020204" pitchFamily="34" charset="0"/>
              </a:rPr>
              <a:t> que ser </a:t>
            </a:r>
            <a:r>
              <a:rPr lang="en-US" dirty="0" err="1">
                <a:effectLst/>
                <a:latin typeface="Abadi" panose="020B0604020104020204" pitchFamily="34" charset="0"/>
              </a:rPr>
              <a:t>clara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concisa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precisa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Debe</a:t>
            </a:r>
            <a:r>
              <a:rPr lang="en-US" dirty="0">
                <a:effectLst/>
                <a:latin typeface="Abadi" panose="020B0604020104020204" pitchFamily="34" charset="0"/>
              </a:rPr>
              <a:t> ser susceptible de ser </a:t>
            </a:r>
            <a:r>
              <a:rPr lang="en-US" dirty="0" err="1">
                <a:effectLst/>
                <a:latin typeface="Abadi" panose="020B0604020104020204" pitchFamily="34" charset="0"/>
              </a:rPr>
              <a:t>respondida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mediante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evidencia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emp</a:t>
            </a:r>
            <a:r>
              <a:rPr lang="en-US" dirty="0" err="1">
                <a:latin typeface="Abadi" panose="020B0604020104020204" pitchFamily="34" charset="0"/>
              </a:rPr>
              <a:t>í</a:t>
            </a:r>
            <a:r>
              <a:rPr lang="en-US" dirty="0" err="1">
                <a:effectLst/>
                <a:latin typeface="Abadi" panose="020B0604020104020204" pitchFamily="34" charset="0"/>
              </a:rPr>
              <a:t>rica</a:t>
            </a:r>
            <a:r>
              <a:rPr lang="en-US" dirty="0">
                <a:effectLst/>
                <a:latin typeface="Abadi" panose="020B0604020104020204" pitchFamily="34" charset="0"/>
              </a:rPr>
              <a:t> (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cualitativa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cuantitativa</a:t>
            </a:r>
            <a:r>
              <a:rPr lang="en-US" dirty="0">
                <a:effectLst/>
                <a:latin typeface="Abadi" panose="020B0604020104020204" pitchFamily="34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Abadi" panose="020B0604020104020204" pitchFamily="34" charset="0"/>
              </a:rPr>
              <a:t>D</a:t>
            </a:r>
            <a:r>
              <a:rPr lang="en-US" dirty="0" err="1">
                <a:effectLst/>
                <a:latin typeface="Abadi" panose="020B0604020104020204" pitchFamily="34" charset="0"/>
              </a:rPr>
              <a:t>ebe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estar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directa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relación</a:t>
            </a:r>
            <a:r>
              <a:rPr lang="en-US" dirty="0">
                <a:effectLst/>
                <a:latin typeface="Abadi" panose="020B0604020104020204" pitchFamily="34" charset="0"/>
              </a:rPr>
              <a:t> con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objetivo</a:t>
            </a:r>
            <a:r>
              <a:rPr lang="en-US" dirty="0">
                <a:effectLst/>
                <a:latin typeface="Abadi" panose="020B0604020104020204" pitchFamily="34" charset="0"/>
              </a:rPr>
              <a:t> general.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Debe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englobar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todo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Preguntas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cualitativos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Abadi" panose="020B0604020104020204" pitchFamily="34" charset="0"/>
              </a:rPr>
              <a:t>Preguntas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cuantitaivos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Preguntas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</a:t>
            </a:r>
            <a:r>
              <a:rPr lang="en-US" dirty="0" err="1">
                <a:latin typeface="Abadi" panose="020B0604020104020204" pitchFamily="34" charset="0"/>
              </a:rPr>
              <a:t>studios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mixtos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759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badi" panose="020B0604020104020204" pitchFamily="34" charset="0"/>
              </a:rPr>
              <a:t>Se </a:t>
            </a:r>
            <a:r>
              <a:rPr lang="en-US" dirty="0" err="1">
                <a:latin typeface="Abadi" panose="020B0604020104020204" pitchFamily="34" charset="0"/>
              </a:rPr>
              <a:t>distinguen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generals y </a:t>
            </a:r>
            <a:r>
              <a:rPr lang="en-US" dirty="0" err="1">
                <a:latin typeface="Abadi" panose="020B0604020104020204" pitchFamily="34" charset="0"/>
              </a:rPr>
              <a:t>específicos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deben</a:t>
            </a:r>
            <a:r>
              <a:rPr lang="en-US" dirty="0">
                <a:effectLst/>
                <a:latin typeface="Abadi" panose="020B0604020104020204" pitchFamily="34" charset="0"/>
              </a:rPr>
              <a:t> ser claros y </a:t>
            </a:r>
            <a:r>
              <a:rPr lang="en-US" dirty="0" err="1">
                <a:effectLst/>
                <a:latin typeface="Abadi" panose="020B0604020104020204" pitchFamily="34" charset="0"/>
              </a:rPr>
              <a:t>delimitados</a:t>
            </a:r>
            <a:r>
              <a:rPr lang="en-US" dirty="0">
                <a:effectLst/>
                <a:latin typeface="Abadi" panose="020B0604020104020204" pitchFamily="34" charset="0"/>
              </a:rPr>
              <a:t>. </a:t>
            </a: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deben</a:t>
            </a:r>
            <a:r>
              <a:rPr lang="en-US" dirty="0">
                <a:effectLst/>
                <a:latin typeface="Abadi" panose="020B0604020104020204" pitchFamily="34" charset="0"/>
              </a:rPr>
              <a:t> ser </a:t>
            </a:r>
            <a:r>
              <a:rPr lang="en-US" dirty="0" err="1">
                <a:effectLst/>
                <a:latin typeface="Abadi" panose="020B0604020104020204" pitchFamily="34" charset="0"/>
              </a:rPr>
              <a:t>realistas</a:t>
            </a:r>
            <a:r>
              <a:rPr lang="en-US" dirty="0">
                <a:effectLst/>
                <a:latin typeface="Abadi" panose="020B0604020104020204" pitchFamily="34" charset="0"/>
              </a:rPr>
              <a:t>: ¡son </a:t>
            </a:r>
            <a:r>
              <a:rPr lang="en-US" dirty="0" err="1">
                <a:effectLst/>
                <a:latin typeface="Abadi" panose="020B0604020104020204" pitchFamily="34" charset="0"/>
              </a:rPr>
              <a:t>formulados</a:t>
            </a:r>
            <a:r>
              <a:rPr lang="en-US" dirty="0">
                <a:effectLst/>
                <a:latin typeface="Abadi" panose="020B0604020104020204" pitchFamily="34" charset="0"/>
              </a:rPr>
              <a:t> para ser </a:t>
            </a:r>
            <a:r>
              <a:rPr lang="en-US" dirty="0" err="1">
                <a:effectLst/>
                <a:latin typeface="Abadi" panose="020B0604020104020204" pitchFamily="34" charset="0"/>
              </a:rPr>
              <a:t>cumplidos</a:t>
            </a:r>
            <a:r>
              <a:rPr lang="en-US" dirty="0">
                <a:effectLst/>
                <a:latin typeface="Abadi" panose="020B0604020104020204" pitchFamily="34" charset="0"/>
              </a:rPr>
              <a:t>! </a:t>
            </a: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Verbos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más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usados</a:t>
            </a:r>
            <a:r>
              <a:rPr lang="en-US" dirty="0">
                <a:effectLst/>
                <a:latin typeface="Abadi" panose="020B0604020104020204" pitchFamily="34" charset="0"/>
              </a:rPr>
              <a:t>: </a:t>
            </a: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Describir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examinar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evaluar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explicar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…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r>
              <a:rPr lang="en-US" dirty="0">
                <a:effectLst/>
                <a:latin typeface="Abadi" panose="020B0604020104020204" pitchFamily="34" charset="0"/>
              </a:rPr>
              <a:t>La </a:t>
            </a:r>
            <a:r>
              <a:rPr lang="en-US" dirty="0" err="1">
                <a:effectLst/>
                <a:latin typeface="Abadi" panose="020B0604020104020204" pitchFamily="34" charset="0"/>
              </a:rPr>
              <a:t>formulación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inicial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probablemente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cambie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después</a:t>
            </a:r>
            <a:r>
              <a:rPr lang="en-US" dirty="0">
                <a:effectLst/>
                <a:latin typeface="Abadi" panose="020B0604020104020204" pitchFamily="34" charset="0"/>
              </a:rPr>
              <a:t> de la </a:t>
            </a:r>
            <a:r>
              <a:rPr lang="en-US" dirty="0" err="1">
                <a:effectLst/>
                <a:latin typeface="Abadi" panose="020B0604020104020204" pitchFamily="34" charset="0"/>
              </a:rPr>
              <a:t>revisión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literatura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construcción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marco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definición</a:t>
            </a:r>
            <a:r>
              <a:rPr lang="en-US" dirty="0">
                <a:effectLst/>
                <a:latin typeface="Abadi" panose="020B0604020104020204" pitchFamily="34" charset="0"/>
              </a:rPr>
              <a:t> de las variables y la </a:t>
            </a:r>
            <a:r>
              <a:rPr lang="en-US" dirty="0" err="1">
                <a:effectLst/>
                <a:latin typeface="Abadi" panose="020B0604020104020204" pitchFamily="34" charset="0"/>
              </a:rPr>
              <a:t>metodología</a:t>
            </a:r>
            <a:r>
              <a:rPr lang="en-US" dirty="0">
                <a:effectLst/>
                <a:latin typeface="Abadi" panose="020B0604020104020204" pitchFamily="34" charset="0"/>
              </a:rPr>
              <a:t> </a:t>
            </a: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806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Existe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una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relación</a:t>
            </a:r>
            <a:r>
              <a:rPr lang="en-US" b="1" dirty="0">
                <a:latin typeface="Abadi" panose="020B0604020104020204" pitchFamily="34" charset="0"/>
              </a:rPr>
              <a:t> entre la </a:t>
            </a:r>
            <a:r>
              <a:rPr lang="en-US" b="1" dirty="0" err="1">
                <a:latin typeface="Abadi" panose="020B0604020104020204" pitchFamily="34" charset="0"/>
              </a:rPr>
              <a:t>autoestima</a:t>
            </a:r>
            <a:r>
              <a:rPr lang="en-US" b="1" dirty="0">
                <a:latin typeface="Abadi" panose="020B0604020104020204" pitchFamily="34" charset="0"/>
              </a:rPr>
              <a:t> y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niveles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ansiedad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estudiantes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universitarios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Analizar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relación</a:t>
            </a:r>
            <a:r>
              <a:rPr lang="en-US" dirty="0">
                <a:latin typeface="Abadi" panose="020B0604020104020204" pitchFamily="34" charset="0"/>
              </a:rPr>
              <a:t> entre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autoestima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ansiedad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estudiantes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universitarios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Determinar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autoestima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predicen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significativamente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ansiedad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muestra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estudiada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9955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¿El </a:t>
            </a:r>
            <a:r>
              <a:rPr lang="en-US" b="1" dirty="0" err="1">
                <a:latin typeface="Abadi" panose="020B0604020104020204" pitchFamily="34" charset="0"/>
              </a:rPr>
              <a:t>entrenamiento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técnicas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respiración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consciente</a:t>
            </a:r>
            <a:r>
              <a:rPr lang="en-US" b="1" dirty="0">
                <a:latin typeface="Abadi" panose="020B0604020104020204" pitchFamily="34" charset="0"/>
              </a:rPr>
              <a:t> reduce </a:t>
            </a:r>
            <a:r>
              <a:rPr lang="en-US" b="1" dirty="0" err="1">
                <a:latin typeface="Abadi" panose="020B0604020104020204" pitchFamily="34" charset="0"/>
              </a:rPr>
              <a:t>significativamente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niveles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estrés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trabajadores</a:t>
            </a:r>
            <a:r>
              <a:rPr lang="en-US" b="1" dirty="0">
                <a:latin typeface="Abadi" panose="020B0604020104020204" pitchFamily="34" charset="0"/>
              </a:rPr>
              <a:t> de la </a:t>
            </a:r>
            <a:r>
              <a:rPr lang="en-US" b="1" dirty="0" err="1">
                <a:latin typeface="Abadi" panose="020B0604020104020204" pitchFamily="34" charset="0"/>
              </a:rPr>
              <a:t>salud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Evaluar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el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efecto</a:t>
            </a:r>
            <a:r>
              <a:rPr lang="en-US" dirty="0">
                <a:latin typeface="Abadi" panose="020B0604020104020204" pitchFamily="34" charset="0"/>
              </a:rPr>
              <a:t> de un </a:t>
            </a:r>
            <a:r>
              <a:rPr lang="en-US" dirty="0" err="1">
                <a:latin typeface="Abadi" panose="020B0604020104020204" pitchFamily="34" charset="0"/>
              </a:rPr>
              <a:t>programa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entrenamiento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respiración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consciente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sobre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trabajadores</a:t>
            </a:r>
            <a:r>
              <a:rPr lang="en-US" dirty="0">
                <a:latin typeface="Abadi" panose="020B0604020104020204" pitchFamily="34" charset="0"/>
              </a:rPr>
              <a:t> del </a:t>
            </a:r>
            <a:r>
              <a:rPr lang="en-US" dirty="0" err="1">
                <a:latin typeface="Abadi" panose="020B0604020104020204" pitchFamily="34" charset="0"/>
              </a:rPr>
              <a:t>área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salud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Comparar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antes y </a:t>
            </a:r>
            <a:r>
              <a:rPr lang="en-US" dirty="0" err="1">
                <a:latin typeface="Abadi" panose="020B0604020104020204" pitchFamily="34" charset="0"/>
              </a:rPr>
              <a:t>después</a:t>
            </a:r>
            <a:r>
              <a:rPr lang="en-US" dirty="0">
                <a:latin typeface="Abadi" panose="020B0604020104020204" pitchFamily="34" charset="0"/>
              </a:rPr>
              <a:t> de la </a:t>
            </a:r>
            <a:r>
              <a:rPr lang="en-US" dirty="0" err="1">
                <a:latin typeface="Abadi" panose="020B0604020104020204" pitchFamily="34" charset="0"/>
              </a:rPr>
              <a:t>intervención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un </a:t>
            </a:r>
            <a:r>
              <a:rPr lang="en-US" dirty="0" err="1">
                <a:latin typeface="Abadi" panose="020B0604020104020204" pitchFamily="34" charset="0"/>
              </a:rPr>
              <a:t>grupo</a:t>
            </a:r>
            <a:r>
              <a:rPr lang="en-US" dirty="0">
                <a:latin typeface="Abadi" panose="020B0604020104020204" pitchFamily="34" charset="0"/>
              </a:rPr>
              <a:t> experimental y un </a:t>
            </a:r>
            <a:r>
              <a:rPr lang="en-US" dirty="0" err="1">
                <a:latin typeface="Abadi" panose="020B0604020104020204" pitchFamily="34" charset="0"/>
              </a:rPr>
              <a:t>grupo</a:t>
            </a:r>
            <a:r>
              <a:rPr lang="en-US" dirty="0">
                <a:latin typeface="Abadi" panose="020B0604020104020204" pitchFamily="34" charset="0"/>
              </a:rPr>
              <a:t> control.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953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Cuáles</a:t>
            </a:r>
            <a:r>
              <a:rPr lang="en-US" b="1" dirty="0">
                <a:latin typeface="Abadi" panose="020B0604020104020204" pitchFamily="34" charset="0"/>
              </a:rPr>
              <a:t> son las </a:t>
            </a:r>
            <a:r>
              <a:rPr lang="en-US" b="1" dirty="0" err="1">
                <a:latin typeface="Abadi" panose="020B0604020104020204" pitchFamily="34" charset="0"/>
              </a:rPr>
              <a:t>principales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estrategias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afrontamiento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utilizadas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por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adolescentes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frente</a:t>
            </a:r>
            <a:r>
              <a:rPr lang="en-US" b="1" dirty="0">
                <a:latin typeface="Abadi" panose="020B0604020104020204" pitchFamily="34" charset="0"/>
              </a:rPr>
              <a:t> al </a:t>
            </a:r>
            <a:r>
              <a:rPr lang="en-US" b="1" dirty="0" err="1">
                <a:latin typeface="Abadi" panose="020B0604020104020204" pitchFamily="34" charset="0"/>
              </a:rPr>
              <a:t>estrés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académico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Describir</a:t>
            </a:r>
            <a:r>
              <a:rPr lang="en-US" dirty="0">
                <a:latin typeface="Abadi" panose="020B0604020104020204" pitchFamily="34" charset="0"/>
              </a:rPr>
              <a:t> las </a:t>
            </a:r>
            <a:r>
              <a:rPr lang="en-US" dirty="0" err="1">
                <a:latin typeface="Abadi" panose="020B0604020104020204" pitchFamily="34" charset="0"/>
              </a:rPr>
              <a:t>estrategias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afrontamiento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frente</a:t>
            </a:r>
            <a:r>
              <a:rPr lang="en-US" dirty="0">
                <a:latin typeface="Abadi" panose="020B0604020104020204" pitchFamily="34" charset="0"/>
              </a:rPr>
              <a:t> al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académico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utilizadas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adolescentes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educación</a:t>
            </a:r>
            <a:r>
              <a:rPr lang="en-US" dirty="0">
                <a:latin typeface="Abadi" panose="020B0604020104020204" pitchFamily="34" charset="0"/>
              </a:rPr>
              <a:t> media.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 las </a:t>
            </a:r>
            <a:r>
              <a:rPr lang="en-US" dirty="0" err="1">
                <a:latin typeface="Abadi" panose="020B0604020104020204" pitchFamily="34" charset="0"/>
              </a:rPr>
              <a:t>estrategias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más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frecuentes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explorar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diferencias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según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género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curso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1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Cómo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experimentan</a:t>
            </a:r>
            <a:r>
              <a:rPr lang="en-US" b="1" dirty="0">
                <a:latin typeface="Abadi" panose="020B0604020104020204" pitchFamily="34" charset="0"/>
              </a:rPr>
              <a:t> las </a:t>
            </a:r>
            <a:r>
              <a:rPr lang="en-US" b="1" dirty="0" err="1">
                <a:latin typeface="Abadi" panose="020B0604020104020204" pitchFamily="34" charset="0"/>
              </a:rPr>
              <a:t>madres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primerizas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cambios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su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identidad</a:t>
            </a:r>
            <a:r>
              <a:rPr lang="en-US" b="1" dirty="0">
                <a:latin typeface="Abadi" panose="020B0604020104020204" pitchFamily="34" charset="0"/>
              </a:rPr>
              <a:t> personal </a:t>
            </a:r>
            <a:r>
              <a:rPr lang="en-US" b="1" dirty="0" err="1">
                <a:latin typeface="Abadi" panose="020B0604020104020204" pitchFamily="34" charset="0"/>
              </a:rPr>
              <a:t>durante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el</a:t>
            </a:r>
            <a:r>
              <a:rPr lang="en-US" b="1" dirty="0">
                <a:latin typeface="Abadi" panose="020B0604020104020204" pitchFamily="34" charset="0"/>
              </a:rPr>
              <a:t> primer </a:t>
            </a:r>
            <a:r>
              <a:rPr lang="en-US" b="1" dirty="0" err="1">
                <a:latin typeface="Abadi" panose="020B0604020104020204" pitchFamily="34" charset="0"/>
              </a:rPr>
              <a:t>año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maternidad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Explorar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vivencia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subjetiva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cambios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identidad</a:t>
            </a:r>
            <a:r>
              <a:rPr lang="en-US" dirty="0">
                <a:latin typeface="Abadi" panose="020B0604020104020204" pitchFamily="34" charset="0"/>
              </a:rPr>
              <a:t> personal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madres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primerizas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durante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el</a:t>
            </a:r>
            <a:r>
              <a:rPr lang="en-US" dirty="0">
                <a:latin typeface="Abadi" panose="020B0604020104020204" pitchFamily="34" charset="0"/>
              </a:rPr>
              <a:t> primer </a:t>
            </a:r>
            <a:r>
              <a:rPr lang="en-US" dirty="0" err="1">
                <a:latin typeface="Abadi" panose="020B0604020104020204" pitchFamily="34" charset="0"/>
              </a:rPr>
              <a:t>año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postparto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significados</a:t>
            </a:r>
            <a:r>
              <a:rPr lang="en-US" dirty="0">
                <a:latin typeface="Abadi" panose="020B0604020104020204" pitchFamily="34" charset="0"/>
              </a:rPr>
              <a:t> que las </a:t>
            </a:r>
            <a:r>
              <a:rPr lang="en-US" dirty="0" err="1">
                <a:latin typeface="Abadi" panose="020B0604020104020204" pitchFamily="34" charset="0"/>
              </a:rPr>
              <a:t>madres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atribuyen</a:t>
            </a:r>
            <a:r>
              <a:rPr lang="en-US" dirty="0">
                <a:latin typeface="Abadi" panose="020B0604020104020204" pitchFamily="34" charset="0"/>
              </a:rPr>
              <a:t> a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cambios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personales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experimentados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periodo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7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Distintos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posibles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92ADD2-64CA-4FD0-8E2B-52B15BC0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Cualitativos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Fenomenológicos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Etnográficos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Narrativos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IAP</a:t>
            </a: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cuantitativos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Descriptivos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Correlacionales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Experimental: </a:t>
            </a:r>
            <a:r>
              <a:rPr lang="en-US" dirty="0" err="1">
                <a:latin typeface="Abadi" panose="020B0604020104020204" pitchFamily="34" charset="0"/>
              </a:rPr>
              <a:t>Experimentos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cuasi-experimentos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También</a:t>
            </a:r>
            <a:r>
              <a:rPr lang="en-US" dirty="0">
                <a:latin typeface="Abadi" panose="020B0604020104020204" pitchFamily="34" charset="0"/>
              </a:rPr>
              <a:t> se </a:t>
            </a:r>
            <a:r>
              <a:rPr lang="en-US" dirty="0" err="1">
                <a:latin typeface="Abadi" panose="020B0604020104020204" pitchFamily="34" charset="0"/>
              </a:rPr>
              <a:t>pueden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clasificar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según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alcance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latin typeface="Abadi" panose="020B0604020104020204" pitchFamily="34" charset="0"/>
              </a:rPr>
              <a:t>tranversales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longitudinales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461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012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B859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34" y="2387267"/>
            <a:ext cx="8232681" cy="1390351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lang="es-ES" sz="4487" b="1" spc="3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Producción de datos y análisis cualitativo</a:t>
            </a:r>
            <a:endParaRPr sz="4487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148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¿</a:t>
            </a:r>
            <a:r>
              <a:rPr b="1" dirty="0" err="1"/>
              <a:t>Qué</a:t>
            </a:r>
            <a:r>
              <a:rPr b="1" dirty="0"/>
              <a:t> es la </a:t>
            </a:r>
            <a:r>
              <a:rPr b="1" dirty="0" err="1"/>
              <a:t>investigación</a:t>
            </a:r>
            <a:r>
              <a:rPr b="1" dirty="0"/>
              <a:t> </a:t>
            </a:r>
            <a:r>
              <a:rPr b="1" dirty="0" err="1"/>
              <a:t>cualitativa</a:t>
            </a:r>
            <a:r>
              <a:rPr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Estudia fenómenos en su contexto natural</a:t>
            </a:r>
          </a:p>
          <a:p>
            <a:r>
              <a:t>Busca comprender significados</a:t>
            </a:r>
          </a:p>
          <a:p>
            <a:r>
              <a:t>Se basa en datos no numéricos</a:t>
            </a:r>
          </a:p>
          <a:p>
            <a:r>
              <a:t>Ejemplos: entrevistas, observaciones, relatos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Características</a:t>
            </a:r>
            <a:r>
              <a:rPr b="1" dirty="0"/>
              <a:t> </a:t>
            </a:r>
            <a:r>
              <a:rPr b="1" dirty="0" err="1"/>
              <a:t>centrales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Diseño emergente</a:t>
            </a:r>
          </a:p>
          <a:p>
            <a:r>
              <a:t>Investigador como instrumento clave</a:t>
            </a:r>
          </a:p>
          <a:p>
            <a:r>
              <a:t>Enfoque interpretativo</a:t>
            </a:r>
          </a:p>
          <a:p>
            <a:r>
              <a:t>Análisis inductivo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Rol</a:t>
            </a:r>
            <a:r>
              <a:rPr b="1" dirty="0"/>
              <a:t> del </a:t>
            </a:r>
            <a:r>
              <a:rPr b="1" dirty="0" err="1"/>
              <a:t>investigador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Recoge datos directamente</a:t>
            </a:r>
          </a:p>
          <a:p>
            <a:r>
              <a:t>Interpreta significados</a:t>
            </a:r>
          </a:p>
          <a:p>
            <a:r>
              <a:t>Toma decisiones durante el proceso</a:t>
            </a:r>
          </a:p>
          <a:p>
            <a:r>
              <a:t>No es completamente neutral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Diseño</a:t>
            </a:r>
            <a:r>
              <a:rPr b="1" dirty="0"/>
              <a:t> </a:t>
            </a:r>
            <a:r>
              <a:rPr b="1" dirty="0" err="1"/>
              <a:t>cualitativo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Incluye decisiones sobre estrategia, participantes y datos</a:t>
            </a:r>
          </a:p>
          <a:p>
            <a:r>
              <a:t>Proceso flexible</a:t>
            </a:r>
          </a:p>
          <a:p>
            <a:r>
              <a:t>Se ajusta durante el estudio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Estrategias</a:t>
            </a:r>
            <a:r>
              <a:rPr b="1" dirty="0"/>
              <a:t> </a:t>
            </a:r>
            <a:r>
              <a:rPr b="1" dirty="0" err="1"/>
              <a:t>cualitativas</a:t>
            </a:r>
            <a:r>
              <a:rPr b="1" dirty="0"/>
              <a:t> </a:t>
            </a:r>
            <a:r>
              <a:rPr b="1" dirty="0" err="1"/>
              <a:t>principales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Etnografía</a:t>
            </a:r>
          </a:p>
          <a:p>
            <a:r>
              <a:t>Fenomenología</a:t>
            </a:r>
          </a:p>
          <a:p>
            <a:r>
              <a:t>Teoría fundamentada</a:t>
            </a:r>
          </a:p>
          <a:p>
            <a:r>
              <a:t>Estudio de caso</a:t>
            </a:r>
          </a:p>
          <a:p>
            <a:r>
              <a:t>Narrativa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Selección</a:t>
            </a:r>
            <a:r>
              <a:rPr b="1" dirty="0"/>
              <a:t> de </a:t>
            </a:r>
            <a:r>
              <a:rPr b="1" dirty="0" err="1"/>
              <a:t>participantes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Muestreo intencional</a:t>
            </a:r>
          </a:p>
          <a:p>
            <a:r>
              <a:t>No busca representatividad estadística</a:t>
            </a:r>
          </a:p>
          <a:p>
            <a:r>
              <a:t>Selecciona casos relevantes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Técnicas</a:t>
            </a:r>
            <a:r>
              <a:rPr b="1" dirty="0"/>
              <a:t> de </a:t>
            </a:r>
            <a:r>
              <a:rPr b="1" dirty="0" err="1"/>
              <a:t>recolección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Entrevistas en profundidad</a:t>
            </a:r>
          </a:p>
          <a:p>
            <a:r>
              <a:t>Observación</a:t>
            </a:r>
          </a:p>
          <a:p>
            <a:r>
              <a:t>Documentos</a:t>
            </a:r>
          </a:p>
          <a:p>
            <a:r>
              <a:t>Material audiovisual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Registro</a:t>
            </a:r>
            <a:r>
              <a:rPr b="1" dirty="0"/>
              <a:t> de </a:t>
            </a:r>
            <a:r>
              <a:rPr b="1" dirty="0" err="1"/>
              <a:t>datos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Grabaciones</a:t>
            </a:r>
          </a:p>
          <a:p>
            <a:r>
              <a:t>Notas de campo</a:t>
            </a:r>
          </a:p>
          <a:p>
            <a:r>
              <a:t>Transcripciones</a:t>
            </a:r>
          </a:p>
          <a:p>
            <a:r>
              <a:t>Registrar contexto y reflexiones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Análisis</a:t>
            </a:r>
            <a:r>
              <a:rPr b="1" dirty="0"/>
              <a:t> de </a:t>
            </a:r>
            <a:r>
              <a:rPr b="1" dirty="0" err="1"/>
              <a:t>datos</a:t>
            </a:r>
            <a:r>
              <a:rPr b="1" dirty="0"/>
              <a:t> </a:t>
            </a:r>
            <a:r>
              <a:rPr b="1" dirty="0" err="1"/>
              <a:t>cualitativos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Organizar datos</a:t>
            </a:r>
          </a:p>
          <a:p>
            <a:r>
              <a:t>Leer y familiarizarse</a:t>
            </a:r>
          </a:p>
          <a:p>
            <a:r>
              <a:t>Codificar</a:t>
            </a:r>
          </a:p>
          <a:p>
            <a:r>
              <a:t>Generar categorías</a:t>
            </a:r>
          </a:p>
          <a:p>
            <a:r>
              <a:t>Construir temas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Codificación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Asignar etiquetas a fragmentos de texto</a:t>
            </a:r>
          </a:p>
          <a:p>
            <a:r>
              <a:t>Ejemplo: estrés académico, apoyo social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1480675" y="1125048"/>
            <a:ext cx="9230650" cy="766350"/>
          </a:xfrm>
          <a:prstGeom prst="rect">
            <a:avLst/>
          </a:prstGeom>
        </p:spPr>
        <p:txBody>
          <a:bodyPr spcFirstLastPara="1" vert="horz" wrap="square" lIns="99044" tIns="99044" rIns="99044" bIns="99044" rtlCol="0" anchor="t" anchorCtr="0">
            <a:normAutofit fontScale="90000"/>
          </a:bodyPr>
          <a:lstStyle/>
          <a:p>
            <a:r>
              <a:rPr lang="es" b="1" dirty="0"/>
              <a:t>Análisis de datos cualitativos</a:t>
            </a:r>
            <a:endParaRPr b="1" dirty="0"/>
          </a:p>
        </p:txBody>
      </p:sp>
      <p:sp>
        <p:nvSpPr>
          <p:cNvPr id="207" name="Google Shape;207;p27"/>
          <p:cNvSpPr/>
          <p:nvPr/>
        </p:nvSpPr>
        <p:spPr>
          <a:xfrm>
            <a:off x="5033089" y="2214692"/>
            <a:ext cx="2213250" cy="7065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Teórica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620985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Selectiva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2445194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Abierta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10" name="Google Shape;210;p27"/>
          <p:cNvCxnSpPr>
            <a:stCxn id="207" idx="2"/>
            <a:endCxn id="208" idx="0"/>
          </p:cNvCxnSpPr>
          <p:nvPr/>
        </p:nvCxnSpPr>
        <p:spPr>
          <a:xfrm rot="-5400000" flipH="1">
            <a:off x="6624451" y="2436505"/>
            <a:ext cx="1618500" cy="2587975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27"/>
          <p:cNvCxnSpPr>
            <a:stCxn id="209" idx="0"/>
            <a:endCxn id="207" idx="2"/>
          </p:cNvCxnSpPr>
          <p:nvPr/>
        </p:nvCxnSpPr>
        <p:spPr>
          <a:xfrm rot="-5400000">
            <a:off x="4036556" y="2436346"/>
            <a:ext cx="1618500" cy="2587975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27"/>
          <p:cNvCxnSpPr/>
          <p:nvPr/>
        </p:nvCxnSpPr>
        <p:spPr>
          <a:xfrm rot="-5400000">
            <a:off x="5440998" y="3840505"/>
            <a:ext cx="1397500" cy="6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7"/>
          <p:cNvSpPr/>
          <p:nvPr/>
        </p:nvSpPr>
        <p:spPr>
          <a:xfrm>
            <a:off x="5144975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Axial</a:t>
            </a:r>
            <a:endParaRPr sz="1083" kern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976078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1"/>
          <p:cNvGrpSpPr/>
          <p:nvPr/>
        </p:nvGrpSpPr>
        <p:grpSpPr>
          <a:xfrm>
            <a:off x="1480648" y="4482807"/>
            <a:ext cx="9230542" cy="1414337"/>
            <a:chOff x="1593000" y="2322563"/>
            <a:chExt cx="5957975" cy="643504"/>
          </a:xfrm>
          <a:noFill/>
        </p:grpSpPr>
        <p:sp>
          <p:nvSpPr>
            <p:cNvPr id="244" name="Google Shape;244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5" name="Google Shape;245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6" name="Google Shape;246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2370980" y="2396371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>
                  <a:solidFill>
                    <a:srgbClr val="000000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Análisis Global</a:t>
              </a:r>
              <a:endParaRPr kern="0">
                <a:solidFill>
                  <a:srgbClr val="000000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03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4484093" y="2322563"/>
              <a:ext cx="29712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Panorámica general de la amplitud temática de la información que debe analizarse.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La pregunta de investigación se  introduce al texto.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Aplicar un sistema de categorías que trasciende el caso individual.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1480648" y="930654"/>
            <a:ext cx="9230542" cy="3551994"/>
            <a:chOff x="1593000" y="1741232"/>
            <a:chExt cx="5957975" cy="1224836"/>
          </a:xfrm>
          <a:noFill/>
        </p:grpSpPr>
        <p:sp>
          <p:nvSpPr>
            <p:cNvPr id="252" name="Google Shape;252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3515428" y="1741232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>
                  <a:solidFill>
                    <a:srgbClr val="FFFFFF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Análisis Cualitativo del contenido</a:t>
              </a:r>
              <a:endParaRPr kern="0">
                <a:solidFill>
                  <a:srgbClr val="FFFFFF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02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4424358" y="2316467"/>
              <a:ext cx="31266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Uso esencial de categorías.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Técnicas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Resumir el análisis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Análisis explicativo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Análisis estructura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El exceso de estructuración del proceso puede ser costoso. Además el uso de paráfrasis puede desviar el significado que se busca transmitir en la información recolectada. 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" name="Google Shape;259;p31"/>
          <p:cNvGrpSpPr/>
          <p:nvPr/>
        </p:nvGrpSpPr>
        <p:grpSpPr>
          <a:xfrm>
            <a:off x="1480648" y="930737"/>
            <a:ext cx="9230542" cy="1719808"/>
            <a:chOff x="1593000" y="2322568"/>
            <a:chExt cx="5957975" cy="643500"/>
          </a:xfrm>
          <a:noFill/>
        </p:grpSpPr>
        <p:sp>
          <p:nvSpPr>
            <p:cNvPr id="260" name="Google Shape;260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 dirty="0">
                  <a:solidFill>
                    <a:srgbClr val="000000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Codificación Temática</a:t>
              </a:r>
              <a:endParaRPr kern="0" dirty="0">
                <a:solidFill>
                  <a:srgbClr val="000000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01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Uso en estudios comparativos, de grupos elegidos </a:t>
              </a:r>
              <a:r>
                <a:rPr lang="es" sz="1400" i="1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 priori</a:t>
              </a: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 del tema de investigación. 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El análisis se lleva de manera individual a cada caso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Restricción del desarrollo de teoría.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7" name="Google Shape;267;p31"/>
          <p:cNvSpPr/>
          <p:nvPr/>
        </p:nvSpPr>
        <p:spPr>
          <a:xfrm>
            <a:off x="2595143" y="2779385"/>
            <a:ext cx="3006575" cy="126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defTabSz="990570">
              <a:lnSpc>
                <a:spcPct val="115000"/>
              </a:lnSpc>
              <a:buClr>
                <a:srgbClr val="000000"/>
              </a:buClr>
            </a:pPr>
            <a:r>
              <a:rPr lang="es" kern="0">
                <a:solidFill>
                  <a:srgbClr val="000000"/>
                </a:solidFill>
                <a:latin typeface="+mj-lt"/>
                <a:ea typeface="Roboto Medium"/>
                <a:cs typeface="Roboto Medium"/>
                <a:sym typeface="Roboto Medium"/>
              </a:rPr>
              <a:t>Análisis Cualitativo de Contenido</a:t>
            </a:r>
            <a:endParaRPr kern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90348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Interpretación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patrones</a:t>
            </a:r>
          </a:p>
          <a:p>
            <a:r>
              <a:t>Construir significados</a:t>
            </a:r>
          </a:p>
          <a:p>
            <a:r>
              <a:t>Desarrollar explicaciones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Validez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cualitativo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Triangulación</a:t>
            </a:r>
          </a:p>
          <a:p>
            <a:r>
              <a:t>Revisión por participantes</a:t>
            </a:r>
          </a:p>
          <a:p>
            <a:r>
              <a:t>Descripción detallada</a:t>
            </a:r>
          </a:p>
          <a:p>
            <a:r>
              <a:t>Reflexividad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012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B859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34" y="2732521"/>
            <a:ext cx="8232681" cy="699842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4487" b="1" spc="3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Incertidumbre, </a:t>
            </a:r>
            <a:r>
              <a:rPr sz="4487" b="1" spc="6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azar y</a:t>
            </a:r>
            <a:r>
              <a:rPr sz="4487" b="1" spc="-45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4487" b="1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</a:t>
            </a:r>
            <a:endParaRPr sz="4487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44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5569574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¿Qué </a:t>
            </a:r>
            <a:r>
              <a:rPr sz="3638" spc="-6" dirty="0">
                <a:latin typeface="+mn-lt"/>
              </a:rPr>
              <a:t>es un</a:t>
            </a:r>
            <a:r>
              <a:rPr sz="3638" spc="-39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modelo?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27" y="1717663"/>
            <a:ext cx="10401364" cy="427246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51563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cs typeface="Trebuchet MS"/>
              </a:rPr>
              <a:t>La idea de modelo es muy amplia, pero podemos entenderlos en </a:t>
            </a:r>
            <a:r>
              <a:rPr sz="2244" spc="3" dirty="0">
                <a:cs typeface="Trebuchet MS"/>
              </a:rPr>
              <a:t>general </a:t>
            </a:r>
            <a:r>
              <a:rPr sz="2244" dirty="0">
                <a:cs typeface="Trebuchet MS"/>
              </a:rPr>
              <a:t>de la  siguiente</a:t>
            </a:r>
            <a:r>
              <a:rPr sz="2244" spc="-6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forma:</a:t>
            </a:r>
            <a:endParaRPr sz="2244" dirty="0">
              <a:cs typeface="Trebuchet MS"/>
            </a:endParaRP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705437">
              <a:lnSpc>
                <a:spcPct val="100299"/>
              </a:lnSpc>
              <a:tabLst>
                <a:tab pos="6726683" algn="l"/>
              </a:tabLst>
            </a:pPr>
            <a:r>
              <a:rPr sz="2244" b="1" i="1" dirty="0">
                <a:cs typeface="Trebuchet MS"/>
              </a:rPr>
              <a:t>Para un </a:t>
            </a:r>
            <a:r>
              <a:rPr sz="2244" b="1" i="1" spc="3" dirty="0">
                <a:cs typeface="Trebuchet MS"/>
              </a:rPr>
              <a:t>observador B, </a:t>
            </a:r>
            <a:r>
              <a:rPr sz="2244" b="1" i="1" dirty="0">
                <a:cs typeface="Trebuchet MS"/>
              </a:rPr>
              <a:t>un objeto </a:t>
            </a:r>
            <a:r>
              <a:rPr sz="2244" b="1" i="1" spc="3" dirty="0">
                <a:cs typeface="Trebuchet MS"/>
              </a:rPr>
              <a:t>A* es</a:t>
            </a:r>
            <a:r>
              <a:rPr sz="2244" b="1" i="1" spc="18" dirty="0">
                <a:cs typeface="Trebuchet MS"/>
              </a:rPr>
              <a:t> </a:t>
            </a:r>
            <a:r>
              <a:rPr sz="2244" b="1" i="1" dirty="0">
                <a:cs typeface="Trebuchet MS"/>
              </a:rPr>
              <a:t>un</a:t>
            </a:r>
            <a:r>
              <a:rPr sz="2244" b="1" i="1" spc="3" dirty="0">
                <a:cs typeface="Trebuchet MS"/>
              </a:rPr>
              <a:t> </a:t>
            </a:r>
            <a:r>
              <a:rPr sz="2244" b="1" i="1" dirty="0" err="1">
                <a:cs typeface="Trebuchet MS"/>
              </a:rPr>
              <a:t>modelo</a:t>
            </a:r>
            <a:r>
              <a:rPr lang="en-US" sz="2244" b="1" i="1" dirty="0">
                <a:cs typeface="Trebuchet MS"/>
              </a:rPr>
              <a:t> </a:t>
            </a:r>
            <a:r>
              <a:rPr sz="2244" b="1" i="1" dirty="0">
                <a:cs typeface="Trebuchet MS"/>
              </a:rPr>
              <a:t>de un objeto </a:t>
            </a:r>
            <a:r>
              <a:rPr sz="2244" b="1" i="1" spc="3" dirty="0">
                <a:cs typeface="Trebuchet MS"/>
              </a:rPr>
              <a:t>A </a:t>
            </a:r>
            <a:r>
              <a:rPr sz="2244" b="1" i="1" spc="3" dirty="0" err="1">
                <a:cs typeface="Trebuchet MS"/>
              </a:rPr>
              <a:t>en</a:t>
            </a:r>
            <a:r>
              <a:rPr sz="2244" b="1" i="1" spc="3" dirty="0">
                <a:cs typeface="Trebuchet MS"/>
              </a:rPr>
              <a:t> la </a:t>
            </a:r>
            <a:r>
              <a:rPr sz="2244" b="1" i="1" dirty="0">
                <a:cs typeface="Trebuchet MS"/>
              </a:rPr>
              <a:t>medida </a:t>
            </a:r>
            <a:r>
              <a:rPr sz="2244" b="1" i="1" spc="3" dirty="0">
                <a:cs typeface="Trebuchet MS"/>
              </a:rPr>
              <a:t>que B pueda </a:t>
            </a:r>
            <a:r>
              <a:rPr sz="2244" b="1" i="1" dirty="0">
                <a:cs typeface="Trebuchet MS"/>
              </a:rPr>
              <a:t>usar </a:t>
            </a:r>
            <a:r>
              <a:rPr sz="2244" b="1" i="1" spc="3" dirty="0">
                <a:cs typeface="Trebuchet MS"/>
              </a:rPr>
              <a:t>A* </a:t>
            </a:r>
            <a:r>
              <a:rPr sz="2244" b="1" i="1" dirty="0">
                <a:cs typeface="Trebuchet MS"/>
              </a:rPr>
              <a:t>para </a:t>
            </a:r>
            <a:r>
              <a:rPr sz="2244" b="1" i="1" spc="3" dirty="0">
                <a:cs typeface="Trebuchet MS"/>
              </a:rPr>
              <a:t>responder preguntas que </a:t>
            </a:r>
            <a:r>
              <a:rPr sz="2244" b="1" i="1" dirty="0">
                <a:cs typeface="Trebuchet MS"/>
              </a:rPr>
              <a:t>le </a:t>
            </a:r>
            <a:r>
              <a:rPr sz="2244" b="1" i="1" spc="3" dirty="0" err="1">
                <a:cs typeface="Trebuchet MS"/>
              </a:rPr>
              <a:t>interesen</a:t>
            </a:r>
            <a:r>
              <a:rPr sz="2244" b="1" i="1" spc="3" dirty="0">
                <a:cs typeface="Trebuchet MS"/>
              </a:rPr>
              <a:t> respecto a</a:t>
            </a:r>
            <a:r>
              <a:rPr sz="2244" b="1" i="1" spc="-6" dirty="0">
                <a:cs typeface="Trebuchet MS"/>
              </a:rPr>
              <a:t> </a:t>
            </a:r>
            <a:r>
              <a:rPr sz="2244" b="1" i="1" spc="3" dirty="0">
                <a:cs typeface="Trebuchet MS"/>
              </a:rPr>
              <a:t>A</a:t>
            </a:r>
            <a:r>
              <a:rPr lang="es-ES" sz="2244" b="1" i="1" spc="3" dirty="0">
                <a:cs typeface="Trebuchet MS"/>
              </a:rPr>
              <a:t> </a:t>
            </a:r>
            <a:r>
              <a:rPr lang="es-CL" sz="2244" spc="3" dirty="0">
                <a:cs typeface="Trebuchet MS"/>
              </a:rPr>
              <a:t>— </a:t>
            </a:r>
            <a:r>
              <a:rPr lang="es-CL" sz="1698" dirty="0" err="1">
                <a:cs typeface="Trebuchet MS"/>
              </a:rPr>
              <a:t>Minsky</a:t>
            </a:r>
            <a:r>
              <a:rPr lang="es-CL" sz="1698" dirty="0">
                <a:cs typeface="Trebuchet MS"/>
              </a:rPr>
              <a:t>,</a:t>
            </a:r>
            <a:r>
              <a:rPr lang="es-CL" sz="1698" spc="-49" dirty="0">
                <a:cs typeface="Trebuchet MS"/>
              </a:rPr>
              <a:t> </a:t>
            </a:r>
            <a:r>
              <a:rPr lang="es-CL" sz="1698" dirty="0">
                <a:cs typeface="Trebuchet MS"/>
              </a:rPr>
              <a:t>1965</a:t>
            </a: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 marL="7701"/>
            <a:r>
              <a:rPr sz="2244" b="1" i="1" dirty="0">
                <a:cs typeface="Trebuchet MS"/>
              </a:rPr>
              <a:t>(Ej. Mapas del</a:t>
            </a:r>
            <a:r>
              <a:rPr sz="2244" b="1" i="1" spc="-3" dirty="0">
                <a:cs typeface="Trebuchet MS"/>
              </a:rPr>
              <a:t> </a:t>
            </a:r>
            <a:r>
              <a:rPr sz="2244" b="1" i="1" dirty="0">
                <a:cs typeface="Trebuchet MS"/>
              </a:rPr>
              <a:t>metro)</a:t>
            </a:r>
            <a:endParaRPr sz="2244" dirty="0">
              <a:cs typeface="Trebuchet MS"/>
            </a:endParaRP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>
              <a:spcBef>
                <a:spcPts val="9"/>
              </a:spcBef>
            </a:pPr>
            <a:endParaRPr sz="2577" dirty="0">
              <a:cs typeface="Trebuchet MS"/>
            </a:endParaRPr>
          </a:p>
          <a:p>
            <a:pPr marL="7701" marR="392380" algn="ctr">
              <a:lnSpc>
                <a:spcPct val="100299"/>
              </a:lnSpc>
            </a:pPr>
            <a:r>
              <a:rPr sz="2244" b="1" dirty="0">
                <a:cs typeface="Trebuchet MS"/>
              </a:rPr>
              <a:t>Las idea de modelos </a:t>
            </a:r>
            <a:r>
              <a:rPr sz="2244" b="1" spc="3" dirty="0">
                <a:cs typeface="Trebuchet MS"/>
              </a:rPr>
              <a:t>y </a:t>
            </a:r>
            <a:r>
              <a:rPr sz="2244" b="1" dirty="0">
                <a:cs typeface="Trebuchet MS"/>
              </a:rPr>
              <a:t>modelamiento </a:t>
            </a:r>
            <a:r>
              <a:rPr sz="2244" b="1" spc="3" dirty="0">
                <a:cs typeface="Trebuchet MS"/>
              </a:rPr>
              <a:t>juegan </a:t>
            </a:r>
            <a:r>
              <a:rPr sz="2244" b="1" dirty="0">
                <a:cs typeface="Trebuchet MS"/>
              </a:rPr>
              <a:t>un rol </a:t>
            </a:r>
            <a:r>
              <a:rPr sz="2244" b="1" spc="3" dirty="0">
                <a:cs typeface="Trebuchet MS"/>
              </a:rPr>
              <a:t>central </a:t>
            </a:r>
            <a:r>
              <a:rPr sz="2244" b="1" dirty="0">
                <a:cs typeface="Trebuchet MS"/>
              </a:rPr>
              <a:t>en la </a:t>
            </a:r>
            <a:r>
              <a:rPr sz="2244" b="1" dirty="0" err="1">
                <a:cs typeface="Trebuchet MS"/>
              </a:rPr>
              <a:t>investigación</a:t>
            </a:r>
            <a:r>
              <a:rPr sz="2244" b="1" dirty="0">
                <a:cs typeface="Trebuchet MS"/>
              </a:rPr>
              <a:t> científica en </a:t>
            </a:r>
            <a:r>
              <a:rPr sz="2244" b="1" spc="3" dirty="0">
                <a:cs typeface="Trebuchet MS"/>
              </a:rPr>
              <a:t>general y </a:t>
            </a:r>
            <a:r>
              <a:rPr sz="2244" b="1" dirty="0">
                <a:cs typeface="Trebuchet MS"/>
              </a:rPr>
              <a:t>en estadística en</a:t>
            </a:r>
            <a:r>
              <a:rPr sz="2244" b="1" spc="-24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particular.</a:t>
            </a:r>
          </a:p>
        </p:txBody>
      </p:sp>
    </p:spTree>
    <p:extLst>
      <p:ext uri="{BB962C8B-B14F-4D97-AF65-F5344CB8AC3E}">
        <p14:creationId xmlns:p14="http://schemas.microsoft.com/office/powerpoint/2010/main" val="36692138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970093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6" dirty="0">
                <a:latin typeface="+mn-lt"/>
              </a:rPr>
              <a:t>Variabilidad como </a:t>
            </a:r>
            <a:r>
              <a:rPr sz="3638" spc="-9" dirty="0">
                <a:latin typeface="+mn-lt"/>
              </a:rPr>
              <a:t>elemento</a:t>
            </a:r>
            <a:r>
              <a:rPr sz="3638" spc="-18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clave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27" y="2172863"/>
            <a:ext cx="10252344" cy="385748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427806">
              <a:lnSpc>
                <a:spcPct val="100299"/>
              </a:lnSpc>
              <a:spcBef>
                <a:spcPts val="58"/>
              </a:spcBef>
              <a:tabLst>
                <a:tab pos="4636555" algn="l"/>
              </a:tabLst>
            </a:pPr>
            <a:r>
              <a:rPr sz="2244" spc="3" dirty="0">
                <a:cs typeface="Trebuchet MS"/>
              </a:rPr>
              <a:t>Todo fenómeno o</a:t>
            </a:r>
            <a:r>
              <a:rPr sz="2244" spc="-15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proceso</a:t>
            </a:r>
            <a:r>
              <a:rPr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aleatorio</a:t>
            </a:r>
            <a:r>
              <a:rPr lang="en-US"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descansa</a:t>
            </a:r>
            <a:r>
              <a:rPr sz="2244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sobre </a:t>
            </a:r>
            <a:r>
              <a:rPr sz="2244" dirty="0">
                <a:cs typeface="Trebuchet MS"/>
              </a:rPr>
              <a:t>la presencia (o </a:t>
            </a:r>
            <a:r>
              <a:rPr sz="2244" dirty="0" err="1">
                <a:cs typeface="Trebuchet MS"/>
              </a:rPr>
              <a:t>potencial</a:t>
            </a:r>
            <a:r>
              <a:rPr lang="en-US"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presencia</a:t>
            </a:r>
            <a:r>
              <a:rPr sz="2244" dirty="0">
                <a:cs typeface="Trebuchet MS"/>
              </a:rPr>
              <a:t>) de</a:t>
            </a:r>
            <a:r>
              <a:rPr sz="2244" spc="-21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variabilidad</a:t>
            </a:r>
            <a:r>
              <a:rPr sz="2244" dirty="0">
                <a:cs typeface="Trebuchet MS"/>
              </a:rPr>
              <a:t>.</a:t>
            </a: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3081">
              <a:lnSpc>
                <a:spcPct val="100299"/>
              </a:lnSpc>
            </a:pPr>
            <a:r>
              <a:rPr sz="2244" b="1" dirty="0">
                <a:cs typeface="Trebuchet MS"/>
              </a:rPr>
              <a:t>Si no </a:t>
            </a:r>
            <a:r>
              <a:rPr sz="2244" b="1" spc="3" dirty="0">
                <a:cs typeface="Trebuchet MS"/>
              </a:rPr>
              <a:t>hubiera </a:t>
            </a:r>
            <a:r>
              <a:rPr sz="2244" b="1" dirty="0">
                <a:cs typeface="Trebuchet MS"/>
              </a:rPr>
              <a:t>variabilidad </a:t>
            </a:r>
            <a:r>
              <a:rPr sz="2244" b="1" spc="3" dirty="0">
                <a:cs typeface="Trebuchet MS"/>
              </a:rPr>
              <a:t>en los </a:t>
            </a:r>
            <a:r>
              <a:rPr sz="2244" b="1" dirty="0">
                <a:cs typeface="Trebuchet MS"/>
              </a:rPr>
              <a:t>posibles resultados no podría </a:t>
            </a:r>
            <a:r>
              <a:rPr sz="2244" b="1" spc="3" dirty="0" err="1">
                <a:cs typeface="Trebuchet MS"/>
              </a:rPr>
              <a:t>haber</a:t>
            </a:r>
            <a:r>
              <a:rPr sz="2244" b="1" spc="3" dirty="0">
                <a:cs typeface="Trebuchet MS"/>
              </a:rPr>
              <a:t> </a:t>
            </a:r>
            <a:r>
              <a:rPr sz="2244" b="1" dirty="0" err="1">
                <a:cs typeface="Trebuchet MS"/>
              </a:rPr>
              <a:t>incertidumbre</a:t>
            </a:r>
            <a:r>
              <a:rPr sz="2244" dirty="0">
                <a:cs typeface="Trebuchet MS"/>
              </a:rPr>
              <a:t>. </a:t>
            </a:r>
            <a:r>
              <a:rPr sz="2244" spc="3" dirty="0">
                <a:cs typeface="Trebuchet MS"/>
              </a:rPr>
              <a:t>Por </a:t>
            </a:r>
            <a:r>
              <a:rPr sz="2244" dirty="0">
                <a:cs typeface="Trebuchet MS"/>
              </a:rPr>
              <a:t>ejemplo, si el </a:t>
            </a:r>
            <a:r>
              <a:rPr sz="2244" spc="3" dirty="0">
                <a:cs typeface="Trebuchet MS"/>
              </a:rPr>
              <a:t>resultado </a:t>
            </a:r>
            <a:r>
              <a:rPr sz="2244" dirty="0">
                <a:cs typeface="Trebuchet MS"/>
              </a:rPr>
              <a:t>de un proceso es </a:t>
            </a:r>
            <a:r>
              <a:rPr sz="2244" spc="3" dirty="0">
                <a:cs typeface="Trebuchet MS"/>
              </a:rPr>
              <a:t>siempre </a:t>
            </a:r>
            <a:r>
              <a:rPr sz="2244" dirty="0">
                <a:cs typeface="Trebuchet MS"/>
              </a:rPr>
              <a:t>el </a:t>
            </a:r>
            <a:r>
              <a:rPr sz="2244" dirty="0" err="1">
                <a:cs typeface="Trebuchet MS"/>
              </a:rPr>
              <a:t>mismo</a:t>
            </a:r>
            <a:r>
              <a:rPr sz="2244" dirty="0">
                <a:cs typeface="Trebuchet MS"/>
              </a:rPr>
              <a:t> no lo consideraríamos</a:t>
            </a:r>
            <a:r>
              <a:rPr sz="2244" spc="-12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incierto</a:t>
            </a:r>
            <a:r>
              <a:rPr sz="2244" dirty="0">
                <a:cs typeface="Trebuchet MS"/>
              </a:rPr>
              <a:t>.</a:t>
            </a:r>
            <a:endParaRPr lang="es-ES" sz="2244" dirty="0">
              <a:cs typeface="Trebuchet MS"/>
            </a:endParaRPr>
          </a:p>
          <a:p>
            <a:pPr marL="7701" marR="3081">
              <a:lnSpc>
                <a:spcPct val="100299"/>
              </a:lnSpc>
            </a:pPr>
            <a:endParaRPr lang="es-ES" sz="2244" dirty="0">
              <a:cs typeface="Trebuchet MS"/>
            </a:endParaRPr>
          </a:p>
          <a:p>
            <a:pPr marL="7701" marR="3081">
              <a:lnSpc>
                <a:spcPct val="100299"/>
              </a:lnSpc>
            </a:pPr>
            <a:endParaRPr lang="es-ES" sz="2244" dirty="0">
              <a:cs typeface="Trebuchet MS"/>
            </a:endParaRPr>
          </a:p>
          <a:p>
            <a:pPr marL="7701" marR="3081">
              <a:lnSpc>
                <a:spcPct val="100299"/>
              </a:lnSpc>
            </a:pPr>
            <a:endParaRPr lang="es-ES" sz="2244" dirty="0">
              <a:cs typeface="Trebuchet MS"/>
            </a:endParaRPr>
          </a:p>
          <a:p>
            <a:pPr marL="7701" marR="3081" algn="ctr">
              <a:lnSpc>
                <a:spcPct val="100299"/>
              </a:lnSpc>
            </a:pPr>
            <a:r>
              <a:rPr lang="es-ES" sz="2244" dirty="0">
                <a:cs typeface="Trebuchet MS"/>
              </a:rPr>
              <a:t>¿Qué opción ganaría en el plebiscito?</a:t>
            </a:r>
          </a:p>
          <a:p>
            <a:pPr marL="7701" marR="3081" algn="ctr">
              <a:lnSpc>
                <a:spcPct val="100299"/>
              </a:lnSpc>
            </a:pPr>
            <a:r>
              <a:rPr lang="es-ES" sz="2244" dirty="0">
                <a:cs typeface="Trebuchet MS"/>
              </a:rPr>
              <a:t>¿Una intervención reducirá los estereotipos de género?</a:t>
            </a:r>
            <a:endParaRPr sz="2244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796714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970093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6" dirty="0">
                <a:latin typeface="+mn-lt"/>
              </a:rPr>
              <a:t>Variabilidad como </a:t>
            </a:r>
            <a:r>
              <a:rPr sz="3638" spc="-9" dirty="0">
                <a:latin typeface="+mn-lt"/>
              </a:rPr>
              <a:t>elemento</a:t>
            </a:r>
            <a:r>
              <a:rPr sz="3638" spc="-18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clave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940" y="1580690"/>
            <a:ext cx="10252344" cy="420283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854842">
              <a:lnSpc>
                <a:spcPct val="100299"/>
              </a:lnSpc>
              <a:tabLst>
                <a:tab pos="3432460" algn="l"/>
                <a:tab pos="8286577" algn="l"/>
              </a:tabLst>
            </a:pPr>
            <a:r>
              <a:rPr sz="2244" dirty="0">
                <a:cs typeface="Trebuchet MS"/>
              </a:rPr>
              <a:t>Si bie</a:t>
            </a:r>
            <a:r>
              <a:rPr sz="2244" spc="3" dirty="0">
                <a:cs typeface="Trebuchet MS"/>
              </a:rPr>
              <a:t>n</a:t>
            </a:r>
            <a:r>
              <a:rPr sz="2244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la</a:t>
            </a:r>
            <a:r>
              <a:rPr sz="2244" spc="-6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variabilidad</a:t>
            </a:r>
            <a:r>
              <a:rPr sz="2244" spc="-3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es nec</a:t>
            </a:r>
            <a:r>
              <a:rPr sz="2244" spc="6" dirty="0">
                <a:cs typeface="Trebuchet MS"/>
              </a:rPr>
              <a:t>e</a:t>
            </a:r>
            <a:r>
              <a:rPr sz="2244" spc="3" dirty="0">
                <a:cs typeface="Trebuchet MS"/>
              </a:rPr>
              <a:t>saria</a:t>
            </a:r>
            <a:r>
              <a:rPr sz="2244" spc="-15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par</a:t>
            </a:r>
            <a:r>
              <a:rPr sz="2244" spc="3" dirty="0">
                <a:cs typeface="Trebuchet MS"/>
              </a:rPr>
              <a:t>a</a:t>
            </a:r>
            <a:r>
              <a:rPr sz="2244" dirty="0">
                <a:cs typeface="Trebuchet MS"/>
              </a:rPr>
              <a:t> qu</a:t>
            </a:r>
            <a:r>
              <a:rPr sz="2244" spc="3" dirty="0">
                <a:cs typeface="Trebuchet MS"/>
              </a:rPr>
              <a:t>e</a:t>
            </a:r>
            <a:r>
              <a:rPr sz="2244" dirty="0">
                <a:cs typeface="Trebuchet MS"/>
              </a:rPr>
              <a:t> podam</a:t>
            </a:r>
            <a:r>
              <a:rPr sz="2244" spc="-9" dirty="0">
                <a:cs typeface="Trebuchet MS"/>
              </a:rPr>
              <a:t>o</a:t>
            </a:r>
            <a:r>
              <a:rPr sz="2244" dirty="0">
                <a:cs typeface="Trebuchet MS"/>
              </a:rPr>
              <a:t>s</a:t>
            </a:r>
            <a:r>
              <a:rPr sz="2244" spc="12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pensar</a:t>
            </a:r>
            <a:r>
              <a:rPr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e</a:t>
            </a:r>
            <a:r>
              <a:rPr sz="2244" spc="3" dirty="0" err="1">
                <a:cs typeface="Trebuchet MS"/>
              </a:rPr>
              <a:t>n</a:t>
            </a:r>
            <a:r>
              <a:rPr lang="en-US" sz="2244" spc="3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procesos</a:t>
            </a:r>
            <a:r>
              <a:rPr sz="2244" dirty="0">
                <a:cs typeface="Trebuchet MS"/>
              </a:rPr>
              <a:t>  </a:t>
            </a:r>
            <a:r>
              <a:rPr sz="2244" dirty="0" err="1">
                <a:cs typeface="Trebuchet MS"/>
              </a:rPr>
              <a:t>probabil</a:t>
            </a:r>
            <a:r>
              <a:rPr lang="es-CL" sz="2244" dirty="0">
                <a:cs typeface="Trebuchet MS"/>
              </a:rPr>
              <a:t>í</a:t>
            </a:r>
            <a:r>
              <a:rPr sz="2244" dirty="0" err="1">
                <a:cs typeface="Trebuchet MS"/>
              </a:rPr>
              <a:t>sticos</a:t>
            </a:r>
            <a:r>
              <a:rPr sz="2244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o </a:t>
            </a:r>
            <a:r>
              <a:rPr sz="2244" dirty="0">
                <a:cs typeface="Trebuchet MS"/>
              </a:rPr>
              <a:t>aleatorios, </a:t>
            </a:r>
            <a:r>
              <a:rPr sz="2244" b="1" dirty="0">
                <a:cs typeface="Trebuchet MS"/>
              </a:rPr>
              <a:t>no significa que todo proceso que muestre  variabilidad tenga</a:t>
            </a:r>
            <a:r>
              <a:rPr sz="2244" b="1" spc="21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que</a:t>
            </a:r>
            <a:r>
              <a:rPr sz="2244" b="1" spc="12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ser</a:t>
            </a:r>
            <a:r>
              <a:rPr lang="es-ES" sz="2244" b="1" dirty="0">
                <a:cs typeface="Trebuchet MS"/>
              </a:rPr>
              <a:t> </a:t>
            </a:r>
            <a:r>
              <a:rPr sz="2244" b="1" dirty="0" err="1">
                <a:cs typeface="Trebuchet MS"/>
              </a:rPr>
              <a:t>concebido</a:t>
            </a:r>
            <a:r>
              <a:rPr sz="2244" b="1" dirty="0">
                <a:cs typeface="Trebuchet MS"/>
              </a:rPr>
              <a:t> como</a:t>
            </a:r>
            <a:r>
              <a:rPr sz="2244" b="1" spc="-6" dirty="0">
                <a:cs typeface="Trebuchet MS"/>
              </a:rPr>
              <a:t> </a:t>
            </a:r>
            <a:r>
              <a:rPr sz="2244" b="1" dirty="0" err="1">
                <a:cs typeface="Trebuchet MS"/>
              </a:rPr>
              <a:t>aleatorio</a:t>
            </a:r>
            <a:r>
              <a:rPr sz="2244" dirty="0">
                <a:cs typeface="Trebuchet MS"/>
              </a:rPr>
              <a:t>.</a:t>
            </a:r>
            <a:endParaRPr lang="es-ES" sz="2244" dirty="0">
              <a:cs typeface="Trebuchet MS"/>
            </a:endParaRPr>
          </a:p>
          <a:p>
            <a:pPr marL="7701" marR="854842">
              <a:lnSpc>
                <a:spcPct val="100299"/>
              </a:lnSpc>
              <a:tabLst>
                <a:tab pos="3432460" algn="l"/>
                <a:tab pos="8286577" algn="l"/>
              </a:tabLst>
            </a:pPr>
            <a:endParaRPr lang="es-ES" sz="2244" dirty="0">
              <a:cs typeface="Trebuchet MS"/>
            </a:endParaRPr>
          </a:p>
          <a:p>
            <a:pPr marL="7701" marR="854842">
              <a:lnSpc>
                <a:spcPct val="100299"/>
              </a:lnSpc>
              <a:tabLst>
                <a:tab pos="3432460" algn="l"/>
                <a:tab pos="8286577" algn="l"/>
              </a:tabLst>
            </a:pPr>
            <a:endParaRPr lang="es-ES" sz="2244" dirty="0">
              <a:cs typeface="Trebuchet MS"/>
            </a:endParaRPr>
          </a:p>
          <a:p>
            <a:pPr marL="7701" marR="854842">
              <a:lnSpc>
                <a:spcPct val="100299"/>
              </a:lnSpc>
              <a:tabLst>
                <a:tab pos="3432460" algn="l"/>
                <a:tab pos="8286577" algn="l"/>
              </a:tabLst>
            </a:pPr>
            <a:endParaRPr lang="es-ES" sz="2244" dirty="0">
              <a:cs typeface="Trebuchet MS"/>
            </a:endParaRPr>
          </a:p>
          <a:p>
            <a:pPr marL="7701" marR="854842" algn="ctr">
              <a:lnSpc>
                <a:spcPct val="100299"/>
              </a:lnSpc>
              <a:tabLst>
                <a:tab pos="3432460" algn="l"/>
                <a:tab pos="8286577" algn="l"/>
              </a:tabLst>
            </a:pPr>
            <a:r>
              <a:rPr lang="es-ES" sz="2244" dirty="0">
                <a:cs typeface="Trebuchet MS"/>
              </a:rPr>
              <a:t>¿Qué variables pueden influir en el voto de los/as ciudadanos?</a:t>
            </a:r>
          </a:p>
          <a:p>
            <a:pPr marL="7701" marR="854842" algn="ctr">
              <a:lnSpc>
                <a:spcPct val="100299"/>
              </a:lnSpc>
              <a:tabLst>
                <a:tab pos="3432460" algn="l"/>
                <a:tab pos="8286577" algn="l"/>
              </a:tabLst>
            </a:pPr>
            <a:endParaRPr lang="es-ES" sz="2244" dirty="0">
              <a:cs typeface="Trebuchet MS"/>
            </a:endParaRPr>
          </a:p>
          <a:p>
            <a:pPr marL="7701" marR="854842" algn="ctr">
              <a:lnSpc>
                <a:spcPct val="100299"/>
              </a:lnSpc>
              <a:tabLst>
                <a:tab pos="3432460" algn="l"/>
                <a:tab pos="8286577" algn="l"/>
              </a:tabLst>
            </a:pPr>
            <a:r>
              <a:rPr lang="es-ES" sz="2244" dirty="0">
                <a:cs typeface="Trebuchet MS"/>
              </a:rPr>
              <a:t>¿Se podría haber predicho qué iba a votar cada comuna?</a:t>
            </a:r>
          </a:p>
          <a:p>
            <a:pPr marL="7701" marR="854842" algn="ctr">
              <a:lnSpc>
                <a:spcPct val="100299"/>
              </a:lnSpc>
              <a:tabLst>
                <a:tab pos="3432460" algn="l"/>
                <a:tab pos="8286577" algn="l"/>
              </a:tabLst>
            </a:pPr>
            <a:endParaRPr lang="es-ES" sz="2244" dirty="0">
              <a:cs typeface="Trebuchet MS"/>
            </a:endParaRPr>
          </a:p>
          <a:p>
            <a:pPr marL="7701" marR="854842" algn="ctr">
              <a:lnSpc>
                <a:spcPct val="100299"/>
              </a:lnSpc>
              <a:tabLst>
                <a:tab pos="3432460" algn="l"/>
                <a:tab pos="8286577" algn="l"/>
              </a:tabLst>
            </a:pPr>
            <a:r>
              <a:rPr lang="es-ES" sz="2244" dirty="0">
                <a:cs typeface="Trebuchet MS"/>
              </a:rPr>
              <a:t>¿La intervención versa sobre variables que afectan el apoyo a estereotipos?</a:t>
            </a:r>
            <a:endParaRPr sz="2244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944785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7220346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9" dirty="0">
                <a:latin typeface="+mn-lt"/>
              </a:rPr>
              <a:t>Incertidumbre </a:t>
            </a:r>
            <a:r>
              <a:rPr sz="3638" spc="-3" dirty="0">
                <a:latin typeface="+mn-lt"/>
              </a:rPr>
              <a:t>y</a:t>
            </a:r>
            <a:r>
              <a:rPr sz="3638" spc="-24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patrones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901" y="1442067"/>
            <a:ext cx="10597747" cy="3270409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1473640" indent="558343" algn="ctr">
              <a:lnSpc>
                <a:spcPct val="100299"/>
              </a:lnSpc>
              <a:spcBef>
                <a:spcPts val="3"/>
              </a:spcBef>
            </a:pPr>
            <a:r>
              <a:rPr sz="2244" dirty="0">
                <a:cs typeface="Trebuchet MS"/>
              </a:rPr>
              <a:t>¿Cuántos/as alumnos/as en el </a:t>
            </a:r>
            <a:r>
              <a:rPr sz="2244" spc="3" dirty="0">
                <a:cs typeface="Trebuchet MS"/>
              </a:rPr>
              <a:t>sistema </a:t>
            </a:r>
            <a:r>
              <a:rPr sz="2244" dirty="0">
                <a:cs typeface="Trebuchet MS"/>
              </a:rPr>
              <a:t>escolar chileno </a:t>
            </a:r>
            <a:r>
              <a:rPr sz="2244" spc="3" dirty="0">
                <a:cs typeface="Trebuchet MS"/>
              </a:rPr>
              <a:t>responderán  </a:t>
            </a:r>
            <a:r>
              <a:rPr sz="2244" dirty="0">
                <a:cs typeface="Trebuchet MS"/>
              </a:rPr>
              <a:t>correctamente el problema de matemática: 15 </a:t>
            </a:r>
            <a:r>
              <a:rPr sz="2244" spc="3" dirty="0">
                <a:cs typeface="Trebuchet MS"/>
              </a:rPr>
              <a:t>= </a:t>
            </a:r>
            <a:r>
              <a:rPr sz="2244" dirty="0">
                <a:cs typeface="Trebuchet MS"/>
              </a:rPr>
              <a:t>2x </a:t>
            </a:r>
            <a:r>
              <a:rPr sz="2244" spc="3" dirty="0">
                <a:cs typeface="Trebuchet MS"/>
              </a:rPr>
              <a:t>+</a:t>
            </a:r>
            <a:r>
              <a:rPr sz="2244" spc="-42" dirty="0">
                <a:cs typeface="Trebuchet MS"/>
              </a:rPr>
              <a:t> </a:t>
            </a:r>
            <a:r>
              <a:rPr sz="2244" spc="-3" dirty="0">
                <a:cs typeface="Trebuchet MS"/>
              </a:rPr>
              <a:t>6?</a:t>
            </a:r>
            <a:endParaRPr sz="2244" dirty="0">
              <a:cs typeface="Trebuchet MS"/>
            </a:endParaRP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 marL="7701"/>
            <a:r>
              <a:rPr sz="2244" b="1" dirty="0">
                <a:cs typeface="Trebuchet MS"/>
              </a:rPr>
              <a:t>El </a:t>
            </a:r>
            <a:r>
              <a:rPr sz="2244" b="1" spc="3" dirty="0">
                <a:cs typeface="Trebuchet MS"/>
              </a:rPr>
              <a:t>que </a:t>
            </a:r>
            <a:r>
              <a:rPr sz="2244" b="1" dirty="0">
                <a:cs typeface="Trebuchet MS"/>
              </a:rPr>
              <a:t>exista algo </a:t>
            </a:r>
            <a:r>
              <a:rPr sz="2244" b="1" spc="3" dirty="0">
                <a:cs typeface="Trebuchet MS"/>
              </a:rPr>
              <a:t>de </a:t>
            </a:r>
            <a:r>
              <a:rPr sz="2244" b="1" dirty="0">
                <a:cs typeface="Trebuchet MS"/>
              </a:rPr>
              <a:t>incertidumbre no significa </a:t>
            </a:r>
            <a:r>
              <a:rPr sz="2244" b="1" spc="3" dirty="0">
                <a:cs typeface="Trebuchet MS"/>
              </a:rPr>
              <a:t>que </a:t>
            </a:r>
            <a:r>
              <a:rPr sz="2244" b="1" dirty="0">
                <a:cs typeface="Trebuchet MS"/>
              </a:rPr>
              <a:t>todo </a:t>
            </a:r>
            <a:r>
              <a:rPr sz="2244" b="1" spc="3" dirty="0">
                <a:cs typeface="Trebuchet MS"/>
              </a:rPr>
              <a:t>sea</a:t>
            </a:r>
            <a:r>
              <a:rPr sz="2244" b="1" spc="-9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incierto.</a:t>
            </a:r>
            <a:endParaRPr sz="2244" dirty="0">
              <a:cs typeface="Trebuchet MS"/>
            </a:endParaRP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3081">
              <a:lnSpc>
                <a:spcPct val="100299"/>
              </a:lnSpc>
            </a:pPr>
            <a:r>
              <a:rPr sz="2244" dirty="0">
                <a:cs typeface="Trebuchet MS"/>
              </a:rPr>
              <a:t>Una base del </a:t>
            </a:r>
            <a:r>
              <a:rPr sz="2244" spc="3" dirty="0">
                <a:cs typeface="Trebuchet MS"/>
              </a:rPr>
              <a:t>razonamiento </a:t>
            </a:r>
            <a:r>
              <a:rPr sz="2244" dirty="0">
                <a:cs typeface="Trebuchet MS"/>
              </a:rPr>
              <a:t>estadístico es entender que si bien eventos únicos  puede ser inciertos (por ejemplo: </a:t>
            </a:r>
            <a:r>
              <a:rPr sz="2244" spc="3" dirty="0">
                <a:cs typeface="Trebuchet MS"/>
              </a:rPr>
              <a:t>¿responderá </a:t>
            </a:r>
            <a:r>
              <a:rPr sz="2244" dirty="0">
                <a:cs typeface="Trebuchet MS"/>
              </a:rPr>
              <a:t>"Pedro" correctamente?), </a:t>
            </a:r>
            <a:r>
              <a:rPr sz="2244" b="1" dirty="0">
                <a:cs typeface="Trebuchet MS"/>
              </a:rPr>
              <a:t>es </a:t>
            </a:r>
            <a:r>
              <a:rPr sz="2244" b="1" spc="-3" dirty="0" err="1">
                <a:cs typeface="Trebuchet MS"/>
              </a:rPr>
              <a:t>posible</a:t>
            </a:r>
            <a:r>
              <a:rPr sz="2244" b="1" spc="-3" dirty="0">
                <a:cs typeface="Trebuchet MS"/>
              </a:rPr>
              <a:t> </a:t>
            </a:r>
            <a:r>
              <a:rPr sz="2244" b="1" dirty="0" err="1">
                <a:cs typeface="Trebuchet MS"/>
              </a:rPr>
              <a:t>identificar</a:t>
            </a:r>
            <a:r>
              <a:rPr sz="2244" b="1" dirty="0">
                <a:cs typeface="Trebuchet MS"/>
              </a:rPr>
              <a:t> patrones en el comportamiento de </a:t>
            </a:r>
            <a:r>
              <a:rPr sz="2244" b="1" spc="3" dirty="0">
                <a:cs typeface="Trebuchet MS"/>
              </a:rPr>
              <a:t>grandes </a:t>
            </a:r>
            <a:r>
              <a:rPr sz="2244" b="1" dirty="0">
                <a:cs typeface="Trebuchet MS"/>
              </a:rPr>
              <a:t>números de </a:t>
            </a:r>
            <a:r>
              <a:rPr sz="2244" b="1" dirty="0" err="1">
                <a:cs typeface="Trebuchet MS"/>
              </a:rPr>
              <a:t>eventos</a:t>
            </a:r>
            <a:r>
              <a:rPr sz="2244" b="1" dirty="0">
                <a:cs typeface="Trebuchet MS"/>
              </a:rPr>
              <a:t> aleatorios.</a:t>
            </a:r>
          </a:p>
        </p:txBody>
      </p:sp>
    </p:spTree>
    <p:extLst>
      <p:ext uri="{BB962C8B-B14F-4D97-AF65-F5344CB8AC3E}">
        <p14:creationId xmlns:p14="http://schemas.microsoft.com/office/powerpoint/2010/main" val="25865370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7220346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9" dirty="0">
                <a:latin typeface="+mn-lt"/>
              </a:rPr>
              <a:t>Incertidumbre </a:t>
            </a:r>
            <a:r>
              <a:rPr sz="3638" spc="-3" dirty="0">
                <a:latin typeface="+mn-lt"/>
              </a:rPr>
              <a:t>y</a:t>
            </a:r>
            <a:r>
              <a:rPr sz="3638" spc="-24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patrones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901" y="1611791"/>
            <a:ext cx="10642510" cy="14400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473640" indent="558343" algn="ctr">
              <a:lnSpc>
                <a:spcPct val="100299"/>
              </a:lnSpc>
              <a:spcBef>
                <a:spcPts val="3"/>
              </a:spcBef>
            </a:pPr>
            <a:r>
              <a:rPr lang="es-MX" sz="2244" dirty="0">
                <a:cs typeface="Trebuchet MS"/>
              </a:rPr>
              <a:t>¿Cuántos/as alumnos/as en el </a:t>
            </a:r>
            <a:r>
              <a:rPr lang="es-MX" sz="2244" spc="3" dirty="0">
                <a:cs typeface="Trebuchet MS"/>
              </a:rPr>
              <a:t>sistema </a:t>
            </a:r>
            <a:r>
              <a:rPr lang="es-MX" sz="2244" dirty="0">
                <a:cs typeface="Trebuchet MS"/>
              </a:rPr>
              <a:t>escolar chileno </a:t>
            </a:r>
            <a:r>
              <a:rPr lang="es-MX" sz="2244" spc="3" dirty="0">
                <a:cs typeface="Trebuchet MS"/>
              </a:rPr>
              <a:t>responderán  </a:t>
            </a:r>
            <a:r>
              <a:rPr lang="es-MX" sz="2244" dirty="0">
                <a:cs typeface="Trebuchet MS"/>
              </a:rPr>
              <a:t>correctamente el problema de matemática: 15 </a:t>
            </a:r>
            <a:r>
              <a:rPr lang="es-MX" sz="2244" spc="3" dirty="0">
                <a:cs typeface="Trebuchet MS"/>
              </a:rPr>
              <a:t>= </a:t>
            </a:r>
            <a:r>
              <a:rPr lang="es-MX" sz="2244" dirty="0">
                <a:cs typeface="Trebuchet MS"/>
              </a:rPr>
              <a:t>2x </a:t>
            </a:r>
            <a:r>
              <a:rPr lang="es-MX" sz="2244" spc="3" dirty="0">
                <a:cs typeface="Trebuchet MS"/>
              </a:rPr>
              <a:t>+</a:t>
            </a:r>
            <a:r>
              <a:rPr lang="es-MX" sz="2244" spc="-42" dirty="0">
                <a:cs typeface="Trebuchet MS"/>
              </a:rPr>
              <a:t> </a:t>
            </a:r>
            <a:r>
              <a:rPr lang="es-MX" sz="2244" spc="-3" dirty="0">
                <a:cs typeface="Trebuchet MS"/>
              </a:rPr>
              <a:t>6?</a:t>
            </a:r>
            <a:endParaRPr lang="es-MX" sz="2244" dirty="0">
              <a:cs typeface="Trebuchet MS"/>
            </a:endParaRP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 marL="7701" algn="ctr"/>
            <a:r>
              <a:rPr sz="2244" b="1" dirty="0">
                <a:cs typeface="Trebuchet MS"/>
              </a:rPr>
              <a:t>El </a:t>
            </a:r>
            <a:r>
              <a:rPr sz="2244" b="1" spc="3" dirty="0">
                <a:cs typeface="Trebuchet MS"/>
              </a:rPr>
              <a:t>que </a:t>
            </a:r>
            <a:r>
              <a:rPr sz="2244" b="1" dirty="0">
                <a:cs typeface="Trebuchet MS"/>
              </a:rPr>
              <a:t>exista algo </a:t>
            </a:r>
            <a:r>
              <a:rPr sz="2244" b="1" spc="3" dirty="0">
                <a:cs typeface="Trebuchet MS"/>
              </a:rPr>
              <a:t>de </a:t>
            </a:r>
            <a:r>
              <a:rPr sz="2244" b="1" dirty="0">
                <a:cs typeface="Trebuchet MS"/>
              </a:rPr>
              <a:t>incertidumbre no significa </a:t>
            </a:r>
            <a:r>
              <a:rPr sz="2244" b="1" spc="3" dirty="0">
                <a:cs typeface="Trebuchet MS"/>
              </a:rPr>
              <a:t>que </a:t>
            </a:r>
            <a:r>
              <a:rPr sz="2244" b="1" dirty="0">
                <a:cs typeface="Trebuchet MS"/>
              </a:rPr>
              <a:t>todo </a:t>
            </a:r>
            <a:r>
              <a:rPr sz="2244" b="1" spc="3" dirty="0">
                <a:cs typeface="Trebuchet MS"/>
              </a:rPr>
              <a:t>sea</a:t>
            </a:r>
            <a:r>
              <a:rPr sz="2244" b="1" spc="15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incierto.</a:t>
            </a:r>
            <a:endParaRPr sz="2244" dirty="0"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267" y="3428894"/>
            <a:ext cx="9604783" cy="3311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24975382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7220346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9" dirty="0">
                <a:latin typeface="+mn-lt"/>
              </a:rPr>
              <a:t>Incertidumbre </a:t>
            </a:r>
            <a:r>
              <a:rPr sz="3638" spc="-3" dirty="0">
                <a:latin typeface="+mn-lt"/>
              </a:rPr>
              <a:t>y</a:t>
            </a:r>
            <a:r>
              <a:rPr sz="3638" spc="-24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patrones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901" y="1442067"/>
            <a:ext cx="10642510" cy="184128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473640" indent="558343" algn="ctr">
              <a:lnSpc>
                <a:spcPct val="100299"/>
              </a:lnSpc>
              <a:spcBef>
                <a:spcPts val="3"/>
              </a:spcBef>
            </a:pPr>
            <a:r>
              <a:rPr lang="es-MX" sz="2244" dirty="0">
                <a:cs typeface="Trebuchet MS"/>
              </a:rPr>
              <a:t>¿Cuántos/as alumnos/as en el </a:t>
            </a:r>
            <a:r>
              <a:rPr lang="es-MX" sz="2244" spc="3" dirty="0">
                <a:cs typeface="Trebuchet MS"/>
              </a:rPr>
              <a:t>sistema </a:t>
            </a:r>
            <a:r>
              <a:rPr lang="es-MX" sz="2244" dirty="0">
                <a:cs typeface="Trebuchet MS"/>
              </a:rPr>
              <a:t>escolar chileno </a:t>
            </a:r>
            <a:r>
              <a:rPr lang="es-MX" sz="2244" spc="3" dirty="0">
                <a:cs typeface="Trebuchet MS"/>
              </a:rPr>
              <a:t>responderán  </a:t>
            </a:r>
            <a:r>
              <a:rPr lang="es-MX" sz="2244" dirty="0">
                <a:cs typeface="Trebuchet MS"/>
              </a:rPr>
              <a:t>correctamente el problema de matemática: 15 </a:t>
            </a:r>
            <a:r>
              <a:rPr lang="es-MX" sz="2244" spc="3" dirty="0">
                <a:cs typeface="Trebuchet MS"/>
              </a:rPr>
              <a:t>= </a:t>
            </a:r>
            <a:r>
              <a:rPr lang="es-MX" sz="2244" dirty="0">
                <a:cs typeface="Trebuchet MS"/>
              </a:rPr>
              <a:t>2x </a:t>
            </a:r>
            <a:r>
              <a:rPr lang="es-MX" sz="2244" spc="3" dirty="0">
                <a:cs typeface="Trebuchet MS"/>
              </a:rPr>
              <a:t>+</a:t>
            </a:r>
            <a:r>
              <a:rPr lang="es-MX" sz="2244" spc="-42" dirty="0">
                <a:cs typeface="Trebuchet MS"/>
              </a:rPr>
              <a:t> </a:t>
            </a:r>
            <a:r>
              <a:rPr lang="es-MX" sz="2244" spc="-3" dirty="0">
                <a:cs typeface="Trebuchet MS"/>
              </a:rPr>
              <a:t>6?</a:t>
            </a:r>
            <a:endParaRPr lang="es-MX" sz="2244" dirty="0">
              <a:cs typeface="Trebuchet MS"/>
            </a:endParaRP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 marL="56219" marR="3081" algn="ctr">
              <a:lnSpc>
                <a:spcPct val="100299"/>
              </a:lnSpc>
            </a:pPr>
            <a:r>
              <a:rPr lang="es-MX" sz="2426" b="1" spc="3" dirty="0">
                <a:cs typeface="Trebuchet MS"/>
              </a:rPr>
              <a:t>Es </a:t>
            </a:r>
            <a:r>
              <a:rPr lang="es-MX" sz="2426" b="1" dirty="0">
                <a:cs typeface="Trebuchet MS"/>
              </a:rPr>
              <a:t>posible identificar </a:t>
            </a:r>
            <a:r>
              <a:rPr lang="es-MX" sz="2426" b="1" spc="3" dirty="0">
                <a:cs typeface="Trebuchet MS"/>
              </a:rPr>
              <a:t>patrones en </a:t>
            </a:r>
            <a:r>
              <a:rPr lang="es-MX" sz="2426" b="1" dirty="0">
                <a:cs typeface="Trebuchet MS"/>
              </a:rPr>
              <a:t>el comportamiento </a:t>
            </a:r>
            <a:r>
              <a:rPr lang="es-MX" sz="2426" b="1" spc="3" dirty="0">
                <a:cs typeface="Trebuchet MS"/>
              </a:rPr>
              <a:t>de grandes </a:t>
            </a:r>
            <a:r>
              <a:rPr lang="es-MX" sz="2426" b="1" dirty="0">
                <a:cs typeface="Trebuchet MS"/>
              </a:rPr>
              <a:t>números </a:t>
            </a:r>
            <a:r>
              <a:rPr lang="es-MX" sz="2426" b="1" spc="3" dirty="0">
                <a:cs typeface="Trebuchet MS"/>
              </a:rPr>
              <a:t>de  </a:t>
            </a:r>
            <a:r>
              <a:rPr lang="es-MX" sz="2426" b="1" dirty="0">
                <a:cs typeface="Trebuchet MS"/>
              </a:rPr>
              <a:t>eventos </a:t>
            </a:r>
            <a:r>
              <a:rPr lang="es-MX" sz="2426" b="1" spc="3" dirty="0">
                <a:cs typeface="Trebuchet MS"/>
              </a:rPr>
              <a:t>que son </a:t>
            </a:r>
            <a:r>
              <a:rPr lang="es-MX" sz="2426" b="1" dirty="0">
                <a:cs typeface="Trebuchet MS"/>
              </a:rPr>
              <a:t>individualmente</a:t>
            </a:r>
            <a:r>
              <a:rPr lang="es-MX" sz="2426" b="1" spc="-9" dirty="0">
                <a:cs typeface="Trebuchet MS"/>
              </a:rPr>
              <a:t> </a:t>
            </a:r>
            <a:r>
              <a:rPr lang="es-MX" sz="2426" b="1" dirty="0">
                <a:cs typeface="Trebuchet MS"/>
              </a:rPr>
              <a:t>inciertos.</a:t>
            </a:r>
          </a:p>
        </p:txBody>
      </p:sp>
      <p:sp>
        <p:nvSpPr>
          <p:cNvPr id="4" name="object 4"/>
          <p:cNvSpPr/>
          <p:nvPr/>
        </p:nvSpPr>
        <p:spPr>
          <a:xfrm>
            <a:off x="895267" y="3428894"/>
            <a:ext cx="9604783" cy="3311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32629130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3" y="457098"/>
            <a:ext cx="7367440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Fuentes </a:t>
            </a:r>
            <a:r>
              <a:rPr sz="3638" spc="-6" dirty="0">
                <a:latin typeface="+mn-lt"/>
              </a:rPr>
              <a:t>de</a:t>
            </a:r>
            <a:r>
              <a:rPr sz="3638" spc="-39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incertidumbre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901" y="2135183"/>
            <a:ext cx="10848809" cy="252730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71202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cs typeface="Trebuchet MS"/>
              </a:rPr>
              <a:t>Hay muchas posibles fuentes de incertidumbre que pueden afectar la </a:t>
            </a:r>
            <a:r>
              <a:rPr sz="2244" spc="3" dirty="0">
                <a:cs typeface="Trebuchet MS"/>
              </a:rPr>
              <a:t>forma </a:t>
            </a:r>
            <a:r>
              <a:rPr sz="2244" dirty="0" err="1">
                <a:cs typeface="Trebuchet MS"/>
              </a:rPr>
              <a:t>en</a:t>
            </a:r>
            <a:r>
              <a:rPr sz="2244" dirty="0">
                <a:cs typeface="Trebuchet MS"/>
              </a:rPr>
              <a:t> la que tratamos de </a:t>
            </a:r>
            <a:r>
              <a:rPr sz="2244" spc="3" dirty="0">
                <a:cs typeface="Trebuchet MS"/>
              </a:rPr>
              <a:t>responder </a:t>
            </a:r>
            <a:r>
              <a:rPr sz="2244" dirty="0">
                <a:cs typeface="Trebuchet MS"/>
              </a:rPr>
              <a:t>una pregunta que nos interesa.</a:t>
            </a:r>
          </a:p>
          <a:p>
            <a:pPr>
              <a:spcBef>
                <a:spcPts val="6"/>
              </a:spcBef>
            </a:pPr>
            <a:endParaRPr lang="es-ES" sz="2577" dirty="0">
              <a:cs typeface="Trebuchet MS"/>
            </a:endParaRP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38891" marR="3081" algn="ctr">
              <a:lnSpc>
                <a:spcPct val="100299"/>
              </a:lnSpc>
            </a:pPr>
            <a:r>
              <a:rPr sz="2244" spc="3" dirty="0">
                <a:cs typeface="Trebuchet MS"/>
              </a:rPr>
              <a:t>Supongamos </a:t>
            </a:r>
            <a:r>
              <a:rPr sz="2244" dirty="0">
                <a:cs typeface="Trebuchet MS"/>
              </a:rPr>
              <a:t>que </a:t>
            </a:r>
            <a:r>
              <a:rPr sz="2244" spc="3" dirty="0">
                <a:cs typeface="Trebuchet MS"/>
              </a:rPr>
              <a:t>queremos saber </a:t>
            </a:r>
            <a:r>
              <a:rPr sz="2244" dirty="0">
                <a:cs typeface="Trebuchet MS"/>
              </a:rPr>
              <a:t>cuanta </a:t>
            </a:r>
            <a:r>
              <a:rPr sz="2244" spc="3" dirty="0" err="1">
                <a:cs typeface="Trebuchet MS"/>
              </a:rPr>
              <a:t>gente</a:t>
            </a:r>
            <a:r>
              <a:rPr sz="2244" spc="3" dirty="0">
                <a:cs typeface="Trebuchet MS"/>
              </a:rPr>
              <a:t> </a:t>
            </a:r>
            <a:r>
              <a:rPr sz="2244" spc="3" dirty="0" err="1">
                <a:cs typeface="Trebuchet MS"/>
              </a:rPr>
              <a:t>requ</a:t>
            </a:r>
            <a:r>
              <a:rPr lang="es-ES" sz="2244" spc="3" dirty="0" err="1">
                <a:cs typeface="Trebuchet MS"/>
              </a:rPr>
              <a:t>eriría</a:t>
            </a:r>
            <a:r>
              <a:rPr sz="2244" spc="3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de asistencia psicológica</a:t>
            </a:r>
            <a:r>
              <a:rPr sz="2244" spc="-55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en</a:t>
            </a:r>
            <a:r>
              <a:rPr sz="2244" dirty="0">
                <a:cs typeface="Trebuchet MS"/>
              </a:rPr>
              <a:t> Chile </a:t>
            </a:r>
            <a:r>
              <a:rPr lang="es-ES" sz="2244" dirty="0">
                <a:cs typeface="Trebuchet MS"/>
              </a:rPr>
              <a:t>durante una pandemia, </a:t>
            </a:r>
            <a:r>
              <a:rPr sz="2244" dirty="0">
                <a:cs typeface="Trebuchet MS"/>
              </a:rPr>
              <a:t>para poder determinar si hay muy pocos </a:t>
            </a:r>
            <a:r>
              <a:rPr sz="2244" spc="3" dirty="0">
                <a:cs typeface="Trebuchet MS"/>
              </a:rPr>
              <a:t>o </a:t>
            </a:r>
            <a:r>
              <a:rPr sz="2244" dirty="0">
                <a:cs typeface="Trebuchet MS"/>
              </a:rPr>
              <a:t>muchos psicólogos/as </a:t>
            </a:r>
            <a:r>
              <a:rPr sz="2244" dirty="0" err="1">
                <a:cs typeface="Trebuchet MS"/>
              </a:rPr>
              <a:t>clínicos</a:t>
            </a:r>
            <a:r>
              <a:rPr sz="2244" dirty="0">
                <a:cs typeface="Trebuchet MS"/>
              </a:rPr>
              <a:t>/as </a:t>
            </a:r>
            <a:r>
              <a:rPr sz="2244" dirty="0" err="1">
                <a:cs typeface="Trebuchet MS"/>
              </a:rPr>
              <a:t>disponibles</a:t>
            </a:r>
            <a:r>
              <a:rPr sz="2244" dirty="0">
                <a:cs typeface="Trebuchet MS"/>
              </a:rPr>
              <a:t> en el </a:t>
            </a:r>
            <a:r>
              <a:rPr sz="2244" dirty="0" err="1">
                <a:cs typeface="Trebuchet MS"/>
              </a:rPr>
              <a:t>mercado</a:t>
            </a:r>
            <a:r>
              <a:rPr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labora</a:t>
            </a:r>
            <a:r>
              <a:rPr lang="es-ES" sz="2244" dirty="0">
                <a:cs typeface="Trebuchet MS"/>
              </a:rPr>
              <a:t>l</a:t>
            </a:r>
            <a:r>
              <a:rPr sz="2244" spc="-12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Chileno.</a:t>
            </a:r>
          </a:p>
        </p:txBody>
      </p:sp>
    </p:spTree>
    <p:extLst>
      <p:ext uri="{BB962C8B-B14F-4D97-AF65-F5344CB8AC3E}">
        <p14:creationId xmlns:p14="http://schemas.microsoft.com/office/powerpoint/2010/main" val="6820834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7367055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Fuentes </a:t>
            </a:r>
            <a:r>
              <a:rPr sz="3638" spc="-6" dirty="0">
                <a:latin typeface="+mn-lt"/>
              </a:rPr>
              <a:t>de</a:t>
            </a:r>
            <a:r>
              <a:rPr sz="3638" spc="-30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incertidumbre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175" y="1526707"/>
            <a:ext cx="10869603" cy="4225362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031" spc="6" dirty="0">
                <a:cs typeface="Trebuchet MS"/>
              </a:rPr>
              <a:t>Algunas de las fuentes de </a:t>
            </a:r>
            <a:r>
              <a:rPr sz="2031" spc="3" dirty="0">
                <a:cs typeface="Trebuchet MS"/>
              </a:rPr>
              <a:t>incertidumbre </a:t>
            </a:r>
            <a:r>
              <a:rPr sz="2031" spc="6" dirty="0">
                <a:cs typeface="Trebuchet MS"/>
              </a:rPr>
              <a:t>que </a:t>
            </a:r>
            <a:r>
              <a:rPr sz="2031" spc="3" dirty="0">
                <a:cs typeface="Trebuchet MS"/>
              </a:rPr>
              <a:t>podrían afectar nuestras inferencias</a:t>
            </a:r>
            <a:r>
              <a:rPr sz="2031" spc="91" dirty="0">
                <a:cs typeface="Trebuchet MS"/>
              </a:rPr>
              <a:t> </a:t>
            </a:r>
            <a:r>
              <a:rPr sz="2031" spc="6" dirty="0">
                <a:cs typeface="Trebuchet MS"/>
              </a:rPr>
              <a:t>son:</a:t>
            </a:r>
            <a:endParaRPr sz="2031" dirty="0">
              <a:cs typeface="Trebuchet MS"/>
            </a:endParaRPr>
          </a:p>
          <a:p>
            <a:pPr>
              <a:spcBef>
                <a:spcPts val="30"/>
              </a:spcBef>
            </a:pPr>
            <a:endParaRPr sz="2335" dirty="0">
              <a:cs typeface="Trebuchet MS"/>
            </a:endParaRPr>
          </a:p>
          <a:p>
            <a:pPr marL="7701" marR="899510">
              <a:lnSpc>
                <a:spcPts val="2207"/>
              </a:lnSpc>
              <a:buAutoNum type="arabicPeriod"/>
              <a:tabLst>
                <a:tab pos="318063" algn="l"/>
              </a:tabLst>
            </a:pPr>
            <a:r>
              <a:rPr sz="2031" spc="3" dirty="0">
                <a:cs typeface="Trebuchet MS"/>
              </a:rPr>
              <a:t>Incertidumbre asociada </a:t>
            </a:r>
            <a:r>
              <a:rPr sz="2031" spc="6" dirty="0">
                <a:cs typeface="Trebuchet MS"/>
              </a:rPr>
              <a:t>a </a:t>
            </a:r>
            <a:r>
              <a:rPr sz="2031" spc="3" dirty="0">
                <a:cs typeface="Trebuchet MS"/>
              </a:rPr>
              <a:t>la </a:t>
            </a:r>
            <a:r>
              <a:rPr sz="2031" b="1" spc="6" dirty="0">
                <a:cs typeface="Trebuchet MS"/>
              </a:rPr>
              <a:t>definición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lo que </a:t>
            </a:r>
            <a:r>
              <a:rPr sz="2031" spc="6" dirty="0">
                <a:cs typeface="Trebuchet MS"/>
              </a:rPr>
              <a:t>se </a:t>
            </a:r>
            <a:r>
              <a:rPr sz="2031" spc="3" dirty="0">
                <a:cs typeface="Trebuchet MS"/>
              </a:rPr>
              <a:t>quiere </a:t>
            </a:r>
            <a:r>
              <a:rPr sz="2031" spc="6" dirty="0">
                <a:cs typeface="Trebuchet MS"/>
              </a:rPr>
              <a:t>saber: </a:t>
            </a:r>
            <a:r>
              <a:rPr sz="2031" spc="3" dirty="0">
                <a:cs typeface="Trebuchet MS"/>
              </a:rPr>
              <a:t>¿Qu</a:t>
            </a:r>
            <a:r>
              <a:rPr lang="es-ES" sz="2031" spc="3" dirty="0">
                <a:cs typeface="Trebuchet MS"/>
              </a:rPr>
              <a:t>é</a:t>
            </a:r>
            <a:r>
              <a:rPr sz="2031" spc="3" dirty="0">
                <a:cs typeface="Trebuchet MS"/>
              </a:rPr>
              <a:t> es </a:t>
            </a:r>
            <a:r>
              <a:rPr sz="2031" spc="6" dirty="0">
                <a:cs typeface="Trebuchet MS"/>
              </a:rPr>
              <a:t>requerir  </a:t>
            </a:r>
            <a:r>
              <a:rPr sz="2031" spc="3" dirty="0">
                <a:cs typeface="Trebuchet MS"/>
              </a:rPr>
              <a:t>asistencia</a:t>
            </a:r>
            <a:r>
              <a:rPr sz="2031" spc="12" dirty="0">
                <a:cs typeface="Trebuchet MS"/>
              </a:rPr>
              <a:t> </a:t>
            </a:r>
            <a:r>
              <a:rPr sz="2031" spc="3" dirty="0">
                <a:cs typeface="Trebuchet MS"/>
              </a:rPr>
              <a:t>psicológica?</a:t>
            </a:r>
            <a:endParaRPr sz="2031" dirty="0">
              <a:cs typeface="Trebuchet MS"/>
            </a:endParaRPr>
          </a:p>
          <a:p>
            <a:pPr>
              <a:spcBef>
                <a:spcPts val="30"/>
              </a:spcBef>
              <a:buClr>
                <a:srgbClr val="4E4F52"/>
              </a:buClr>
              <a:buFont typeface="Trebuchet MS"/>
              <a:buAutoNum type="arabicPeriod"/>
            </a:pPr>
            <a:endParaRPr sz="2274" dirty="0">
              <a:cs typeface="Trebuchet MS"/>
            </a:endParaRPr>
          </a:p>
          <a:p>
            <a:pPr marL="7701" marR="123991">
              <a:lnSpc>
                <a:spcPct val="90700"/>
              </a:lnSpc>
              <a:buAutoNum type="arabicPeriod"/>
              <a:tabLst>
                <a:tab pos="318063" algn="l"/>
              </a:tabLst>
            </a:pPr>
            <a:r>
              <a:rPr sz="2031" spc="3" dirty="0">
                <a:cs typeface="Trebuchet MS"/>
              </a:rPr>
              <a:t>Incertidumbre asociada al </a:t>
            </a:r>
            <a:r>
              <a:rPr sz="2031" b="1" spc="6" dirty="0">
                <a:cs typeface="Trebuchet MS"/>
              </a:rPr>
              <a:t>error de </a:t>
            </a:r>
            <a:r>
              <a:rPr sz="2031" b="1" spc="3" dirty="0">
                <a:cs typeface="Trebuchet MS"/>
              </a:rPr>
              <a:t>medición</a:t>
            </a:r>
            <a:r>
              <a:rPr sz="2031" spc="3" dirty="0">
                <a:cs typeface="Trebuchet MS"/>
              </a:rPr>
              <a:t>: Después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decidir que es </a:t>
            </a:r>
            <a:r>
              <a:rPr sz="2031" spc="6" dirty="0" err="1">
                <a:cs typeface="Trebuchet MS"/>
              </a:rPr>
              <a:t>requerir</a:t>
            </a:r>
            <a:r>
              <a:rPr sz="2031" spc="6" dirty="0">
                <a:cs typeface="Trebuchet MS"/>
              </a:rPr>
              <a:t> </a:t>
            </a:r>
            <a:r>
              <a:rPr sz="2031" spc="3" dirty="0">
                <a:cs typeface="Trebuchet MS"/>
              </a:rPr>
              <a:t>asistencia psicológica hay que identificar quienes caben </a:t>
            </a:r>
            <a:r>
              <a:rPr sz="2031" spc="6" dirty="0">
                <a:cs typeface="Trebuchet MS"/>
              </a:rPr>
              <a:t>en </a:t>
            </a:r>
            <a:r>
              <a:rPr sz="2031" spc="3" dirty="0">
                <a:cs typeface="Trebuchet MS"/>
              </a:rPr>
              <a:t>esa </a:t>
            </a:r>
            <a:r>
              <a:rPr sz="2031" spc="6" dirty="0">
                <a:cs typeface="Trebuchet MS"/>
              </a:rPr>
              <a:t>categoría y </a:t>
            </a:r>
            <a:r>
              <a:rPr sz="2031" spc="3" dirty="0">
                <a:cs typeface="Trebuchet MS"/>
              </a:rPr>
              <a:t>quienes no. </a:t>
            </a:r>
            <a:r>
              <a:rPr sz="2031" spc="6" dirty="0" err="1">
                <a:cs typeface="Trebuchet MS"/>
              </a:rPr>
              <a:t>Esto</a:t>
            </a:r>
            <a:r>
              <a:rPr sz="2031" spc="6" dirty="0">
                <a:cs typeface="Trebuchet MS"/>
              </a:rPr>
              <a:t> </a:t>
            </a:r>
            <a:r>
              <a:rPr sz="2031" spc="3" dirty="0">
                <a:cs typeface="Trebuchet MS"/>
              </a:rPr>
              <a:t>conlleva el uso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algún tipo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instrumento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medición el que por </a:t>
            </a:r>
            <a:r>
              <a:rPr sz="2031" spc="6" dirty="0">
                <a:cs typeface="Trebuchet MS"/>
              </a:rPr>
              <a:t>supuesto </a:t>
            </a:r>
            <a:r>
              <a:rPr sz="2031" spc="3" dirty="0">
                <a:cs typeface="Trebuchet MS"/>
              </a:rPr>
              <a:t>tendrá </a:t>
            </a:r>
            <a:r>
              <a:rPr sz="2031" spc="3" dirty="0" err="1">
                <a:cs typeface="Trebuchet MS"/>
              </a:rPr>
              <a:t>cierto</a:t>
            </a:r>
            <a:r>
              <a:rPr sz="2031" spc="3" dirty="0">
                <a:cs typeface="Trebuchet MS"/>
              </a:rPr>
              <a:t> error </a:t>
            </a:r>
            <a:r>
              <a:rPr sz="2031" spc="6" dirty="0">
                <a:cs typeface="Trebuchet MS"/>
              </a:rPr>
              <a:t>de</a:t>
            </a:r>
            <a:r>
              <a:rPr sz="2031" spc="15" dirty="0">
                <a:cs typeface="Trebuchet MS"/>
              </a:rPr>
              <a:t> </a:t>
            </a:r>
            <a:r>
              <a:rPr sz="2031" spc="3" dirty="0">
                <a:cs typeface="Trebuchet MS"/>
              </a:rPr>
              <a:t>medición.</a:t>
            </a:r>
            <a:endParaRPr sz="2031" dirty="0">
              <a:cs typeface="Trebuchet MS"/>
            </a:endParaRPr>
          </a:p>
          <a:p>
            <a:pPr>
              <a:spcBef>
                <a:spcPts val="27"/>
              </a:spcBef>
              <a:buClr>
                <a:srgbClr val="4E4F52"/>
              </a:buClr>
              <a:buFont typeface="Trebuchet MS"/>
              <a:buAutoNum type="arabicPeriod"/>
            </a:pPr>
            <a:endParaRPr sz="2304" dirty="0">
              <a:cs typeface="Trebuchet MS"/>
            </a:endParaRPr>
          </a:p>
          <a:p>
            <a:pPr marL="7701" marR="3081">
              <a:lnSpc>
                <a:spcPct val="90700"/>
              </a:lnSpc>
              <a:buAutoNum type="arabicPeriod"/>
              <a:tabLst>
                <a:tab pos="318063" algn="l"/>
              </a:tabLst>
            </a:pPr>
            <a:r>
              <a:rPr sz="2031" spc="3" dirty="0">
                <a:cs typeface="Trebuchet MS"/>
              </a:rPr>
              <a:t>Incertidumbre asociada </a:t>
            </a:r>
            <a:r>
              <a:rPr sz="2031" spc="6" dirty="0">
                <a:cs typeface="Trebuchet MS"/>
              </a:rPr>
              <a:t>a </a:t>
            </a:r>
            <a:r>
              <a:rPr sz="2031" spc="3" dirty="0">
                <a:cs typeface="Trebuchet MS"/>
              </a:rPr>
              <a:t>la </a:t>
            </a:r>
            <a:r>
              <a:rPr sz="2031" b="1" spc="3" dirty="0">
                <a:cs typeface="Trebuchet MS"/>
              </a:rPr>
              <a:t>muestra</a:t>
            </a:r>
            <a:r>
              <a:rPr sz="2031" spc="3" dirty="0">
                <a:cs typeface="Trebuchet MS"/>
              </a:rPr>
              <a:t>: Habiendo definido que </a:t>
            </a:r>
            <a:r>
              <a:rPr sz="2031" spc="6" dirty="0">
                <a:cs typeface="Trebuchet MS"/>
              </a:rPr>
              <a:t>se </a:t>
            </a:r>
            <a:r>
              <a:rPr sz="2031" spc="3" dirty="0">
                <a:cs typeface="Trebuchet MS"/>
              </a:rPr>
              <a:t>quería medir </a:t>
            </a:r>
            <a:r>
              <a:rPr sz="2031" spc="6" dirty="0">
                <a:cs typeface="Trebuchet MS"/>
              </a:rPr>
              <a:t>y </a:t>
            </a:r>
            <a:r>
              <a:rPr sz="2031" spc="3" dirty="0">
                <a:cs typeface="Trebuchet MS"/>
              </a:rPr>
              <a:t>elegido un  instrumento tenemos que enfrentar el hecho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que es </a:t>
            </a:r>
            <a:r>
              <a:rPr sz="2031" dirty="0">
                <a:cs typeface="Trebuchet MS"/>
              </a:rPr>
              <a:t>difícil </a:t>
            </a:r>
            <a:r>
              <a:rPr sz="2031" spc="3" dirty="0">
                <a:cs typeface="Trebuchet MS"/>
              </a:rPr>
              <a:t>medir </a:t>
            </a:r>
            <a:r>
              <a:rPr sz="2031" spc="6" dirty="0">
                <a:cs typeface="Trebuchet MS"/>
              </a:rPr>
              <a:t>A TODOS/AS </a:t>
            </a:r>
            <a:r>
              <a:rPr sz="2031" spc="3" dirty="0">
                <a:cs typeface="Trebuchet MS"/>
              </a:rPr>
              <a:t>los/as chilenos/as. Recolectar datos implicaría </a:t>
            </a:r>
            <a:r>
              <a:rPr sz="2031" spc="6" dirty="0">
                <a:cs typeface="Trebuchet MS"/>
              </a:rPr>
              <a:t>el obtener </a:t>
            </a:r>
            <a:r>
              <a:rPr sz="2031" spc="3" dirty="0">
                <a:cs typeface="Trebuchet MS"/>
              </a:rPr>
              <a:t>una muestra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chilenos/as (bajo ciertos  criterios), pero intuitivamente </a:t>
            </a:r>
            <a:r>
              <a:rPr sz="2031" spc="6" dirty="0">
                <a:cs typeface="Trebuchet MS"/>
              </a:rPr>
              <a:t>podemos </a:t>
            </a:r>
            <a:r>
              <a:rPr sz="2031" spc="3" dirty="0">
                <a:cs typeface="Trebuchet MS"/>
              </a:rPr>
              <a:t>imaginar </a:t>
            </a:r>
            <a:r>
              <a:rPr sz="2031" spc="6" dirty="0">
                <a:cs typeface="Trebuchet MS"/>
              </a:rPr>
              <a:t>que no </a:t>
            </a:r>
            <a:r>
              <a:rPr sz="2031" spc="3" dirty="0">
                <a:cs typeface="Trebuchet MS"/>
              </a:rPr>
              <a:t>todas </a:t>
            </a:r>
            <a:r>
              <a:rPr sz="2031" spc="6" dirty="0">
                <a:cs typeface="Trebuchet MS"/>
              </a:rPr>
              <a:t>las </a:t>
            </a:r>
            <a:r>
              <a:rPr sz="2031" spc="3" dirty="0">
                <a:cs typeface="Trebuchet MS"/>
              </a:rPr>
              <a:t>muestras </a:t>
            </a:r>
            <a:r>
              <a:rPr sz="2031" spc="6" dirty="0">
                <a:cs typeface="Trebuchet MS"/>
              </a:rPr>
              <a:t>de </a:t>
            </a:r>
            <a:r>
              <a:rPr sz="2031" spc="3" dirty="0">
                <a:cs typeface="Trebuchet MS"/>
              </a:rPr>
              <a:t>chileno/as  arrojaran los mismos</a:t>
            </a:r>
            <a:r>
              <a:rPr sz="2031" spc="30" dirty="0">
                <a:cs typeface="Trebuchet MS"/>
              </a:rPr>
              <a:t> </a:t>
            </a:r>
            <a:r>
              <a:rPr sz="2031" spc="3" dirty="0">
                <a:cs typeface="Trebuchet MS"/>
              </a:rPr>
              <a:t>resultados.</a:t>
            </a:r>
            <a:endParaRPr sz="2031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232170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3568" y="887574"/>
            <a:ext cx="10119497" cy="339280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spcBef>
                <a:spcPts val="58"/>
              </a:spcBef>
            </a:pPr>
            <a:r>
              <a:rPr lang="es-MX" sz="2426" spc="3" dirty="0"/>
              <a:t>El objetivo de la </a:t>
            </a:r>
            <a:r>
              <a:rPr lang="es-MX" sz="2426" b="1" spc="3" dirty="0">
                <a:cs typeface="Trebuchet MS"/>
              </a:rPr>
              <a:t>estadística </a:t>
            </a:r>
            <a:r>
              <a:rPr lang="es-MX" sz="2426" b="1" dirty="0">
                <a:cs typeface="Trebuchet MS"/>
              </a:rPr>
              <a:t>inferencial </a:t>
            </a:r>
            <a:r>
              <a:rPr lang="es-MX" sz="2426" spc="3" dirty="0"/>
              <a:t>es </a:t>
            </a:r>
            <a:r>
              <a:rPr lang="es-MX" sz="2426" dirty="0"/>
              <a:t>conocer </a:t>
            </a:r>
            <a:r>
              <a:rPr lang="es-MX" sz="2426" spc="3" dirty="0"/>
              <a:t>aspectos de la </a:t>
            </a:r>
            <a:r>
              <a:rPr lang="es-MX" sz="2426" spc="6" dirty="0"/>
              <a:t>población </a:t>
            </a:r>
            <a:r>
              <a:rPr lang="es-MX" sz="2426" i="1" spc="6" dirty="0">
                <a:cs typeface="Trebuchet MS"/>
              </a:rPr>
              <a:t>con un </a:t>
            </a:r>
            <a:r>
              <a:rPr lang="es-MX" sz="2426" i="1" dirty="0">
                <a:cs typeface="Trebuchet MS"/>
              </a:rPr>
              <a:t>nivel </a:t>
            </a:r>
            <a:r>
              <a:rPr lang="es-MX" sz="2426" i="1" spc="3" dirty="0">
                <a:cs typeface="Trebuchet MS"/>
              </a:rPr>
              <a:t>de error</a:t>
            </a:r>
            <a:r>
              <a:rPr lang="es-MX" sz="2426" i="1" spc="-15" dirty="0">
                <a:cs typeface="Trebuchet MS"/>
              </a:rPr>
              <a:t> </a:t>
            </a:r>
            <a:r>
              <a:rPr lang="es-MX" sz="2426" i="1" spc="3" dirty="0">
                <a:cs typeface="Trebuchet MS"/>
              </a:rPr>
              <a:t>cuantificado</a:t>
            </a:r>
          </a:p>
          <a:p>
            <a:pPr marL="7701" marR="3081">
              <a:spcBef>
                <a:spcPts val="58"/>
              </a:spcBef>
            </a:pPr>
            <a:endParaRPr lang="es-MX" sz="2426" i="1" spc="3" dirty="0">
              <a:cs typeface="Trebuchet MS"/>
            </a:endParaRPr>
          </a:p>
          <a:p>
            <a:pPr marL="7701" marR="3081">
              <a:spcBef>
                <a:spcPts val="58"/>
              </a:spcBef>
            </a:pPr>
            <a:r>
              <a:rPr sz="2426" spc="-3" dirty="0">
                <a:cs typeface="Trebuchet MS"/>
              </a:rPr>
              <a:t>Si no </a:t>
            </a:r>
            <a:r>
              <a:rPr sz="2426" spc="-3" dirty="0" err="1">
                <a:cs typeface="Trebuchet MS"/>
              </a:rPr>
              <a:t>podemos</a:t>
            </a:r>
            <a:r>
              <a:rPr sz="2426" spc="-3" dirty="0">
                <a:cs typeface="Trebuchet MS"/>
              </a:rPr>
              <a:t> </a:t>
            </a:r>
            <a:r>
              <a:rPr sz="2426" spc="-6" dirty="0" err="1">
                <a:cs typeface="Trebuchet MS"/>
              </a:rPr>
              <a:t>medir</a:t>
            </a:r>
            <a:r>
              <a:rPr sz="2426" spc="-6" dirty="0">
                <a:cs typeface="Trebuchet MS"/>
              </a:rPr>
              <a:t> </a:t>
            </a:r>
            <a:r>
              <a:rPr sz="2426" spc="-3" dirty="0">
                <a:cs typeface="Trebuchet MS"/>
              </a:rPr>
              <a:t>a la </a:t>
            </a:r>
            <a:r>
              <a:rPr sz="2426" spc="-6" dirty="0">
                <a:cs typeface="Trebuchet MS"/>
              </a:rPr>
              <a:t>población </a:t>
            </a:r>
            <a:r>
              <a:rPr sz="2426" spc="-6" dirty="0" err="1">
                <a:cs typeface="Trebuchet MS"/>
              </a:rPr>
              <a:t>completa</a:t>
            </a:r>
            <a:r>
              <a:rPr sz="2426" spc="-6" dirty="0">
                <a:cs typeface="Trebuchet MS"/>
              </a:rPr>
              <a:t>, </a:t>
            </a:r>
            <a:r>
              <a:rPr sz="2426" spc="-6" dirty="0" err="1">
                <a:cs typeface="Trebuchet MS"/>
              </a:rPr>
              <a:t>nunca</a:t>
            </a:r>
            <a:r>
              <a:rPr sz="2426" spc="-6" dirty="0">
                <a:cs typeface="Trebuchet MS"/>
              </a:rPr>
              <a:t> </a:t>
            </a:r>
            <a:r>
              <a:rPr sz="2426" spc="-6" dirty="0" err="1">
                <a:cs typeface="Trebuchet MS"/>
              </a:rPr>
              <a:t>podremos</a:t>
            </a:r>
            <a:r>
              <a:rPr sz="2426" spc="-6" dirty="0">
                <a:cs typeface="Trebuchet MS"/>
              </a:rPr>
              <a:t> </a:t>
            </a:r>
            <a:r>
              <a:rPr sz="2426" spc="-3" dirty="0">
                <a:cs typeface="Trebuchet MS"/>
              </a:rPr>
              <a:t>saber con </a:t>
            </a:r>
            <a:r>
              <a:rPr sz="2426" spc="-3" dirty="0" err="1">
                <a:cs typeface="Trebuchet MS"/>
              </a:rPr>
              <a:t>seguridad</a:t>
            </a:r>
            <a:r>
              <a:rPr sz="2426" spc="-3" dirty="0">
                <a:cs typeface="Trebuchet MS"/>
              </a:rPr>
              <a:t> el valor </a:t>
            </a:r>
            <a:r>
              <a:rPr sz="2426" spc="-6" dirty="0">
                <a:cs typeface="Trebuchet MS"/>
              </a:rPr>
              <a:t>de </a:t>
            </a:r>
            <a:r>
              <a:rPr sz="2426" spc="-6" dirty="0" err="1">
                <a:cs typeface="Trebuchet MS"/>
              </a:rPr>
              <a:t>distintos</a:t>
            </a:r>
            <a:r>
              <a:rPr sz="2426" spc="-6" dirty="0">
                <a:cs typeface="Trebuchet MS"/>
              </a:rPr>
              <a:t> </a:t>
            </a:r>
            <a:r>
              <a:rPr sz="2426" spc="-6" dirty="0" err="1">
                <a:cs typeface="Trebuchet MS"/>
              </a:rPr>
              <a:t>parámetros</a:t>
            </a:r>
            <a:r>
              <a:rPr sz="2426" spc="-6" dirty="0">
                <a:cs typeface="Trebuchet MS"/>
              </a:rPr>
              <a:t> (el </a:t>
            </a:r>
            <a:r>
              <a:rPr sz="2426" spc="-6" dirty="0" err="1">
                <a:cs typeface="Trebuchet MS"/>
              </a:rPr>
              <a:t>promedio</a:t>
            </a:r>
            <a:r>
              <a:rPr sz="2426" spc="-6" dirty="0">
                <a:cs typeface="Trebuchet MS"/>
              </a:rPr>
              <a:t> </a:t>
            </a:r>
            <a:r>
              <a:rPr sz="2426" spc="-3" dirty="0">
                <a:cs typeface="Trebuchet MS"/>
              </a:rPr>
              <a:t>de </a:t>
            </a:r>
            <a:r>
              <a:rPr sz="2426" spc="-3" dirty="0" err="1">
                <a:cs typeface="Trebuchet MS"/>
              </a:rPr>
              <a:t>empatía</a:t>
            </a:r>
            <a:r>
              <a:rPr sz="2426" spc="-3" dirty="0">
                <a:cs typeface="Trebuchet MS"/>
              </a:rPr>
              <a:t>, la </a:t>
            </a:r>
            <a:r>
              <a:rPr sz="2426" spc="-6" dirty="0" err="1">
                <a:cs typeface="Trebuchet MS"/>
              </a:rPr>
              <a:t>cantidad</a:t>
            </a:r>
            <a:r>
              <a:rPr sz="2426" spc="-6" dirty="0">
                <a:cs typeface="Trebuchet MS"/>
              </a:rPr>
              <a:t> de </a:t>
            </a:r>
            <a:r>
              <a:rPr sz="2426" spc="-3" dirty="0">
                <a:cs typeface="Trebuchet MS"/>
              </a:rPr>
              <a:t>personas </a:t>
            </a:r>
            <a:r>
              <a:rPr sz="2426" spc="-3" dirty="0" err="1">
                <a:cs typeface="Trebuchet MS"/>
              </a:rPr>
              <a:t>solteras</a:t>
            </a:r>
            <a:r>
              <a:rPr sz="2426" spc="-3" dirty="0">
                <a:cs typeface="Trebuchet MS"/>
              </a:rPr>
              <a:t>,</a:t>
            </a:r>
            <a:r>
              <a:rPr sz="2426" spc="18" dirty="0">
                <a:cs typeface="Trebuchet MS"/>
              </a:rPr>
              <a:t> </a:t>
            </a:r>
            <a:r>
              <a:rPr sz="2426" spc="-6" dirty="0">
                <a:cs typeface="Trebuchet MS"/>
              </a:rPr>
              <a:t>etc.)</a:t>
            </a:r>
            <a:endParaRPr sz="2426" dirty="0">
              <a:cs typeface="Trebuchet MS"/>
            </a:endParaRPr>
          </a:p>
          <a:p>
            <a:pPr>
              <a:spcBef>
                <a:spcPts val="30"/>
              </a:spcBef>
            </a:pPr>
            <a:endParaRPr sz="2426" dirty="0">
              <a:cs typeface="Trebuchet MS"/>
            </a:endParaRPr>
          </a:p>
          <a:p>
            <a:pPr marL="7701" marR="638051"/>
            <a:r>
              <a:rPr sz="2426" spc="-3" dirty="0">
                <a:cs typeface="Trebuchet MS"/>
              </a:rPr>
              <a:t>Pero si obtenemos </a:t>
            </a:r>
            <a:r>
              <a:rPr sz="2426" spc="-6" dirty="0">
                <a:cs typeface="Trebuchet MS"/>
              </a:rPr>
              <a:t>una muestra </a:t>
            </a:r>
            <a:r>
              <a:rPr sz="2426" spc="-3" dirty="0">
                <a:cs typeface="Trebuchet MS"/>
              </a:rPr>
              <a:t>al </a:t>
            </a:r>
            <a:r>
              <a:rPr sz="2426" spc="-6" dirty="0">
                <a:cs typeface="Trebuchet MS"/>
              </a:rPr>
              <a:t>azar, </a:t>
            </a:r>
            <a:r>
              <a:rPr sz="2426" spc="-3" dirty="0">
                <a:cs typeface="Trebuchet MS"/>
              </a:rPr>
              <a:t>podemos </a:t>
            </a:r>
            <a:r>
              <a:rPr sz="2426" b="1" i="1" spc="-3" dirty="0">
                <a:cs typeface="Trebuchet MS"/>
              </a:rPr>
              <a:t>estimar </a:t>
            </a:r>
            <a:r>
              <a:rPr sz="2426" spc="-6" dirty="0" err="1">
                <a:cs typeface="Trebuchet MS"/>
              </a:rPr>
              <a:t>estos</a:t>
            </a:r>
            <a:r>
              <a:rPr sz="2426" spc="-6" dirty="0">
                <a:cs typeface="Trebuchet MS"/>
              </a:rPr>
              <a:t> </a:t>
            </a:r>
            <a:r>
              <a:rPr sz="2426" spc="-6" dirty="0" err="1">
                <a:cs typeface="Trebuchet MS"/>
              </a:rPr>
              <a:t>parámetros</a:t>
            </a:r>
            <a:r>
              <a:rPr sz="2426" spc="-6" dirty="0">
                <a:cs typeface="Trebuchet MS"/>
              </a:rPr>
              <a:t>, con un nivel </a:t>
            </a:r>
            <a:r>
              <a:rPr sz="2426" spc="-3" dirty="0">
                <a:cs typeface="Trebuchet MS"/>
              </a:rPr>
              <a:t>de </a:t>
            </a:r>
            <a:r>
              <a:rPr sz="2426" spc="-6" dirty="0">
                <a:cs typeface="Trebuchet MS"/>
              </a:rPr>
              <a:t>confianza </a:t>
            </a:r>
            <a:r>
              <a:rPr sz="2426" spc="-3" dirty="0">
                <a:cs typeface="Trebuchet MS"/>
              </a:rPr>
              <a:t>cuantificado (ej.</a:t>
            </a:r>
            <a:r>
              <a:rPr sz="2426" spc="64" dirty="0">
                <a:cs typeface="Trebuchet MS"/>
              </a:rPr>
              <a:t> </a:t>
            </a:r>
            <a:r>
              <a:rPr sz="2426" spc="-6" dirty="0">
                <a:cs typeface="Trebuchet MS"/>
              </a:rPr>
              <a:t>95%).</a:t>
            </a:r>
            <a:endParaRPr sz="2426" dirty="0"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5392" y="4993798"/>
            <a:ext cx="1961519" cy="50325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851" rIns="0" bIns="0" rtlCol="0">
            <a:spAutoFit/>
          </a:bodyPr>
          <a:lstStyle/>
          <a:p>
            <a:pPr>
              <a:spcBef>
                <a:spcPts val="30"/>
              </a:spcBef>
            </a:pPr>
            <a:endParaRPr lang="es-CL" sz="1759" dirty="0">
              <a:latin typeface="Times New Roman"/>
              <a:cs typeface="Times New Roman"/>
            </a:endParaRPr>
          </a:p>
          <a:p>
            <a:pPr marL="615332"/>
            <a:r>
              <a:rPr sz="1486" b="1" spc="6" dirty="0" err="1">
                <a:solidFill>
                  <a:srgbClr val="FFFFFF"/>
                </a:solidFill>
                <a:latin typeface="Arial"/>
                <a:cs typeface="Arial"/>
              </a:rPr>
              <a:t>Muestra</a:t>
            </a:r>
            <a:endParaRPr sz="1486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2604" y="5022751"/>
            <a:ext cx="1961519" cy="50325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851" rIns="0" bIns="0" rtlCol="0">
            <a:spAutoFit/>
          </a:bodyPr>
          <a:lstStyle/>
          <a:p>
            <a:pPr>
              <a:spcBef>
                <a:spcPts val="30"/>
              </a:spcBef>
            </a:pPr>
            <a:endParaRPr sz="1759">
              <a:latin typeface="Times New Roman"/>
              <a:cs typeface="Times New Roman"/>
            </a:endParaRPr>
          </a:p>
          <a:p>
            <a:pPr marL="525227"/>
            <a:r>
              <a:rPr sz="1486" b="1" spc="6" dirty="0">
                <a:solidFill>
                  <a:srgbClr val="FFFFFF"/>
                </a:solidFill>
                <a:latin typeface="Arial"/>
                <a:cs typeface="Arial"/>
              </a:rPr>
              <a:t>Población</a:t>
            </a:r>
            <a:endParaRPr sz="148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3441" y="4873201"/>
            <a:ext cx="1803642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6" dirty="0">
                <a:latin typeface="Arial"/>
                <a:cs typeface="Arial"/>
              </a:rPr>
              <a:t>inferencias sobre</a:t>
            </a:r>
            <a:r>
              <a:rPr sz="1486" b="1" spc="-49" dirty="0">
                <a:latin typeface="Arial"/>
                <a:cs typeface="Arial"/>
              </a:rPr>
              <a:t> </a:t>
            </a:r>
            <a:r>
              <a:rPr sz="1486" b="1" spc="3" dirty="0">
                <a:latin typeface="Arial"/>
                <a:cs typeface="Arial"/>
              </a:rPr>
              <a:t>la</a:t>
            </a:r>
            <a:endParaRPr sz="1486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1514" y="5447156"/>
            <a:ext cx="2239536" cy="66616"/>
          </a:xfrm>
          <a:custGeom>
            <a:avLst/>
            <a:gdLst/>
            <a:ahLst/>
            <a:cxnLst/>
            <a:rect l="l" t="t" r="r" b="b"/>
            <a:pathLst>
              <a:path w="3693159" h="109854">
                <a:moveTo>
                  <a:pt x="3583765" y="0"/>
                </a:moveTo>
                <a:lnTo>
                  <a:pt x="3583765" y="109316"/>
                </a:lnTo>
                <a:lnTo>
                  <a:pt x="3656642" y="72877"/>
                </a:lnTo>
                <a:lnTo>
                  <a:pt x="3601984" y="72877"/>
                </a:lnTo>
                <a:lnTo>
                  <a:pt x="3601984" y="36438"/>
                </a:lnTo>
                <a:lnTo>
                  <a:pt x="3656642" y="36438"/>
                </a:lnTo>
                <a:lnTo>
                  <a:pt x="3583765" y="0"/>
                </a:lnTo>
                <a:close/>
              </a:path>
              <a:path w="3693159" h="109854">
                <a:moveTo>
                  <a:pt x="3583765" y="36438"/>
                </a:moveTo>
                <a:lnTo>
                  <a:pt x="0" y="36438"/>
                </a:lnTo>
                <a:lnTo>
                  <a:pt x="0" y="72877"/>
                </a:lnTo>
                <a:lnTo>
                  <a:pt x="3583765" y="72877"/>
                </a:lnTo>
                <a:lnTo>
                  <a:pt x="3583765" y="36438"/>
                </a:lnTo>
                <a:close/>
              </a:path>
              <a:path w="3693159" h="109854">
                <a:moveTo>
                  <a:pt x="3656642" y="36438"/>
                </a:moveTo>
                <a:lnTo>
                  <a:pt x="3601984" y="36438"/>
                </a:lnTo>
                <a:lnTo>
                  <a:pt x="3601984" y="72877"/>
                </a:lnTo>
                <a:lnTo>
                  <a:pt x="3656642" y="72877"/>
                </a:lnTo>
                <a:lnTo>
                  <a:pt x="3693081" y="54658"/>
                </a:lnTo>
                <a:lnTo>
                  <a:pt x="3656642" y="36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33418849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B859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3554574" y="3567623"/>
            <a:ext cx="6245184" cy="51370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3275" spc="3" dirty="0">
                <a:solidFill>
                  <a:srgbClr val="FFFFFF"/>
                </a:solidFill>
                <a:cs typeface="Calibri Light" panose="020F0302020204030204" pitchFamily="34" charset="0"/>
              </a:rPr>
              <a:t>Cuantificando </a:t>
            </a:r>
            <a:r>
              <a:rPr sz="3275" spc="6" dirty="0">
                <a:solidFill>
                  <a:srgbClr val="FFFFFF"/>
                </a:solidFill>
                <a:cs typeface="Calibri Light" panose="020F0302020204030204" pitchFamily="34" charset="0"/>
              </a:rPr>
              <a:t>la</a:t>
            </a:r>
            <a:r>
              <a:rPr sz="3275" spc="-12" dirty="0">
                <a:solidFill>
                  <a:srgbClr val="FFFFFF"/>
                </a:solidFill>
                <a:cs typeface="Calibri Light" panose="020F0302020204030204" pitchFamily="34" charset="0"/>
              </a:rPr>
              <a:t> </a:t>
            </a:r>
            <a:r>
              <a:rPr sz="3275" spc="6" dirty="0">
                <a:solidFill>
                  <a:srgbClr val="FFFFFF"/>
                </a:solidFill>
                <a:cs typeface="Calibri Light" panose="020F0302020204030204" pitchFamily="34" charset="0"/>
              </a:rPr>
              <a:t>incertidumbre</a:t>
            </a:r>
            <a:endParaRPr sz="3275" dirty="0">
              <a:cs typeface="Calibri Light" panose="020F0302020204030204" pitchFamily="34" charset="0"/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4617352" y="2135183"/>
            <a:ext cx="3465581" cy="69984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>
            <a:lvl1pPr>
              <a:defRPr sz="7400" b="1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7701">
              <a:spcBef>
                <a:spcPts val="73"/>
              </a:spcBef>
            </a:pPr>
            <a:r>
              <a:rPr lang="es-CL" sz="4487" kern="0" spc="3" dirty="0">
                <a:solidFill>
                  <a:srgbClr val="FFFFFF"/>
                </a:solidFill>
                <a:latin typeface="+mn-lt"/>
                <a:cs typeface="Calibri Light" panose="020F0302020204030204" pitchFamily="34" charset="0"/>
              </a:rPr>
              <a:t>Probabilidad</a:t>
            </a:r>
            <a:endParaRPr lang="es-CL" sz="4487" kern="0" dirty="0">
              <a:latin typeface="+mn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6788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2049" y="2447961"/>
            <a:ext cx="3381450" cy="19620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8436" y="978482"/>
            <a:ext cx="7829518" cy="330501"/>
          </a:xfrm>
          <a:prstGeom prst="rect">
            <a:avLst/>
          </a:prstGeom>
        </p:spPr>
        <p:txBody>
          <a:bodyPr vert="horz" wrap="square" lIns="0" tIns="847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7"/>
              </a:spcBef>
            </a:pPr>
            <a:r>
              <a:rPr sz="2092" spc="3" dirty="0">
                <a:solidFill>
                  <a:srgbClr val="4E4F52"/>
                </a:solidFill>
                <a:latin typeface="+mn-lt"/>
              </a:rPr>
              <a:t>En </a:t>
            </a:r>
            <a:r>
              <a:rPr sz="2092" dirty="0">
                <a:solidFill>
                  <a:srgbClr val="4E4F52"/>
                </a:solidFill>
                <a:latin typeface="+mn-lt"/>
              </a:rPr>
              <a:t>este experimento aleatorio ambos </a:t>
            </a:r>
            <a:r>
              <a:rPr sz="2092" spc="3" dirty="0">
                <a:solidFill>
                  <a:srgbClr val="4E4F52"/>
                </a:solidFill>
                <a:latin typeface="+mn-lt"/>
              </a:rPr>
              <a:t>resultados </a:t>
            </a:r>
            <a:r>
              <a:rPr sz="2092" dirty="0">
                <a:solidFill>
                  <a:srgbClr val="4E4F52"/>
                </a:solidFill>
                <a:latin typeface="+mn-lt"/>
              </a:rPr>
              <a:t>pueden</a:t>
            </a:r>
            <a:r>
              <a:rPr sz="2092" spc="-9" dirty="0">
                <a:solidFill>
                  <a:srgbClr val="4E4F52"/>
                </a:solidFill>
                <a:latin typeface="+mn-lt"/>
              </a:rPr>
              <a:t> </a:t>
            </a:r>
            <a:r>
              <a:rPr sz="2092" spc="3" dirty="0">
                <a:solidFill>
                  <a:srgbClr val="4E4F52"/>
                </a:solidFill>
                <a:latin typeface="+mn-lt"/>
              </a:rPr>
              <a:t>ocurrir…</a:t>
            </a:r>
            <a:endParaRPr sz="2092">
              <a:latin typeface="+mn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9042" y="5536595"/>
            <a:ext cx="7653361" cy="330501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  <a:tabLst>
                <a:tab pos="3186020" algn="l"/>
                <a:tab pos="6822179" algn="l"/>
              </a:tabLst>
            </a:pPr>
            <a:r>
              <a:rPr sz="2092" dirty="0">
                <a:solidFill>
                  <a:srgbClr val="4E4F52"/>
                </a:solidFill>
                <a:cs typeface="Trebuchet MS"/>
              </a:rPr>
              <a:t>¿</a:t>
            </a:r>
            <a:r>
              <a:rPr lang="es-ES" sz="2092" dirty="0">
                <a:solidFill>
                  <a:srgbClr val="4E4F52"/>
                </a:solidFill>
                <a:cs typeface="Trebuchet MS"/>
              </a:rPr>
              <a:t>E</a:t>
            </a:r>
            <a:r>
              <a:rPr sz="2092" dirty="0">
                <a:solidFill>
                  <a:srgbClr val="4E4F52"/>
                </a:solidFill>
                <a:cs typeface="Trebuchet MS"/>
              </a:rPr>
              <a:t>n que medida</a:t>
            </a:r>
            <a:r>
              <a:rPr sz="2092" spc="24" dirty="0">
                <a:solidFill>
                  <a:srgbClr val="4E4F52"/>
                </a:solidFill>
                <a:cs typeface="Trebuchet MS"/>
              </a:rPr>
              <a:t> </a:t>
            </a:r>
            <a:r>
              <a:rPr sz="2092" dirty="0" err="1">
                <a:solidFill>
                  <a:srgbClr val="4E4F52"/>
                </a:solidFill>
                <a:cs typeface="Trebuchet MS"/>
              </a:rPr>
              <a:t>puedo</a:t>
            </a:r>
            <a:r>
              <a:rPr sz="2092" spc="9" dirty="0">
                <a:solidFill>
                  <a:srgbClr val="4E4F52"/>
                </a:solidFill>
                <a:cs typeface="Trebuchet MS"/>
              </a:rPr>
              <a:t> </a:t>
            </a:r>
            <a:r>
              <a:rPr sz="2092" dirty="0" err="1">
                <a:solidFill>
                  <a:srgbClr val="4E4F52"/>
                </a:solidFill>
                <a:cs typeface="Trebuchet MS"/>
              </a:rPr>
              <a:t>esperar</a:t>
            </a:r>
            <a:r>
              <a:rPr lang="es-ES" sz="2092" dirty="0">
                <a:solidFill>
                  <a:srgbClr val="4E4F52"/>
                </a:solidFill>
                <a:cs typeface="Trebuchet MS"/>
              </a:rPr>
              <a:t> </a:t>
            </a:r>
            <a:r>
              <a:rPr sz="2092" spc="3" dirty="0" err="1">
                <a:solidFill>
                  <a:srgbClr val="4E4F52"/>
                </a:solidFill>
                <a:cs typeface="Trebuchet MS"/>
              </a:rPr>
              <a:t>ver</a:t>
            </a:r>
            <a:r>
              <a:rPr sz="2092" spc="3" dirty="0">
                <a:solidFill>
                  <a:srgbClr val="4E4F52"/>
                </a:solidFill>
                <a:cs typeface="Trebuchet MS"/>
              </a:rPr>
              <a:t> </a:t>
            </a:r>
            <a:r>
              <a:rPr sz="2092" dirty="0">
                <a:solidFill>
                  <a:srgbClr val="4E4F52"/>
                </a:solidFill>
                <a:cs typeface="Trebuchet MS"/>
              </a:rPr>
              <a:t>uno </a:t>
            </a:r>
            <a:r>
              <a:rPr sz="2092" spc="3" dirty="0">
                <a:solidFill>
                  <a:srgbClr val="4E4F52"/>
                </a:solidFill>
                <a:cs typeface="Trebuchet MS"/>
              </a:rPr>
              <a:t>u otro</a:t>
            </a:r>
            <a:r>
              <a:rPr sz="2092" spc="-42" dirty="0">
                <a:solidFill>
                  <a:srgbClr val="4E4F52"/>
                </a:solidFill>
                <a:cs typeface="Trebuchet MS"/>
              </a:rPr>
              <a:t> </a:t>
            </a:r>
            <a:r>
              <a:rPr sz="2092" spc="3" dirty="0">
                <a:solidFill>
                  <a:srgbClr val="4E4F52"/>
                </a:solidFill>
                <a:cs typeface="Trebuchet MS"/>
              </a:rPr>
              <a:t>resultado?</a:t>
            </a:r>
            <a:endParaRPr sz="2092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857659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160" y="1857936"/>
            <a:ext cx="10198435" cy="218195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08973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cs typeface="Trebuchet MS"/>
              </a:rPr>
              <a:t>La </a:t>
            </a:r>
            <a:r>
              <a:rPr sz="2244" b="1" dirty="0">
                <a:cs typeface="Trebuchet MS"/>
              </a:rPr>
              <a:t>probabilidad </a:t>
            </a:r>
            <a:r>
              <a:rPr sz="2244" dirty="0">
                <a:cs typeface="Trebuchet MS"/>
              </a:rPr>
              <a:t>es una </a:t>
            </a:r>
            <a:r>
              <a:rPr sz="2244" spc="3" dirty="0">
                <a:cs typeface="Trebuchet MS"/>
              </a:rPr>
              <a:t>forma </a:t>
            </a:r>
            <a:r>
              <a:rPr sz="2244" dirty="0">
                <a:cs typeface="Trebuchet MS"/>
              </a:rPr>
              <a:t>de cuantificar que tan </a:t>
            </a:r>
            <a:r>
              <a:rPr sz="2244" spc="3" dirty="0">
                <a:cs typeface="Trebuchet MS"/>
              </a:rPr>
              <a:t>a </a:t>
            </a:r>
            <a:r>
              <a:rPr sz="2244" dirty="0">
                <a:cs typeface="Trebuchet MS"/>
              </a:rPr>
              <a:t>menudo esperamos que  el </a:t>
            </a:r>
            <a:r>
              <a:rPr sz="2244" spc="3" dirty="0">
                <a:cs typeface="Trebuchet MS"/>
              </a:rPr>
              <a:t>experimento </a:t>
            </a:r>
            <a:r>
              <a:rPr sz="2244" dirty="0">
                <a:cs typeface="Trebuchet MS"/>
              </a:rPr>
              <a:t>produzca ciertos </a:t>
            </a:r>
            <a:r>
              <a:rPr sz="2244" spc="3" dirty="0">
                <a:cs typeface="Trebuchet MS"/>
              </a:rPr>
              <a:t>resultados</a:t>
            </a:r>
            <a:r>
              <a:rPr sz="2244" spc="-36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particulares.</a:t>
            </a: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762427">
              <a:lnSpc>
                <a:spcPct val="100299"/>
              </a:lnSpc>
            </a:pPr>
            <a:r>
              <a:rPr lang="es-ES" sz="2244" dirty="0" err="1">
                <a:cs typeface="Trebuchet MS"/>
              </a:rPr>
              <a:t>Tenemo</a:t>
            </a:r>
            <a:r>
              <a:rPr sz="2244" dirty="0">
                <a:cs typeface="Trebuchet MS"/>
              </a:rPr>
              <a:t>s una  probabilidad de observar “Cara” </a:t>
            </a:r>
            <a:r>
              <a:rPr sz="2244" spc="3" dirty="0">
                <a:cs typeface="Trebuchet MS"/>
              </a:rPr>
              <a:t>y </a:t>
            </a:r>
            <a:r>
              <a:rPr sz="2244" dirty="0">
                <a:cs typeface="Trebuchet MS"/>
              </a:rPr>
              <a:t>una de observar </a:t>
            </a:r>
            <a:r>
              <a:rPr sz="2244" spc="3" dirty="0">
                <a:cs typeface="Trebuchet MS"/>
              </a:rPr>
              <a:t>“Sello”.</a:t>
            </a:r>
            <a:endParaRPr sz="2244" dirty="0">
              <a:cs typeface="Trebuchet MS"/>
            </a:endParaRPr>
          </a:p>
          <a:p>
            <a:pPr>
              <a:spcBef>
                <a:spcPts val="15"/>
              </a:spcBef>
            </a:pPr>
            <a:endParaRPr sz="2577" dirty="0">
              <a:cs typeface="Trebuchet MS"/>
            </a:endParaRPr>
          </a:p>
          <a:p>
            <a:pPr marL="7701"/>
            <a:r>
              <a:rPr sz="2244" dirty="0">
                <a:cs typeface="Trebuchet MS"/>
              </a:rPr>
              <a:t>La primera se puede escribir como Pr ( </a:t>
            </a:r>
            <a:r>
              <a:rPr sz="2244" spc="3" dirty="0">
                <a:cs typeface="Trebuchet MS"/>
              </a:rPr>
              <a:t>C </a:t>
            </a:r>
            <a:r>
              <a:rPr sz="2244" dirty="0">
                <a:cs typeface="Trebuchet MS"/>
              </a:rPr>
              <a:t>) </a:t>
            </a:r>
            <a:r>
              <a:rPr sz="2244" spc="3" dirty="0">
                <a:cs typeface="Trebuchet MS"/>
              </a:rPr>
              <a:t>y </a:t>
            </a:r>
            <a:r>
              <a:rPr sz="2244" dirty="0">
                <a:cs typeface="Trebuchet MS"/>
              </a:rPr>
              <a:t>la </a:t>
            </a:r>
            <a:r>
              <a:rPr sz="2244" spc="3" dirty="0">
                <a:cs typeface="Trebuchet MS"/>
              </a:rPr>
              <a:t>segunda </a:t>
            </a:r>
            <a:r>
              <a:rPr sz="2244" dirty="0">
                <a:cs typeface="Trebuchet MS"/>
              </a:rPr>
              <a:t>como Pr ( S</a:t>
            </a:r>
            <a:r>
              <a:rPr sz="2244" spc="-27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42534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674" y="2971997"/>
            <a:ext cx="4138470" cy="865828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 marR="3081" indent="114364">
              <a:lnSpc>
                <a:spcPct val="100400"/>
              </a:lnSpc>
              <a:spcBef>
                <a:spcPts val="58"/>
              </a:spcBef>
              <a:tabLst>
                <a:tab pos="3070115" algn="l"/>
              </a:tabLst>
            </a:pPr>
            <a:r>
              <a:rPr sz="2789" spc="3" dirty="0">
                <a:latin typeface="+mn-lt"/>
                <a:cs typeface="Carlito"/>
              </a:rPr>
              <a:t>¿Que valores </a:t>
            </a:r>
            <a:r>
              <a:rPr sz="2789" dirty="0">
                <a:latin typeface="+mn-lt"/>
                <a:cs typeface="Carlito"/>
              </a:rPr>
              <a:t>pueden  </a:t>
            </a:r>
            <a:r>
              <a:rPr sz="2789" spc="6" dirty="0">
                <a:latin typeface="+mn-lt"/>
                <a:cs typeface="Carlito"/>
              </a:rPr>
              <a:t>tomar</a:t>
            </a:r>
            <a:r>
              <a:rPr sz="2789" dirty="0">
                <a:latin typeface="+mn-lt"/>
                <a:cs typeface="Carlito"/>
              </a:rPr>
              <a:t> </a:t>
            </a:r>
            <a:r>
              <a:rPr sz="2789" spc="3" dirty="0">
                <a:latin typeface="+mn-lt"/>
                <a:cs typeface="Carlito"/>
              </a:rPr>
              <a:t>Pr</a:t>
            </a:r>
            <a:r>
              <a:rPr sz="2789" spc="-6" dirty="0">
                <a:latin typeface="+mn-lt"/>
                <a:cs typeface="Carlito"/>
              </a:rPr>
              <a:t> </a:t>
            </a:r>
            <a:r>
              <a:rPr sz="2789" spc="3" dirty="0">
                <a:latin typeface="+mn-lt"/>
                <a:cs typeface="Carlito"/>
              </a:rPr>
              <a:t>(</a:t>
            </a:r>
            <a:r>
              <a:rPr sz="2789" dirty="0">
                <a:latin typeface="+mn-lt"/>
                <a:cs typeface="Carlito"/>
              </a:rPr>
              <a:t> </a:t>
            </a:r>
            <a:r>
              <a:rPr sz="2789" spc="6" dirty="0">
                <a:latin typeface="+mn-lt"/>
                <a:cs typeface="Carlito"/>
              </a:rPr>
              <a:t>C</a:t>
            </a:r>
            <a:r>
              <a:rPr sz="2789" dirty="0">
                <a:latin typeface="+mn-lt"/>
                <a:cs typeface="Carlito"/>
              </a:rPr>
              <a:t> </a:t>
            </a:r>
            <a:r>
              <a:rPr sz="2789" spc="3" dirty="0">
                <a:latin typeface="+mn-lt"/>
                <a:cs typeface="Carlito"/>
              </a:rPr>
              <a:t>)</a:t>
            </a:r>
            <a:r>
              <a:rPr sz="2789" dirty="0">
                <a:latin typeface="+mn-lt"/>
                <a:cs typeface="Carlito"/>
              </a:rPr>
              <a:t> </a:t>
            </a:r>
            <a:r>
              <a:rPr sz="2789" spc="3" dirty="0">
                <a:latin typeface="+mn-lt"/>
                <a:cs typeface="Carlito"/>
              </a:rPr>
              <a:t>y Pr (</a:t>
            </a:r>
            <a:r>
              <a:rPr sz="2789" dirty="0">
                <a:latin typeface="+mn-lt"/>
                <a:cs typeface="Carlito"/>
              </a:rPr>
              <a:t> </a:t>
            </a:r>
            <a:r>
              <a:rPr sz="2789" spc="3" dirty="0">
                <a:latin typeface="+mn-lt"/>
                <a:cs typeface="Carlito"/>
              </a:rPr>
              <a:t>S</a:t>
            </a:r>
            <a:r>
              <a:rPr sz="2789" dirty="0">
                <a:latin typeface="+mn-lt"/>
                <a:cs typeface="Carlito"/>
              </a:rPr>
              <a:t>)?</a:t>
            </a:r>
          </a:p>
        </p:txBody>
      </p:sp>
      <p:sp>
        <p:nvSpPr>
          <p:cNvPr id="3" name="object 3"/>
          <p:cNvSpPr/>
          <p:nvPr/>
        </p:nvSpPr>
        <p:spPr>
          <a:xfrm>
            <a:off x="5773271" y="1899424"/>
            <a:ext cx="4529014" cy="263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31241514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845" y="2354650"/>
            <a:ext cx="4433546" cy="166555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121680">
              <a:spcBef>
                <a:spcPts val="73"/>
              </a:spcBef>
            </a:pPr>
            <a:r>
              <a:rPr sz="2789" dirty="0">
                <a:cs typeface="Carlito"/>
              </a:rPr>
              <a:t>¿Pueden </a:t>
            </a:r>
            <a:r>
              <a:rPr sz="2789" spc="3" dirty="0">
                <a:cs typeface="Carlito"/>
              </a:rPr>
              <a:t>ser</a:t>
            </a:r>
            <a:r>
              <a:rPr sz="2789" spc="-21" dirty="0">
                <a:cs typeface="Carlito"/>
              </a:rPr>
              <a:t> </a:t>
            </a:r>
            <a:r>
              <a:rPr sz="2789" spc="3" dirty="0">
                <a:cs typeface="Carlito"/>
              </a:rPr>
              <a:t>negativos?</a:t>
            </a:r>
            <a:endParaRPr sz="2789" dirty="0">
              <a:cs typeface="Carlito"/>
            </a:endParaRPr>
          </a:p>
          <a:p>
            <a:pPr>
              <a:lnSpc>
                <a:spcPct val="100000"/>
              </a:lnSpc>
            </a:pPr>
            <a:endParaRPr sz="2789" dirty="0">
              <a:cs typeface="Carlito"/>
            </a:endParaRPr>
          </a:p>
          <a:p>
            <a:pPr>
              <a:spcBef>
                <a:spcPts val="30"/>
              </a:spcBef>
            </a:pPr>
            <a:endParaRPr sz="2395" dirty="0">
              <a:cs typeface="Carlito"/>
            </a:endParaRPr>
          </a:p>
          <a:p>
            <a:pPr marL="7701" marR="3081" indent="113979">
              <a:lnSpc>
                <a:spcPct val="100400"/>
              </a:lnSpc>
            </a:pPr>
            <a:r>
              <a:rPr sz="2789" dirty="0">
                <a:cs typeface="Carlito"/>
              </a:rPr>
              <a:t>¿Pueden </a:t>
            </a:r>
            <a:r>
              <a:rPr sz="2789" spc="3" dirty="0">
                <a:cs typeface="Carlito"/>
              </a:rPr>
              <a:t>ser mayores</a:t>
            </a:r>
            <a:r>
              <a:rPr sz="2789" spc="-42" dirty="0">
                <a:cs typeface="Carlito"/>
              </a:rPr>
              <a:t> </a:t>
            </a:r>
            <a:r>
              <a:rPr sz="2789" dirty="0">
                <a:cs typeface="Carlito"/>
              </a:rPr>
              <a:t>que  </a:t>
            </a:r>
            <a:r>
              <a:rPr sz="2789" spc="6" dirty="0">
                <a:cs typeface="Carlito"/>
              </a:rPr>
              <a:t>1?</a:t>
            </a:r>
            <a:endParaRPr sz="2789" dirty="0"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151BA89-4655-0B5C-2E56-600E24627A14}"/>
              </a:ext>
            </a:extLst>
          </p:cNvPr>
          <p:cNvSpPr/>
          <p:nvPr/>
        </p:nvSpPr>
        <p:spPr>
          <a:xfrm>
            <a:off x="5773271" y="1899424"/>
            <a:ext cx="4529014" cy="263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16769593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8416" y="1681407"/>
            <a:ext cx="4527487" cy="375187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24761" indent="113979">
              <a:lnSpc>
                <a:spcPct val="100400"/>
              </a:lnSpc>
              <a:spcBef>
                <a:spcPts val="58"/>
              </a:spcBef>
            </a:pPr>
            <a:r>
              <a:rPr lang="es-ES" sz="2426" spc="6" dirty="0">
                <a:cs typeface="Carlito"/>
              </a:rPr>
              <a:t>- </a:t>
            </a:r>
            <a:r>
              <a:rPr sz="2426" spc="6" dirty="0">
                <a:cs typeface="Carlito"/>
              </a:rPr>
              <a:t>Una </a:t>
            </a:r>
            <a:r>
              <a:rPr sz="2426" dirty="0">
                <a:cs typeface="Carlito"/>
              </a:rPr>
              <a:t>probabilidad </a:t>
            </a:r>
            <a:r>
              <a:rPr sz="2426" spc="3" dirty="0">
                <a:cs typeface="Carlito"/>
              </a:rPr>
              <a:t>de cero  </a:t>
            </a:r>
            <a:r>
              <a:rPr sz="2426" dirty="0">
                <a:cs typeface="Carlito"/>
              </a:rPr>
              <a:t>significa </a:t>
            </a:r>
            <a:r>
              <a:rPr sz="2426" spc="3" dirty="0">
                <a:cs typeface="Carlito"/>
              </a:rPr>
              <a:t>que el </a:t>
            </a:r>
            <a:r>
              <a:rPr sz="2426" spc="3" dirty="0" err="1">
                <a:cs typeface="Carlito"/>
              </a:rPr>
              <a:t>evento</a:t>
            </a:r>
            <a:r>
              <a:rPr sz="2426" spc="-55" dirty="0">
                <a:cs typeface="Carlito"/>
              </a:rPr>
              <a:t> </a:t>
            </a:r>
            <a:r>
              <a:rPr sz="2426" dirty="0">
                <a:cs typeface="Carlito"/>
              </a:rPr>
              <a:t>ser</a:t>
            </a:r>
            <a:r>
              <a:rPr lang="es-CL" sz="2426" dirty="0">
                <a:cs typeface="Carlito"/>
              </a:rPr>
              <a:t>í</a:t>
            </a:r>
            <a:r>
              <a:rPr sz="2426" dirty="0">
                <a:cs typeface="Carlito"/>
              </a:rPr>
              <a:t>a  </a:t>
            </a:r>
            <a:r>
              <a:rPr sz="2426" spc="3" dirty="0">
                <a:cs typeface="Carlito"/>
              </a:rPr>
              <a:t>imposible.</a:t>
            </a:r>
            <a:endParaRPr sz="2426" dirty="0">
              <a:cs typeface="Carlito"/>
            </a:endParaRPr>
          </a:p>
          <a:p>
            <a:pPr marL="7701" marR="3081" indent="113979">
              <a:lnSpc>
                <a:spcPct val="100400"/>
              </a:lnSpc>
              <a:spcBef>
                <a:spcPts val="1501"/>
              </a:spcBef>
            </a:pPr>
            <a:r>
              <a:rPr lang="es-ES" sz="2426" spc="3" dirty="0">
                <a:cs typeface="Carlito"/>
              </a:rPr>
              <a:t>- </a:t>
            </a:r>
            <a:r>
              <a:rPr sz="2426" spc="3" dirty="0" err="1">
                <a:cs typeface="Carlito"/>
              </a:rPr>
              <a:t>Por</a:t>
            </a:r>
            <a:r>
              <a:rPr sz="2426" spc="3" dirty="0">
                <a:cs typeface="Carlito"/>
              </a:rPr>
              <a:t> </a:t>
            </a:r>
            <a:r>
              <a:rPr sz="2426" spc="6" dirty="0" err="1">
                <a:cs typeface="Carlito"/>
              </a:rPr>
              <a:t>ende</a:t>
            </a:r>
            <a:r>
              <a:rPr sz="2426" spc="6" dirty="0">
                <a:cs typeface="Carlito"/>
              </a:rPr>
              <a:t> </a:t>
            </a:r>
            <a:r>
              <a:rPr sz="2426" spc="3" dirty="0">
                <a:cs typeface="Carlito"/>
              </a:rPr>
              <a:t>las</a:t>
            </a:r>
            <a:r>
              <a:rPr lang="es-ES" sz="2426" spc="3" dirty="0">
                <a:cs typeface="Carlito"/>
              </a:rPr>
              <a:t> </a:t>
            </a:r>
            <a:r>
              <a:rPr sz="2426" dirty="0" err="1">
                <a:cs typeface="Carlito"/>
              </a:rPr>
              <a:t>probabilidades</a:t>
            </a:r>
            <a:r>
              <a:rPr sz="2426" dirty="0">
                <a:cs typeface="Carlito"/>
              </a:rPr>
              <a:t> </a:t>
            </a:r>
            <a:r>
              <a:rPr sz="2426" spc="3" dirty="0">
                <a:cs typeface="Carlito"/>
              </a:rPr>
              <a:t>de eventos </a:t>
            </a:r>
            <a:r>
              <a:rPr sz="2426" dirty="0">
                <a:cs typeface="Carlito"/>
              </a:rPr>
              <a:t>no pueden </a:t>
            </a:r>
            <a:r>
              <a:rPr sz="2426" dirty="0" err="1">
                <a:cs typeface="Carlito"/>
              </a:rPr>
              <a:t>ser</a:t>
            </a:r>
            <a:r>
              <a:rPr sz="2426" dirty="0">
                <a:cs typeface="Carlito"/>
              </a:rPr>
              <a:t> </a:t>
            </a:r>
            <a:r>
              <a:rPr sz="2426" spc="3" dirty="0" err="1">
                <a:cs typeface="Carlito"/>
              </a:rPr>
              <a:t>menores</a:t>
            </a:r>
            <a:r>
              <a:rPr sz="2426" spc="3" dirty="0">
                <a:cs typeface="Carlito"/>
              </a:rPr>
              <a:t> </a:t>
            </a:r>
            <a:r>
              <a:rPr sz="2426" dirty="0">
                <a:cs typeface="Carlito"/>
              </a:rPr>
              <a:t>que</a:t>
            </a:r>
            <a:r>
              <a:rPr sz="2426" spc="-6" dirty="0">
                <a:cs typeface="Carlito"/>
              </a:rPr>
              <a:t> </a:t>
            </a:r>
            <a:r>
              <a:rPr sz="2426" spc="3" dirty="0">
                <a:cs typeface="Carlito"/>
              </a:rPr>
              <a:t>0.</a:t>
            </a:r>
            <a:endParaRPr sz="2426" dirty="0">
              <a:cs typeface="Carlito"/>
            </a:endParaRPr>
          </a:p>
          <a:p>
            <a:pPr marL="7701" marR="423570" indent="113979">
              <a:lnSpc>
                <a:spcPct val="100400"/>
              </a:lnSpc>
              <a:spcBef>
                <a:spcPts val="1498"/>
              </a:spcBef>
            </a:pPr>
            <a:r>
              <a:rPr lang="es-ES" sz="2426" spc="3" dirty="0">
                <a:cs typeface="Carlito"/>
              </a:rPr>
              <a:t>- </a:t>
            </a:r>
            <a:r>
              <a:rPr sz="2426" spc="3" dirty="0" err="1">
                <a:cs typeface="Carlito"/>
              </a:rPr>
              <a:t>En</a:t>
            </a:r>
            <a:r>
              <a:rPr sz="2426" spc="3" dirty="0">
                <a:cs typeface="Carlito"/>
              </a:rPr>
              <a:t> caso contrario  estaríamos expresando </a:t>
            </a:r>
            <a:r>
              <a:rPr sz="2426" spc="-3" dirty="0">
                <a:cs typeface="Carlito"/>
              </a:rPr>
              <a:t>la  </a:t>
            </a:r>
            <a:r>
              <a:rPr sz="2426" spc="3" dirty="0">
                <a:cs typeface="Carlito"/>
              </a:rPr>
              <a:t>idea de algo menos  </a:t>
            </a:r>
            <a:r>
              <a:rPr sz="2426" dirty="0">
                <a:cs typeface="Carlito"/>
              </a:rPr>
              <a:t>probable </a:t>
            </a:r>
            <a:r>
              <a:rPr sz="2426" spc="3" dirty="0">
                <a:cs typeface="Carlito"/>
              </a:rPr>
              <a:t>que</a:t>
            </a:r>
            <a:r>
              <a:rPr sz="2426" spc="-27" dirty="0">
                <a:cs typeface="Carlito"/>
              </a:rPr>
              <a:t> </a:t>
            </a:r>
            <a:r>
              <a:rPr sz="2426" spc="3" dirty="0">
                <a:cs typeface="Carlito"/>
              </a:rPr>
              <a:t>imposible.</a:t>
            </a:r>
            <a:endParaRPr sz="2426" dirty="0">
              <a:cs typeface="Carlito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91EFD0B-0C38-3948-83AA-3C7494F30C00}"/>
              </a:ext>
            </a:extLst>
          </p:cNvPr>
          <p:cNvSpPr/>
          <p:nvPr/>
        </p:nvSpPr>
        <p:spPr>
          <a:xfrm>
            <a:off x="5773271" y="1899424"/>
            <a:ext cx="4529014" cy="263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15277486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8417" y="1681407"/>
            <a:ext cx="4314805" cy="412518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425881" indent="113979">
              <a:lnSpc>
                <a:spcPct val="100400"/>
              </a:lnSpc>
              <a:spcBef>
                <a:spcPts val="58"/>
              </a:spcBef>
            </a:pPr>
            <a:r>
              <a:rPr lang="es-ES" sz="2426" spc="6" dirty="0">
                <a:cs typeface="Carlito"/>
              </a:rPr>
              <a:t>- </a:t>
            </a:r>
            <a:r>
              <a:rPr sz="2426" spc="6" dirty="0" err="1">
                <a:cs typeface="Carlito"/>
              </a:rPr>
              <a:t>Una</a:t>
            </a:r>
            <a:r>
              <a:rPr sz="2426" spc="6" dirty="0">
                <a:cs typeface="Carlito"/>
              </a:rPr>
              <a:t> </a:t>
            </a:r>
            <a:r>
              <a:rPr sz="2426" dirty="0">
                <a:cs typeface="Carlito"/>
              </a:rPr>
              <a:t>probabilidad </a:t>
            </a:r>
            <a:r>
              <a:rPr sz="2426" spc="3" dirty="0">
                <a:cs typeface="Carlito"/>
              </a:rPr>
              <a:t>de</a:t>
            </a:r>
            <a:r>
              <a:rPr sz="2426" spc="-49" dirty="0">
                <a:cs typeface="Carlito"/>
              </a:rPr>
              <a:t> </a:t>
            </a:r>
            <a:r>
              <a:rPr sz="2426" spc="3" dirty="0">
                <a:cs typeface="Carlito"/>
              </a:rPr>
              <a:t>uno  </a:t>
            </a:r>
            <a:r>
              <a:rPr sz="2426" dirty="0">
                <a:cs typeface="Carlito"/>
              </a:rPr>
              <a:t>significa </a:t>
            </a:r>
            <a:r>
              <a:rPr sz="2426" spc="3" dirty="0">
                <a:cs typeface="Carlito"/>
              </a:rPr>
              <a:t>que el evento  </a:t>
            </a:r>
            <a:r>
              <a:rPr sz="2426" dirty="0">
                <a:cs typeface="Carlito"/>
              </a:rPr>
              <a:t>ocurrirá </a:t>
            </a:r>
            <a:r>
              <a:rPr sz="2426" spc="6" dirty="0">
                <a:cs typeface="Carlito"/>
              </a:rPr>
              <a:t>con</a:t>
            </a:r>
            <a:r>
              <a:rPr sz="2426" spc="-24" dirty="0">
                <a:cs typeface="Carlito"/>
              </a:rPr>
              <a:t> </a:t>
            </a:r>
            <a:r>
              <a:rPr sz="2426" dirty="0">
                <a:cs typeface="Carlito"/>
              </a:rPr>
              <a:t>certeza.</a:t>
            </a:r>
          </a:p>
          <a:p>
            <a:pPr marL="7701" marR="3081" indent="113979">
              <a:lnSpc>
                <a:spcPct val="100400"/>
              </a:lnSpc>
              <a:spcBef>
                <a:spcPts val="1501"/>
              </a:spcBef>
            </a:pPr>
            <a:r>
              <a:rPr lang="es-ES" sz="2426" spc="3" dirty="0">
                <a:cs typeface="Carlito"/>
              </a:rPr>
              <a:t>- </a:t>
            </a:r>
            <a:r>
              <a:rPr sz="2426" spc="3" dirty="0">
                <a:cs typeface="Carlito"/>
              </a:rPr>
              <a:t>Por </a:t>
            </a:r>
            <a:r>
              <a:rPr sz="2426" spc="6" dirty="0">
                <a:cs typeface="Carlito"/>
              </a:rPr>
              <a:t>ende </a:t>
            </a:r>
            <a:r>
              <a:rPr sz="2426" spc="3" dirty="0">
                <a:cs typeface="Carlito"/>
              </a:rPr>
              <a:t>las </a:t>
            </a:r>
            <a:r>
              <a:rPr sz="2426" dirty="0">
                <a:cs typeface="Carlito"/>
              </a:rPr>
              <a:t>probabilidades  </a:t>
            </a:r>
            <a:r>
              <a:rPr sz="2426" spc="3" dirty="0">
                <a:cs typeface="Carlito"/>
              </a:rPr>
              <a:t>de eventos </a:t>
            </a:r>
            <a:r>
              <a:rPr sz="2426" dirty="0">
                <a:cs typeface="Carlito"/>
              </a:rPr>
              <a:t>no </a:t>
            </a:r>
            <a:r>
              <a:rPr sz="2426" dirty="0" err="1">
                <a:cs typeface="Carlito"/>
              </a:rPr>
              <a:t>pueden</a:t>
            </a:r>
            <a:r>
              <a:rPr sz="2426" dirty="0">
                <a:cs typeface="Carlito"/>
              </a:rPr>
              <a:t> ser </a:t>
            </a:r>
            <a:r>
              <a:rPr sz="2426" spc="6" dirty="0">
                <a:cs typeface="Carlito"/>
              </a:rPr>
              <a:t>mayores </a:t>
            </a:r>
            <a:r>
              <a:rPr sz="2426" spc="3" dirty="0">
                <a:cs typeface="Carlito"/>
              </a:rPr>
              <a:t>que</a:t>
            </a:r>
            <a:r>
              <a:rPr sz="2426" spc="-24" dirty="0">
                <a:cs typeface="Carlito"/>
              </a:rPr>
              <a:t> </a:t>
            </a:r>
            <a:r>
              <a:rPr sz="2426" spc="3" dirty="0">
                <a:cs typeface="Carlito"/>
              </a:rPr>
              <a:t>1.</a:t>
            </a:r>
            <a:endParaRPr sz="2426" dirty="0">
              <a:cs typeface="Carlito"/>
            </a:endParaRPr>
          </a:p>
          <a:p>
            <a:pPr marL="7701" marR="319218" indent="113979">
              <a:lnSpc>
                <a:spcPct val="100400"/>
              </a:lnSpc>
              <a:spcBef>
                <a:spcPts val="1498"/>
              </a:spcBef>
            </a:pPr>
            <a:r>
              <a:rPr lang="es-ES" sz="2426" spc="3" dirty="0">
                <a:cs typeface="Carlito"/>
              </a:rPr>
              <a:t>- </a:t>
            </a:r>
            <a:r>
              <a:rPr sz="2426" spc="3" dirty="0" err="1">
                <a:cs typeface="Carlito"/>
              </a:rPr>
              <a:t>En</a:t>
            </a:r>
            <a:r>
              <a:rPr sz="2426" spc="3" dirty="0">
                <a:cs typeface="Carlito"/>
              </a:rPr>
              <a:t> caso contrario  estaríamos expresando </a:t>
            </a:r>
            <a:r>
              <a:rPr sz="2426" spc="-3" dirty="0">
                <a:cs typeface="Carlito"/>
              </a:rPr>
              <a:t>la  </a:t>
            </a:r>
            <a:r>
              <a:rPr sz="2426" spc="3" dirty="0">
                <a:cs typeface="Carlito"/>
              </a:rPr>
              <a:t>idea de algo </a:t>
            </a:r>
            <a:r>
              <a:rPr sz="2426" spc="6" dirty="0">
                <a:cs typeface="Carlito"/>
              </a:rPr>
              <a:t>más</a:t>
            </a:r>
            <a:r>
              <a:rPr sz="2426" spc="-45" dirty="0">
                <a:cs typeface="Carlito"/>
              </a:rPr>
              <a:t> </a:t>
            </a:r>
            <a:r>
              <a:rPr sz="2426" dirty="0">
                <a:cs typeface="Carlito"/>
              </a:rPr>
              <a:t>probable  </a:t>
            </a:r>
            <a:r>
              <a:rPr sz="2426" spc="3" dirty="0">
                <a:cs typeface="Carlito"/>
              </a:rPr>
              <a:t>que la certeza</a:t>
            </a:r>
            <a:r>
              <a:rPr sz="2426" spc="-27" dirty="0">
                <a:cs typeface="Carlito"/>
              </a:rPr>
              <a:t> </a:t>
            </a:r>
            <a:r>
              <a:rPr sz="2426" spc="3" dirty="0">
                <a:cs typeface="Carlito"/>
              </a:rPr>
              <a:t>absoluta.</a:t>
            </a:r>
            <a:endParaRPr sz="2426" dirty="0">
              <a:cs typeface="Carlito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7F5C465-212A-22FC-5A89-B5AE274A5030}"/>
              </a:ext>
            </a:extLst>
          </p:cNvPr>
          <p:cNvSpPr/>
          <p:nvPr/>
        </p:nvSpPr>
        <p:spPr>
          <a:xfrm>
            <a:off x="5773271" y="1899424"/>
            <a:ext cx="4529014" cy="263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14097915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8776" y="1899425"/>
            <a:ext cx="4597803" cy="2582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704" y="2135184"/>
            <a:ext cx="4053189" cy="258270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113979">
              <a:lnSpc>
                <a:spcPct val="100400"/>
              </a:lnSpc>
              <a:spcBef>
                <a:spcPts val="58"/>
              </a:spcBef>
            </a:pPr>
            <a:r>
              <a:rPr sz="2789" spc="3" dirty="0">
                <a:cs typeface="Carlito"/>
              </a:rPr>
              <a:t>¿</a:t>
            </a:r>
            <a:r>
              <a:rPr sz="2789" spc="3" dirty="0" err="1">
                <a:cs typeface="Carlito"/>
              </a:rPr>
              <a:t>Por</a:t>
            </a:r>
            <a:r>
              <a:rPr sz="2789" spc="3" dirty="0">
                <a:cs typeface="Carlito"/>
              </a:rPr>
              <a:t> </a:t>
            </a:r>
            <a:r>
              <a:rPr sz="2789" dirty="0" err="1">
                <a:cs typeface="Carlito"/>
              </a:rPr>
              <a:t>qu</a:t>
            </a:r>
            <a:r>
              <a:rPr lang="es-ES" sz="2789" dirty="0">
                <a:cs typeface="Carlito"/>
              </a:rPr>
              <a:t>é</a:t>
            </a:r>
            <a:r>
              <a:rPr sz="2789" dirty="0">
                <a:cs typeface="Carlito"/>
              </a:rPr>
              <a:t> </a:t>
            </a:r>
            <a:r>
              <a:rPr sz="2789" dirty="0" err="1">
                <a:cs typeface="Carlito"/>
              </a:rPr>
              <a:t>parece</a:t>
            </a:r>
            <a:r>
              <a:rPr sz="2789" dirty="0">
                <a:cs typeface="Carlito"/>
              </a:rPr>
              <a:t> </a:t>
            </a:r>
            <a:r>
              <a:rPr sz="2789" spc="3" dirty="0">
                <a:cs typeface="Carlito"/>
              </a:rPr>
              <a:t>razonable pensar que estas  </a:t>
            </a:r>
            <a:r>
              <a:rPr sz="2789" dirty="0">
                <a:cs typeface="Carlito"/>
              </a:rPr>
              <a:t>probabilidades pueden </a:t>
            </a:r>
            <a:r>
              <a:rPr sz="2789" dirty="0" err="1">
                <a:cs typeface="Carlito"/>
              </a:rPr>
              <a:t>dar</a:t>
            </a:r>
            <a:r>
              <a:rPr sz="2789" dirty="0">
                <a:cs typeface="Carlito"/>
              </a:rPr>
              <a:t> </a:t>
            </a:r>
            <a:r>
              <a:rPr sz="2789" spc="3" dirty="0" err="1">
                <a:cs typeface="Carlito"/>
              </a:rPr>
              <a:t>cuenta</a:t>
            </a:r>
            <a:r>
              <a:rPr sz="2789" spc="3" dirty="0">
                <a:cs typeface="Carlito"/>
              </a:rPr>
              <a:t> de </a:t>
            </a:r>
            <a:r>
              <a:rPr sz="2789" spc="-3" dirty="0">
                <a:cs typeface="Carlito"/>
              </a:rPr>
              <a:t>los </a:t>
            </a:r>
            <a:r>
              <a:rPr sz="2789" spc="3" dirty="0">
                <a:cs typeface="Carlito"/>
              </a:rPr>
              <a:t>resultados</a:t>
            </a:r>
            <a:r>
              <a:rPr sz="2789" spc="-36" dirty="0">
                <a:cs typeface="Carlito"/>
              </a:rPr>
              <a:t> </a:t>
            </a:r>
            <a:r>
              <a:rPr sz="2789" dirty="0">
                <a:cs typeface="Carlito"/>
              </a:rPr>
              <a:t>del  </a:t>
            </a:r>
            <a:r>
              <a:rPr sz="2789" spc="3" dirty="0">
                <a:cs typeface="Carlito"/>
              </a:rPr>
              <a:t>experimento de </a:t>
            </a:r>
            <a:r>
              <a:rPr sz="2789" spc="3" dirty="0" err="1">
                <a:cs typeface="Carlito"/>
              </a:rPr>
              <a:t>lanzar</a:t>
            </a:r>
            <a:r>
              <a:rPr sz="2789" spc="3" dirty="0">
                <a:cs typeface="Carlito"/>
              </a:rPr>
              <a:t> </a:t>
            </a:r>
            <a:r>
              <a:rPr sz="2789" spc="3" dirty="0" err="1">
                <a:cs typeface="Carlito"/>
              </a:rPr>
              <a:t>una</a:t>
            </a:r>
            <a:r>
              <a:rPr sz="2789" spc="3" dirty="0">
                <a:cs typeface="Carlito"/>
              </a:rPr>
              <a:t> moneda?</a:t>
            </a:r>
            <a:endParaRPr sz="2789" dirty="0"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6071433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9" y="1814542"/>
            <a:ext cx="4602843" cy="2237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solidFill>
                  <a:srgbClr val="4E4F52"/>
                </a:solidFill>
              </a:rPr>
              <a:t>Probabilidad</a:t>
            </a:r>
            <a:endParaRPr sz="3638" dirty="0"/>
          </a:p>
        </p:txBody>
      </p:sp>
      <p:sp>
        <p:nvSpPr>
          <p:cNvPr id="4" name="object 4"/>
          <p:cNvSpPr txBox="1"/>
          <p:nvPr/>
        </p:nvSpPr>
        <p:spPr>
          <a:xfrm>
            <a:off x="718417" y="1894752"/>
            <a:ext cx="3885302" cy="150061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96383" indent="113979">
              <a:lnSpc>
                <a:spcPct val="100400"/>
              </a:lnSpc>
              <a:spcBef>
                <a:spcPts val="58"/>
              </a:spcBef>
            </a:pPr>
            <a:r>
              <a:rPr sz="2426" dirty="0">
                <a:cs typeface="Carlito"/>
              </a:rPr>
              <a:t>¿Parece esto </a:t>
            </a:r>
            <a:r>
              <a:rPr sz="2426" spc="3" dirty="0">
                <a:cs typeface="Carlito"/>
              </a:rPr>
              <a:t>igualmente  razonable?</a:t>
            </a:r>
            <a:endParaRPr sz="2426" dirty="0">
              <a:cs typeface="Carlito"/>
            </a:endParaRPr>
          </a:p>
          <a:p>
            <a:pPr>
              <a:lnSpc>
                <a:spcPct val="100000"/>
              </a:lnSpc>
            </a:pPr>
            <a:endParaRPr sz="2426" dirty="0">
              <a:cs typeface="Carlito"/>
            </a:endParaRPr>
          </a:p>
          <a:p>
            <a:pPr>
              <a:spcBef>
                <a:spcPts val="30"/>
              </a:spcBef>
            </a:pPr>
            <a:r>
              <a:rPr lang="es-ES" sz="2426" dirty="0">
                <a:cs typeface="Carlito"/>
              </a:rPr>
              <a:t>¿Por qué?</a:t>
            </a:r>
            <a:endParaRPr sz="2426" dirty="0"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694251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1106" y="1939271"/>
            <a:ext cx="4369760" cy="2399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3591112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</a:t>
            </a:r>
            <a:endParaRPr sz="3638" dirty="0">
              <a:latin typeface="+mn-lt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18417" y="1894752"/>
            <a:ext cx="3885302" cy="150061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196383" indent="113979">
              <a:lnSpc>
                <a:spcPct val="100400"/>
              </a:lnSpc>
              <a:spcBef>
                <a:spcPts val="58"/>
              </a:spcBef>
            </a:pPr>
            <a:r>
              <a:rPr sz="2426" dirty="0">
                <a:cs typeface="Carlito"/>
              </a:rPr>
              <a:t>¿Parece esto </a:t>
            </a:r>
            <a:r>
              <a:rPr sz="2426" spc="3" dirty="0">
                <a:cs typeface="Carlito"/>
              </a:rPr>
              <a:t>igualmente  razonable?</a:t>
            </a:r>
            <a:endParaRPr sz="2426" dirty="0">
              <a:cs typeface="Carlito"/>
            </a:endParaRPr>
          </a:p>
          <a:p>
            <a:pPr>
              <a:lnSpc>
                <a:spcPct val="100000"/>
              </a:lnSpc>
            </a:pPr>
            <a:endParaRPr sz="2426" dirty="0">
              <a:cs typeface="Carlito"/>
            </a:endParaRPr>
          </a:p>
          <a:p>
            <a:pPr>
              <a:spcBef>
                <a:spcPts val="30"/>
              </a:spcBef>
            </a:pPr>
            <a:r>
              <a:rPr lang="es-ES" sz="2426" dirty="0">
                <a:cs typeface="Carlito"/>
              </a:rPr>
              <a:t>NO</a:t>
            </a:r>
            <a:endParaRPr sz="2426" dirty="0"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512009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3" y="457098"/>
            <a:ext cx="8971619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spc="-3" dirty="0">
                <a:latin typeface="+mn-lt"/>
              </a:rPr>
              <a:t>Probabilidad </a:t>
            </a:r>
            <a:r>
              <a:rPr sz="3638" spc="-6" dirty="0">
                <a:latin typeface="+mn-lt"/>
              </a:rPr>
              <a:t>teórica </a:t>
            </a:r>
            <a:r>
              <a:rPr sz="3638" spc="-3" dirty="0">
                <a:latin typeface="+mn-lt"/>
              </a:rPr>
              <a:t>y</a:t>
            </a:r>
            <a:r>
              <a:rPr sz="3638" spc="-27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empírica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27" y="1665850"/>
            <a:ext cx="10206136" cy="3997138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>
              <a:spcBef>
                <a:spcPts val="61"/>
              </a:spcBef>
              <a:tabLst>
                <a:tab pos="1954970" algn="l"/>
                <a:tab pos="7562272" algn="l"/>
              </a:tabLst>
            </a:pPr>
            <a:r>
              <a:rPr sz="2092" spc="-3" dirty="0">
                <a:cs typeface="Trebuchet MS"/>
              </a:rPr>
              <a:t>Ya </a:t>
            </a:r>
            <a:r>
              <a:rPr sz="2092" dirty="0">
                <a:cs typeface="Trebuchet MS"/>
              </a:rPr>
              <a:t>vimos </a:t>
            </a:r>
            <a:r>
              <a:rPr sz="2092" spc="-3" dirty="0">
                <a:cs typeface="Trebuchet MS"/>
              </a:rPr>
              <a:t>que </a:t>
            </a:r>
            <a:r>
              <a:rPr sz="2092" dirty="0">
                <a:cs typeface="Trebuchet MS"/>
              </a:rPr>
              <a:t>la </a:t>
            </a:r>
            <a:r>
              <a:rPr sz="2092" b="1" dirty="0">
                <a:cs typeface="Trebuchet MS"/>
              </a:rPr>
              <a:t>probabilidad </a:t>
            </a:r>
            <a:r>
              <a:rPr sz="2092" spc="-3" dirty="0">
                <a:cs typeface="Trebuchet MS"/>
              </a:rPr>
              <a:t>es una </a:t>
            </a:r>
            <a:r>
              <a:rPr sz="2092" dirty="0">
                <a:cs typeface="Trebuchet MS"/>
              </a:rPr>
              <a:t>forma </a:t>
            </a:r>
            <a:r>
              <a:rPr sz="2092" spc="-3" dirty="0">
                <a:cs typeface="Trebuchet MS"/>
              </a:rPr>
              <a:t>de</a:t>
            </a:r>
            <a:r>
              <a:rPr sz="2092" spc="42" dirty="0">
                <a:cs typeface="Trebuchet MS"/>
              </a:rPr>
              <a:t> </a:t>
            </a:r>
            <a:r>
              <a:rPr sz="2092" b="1" dirty="0" err="1">
                <a:cs typeface="Trebuchet MS"/>
              </a:rPr>
              <a:t>cuantificar</a:t>
            </a:r>
            <a:r>
              <a:rPr sz="2092" b="1" spc="-6" dirty="0">
                <a:cs typeface="Trebuchet MS"/>
              </a:rPr>
              <a:t> </a:t>
            </a:r>
            <a:r>
              <a:rPr sz="2092" b="1" dirty="0">
                <a:cs typeface="Trebuchet MS"/>
              </a:rPr>
              <a:t>que</a:t>
            </a:r>
            <a:r>
              <a:rPr lang="en-US" sz="2092" b="1" dirty="0">
                <a:cs typeface="Trebuchet MS"/>
              </a:rPr>
              <a:t> </a:t>
            </a:r>
            <a:r>
              <a:rPr sz="2092" b="1" spc="-3" dirty="0">
                <a:cs typeface="Trebuchet MS"/>
              </a:rPr>
              <a:t>tan </a:t>
            </a:r>
            <a:r>
              <a:rPr sz="2092" b="1" dirty="0">
                <a:cs typeface="Trebuchet MS"/>
              </a:rPr>
              <a:t>a </a:t>
            </a:r>
            <a:r>
              <a:rPr sz="2092" b="1" spc="-3" dirty="0">
                <a:cs typeface="Trebuchet MS"/>
              </a:rPr>
              <a:t>menudo </a:t>
            </a:r>
            <a:r>
              <a:rPr sz="2092" b="1" dirty="0" err="1">
                <a:cs typeface="Trebuchet MS"/>
              </a:rPr>
              <a:t>esperamos</a:t>
            </a:r>
            <a:r>
              <a:rPr sz="2092" b="1" spc="-18" dirty="0">
                <a:cs typeface="Trebuchet MS"/>
              </a:rPr>
              <a:t> </a:t>
            </a:r>
            <a:r>
              <a:rPr sz="2092" b="1" dirty="0">
                <a:cs typeface="Trebuchet MS"/>
              </a:rPr>
              <a:t>que</a:t>
            </a:r>
            <a:r>
              <a:rPr lang="en-US" sz="2092" b="1" dirty="0">
                <a:cs typeface="Trebuchet MS"/>
              </a:rPr>
              <a:t> </a:t>
            </a:r>
            <a:r>
              <a:rPr sz="2092" b="1" dirty="0">
                <a:cs typeface="Trebuchet MS"/>
              </a:rPr>
              <a:t>el experimento produzca ciertos </a:t>
            </a:r>
            <a:r>
              <a:rPr sz="2092" b="1" spc="-3" dirty="0">
                <a:cs typeface="Trebuchet MS"/>
              </a:rPr>
              <a:t>resultados </a:t>
            </a:r>
            <a:r>
              <a:rPr sz="2092" b="1" dirty="0">
                <a:cs typeface="Trebuchet MS"/>
              </a:rPr>
              <a:t>particulares al</a:t>
            </a:r>
            <a:r>
              <a:rPr sz="2092" b="1" spc="-106" dirty="0">
                <a:cs typeface="Trebuchet MS"/>
              </a:rPr>
              <a:t> </a:t>
            </a:r>
            <a:r>
              <a:rPr sz="2092" b="1" spc="-3" dirty="0" err="1">
                <a:cs typeface="Trebuchet MS"/>
              </a:rPr>
              <a:t>repetir</a:t>
            </a:r>
            <a:r>
              <a:rPr sz="2092" b="1" spc="-3" dirty="0">
                <a:cs typeface="Trebuchet MS"/>
              </a:rPr>
              <a:t> </a:t>
            </a:r>
            <a:r>
              <a:rPr sz="2092" b="1" dirty="0">
                <a:cs typeface="Trebuchet MS"/>
              </a:rPr>
              <a:t>el</a:t>
            </a:r>
            <a:r>
              <a:rPr sz="2092" b="1" spc="-9" dirty="0">
                <a:cs typeface="Trebuchet MS"/>
              </a:rPr>
              <a:t> </a:t>
            </a:r>
            <a:r>
              <a:rPr sz="2092" b="1" dirty="0">
                <a:cs typeface="Trebuchet MS"/>
              </a:rPr>
              <a:t>experimento</a:t>
            </a:r>
            <a:r>
              <a:rPr sz="2092" dirty="0">
                <a:cs typeface="Trebuchet MS"/>
              </a:rPr>
              <a:t>.</a:t>
            </a:r>
          </a:p>
          <a:p>
            <a:pPr>
              <a:spcBef>
                <a:spcPts val="6"/>
              </a:spcBef>
            </a:pPr>
            <a:endParaRPr sz="2365" dirty="0">
              <a:cs typeface="Trebuchet MS"/>
            </a:endParaRPr>
          </a:p>
          <a:p>
            <a:pPr marL="7701" marR="305356">
              <a:spcBef>
                <a:spcPts val="3"/>
              </a:spcBef>
            </a:pPr>
            <a:r>
              <a:rPr sz="2092" spc="-3" dirty="0">
                <a:cs typeface="Trebuchet MS"/>
              </a:rPr>
              <a:t>La pregunta clave es entonces: </a:t>
            </a:r>
            <a:r>
              <a:rPr lang="en-US" sz="2092" spc="-3" dirty="0">
                <a:cs typeface="Trebuchet MS"/>
              </a:rPr>
              <a:t>¿Como </a:t>
            </a:r>
            <a:r>
              <a:rPr lang="en-US" sz="2092" spc="-3" dirty="0" err="1">
                <a:cs typeface="Trebuchet MS"/>
              </a:rPr>
              <a:t>determinamos</a:t>
            </a:r>
            <a:r>
              <a:rPr lang="en-US" sz="2092" spc="-3" dirty="0">
                <a:cs typeface="Trebuchet MS"/>
              </a:rPr>
              <a:t> </a:t>
            </a:r>
            <a:r>
              <a:rPr lang="en-US" sz="2092" dirty="0">
                <a:cs typeface="Trebuchet MS"/>
              </a:rPr>
              <a:t>las </a:t>
            </a:r>
            <a:r>
              <a:rPr lang="en-US" sz="2092" spc="-3" dirty="0" err="1">
                <a:cs typeface="Trebuchet MS"/>
              </a:rPr>
              <a:t>cantidades</a:t>
            </a:r>
            <a:r>
              <a:rPr lang="en-US" sz="2092" spc="-3" dirty="0">
                <a:cs typeface="Trebuchet MS"/>
              </a:rPr>
              <a:t> </a:t>
            </a:r>
            <a:r>
              <a:rPr lang="en-US" sz="2092" spc="-3" dirty="0" err="1">
                <a:cs typeface="Trebuchet MS"/>
              </a:rPr>
              <a:t>asignar</a:t>
            </a:r>
            <a:r>
              <a:rPr lang="en-US" sz="2092" spc="-3" dirty="0">
                <a:cs typeface="Trebuchet MS"/>
              </a:rPr>
              <a:t> </a:t>
            </a:r>
            <a:r>
              <a:rPr lang="en-US" sz="2092" dirty="0">
                <a:cs typeface="Trebuchet MS"/>
              </a:rPr>
              <a:t>a </a:t>
            </a:r>
            <a:r>
              <a:rPr lang="en-US" sz="2092" spc="-3" dirty="0" err="1">
                <a:cs typeface="Trebuchet MS"/>
              </a:rPr>
              <a:t>cada</a:t>
            </a:r>
            <a:r>
              <a:rPr lang="en-US" sz="2092" spc="-3" dirty="0">
                <a:cs typeface="Trebuchet MS"/>
              </a:rPr>
              <a:t>  </a:t>
            </a:r>
            <a:r>
              <a:rPr lang="en-US" sz="2092" dirty="0" err="1">
                <a:cs typeface="Trebuchet MS"/>
              </a:rPr>
              <a:t>resultado</a:t>
            </a:r>
            <a:r>
              <a:rPr lang="en-US" sz="2092" dirty="0">
                <a:cs typeface="Trebuchet MS"/>
              </a:rPr>
              <a:t> </a:t>
            </a:r>
            <a:r>
              <a:rPr lang="en-US" sz="2092" spc="-3" dirty="0">
                <a:cs typeface="Trebuchet MS"/>
              </a:rPr>
              <a:t>de </a:t>
            </a:r>
            <a:r>
              <a:rPr lang="en-US" sz="2092" dirty="0">
                <a:cs typeface="Trebuchet MS"/>
              </a:rPr>
              <a:t>un </a:t>
            </a:r>
            <a:r>
              <a:rPr lang="en-US" sz="2092" spc="-3" dirty="0" err="1">
                <a:cs typeface="Trebuchet MS"/>
              </a:rPr>
              <a:t>experimento</a:t>
            </a:r>
            <a:r>
              <a:rPr lang="en-US" sz="2092" spc="-3" dirty="0">
                <a:cs typeface="Trebuchet MS"/>
              </a:rPr>
              <a:t> </a:t>
            </a:r>
            <a:r>
              <a:rPr lang="en-US" sz="2092" spc="-3" dirty="0" err="1">
                <a:cs typeface="Trebuchet MS"/>
              </a:rPr>
              <a:t>aleatorio</a:t>
            </a:r>
            <a:r>
              <a:rPr lang="en-US" sz="2092" spc="-3" dirty="0">
                <a:cs typeface="Trebuchet MS"/>
              </a:rPr>
              <a:t>?</a:t>
            </a:r>
            <a:endParaRPr sz="2092" dirty="0">
              <a:cs typeface="Trebuchet MS"/>
            </a:endParaRPr>
          </a:p>
          <a:p>
            <a:pPr>
              <a:spcBef>
                <a:spcPts val="6"/>
              </a:spcBef>
            </a:pPr>
            <a:endParaRPr sz="2365" dirty="0">
              <a:cs typeface="Trebuchet MS"/>
            </a:endParaRPr>
          </a:p>
          <a:p>
            <a:pPr marL="7701" marR="662695"/>
            <a:r>
              <a:rPr sz="2092" b="1" dirty="0">
                <a:cs typeface="Trebuchet MS"/>
              </a:rPr>
              <a:t>Perspectiva analítica o </a:t>
            </a:r>
            <a:r>
              <a:rPr sz="2092" b="1" spc="-3" dirty="0">
                <a:cs typeface="Trebuchet MS"/>
              </a:rPr>
              <a:t>teórica</a:t>
            </a:r>
            <a:r>
              <a:rPr sz="2092" spc="-3" dirty="0">
                <a:cs typeface="Trebuchet MS"/>
              </a:rPr>
              <a:t>: La probabilidad depende de </a:t>
            </a:r>
            <a:r>
              <a:rPr sz="2092" dirty="0">
                <a:cs typeface="Trebuchet MS"/>
              </a:rPr>
              <a:t>la </a:t>
            </a:r>
            <a:r>
              <a:rPr sz="2092" spc="-3" dirty="0">
                <a:cs typeface="Trebuchet MS"/>
              </a:rPr>
              <a:t>estructura del  experimento aleatorio </a:t>
            </a:r>
            <a:r>
              <a:rPr sz="2092" dirty="0">
                <a:cs typeface="Trebuchet MS"/>
              </a:rPr>
              <a:t>y </a:t>
            </a:r>
            <a:r>
              <a:rPr sz="2092" spc="-3" dirty="0">
                <a:cs typeface="Trebuchet MS"/>
              </a:rPr>
              <a:t>(el numero de) </a:t>
            </a:r>
            <a:r>
              <a:rPr sz="2092" dirty="0">
                <a:cs typeface="Trebuchet MS"/>
              </a:rPr>
              <a:t>sus </a:t>
            </a:r>
            <a:r>
              <a:rPr sz="2092" spc="-3" dirty="0">
                <a:cs typeface="Trebuchet MS"/>
              </a:rPr>
              <a:t>posibles resultados. </a:t>
            </a:r>
            <a:r>
              <a:rPr sz="2092" dirty="0">
                <a:cs typeface="Trebuchet MS"/>
              </a:rPr>
              <a:t>En </a:t>
            </a:r>
            <a:r>
              <a:rPr sz="2092" spc="-3" dirty="0">
                <a:cs typeface="Trebuchet MS"/>
              </a:rPr>
              <a:t>general </a:t>
            </a:r>
            <a:r>
              <a:rPr sz="2092" spc="-3" dirty="0" err="1">
                <a:cs typeface="Trebuchet MS"/>
              </a:rPr>
              <a:t>este</a:t>
            </a:r>
            <a:r>
              <a:rPr sz="2092" spc="-3" dirty="0">
                <a:cs typeface="Trebuchet MS"/>
              </a:rPr>
              <a:t> análisis </a:t>
            </a:r>
            <a:r>
              <a:rPr sz="2092" dirty="0">
                <a:cs typeface="Trebuchet MS"/>
              </a:rPr>
              <a:t>supone </a:t>
            </a:r>
            <a:r>
              <a:rPr sz="2092" spc="-3" dirty="0">
                <a:cs typeface="Trebuchet MS"/>
              </a:rPr>
              <a:t>que todos </a:t>
            </a:r>
            <a:r>
              <a:rPr sz="2092" dirty="0">
                <a:cs typeface="Trebuchet MS"/>
              </a:rPr>
              <a:t>los resultados son </a:t>
            </a:r>
            <a:r>
              <a:rPr sz="2092" spc="-3" dirty="0">
                <a:cs typeface="Trebuchet MS"/>
              </a:rPr>
              <a:t>igualmente</a:t>
            </a:r>
            <a:r>
              <a:rPr sz="2092" spc="45" dirty="0">
                <a:cs typeface="Trebuchet MS"/>
              </a:rPr>
              <a:t> </a:t>
            </a:r>
            <a:r>
              <a:rPr sz="2092" spc="-3" dirty="0">
                <a:cs typeface="Trebuchet MS"/>
              </a:rPr>
              <a:t>probables.</a:t>
            </a:r>
            <a:endParaRPr sz="2092" dirty="0">
              <a:cs typeface="Trebuchet MS"/>
            </a:endParaRPr>
          </a:p>
          <a:p>
            <a:pPr>
              <a:spcBef>
                <a:spcPts val="6"/>
              </a:spcBef>
            </a:pPr>
            <a:endParaRPr sz="2365" dirty="0">
              <a:cs typeface="Trebuchet MS"/>
            </a:endParaRPr>
          </a:p>
          <a:p>
            <a:pPr marL="7701" marR="487106"/>
            <a:r>
              <a:rPr sz="2092" b="1" dirty="0">
                <a:cs typeface="Trebuchet MS"/>
              </a:rPr>
              <a:t>Perspectiva empírica</a:t>
            </a:r>
            <a:r>
              <a:rPr sz="2092" dirty="0">
                <a:cs typeface="Trebuchet MS"/>
              </a:rPr>
              <a:t>: </a:t>
            </a:r>
            <a:r>
              <a:rPr sz="2092" spc="-3" dirty="0">
                <a:cs typeface="Trebuchet MS"/>
              </a:rPr>
              <a:t>La probabilidad es </a:t>
            </a:r>
            <a:r>
              <a:rPr sz="2092" dirty="0">
                <a:cs typeface="Trebuchet MS"/>
              </a:rPr>
              <a:t>la </a:t>
            </a:r>
            <a:r>
              <a:rPr sz="2092" spc="-3" dirty="0">
                <a:cs typeface="Trebuchet MS"/>
              </a:rPr>
              <a:t>proporción observada de </a:t>
            </a:r>
            <a:r>
              <a:rPr sz="2092" dirty="0">
                <a:cs typeface="Trebuchet MS"/>
              </a:rPr>
              <a:t>los </a:t>
            </a:r>
            <a:r>
              <a:rPr sz="2092" spc="-3" dirty="0" err="1">
                <a:cs typeface="Trebuchet MS"/>
              </a:rPr>
              <a:t>eventos</a:t>
            </a:r>
            <a:r>
              <a:rPr sz="2092" spc="-3" dirty="0">
                <a:cs typeface="Trebuchet MS"/>
              </a:rPr>
              <a:t> </a:t>
            </a:r>
            <a:r>
              <a:rPr sz="2092" spc="-3" dirty="0" err="1">
                <a:cs typeface="Trebuchet MS"/>
              </a:rPr>
              <a:t>cuando</a:t>
            </a:r>
            <a:r>
              <a:rPr sz="2092" spc="-3" dirty="0">
                <a:cs typeface="Trebuchet MS"/>
              </a:rPr>
              <a:t> </a:t>
            </a:r>
            <a:r>
              <a:rPr sz="2092" dirty="0">
                <a:cs typeface="Trebuchet MS"/>
              </a:rPr>
              <a:t>se repite un </a:t>
            </a:r>
            <a:r>
              <a:rPr sz="2092" spc="-3" dirty="0">
                <a:cs typeface="Trebuchet MS"/>
              </a:rPr>
              <a:t>evento multiples</a:t>
            </a:r>
            <a:r>
              <a:rPr sz="2092" spc="15" dirty="0">
                <a:cs typeface="Trebuchet MS"/>
              </a:rPr>
              <a:t> </a:t>
            </a:r>
            <a:r>
              <a:rPr sz="2092" spc="-3" dirty="0">
                <a:cs typeface="Trebuchet MS"/>
              </a:rPr>
              <a:t>veces.</a:t>
            </a:r>
            <a:endParaRPr sz="2092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296539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742" y="457098"/>
            <a:ext cx="8973160" cy="566832"/>
          </a:xfrm>
          <a:prstGeom prst="rect">
            <a:avLst/>
          </a:prstGeom>
        </p:spPr>
        <p:txBody>
          <a:bodyPr vert="horz" wrap="square" lIns="0" tIns="693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55"/>
              </a:spcBef>
            </a:pPr>
            <a:r>
              <a:rPr sz="3638" dirty="0">
                <a:latin typeface="+mn-lt"/>
              </a:rPr>
              <a:t>Probabilidad </a:t>
            </a:r>
            <a:r>
              <a:rPr sz="3638" spc="-9" dirty="0">
                <a:latin typeface="+mn-lt"/>
              </a:rPr>
              <a:t>teórica </a:t>
            </a:r>
            <a:r>
              <a:rPr sz="3638" spc="-3" dirty="0">
                <a:latin typeface="+mn-lt"/>
              </a:rPr>
              <a:t>y</a:t>
            </a:r>
            <a:r>
              <a:rPr sz="3638" spc="-24" dirty="0">
                <a:latin typeface="+mn-lt"/>
              </a:rPr>
              <a:t> </a:t>
            </a:r>
            <a:r>
              <a:rPr sz="3638" spc="-6" dirty="0">
                <a:latin typeface="+mn-lt"/>
              </a:rPr>
              <a:t>empírica</a:t>
            </a:r>
            <a:endParaRPr sz="3638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27" y="1809833"/>
            <a:ext cx="10228470" cy="422007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84714">
              <a:lnSpc>
                <a:spcPct val="100299"/>
              </a:lnSpc>
              <a:spcBef>
                <a:spcPts val="58"/>
              </a:spcBef>
            </a:pPr>
            <a:r>
              <a:rPr sz="2244" b="1" dirty="0">
                <a:cs typeface="Trebuchet MS"/>
              </a:rPr>
              <a:t>Perspectiva </a:t>
            </a:r>
            <a:r>
              <a:rPr sz="2244" b="1" spc="3" dirty="0">
                <a:cs typeface="Trebuchet MS"/>
              </a:rPr>
              <a:t>analítica o </a:t>
            </a:r>
            <a:r>
              <a:rPr sz="2244" b="1" spc="-3" dirty="0">
                <a:cs typeface="Trebuchet MS"/>
              </a:rPr>
              <a:t>teórica</a:t>
            </a:r>
            <a:r>
              <a:rPr sz="2244" spc="-3" dirty="0">
                <a:cs typeface="Trebuchet MS"/>
              </a:rPr>
              <a:t>: </a:t>
            </a:r>
            <a:r>
              <a:rPr sz="2244" dirty="0">
                <a:cs typeface="Trebuchet MS"/>
              </a:rPr>
              <a:t>De acuerdo </a:t>
            </a:r>
            <a:r>
              <a:rPr sz="2244" spc="3" dirty="0">
                <a:cs typeface="Trebuchet MS"/>
              </a:rPr>
              <a:t>a </a:t>
            </a:r>
            <a:r>
              <a:rPr sz="2244" dirty="0">
                <a:cs typeface="Trebuchet MS"/>
              </a:rPr>
              <a:t>esta perspectiva </a:t>
            </a:r>
            <a:r>
              <a:rPr sz="2244" spc="3" dirty="0">
                <a:cs typeface="Trebuchet MS"/>
              </a:rPr>
              <a:t>la </a:t>
            </a:r>
            <a:r>
              <a:rPr sz="2244" dirty="0">
                <a:cs typeface="Trebuchet MS"/>
              </a:rPr>
              <a:t>probabilidad  de observar cara </a:t>
            </a:r>
            <a:r>
              <a:rPr sz="2244" spc="3" dirty="0">
                <a:cs typeface="Trebuchet MS"/>
              </a:rPr>
              <a:t>o </a:t>
            </a:r>
            <a:r>
              <a:rPr sz="2244" dirty="0">
                <a:cs typeface="Trebuchet MS"/>
              </a:rPr>
              <a:t>sello al lanzar una moneda es </a:t>
            </a:r>
            <a:r>
              <a:rPr sz="2244" spc="3" dirty="0">
                <a:cs typeface="Trebuchet MS"/>
              </a:rPr>
              <a:t>siempre</a:t>
            </a:r>
            <a:r>
              <a:rPr sz="2244" spc="-39" dirty="0">
                <a:cs typeface="Trebuchet MS"/>
              </a:rPr>
              <a:t> </a:t>
            </a:r>
            <a:r>
              <a:rPr sz="2244" spc="-3" dirty="0">
                <a:cs typeface="Trebuchet MS"/>
              </a:rPr>
              <a:t>0.5</a:t>
            </a:r>
            <a:endParaRPr sz="2244" dirty="0">
              <a:cs typeface="Trebuchet MS"/>
            </a:endParaRPr>
          </a:p>
          <a:p>
            <a:pPr>
              <a:spcBef>
                <a:spcPts val="6"/>
              </a:spcBef>
            </a:pPr>
            <a:endParaRPr sz="2577" dirty="0">
              <a:cs typeface="Trebuchet MS"/>
            </a:endParaRPr>
          </a:p>
          <a:p>
            <a:pPr marL="7701" marR="3081">
              <a:lnSpc>
                <a:spcPct val="100299"/>
              </a:lnSpc>
              <a:spcBef>
                <a:spcPts val="3"/>
              </a:spcBef>
              <a:tabLst>
                <a:tab pos="3422449" algn="l"/>
              </a:tabLst>
            </a:pPr>
            <a:r>
              <a:rPr sz="2244" b="1" spc="3" dirty="0">
                <a:cs typeface="Trebuchet MS"/>
              </a:rPr>
              <a:t>Perspectiva</a:t>
            </a:r>
            <a:r>
              <a:rPr sz="2244" b="1" spc="6" dirty="0">
                <a:cs typeface="Trebuchet MS"/>
              </a:rPr>
              <a:t> </a:t>
            </a:r>
            <a:r>
              <a:rPr sz="2244" b="1" dirty="0">
                <a:cs typeface="Trebuchet MS"/>
              </a:rPr>
              <a:t>empírica</a:t>
            </a:r>
            <a:r>
              <a:rPr sz="2244" dirty="0">
                <a:cs typeface="Trebuchet MS"/>
              </a:rPr>
              <a:t>:</a:t>
            </a:r>
            <a:r>
              <a:rPr sz="2244" spc="-3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De</a:t>
            </a:r>
            <a:r>
              <a:rPr lang="en-US" sz="2244" dirty="0">
                <a:cs typeface="Trebuchet MS"/>
              </a:rPr>
              <a:t> </a:t>
            </a:r>
            <a:r>
              <a:rPr sz="2244" dirty="0" err="1">
                <a:cs typeface="Trebuchet MS"/>
              </a:rPr>
              <a:t>acuerdo</a:t>
            </a:r>
            <a:r>
              <a:rPr sz="2244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a </a:t>
            </a:r>
            <a:r>
              <a:rPr sz="2244" dirty="0">
                <a:cs typeface="Trebuchet MS"/>
              </a:rPr>
              <a:t>esta perspectiva la probabilidad de </a:t>
            </a:r>
            <a:r>
              <a:rPr sz="2244" spc="3" dirty="0" err="1">
                <a:cs typeface="Trebuchet MS"/>
              </a:rPr>
              <a:t>observar</a:t>
            </a:r>
            <a:r>
              <a:rPr sz="2244" spc="3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cara </a:t>
            </a:r>
            <a:r>
              <a:rPr sz="2244" spc="3" dirty="0">
                <a:cs typeface="Trebuchet MS"/>
              </a:rPr>
              <a:t>o sello </a:t>
            </a:r>
            <a:r>
              <a:rPr sz="2244" dirty="0">
                <a:cs typeface="Trebuchet MS"/>
              </a:rPr>
              <a:t>depende de </a:t>
            </a:r>
            <a:r>
              <a:rPr sz="2244" spc="3" dirty="0">
                <a:cs typeface="Trebuchet MS"/>
              </a:rPr>
              <a:t>la </a:t>
            </a:r>
            <a:r>
              <a:rPr sz="2244" spc="-3" dirty="0">
                <a:cs typeface="Trebuchet MS"/>
              </a:rPr>
              <a:t>proporción </a:t>
            </a:r>
            <a:r>
              <a:rPr sz="2244" spc="3" dirty="0">
                <a:cs typeface="Trebuchet MS"/>
              </a:rPr>
              <a:t>observada </a:t>
            </a:r>
            <a:r>
              <a:rPr sz="2244" dirty="0">
                <a:cs typeface="Trebuchet MS"/>
              </a:rPr>
              <a:t>después de </a:t>
            </a:r>
            <a:r>
              <a:rPr sz="2244" spc="3" dirty="0">
                <a:cs typeface="Trebuchet MS"/>
              </a:rPr>
              <a:t>repetir </a:t>
            </a:r>
            <a:r>
              <a:rPr sz="2244" dirty="0">
                <a:cs typeface="Trebuchet MS"/>
              </a:rPr>
              <a:t>el </a:t>
            </a:r>
            <a:r>
              <a:rPr sz="2244" spc="3" dirty="0" err="1">
                <a:cs typeface="Trebuchet MS"/>
              </a:rPr>
              <a:t>experimento</a:t>
            </a:r>
            <a:r>
              <a:rPr sz="2244" spc="3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multiples</a:t>
            </a:r>
            <a:r>
              <a:rPr sz="2244" spc="-15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veces.</a:t>
            </a:r>
            <a:endParaRPr sz="2244" dirty="0">
              <a:cs typeface="Trebuchet MS"/>
            </a:endParaRPr>
          </a:p>
          <a:p>
            <a:pPr marL="7701" marR="2435145">
              <a:lnSpc>
                <a:spcPct val="211700"/>
              </a:lnSpc>
            </a:pPr>
            <a:r>
              <a:rPr sz="2244" dirty="0">
                <a:cs typeface="Trebuchet MS"/>
              </a:rPr>
              <a:t>Lanzo la moneda </a:t>
            </a:r>
            <a:r>
              <a:rPr sz="2244" spc="3" dirty="0">
                <a:cs typeface="Trebuchet MS"/>
              </a:rPr>
              <a:t>100 veces: </a:t>
            </a:r>
            <a:r>
              <a:rPr sz="2244" dirty="0">
                <a:cs typeface="Trebuchet MS"/>
              </a:rPr>
              <a:t>Pr (C </a:t>
            </a:r>
            <a:r>
              <a:rPr sz="2244" spc="3" dirty="0">
                <a:cs typeface="Trebuchet MS"/>
              </a:rPr>
              <a:t>= </a:t>
            </a:r>
            <a:r>
              <a:rPr sz="2244" dirty="0">
                <a:cs typeface="Trebuchet MS"/>
              </a:rPr>
              <a:t>0.48) </a:t>
            </a:r>
            <a:r>
              <a:rPr sz="2244" spc="3" dirty="0">
                <a:cs typeface="Trebuchet MS"/>
              </a:rPr>
              <a:t>y </a:t>
            </a:r>
            <a:r>
              <a:rPr sz="2244" dirty="0">
                <a:cs typeface="Trebuchet MS"/>
              </a:rPr>
              <a:t>Pr (S </a:t>
            </a:r>
            <a:r>
              <a:rPr sz="2244" spc="3" dirty="0">
                <a:cs typeface="Trebuchet MS"/>
              </a:rPr>
              <a:t>= </a:t>
            </a:r>
            <a:r>
              <a:rPr sz="2244" spc="-3" dirty="0">
                <a:cs typeface="Trebuchet MS"/>
              </a:rPr>
              <a:t>0.52)</a:t>
            </a:r>
            <a:endParaRPr lang="en-US" sz="2244" spc="-3" dirty="0">
              <a:cs typeface="Trebuchet MS"/>
            </a:endParaRPr>
          </a:p>
          <a:p>
            <a:pPr marL="7701" marR="2435145">
              <a:lnSpc>
                <a:spcPct val="211700"/>
              </a:lnSpc>
            </a:pPr>
            <a:r>
              <a:rPr sz="2244" dirty="0" err="1">
                <a:cs typeface="Trebuchet MS"/>
              </a:rPr>
              <a:t>Lanzo</a:t>
            </a:r>
            <a:r>
              <a:rPr sz="2244" dirty="0">
                <a:cs typeface="Trebuchet MS"/>
              </a:rPr>
              <a:t> la moneda 1000 veces: Pr (C </a:t>
            </a:r>
            <a:r>
              <a:rPr sz="2244" spc="3" dirty="0">
                <a:cs typeface="Trebuchet MS"/>
              </a:rPr>
              <a:t>= </a:t>
            </a:r>
            <a:r>
              <a:rPr sz="2244" dirty="0">
                <a:cs typeface="Trebuchet MS"/>
              </a:rPr>
              <a:t>0.516) </a:t>
            </a:r>
            <a:r>
              <a:rPr sz="2244" spc="3" dirty="0">
                <a:cs typeface="Trebuchet MS"/>
              </a:rPr>
              <a:t>y </a:t>
            </a:r>
            <a:r>
              <a:rPr sz="2244" dirty="0">
                <a:cs typeface="Trebuchet MS"/>
              </a:rPr>
              <a:t>Pr (S </a:t>
            </a:r>
            <a:r>
              <a:rPr sz="2244" spc="3" dirty="0">
                <a:cs typeface="Trebuchet MS"/>
              </a:rPr>
              <a:t>= </a:t>
            </a:r>
            <a:r>
              <a:rPr sz="2244" dirty="0">
                <a:cs typeface="Trebuchet MS"/>
              </a:rPr>
              <a:t>0.484) </a:t>
            </a:r>
            <a:endParaRPr lang="en-US" sz="2244" dirty="0">
              <a:cs typeface="Trebuchet MS"/>
            </a:endParaRPr>
          </a:p>
          <a:p>
            <a:pPr marL="7701" marR="2435145">
              <a:lnSpc>
                <a:spcPct val="211700"/>
              </a:lnSpc>
            </a:pPr>
            <a:r>
              <a:rPr sz="2244" dirty="0" err="1">
                <a:cs typeface="Trebuchet MS"/>
              </a:rPr>
              <a:t>Lanzo</a:t>
            </a:r>
            <a:r>
              <a:rPr sz="2244" dirty="0">
                <a:cs typeface="Trebuchet MS"/>
              </a:rPr>
              <a:t> </a:t>
            </a:r>
            <a:r>
              <a:rPr sz="2244" spc="3" dirty="0">
                <a:cs typeface="Trebuchet MS"/>
              </a:rPr>
              <a:t>la </a:t>
            </a:r>
            <a:r>
              <a:rPr sz="2244" dirty="0">
                <a:cs typeface="Trebuchet MS"/>
              </a:rPr>
              <a:t>moneda </a:t>
            </a:r>
            <a:r>
              <a:rPr sz="2244" spc="3" dirty="0">
                <a:cs typeface="Trebuchet MS"/>
              </a:rPr>
              <a:t>10000 veces: Pr </a:t>
            </a:r>
            <a:r>
              <a:rPr sz="2244" dirty="0">
                <a:cs typeface="Trebuchet MS"/>
              </a:rPr>
              <a:t>(C </a:t>
            </a:r>
            <a:r>
              <a:rPr sz="2244" spc="3" dirty="0">
                <a:cs typeface="Trebuchet MS"/>
              </a:rPr>
              <a:t>= </a:t>
            </a:r>
            <a:r>
              <a:rPr sz="2244" dirty="0">
                <a:cs typeface="Trebuchet MS"/>
              </a:rPr>
              <a:t>0.499) </a:t>
            </a:r>
            <a:r>
              <a:rPr sz="2244" spc="3" dirty="0">
                <a:cs typeface="Trebuchet MS"/>
              </a:rPr>
              <a:t>y Pr </a:t>
            </a:r>
            <a:r>
              <a:rPr sz="2244" dirty="0">
                <a:cs typeface="Trebuchet MS"/>
              </a:rPr>
              <a:t>(S </a:t>
            </a:r>
            <a:r>
              <a:rPr sz="2244" spc="3" dirty="0">
                <a:cs typeface="Trebuchet MS"/>
              </a:rPr>
              <a:t>=</a:t>
            </a:r>
            <a:r>
              <a:rPr sz="2244" spc="-91" dirty="0">
                <a:cs typeface="Trebuchet MS"/>
              </a:rPr>
              <a:t> </a:t>
            </a:r>
            <a:r>
              <a:rPr sz="2244" dirty="0">
                <a:cs typeface="Trebuchet MS"/>
              </a:rPr>
              <a:t>0.501)</a:t>
            </a:r>
          </a:p>
        </p:txBody>
      </p:sp>
    </p:spTree>
    <p:extLst>
      <p:ext uri="{BB962C8B-B14F-4D97-AF65-F5344CB8AC3E}">
        <p14:creationId xmlns:p14="http://schemas.microsoft.com/office/powerpoint/2010/main" val="32088197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722057" y="3152173"/>
            <a:ext cx="674633" cy="38121"/>
          </a:xfrm>
          <a:custGeom>
            <a:avLst/>
            <a:gdLst/>
            <a:ahLst/>
            <a:cxnLst/>
            <a:rect l="l" t="t" r="r" b="b"/>
            <a:pathLst>
              <a:path w="1112519" h="62864">
                <a:moveTo>
                  <a:pt x="1112008" y="0"/>
                </a:moveTo>
                <a:lnTo>
                  <a:pt x="0" y="0"/>
                </a:lnTo>
                <a:lnTo>
                  <a:pt x="0" y="62825"/>
                </a:lnTo>
                <a:lnTo>
                  <a:pt x="1112008" y="62825"/>
                </a:lnTo>
                <a:lnTo>
                  <a:pt x="1112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1828800" y="2286082"/>
            <a:ext cx="9027754" cy="1436056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marR="3081" indent="113979">
              <a:lnSpc>
                <a:spcPct val="100200"/>
              </a:lnSpc>
              <a:spcBef>
                <a:spcPts val="64"/>
              </a:spcBef>
            </a:pPr>
            <a:r>
              <a:rPr sz="3093" b="1" spc="3" dirty="0" err="1">
                <a:cs typeface="Trebuchet MS"/>
              </a:rPr>
              <a:t>Entende</a:t>
            </a:r>
            <a:r>
              <a:rPr lang="es-ES" sz="3093" b="1" spc="3" dirty="0" err="1">
                <a:cs typeface="Trebuchet MS"/>
              </a:rPr>
              <a:t>mos</a:t>
            </a:r>
            <a:r>
              <a:rPr sz="3093" b="1" spc="3" dirty="0">
                <a:cs typeface="Trebuchet MS"/>
              </a:rPr>
              <a:t> la estadística </a:t>
            </a:r>
            <a:r>
              <a:rPr sz="3093" b="1" spc="6" dirty="0">
                <a:cs typeface="Trebuchet MS"/>
              </a:rPr>
              <a:t>como </a:t>
            </a:r>
            <a:r>
              <a:rPr sz="3093" b="1" spc="3" dirty="0">
                <a:cs typeface="Trebuchet MS"/>
              </a:rPr>
              <a:t>una</a:t>
            </a:r>
            <a:r>
              <a:rPr sz="3093" b="1" spc="-67" dirty="0">
                <a:cs typeface="Trebuchet MS"/>
              </a:rPr>
              <a:t> </a:t>
            </a:r>
            <a:r>
              <a:rPr sz="3093" b="1" spc="3" dirty="0">
                <a:cs typeface="Trebuchet MS"/>
              </a:rPr>
              <a:t>herramienta  o </a:t>
            </a:r>
            <a:r>
              <a:rPr sz="3093" b="1" dirty="0">
                <a:cs typeface="Trebuchet MS"/>
              </a:rPr>
              <a:t>tecnología que nos permitirá </a:t>
            </a:r>
            <a:r>
              <a:rPr sz="3093" b="1" spc="3" dirty="0">
                <a:cs typeface="Trebuchet MS"/>
              </a:rPr>
              <a:t>usar </a:t>
            </a:r>
            <a:r>
              <a:rPr sz="3093" b="1" dirty="0">
                <a:cs typeface="Trebuchet MS"/>
              </a:rPr>
              <a:t>(</a:t>
            </a:r>
            <a:r>
              <a:rPr sz="3093" b="1" dirty="0" err="1">
                <a:cs typeface="Trebuchet MS"/>
              </a:rPr>
              <a:t>ciertos</a:t>
            </a:r>
            <a:r>
              <a:rPr sz="3093" b="1" dirty="0">
                <a:cs typeface="Trebuchet MS"/>
              </a:rPr>
              <a:t> </a:t>
            </a:r>
            <a:r>
              <a:rPr sz="3093" b="1" dirty="0" err="1">
                <a:cs typeface="Trebuchet MS"/>
              </a:rPr>
              <a:t>tipos</a:t>
            </a:r>
            <a:r>
              <a:rPr sz="3093" b="1" dirty="0">
                <a:cs typeface="Trebuchet MS"/>
              </a:rPr>
              <a:t> </a:t>
            </a:r>
            <a:r>
              <a:rPr sz="3093" b="1" spc="3" dirty="0">
                <a:cs typeface="Trebuchet MS"/>
              </a:rPr>
              <a:t>de) </a:t>
            </a:r>
            <a:r>
              <a:rPr sz="3093" b="1" dirty="0">
                <a:cs typeface="Trebuchet MS"/>
              </a:rPr>
              <a:t>datos </a:t>
            </a:r>
            <a:r>
              <a:rPr sz="3093" b="1" spc="3" dirty="0">
                <a:cs typeface="Trebuchet MS"/>
              </a:rPr>
              <a:t>para </a:t>
            </a:r>
            <a:r>
              <a:rPr sz="3093" b="1" dirty="0">
                <a:cs typeface="Trebuchet MS"/>
              </a:rPr>
              <a:t>responder </a:t>
            </a:r>
            <a:r>
              <a:rPr sz="3093" b="1" spc="3" dirty="0">
                <a:cs typeface="Trebuchet MS"/>
              </a:rPr>
              <a:t>preguntas </a:t>
            </a:r>
            <a:r>
              <a:rPr sz="3093" b="1" dirty="0">
                <a:cs typeface="Trebuchet MS"/>
              </a:rPr>
              <a:t>en</a:t>
            </a:r>
            <a:r>
              <a:rPr sz="3093" b="1" spc="-27" dirty="0">
                <a:cs typeface="Trebuchet MS"/>
              </a:rPr>
              <a:t> </a:t>
            </a:r>
            <a:r>
              <a:rPr sz="3093" b="1" spc="3" dirty="0">
                <a:cs typeface="Trebuchet MS"/>
              </a:rPr>
              <a:t>psicología.</a:t>
            </a:r>
            <a:endParaRPr sz="3093" dirty="0"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1436" y="971109"/>
            <a:ext cx="2407039" cy="484907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3093" b="1" spc="3" dirty="0">
                <a:solidFill>
                  <a:srgbClr val="FFFFFF"/>
                </a:solidFill>
                <a:latin typeface="Trebuchet MS"/>
                <a:cs typeface="Trebuchet MS"/>
              </a:rPr>
              <a:t>Recordemos:</a:t>
            </a:r>
            <a:endParaRPr sz="3093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9137" y="1421221"/>
            <a:ext cx="2392021" cy="38121"/>
          </a:xfrm>
          <a:custGeom>
            <a:avLst/>
            <a:gdLst/>
            <a:ahLst/>
            <a:cxnLst/>
            <a:rect l="l" t="t" r="r" b="b"/>
            <a:pathLst>
              <a:path w="3944620" h="62864">
                <a:moveTo>
                  <a:pt x="3944173" y="0"/>
                </a:moveTo>
                <a:lnTo>
                  <a:pt x="0" y="0"/>
                </a:lnTo>
                <a:lnTo>
                  <a:pt x="0" y="62825"/>
                </a:lnTo>
                <a:lnTo>
                  <a:pt x="3944173" y="62825"/>
                </a:lnTo>
                <a:lnTo>
                  <a:pt x="39441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5334175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01301" y="2156544"/>
            <a:ext cx="9526497" cy="82812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indent="113979" algn="ctr">
              <a:lnSpc>
                <a:spcPct val="100200"/>
              </a:lnSpc>
              <a:spcBef>
                <a:spcPts val="55"/>
              </a:spcBef>
            </a:pPr>
            <a:r>
              <a:rPr sz="2668" b="1" dirty="0">
                <a:cs typeface="Trebuchet MS"/>
              </a:rPr>
              <a:t>La </a:t>
            </a:r>
            <a:r>
              <a:rPr sz="2668" b="1" spc="-3" dirty="0">
                <a:cs typeface="Trebuchet MS"/>
              </a:rPr>
              <a:t>idea </a:t>
            </a:r>
            <a:r>
              <a:rPr sz="2668" b="1" dirty="0">
                <a:cs typeface="Trebuchet MS"/>
              </a:rPr>
              <a:t>central es que </a:t>
            </a:r>
            <a:r>
              <a:rPr sz="2668" b="1" spc="3" dirty="0" err="1">
                <a:cs typeface="Trebuchet MS"/>
              </a:rPr>
              <a:t>podemos</a:t>
            </a:r>
            <a:r>
              <a:rPr sz="2668" b="1" spc="3" dirty="0">
                <a:cs typeface="Trebuchet MS"/>
              </a:rPr>
              <a:t> </a:t>
            </a:r>
            <a:r>
              <a:rPr sz="2668" b="1" dirty="0">
                <a:cs typeface="Trebuchet MS"/>
              </a:rPr>
              <a:t>usar </a:t>
            </a:r>
            <a:r>
              <a:rPr sz="2668" b="1" spc="-3" dirty="0">
                <a:cs typeface="Trebuchet MS"/>
              </a:rPr>
              <a:t>modelos </a:t>
            </a:r>
            <a:r>
              <a:rPr sz="2668" b="1" dirty="0">
                <a:cs typeface="Trebuchet MS"/>
              </a:rPr>
              <a:t>cuantitativos </a:t>
            </a:r>
            <a:r>
              <a:rPr sz="2668" b="1" spc="3" dirty="0">
                <a:cs typeface="Trebuchet MS"/>
              </a:rPr>
              <a:t>para </a:t>
            </a:r>
            <a:r>
              <a:rPr sz="2668" b="1" spc="-3" dirty="0">
                <a:cs typeface="Trebuchet MS"/>
              </a:rPr>
              <a:t>responder </a:t>
            </a:r>
            <a:r>
              <a:rPr sz="2668" b="1" spc="3" dirty="0" err="1">
                <a:cs typeface="Trebuchet MS"/>
              </a:rPr>
              <a:t>preguntas</a:t>
            </a:r>
            <a:r>
              <a:rPr sz="2668" b="1" spc="3" dirty="0">
                <a:cs typeface="Trebuchet MS"/>
              </a:rPr>
              <a:t> </a:t>
            </a:r>
            <a:r>
              <a:rPr sz="2668" b="1" dirty="0">
                <a:cs typeface="Trebuchet MS"/>
              </a:rPr>
              <a:t>en </a:t>
            </a:r>
            <a:r>
              <a:rPr sz="2668" b="1" spc="3" dirty="0">
                <a:cs typeface="Trebuchet MS"/>
              </a:rPr>
              <a:t>psicología </a:t>
            </a:r>
            <a:r>
              <a:rPr sz="2668" b="1" dirty="0" err="1">
                <a:cs typeface="Trebuchet MS"/>
              </a:rPr>
              <a:t>qué</a:t>
            </a:r>
            <a:r>
              <a:rPr sz="2668" b="1" dirty="0">
                <a:cs typeface="Trebuchet MS"/>
              </a:rPr>
              <a:t> </a:t>
            </a:r>
            <a:r>
              <a:rPr sz="2668" b="1" dirty="0" err="1">
                <a:cs typeface="Trebuchet MS"/>
              </a:rPr>
              <a:t>involucran</a:t>
            </a:r>
            <a:r>
              <a:rPr sz="2668" b="1" dirty="0">
                <a:cs typeface="Trebuchet MS"/>
              </a:rPr>
              <a:t> incertidumbre.</a:t>
            </a:r>
            <a:endParaRPr sz="2668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24472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BAF39-7EE7-5D40-B480-753B5163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CL" sz="4000"/>
              <a:t>Posibles tácticas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30D5A7-5F3F-1F4F-8B82-4FFE0C50A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s-CL" sz="2200" dirty="0"/>
              <a:t>Escepticismo y explicaciones emergentes</a:t>
            </a:r>
          </a:p>
          <a:p>
            <a:pPr lvl="1"/>
            <a:r>
              <a:rPr lang="es-CL" sz="2200" dirty="0"/>
              <a:t>Si, entonces…</a:t>
            </a:r>
          </a:p>
          <a:p>
            <a:pPr lvl="1"/>
            <a:r>
              <a:rPr lang="es-CL" sz="2200" dirty="0"/>
              <a:t>Descartar relaciones espurias</a:t>
            </a:r>
          </a:p>
          <a:p>
            <a:pPr lvl="1"/>
            <a:r>
              <a:rPr lang="es-CL" sz="2200" dirty="0"/>
              <a:t>Replicar hallazgos</a:t>
            </a:r>
          </a:p>
          <a:p>
            <a:pPr lvl="1"/>
            <a:r>
              <a:rPr lang="es-CL" sz="2200" dirty="0"/>
              <a:t>Revisar explicaciones alternativas</a:t>
            </a:r>
          </a:p>
        </p:txBody>
      </p:sp>
    </p:spTree>
    <p:extLst>
      <p:ext uri="{BB962C8B-B14F-4D97-AF65-F5344CB8AC3E}">
        <p14:creationId xmlns:p14="http://schemas.microsoft.com/office/powerpoint/2010/main" val="343143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</TotalTime>
  <Words>5597</Words>
  <Application>Microsoft Macintosh PowerPoint</Application>
  <PresentationFormat>Widescreen</PresentationFormat>
  <Paragraphs>633</Paragraphs>
  <Slides>89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101" baseType="lpstr">
      <vt:lpstr>Abadi</vt:lpstr>
      <vt:lpstr>Adobe Hebrew</vt:lpstr>
      <vt:lpstr>Arial</vt:lpstr>
      <vt:lpstr>Calibri</vt:lpstr>
      <vt:lpstr>Calibri Light</vt:lpstr>
      <vt:lpstr>Cambria</vt:lpstr>
      <vt:lpstr>Microsoft Sans Serif</vt:lpstr>
      <vt:lpstr>Palatino Linotype</vt:lpstr>
      <vt:lpstr>Roboto</vt:lpstr>
      <vt:lpstr>Times New Roman</vt:lpstr>
      <vt:lpstr>Trebuchet MS</vt:lpstr>
      <vt:lpstr>Office Theme</vt:lpstr>
      <vt:lpstr>Métodos de la Investigación en Social   Clase 7</vt:lpstr>
      <vt:lpstr>A ver hoy</vt:lpstr>
      <vt:lpstr>¿De qué depende que en una situación  particular yo pueda afirmar (o no) que  puedo medir un atributo?</vt:lpstr>
      <vt:lpstr>Depende de la calidad del instrumento de medición que se usó para medir el atributo.</vt:lpstr>
      <vt:lpstr>PowerPoint Presentation</vt:lpstr>
      <vt:lpstr>¿Qué estándares? Cautelando la calidad en el uso de pruebas educacionales y psicológicas</vt:lpstr>
      <vt:lpstr>¿Qué estándares? Cautelando la calidad en el uso de pruebas educacionales y psicológicas</vt:lpstr>
      <vt:lpstr>Tres fundamentos en los estándares Validez, precisión e imparcialidad</vt:lpstr>
      <vt:lpstr>Validez: un constructo variado y fluido Definiciones de Validez</vt:lpstr>
      <vt:lpstr>Primer fundamento: Validez De acuerdo a los Estándares para el uso de pruebas educacionales y psicológicas</vt:lpstr>
      <vt:lpstr>Validez: elementos que la amenazan De acuerdo a los Estándares para el uso de pruebas educacionales y psicológicas</vt:lpstr>
      <vt:lpstr>Validez: argumentación a partir de cinco  fuentes de evidencia De acuerdo a los Estándares para el uso de pruebas educacionales y psicológicas</vt:lpstr>
      <vt:lpstr>Argumentación de validez a partir de cinco fuentes de evidencia</vt:lpstr>
      <vt:lpstr>Validez: evidencia basada en el contenido</vt:lpstr>
      <vt:lpstr>Validez: evidencia basada en el contenido</vt:lpstr>
      <vt:lpstr>Validez: evidencia basada en procesos de respuesta</vt:lpstr>
      <vt:lpstr>Validez: evidencia basada en procesos de respuesta</vt:lpstr>
      <vt:lpstr>Validez: evidencia basada en la estructura interna</vt:lpstr>
      <vt:lpstr>Validez: evidencia basada en la relación con otras variables</vt:lpstr>
      <vt:lpstr>Validez: evidencia basada en las consecuencias de la evaluación</vt:lpstr>
      <vt:lpstr>Segundo fundamento:  Precisión/conﬁabilidad</vt:lpstr>
      <vt:lpstr>Error de medición El error como un aspecto siempre presente en la medición</vt:lpstr>
      <vt:lpstr>Error de medición El error como un aspecto siempre presente en la medición</vt:lpstr>
      <vt:lpstr>Error de medición Aspectos importantes respecto del error de medición</vt:lpstr>
      <vt:lpstr>Error de medición (en metrología) Toda medición tiene un grado de incertidumbre asociada</vt:lpstr>
      <vt:lpstr>El error de medición De acuerdo a los Estándares para el uso de pruebas educacionales y psicológicas</vt:lpstr>
      <vt:lpstr>Segundo fundamento: Conﬁabilidad/Precisión</vt:lpstr>
      <vt:lpstr>Dos usos del concepto “Conﬁabilidad” De acuerdo a los Estándares para el uso de pruebas educacionales y psicológicas</vt:lpstr>
      <vt:lpstr>Segundo fundamento: Conﬁabilidad/Precisión</vt:lpstr>
      <vt:lpstr>Tercer fundamento: imparcialidad</vt:lpstr>
      <vt:lpstr>Tercer fundamento: Imparcialidad De acuerdo a los Estándares para el uso de pruebas educacionales y psicológicas</vt:lpstr>
      <vt:lpstr>Imparcialidad como ausencia de sesgo De acuerdo a los Estándares para el uso de pruebas educacionales y psicológicas</vt:lpstr>
      <vt:lpstr>Imparcialidad/Sesgo Enfatizando</vt:lpstr>
      <vt:lpstr>Sesgo</vt:lpstr>
      <vt:lpstr>Tres fundamentos en los estándares Validez, precisión y imparcialidad</vt:lpstr>
      <vt:lpstr>PowerPoint Presentation</vt:lpstr>
      <vt:lpstr>PowerPoint Presentation</vt:lpstr>
      <vt:lpstr>PowerPoint Presentation</vt:lpstr>
      <vt:lpstr>A ver hoy</vt:lpstr>
      <vt:lpstr>El proceso de investigación</vt:lpstr>
      <vt:lpstr>Problema de investigación</vt:lpstr>
      <vt:lpstr>Problema de investigación</vt:lpstr>
      <vt:lpstr>Pregunta de investigación</vt:lpstr>
      <vt:lpstr>Objetivos de investigación</vt:lpstr>
      <vt:lpstr>Objetivos de investigación</vt:lpstr>
      <vt:lpstr>Objetivos de investigación</vt:lpstr>
      <vt:lpstr>Objetivos de investigación</vt:lpstr>
      <vt:lpstr>Objetivos de investigación</vt:lpstr>
      <vt:lpstr>Distintos diseños posibles</vt:lpstr>
      <vt:lpstr>Producción de datos y análisis cualitativo</vt:lpstr>
      <vt:lpstr>¿Qué es la investigación cualitativa?</vt:lpstr>
      <vt:lpstr>Características centrales</vt:lpstr>
      <vt:lpstr>Rol del investigador</vt:lpstr>
      <vt:lpstr>Diseño cualitativo</vt:lpstr>
      <vt:lpstr>Estrategias cualitativas principales</vt:lpstr>
      <vt:lpstr>Selección de participantes</vt:lpstr>
      <vt:lpstr>Técnicas de recolección</vt:lpstr>
      <vt:lpstr>Registro de datos</vt:lpstr>
      <vt:lpstr>Análisis de datos cualitativos</vt:lpstr>
      <vt:lpstr>Codificación</vt:lpstr>
      <vt:lpstr>Análisis de datos cualitativos</vt:lpstr>
      <vt:lpstr>PowerPoint Presentation</vt:lpstr>
      <vt:lpstr>Interpretación</vt:lpstr>
      <vt:lpstr>Validez en cualitativo</vt:lpstr>
      <vt:lpstr>Incertidumbre, azar y modelos</vt:lpstr>
      <vt:lpstr>¿Qué es un modelo?</vt:lpstr>
      <vt:lpstr>Variabilidad como elemento clave</vt:lpstr>
      <vt:lpstr>Variabilidad como elemento clave</vt:lpstr>
      <vt:lpstr>Incertidumbre y patrones</vt:lpstr>
      <vt:lpstr>Incertidumbre y patrones</vt:lpstr>
      <vt:lpstr>Incertidumbre y patrones</vt:lpstr>
      <vt:lpstr>Fuentes de incertidumbre</vt:lpstr>
      <vt:lpstr>Fuentes de incertidumbre</vt:lpstr>
      <vt:lpstr>PowerPoint Presentation</vt:lpstr>
      <vt:lpstr>PowerPoint Presentation</vt:lpstr>
      <vt:lpstr>En este experimento aleatorio ambos resultados pueden ocurrir…</vt:lpstr>
      <vt:lpstr>Probabilidad</vt:lpstr>
      <vt:lpstr>¿Que valores pueden  tomar Pr ( C ) y Pr ( S)?</vt:lpstr>
      <vt:lpstr>Probabilidad</vt:lpstr>
      <vt:lpstr>Probabilidad</vt:lpstr>
      <vt:lpstr>Probabilidad</vt:lpstr>
      <vt:lpstr>Probabilidad</vt:lpstr>
      <vt:lpstr>Probabilidad</vt:lpstr>
      <vt:lpstr>Probabilidad</vt:lpstr>
      <vt:lpstr>Probabilidad teórica y empírica</vt:lpstr>
      <vt:lpstr>Probabilidad teórica y empírica</vt:lpstr>
      <vt:lpstr>Recordemos:</vt:lpstr>
      <vt:lpstr>PowerPoint Presentation</vt:lpstr>
      <vt:lpstr>Posibles tácticas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la Investigación en Social   Clase 7</dc:title>
  <dc:creator>Daniel Andrés Miranda Fuenzalida</dc:creator>
  <cp:lastModifiedBy>DANIEL  ANDRÉS MIRANDA FUENZALIDA</cp:lastModifiedBy>
  <cp:revision>2</cp:revision>
  <dcterms:created xsi:type="dcterms:W3CDTF">2026-04-26T17:40:10Z</dcterms:created>
  <dcterms:modified xsi:type="dcterms:W3CDTF">2026-04-28T05:11:12Z</dcterms:modified>
</cp:coreProperties>
</file>