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notesMasterIdLst>
    <p:notesMasterId r:id="rId49"/>
  </p:notesMasterIdLst>
  <p:handoutMasterIdLst>
    <p:handoutMasterId r:id="rId50"/>
  </p:handoutMasterIdLst>
  <p:sldIdLst>
    <p:sldId id="262" r:id="rId2"/>
    <p:sldId id="259" r:id="rId3"/>
    <p:sldId id="907" r:id="rId4"/>
    <p:sldId id="908" r:id="rId5"/>
    <p:sldId id="909" r:id="rId6"/>
    <p:sldId id="910" r:id="rId7"/>
    <p:sldId id="911" r:id="rId8"/>
    <p:sldId id="912" r:id="rId9"/>
    <p:sldId id="913" r:id="rId10"/>
    <p:sldId id="914" r:id="rId11"/>
    <p:sldId id="916" r:id="rId12"/>
    <p:sldId id="920" r:id="rId13"/>
    <p:sldId id="257" r:id="rId14"/>
    <p:sldId id="258" r:id="rId15"/>
    <p:sldId id="921" r:id="rId16"/>
    <p:sldId id="260" r:id="rId17"/>
    <p:sldId id="261" r:id="rId18"/>
    <p:sldId id="922" r:id="rId19"/>
    <p:sldId id="275" r:id="rId20"/>
    <p:sldId id="274" r:id="rId21"/>
    <p:sldId id="267" r:id="rId22"/>
    <p:sldId id="268" r:id="rId23"/>
    <p:sldId id="269" r:id="rId24"/>
    <p:sldId id="270" r:id="rId25"/>
    <p:sldId id="271" r:id="rId26"/>
    <p:sldId id="272" r:id="rId27"/>
    <p:sldId id="263" r:id="rId28"/>
    <p:sldId id="276" r:id="rId29"/>
    <p:sldId id="277" r:id="rId30"/>
    <p:sldId id="278" r:id="rId31"/>
    <p:sldId id="279" r:id="rId32"/>
    <p:sldId id="280" r:id="rId33"/>
    <p:sldId id="282" r:id="rId34"/>
    <p:sldId id="283" r:id="rId35"/>
    <p:sldId id="284" r:id="rId36"/>
    <p:sldId id="289" r:id="rId37"/>
    <p:sldId id="285" r:id="rId38"/>
    <p:sldId id="286" r:id="rId39"/>
    <p:sldId id="287" r:id="rId40"/>
    <p:sldId id="288" r:id="rId41"/>
    <p:sldId id="266" r:id="rId42"/>
    <p:sldId id="924" r:id="rId43"/>
    <p:sldId id="925" r:id="rId44"/>
    <p:sldId id="926" r:id="rId45"/>
    <p:sldId id="927" r:id="rId46"/>
    <p:sldId id="928" r:id="rId47"/>
    <p:sldId id="929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" initials="PLK" lastIdx="0" clrIdx="0">
    <p:extLst>
      <p:ext uri="{19B8F6BF-5375-455C-9EA6-DF929625EA0E}">
        <p15:presenceInfo xmlns:p15="http://schemas.microsoft.com/office/powerpoint/2012/main" userId="Prof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4D81"/>
    <a:srgbClr val="C8B29D"/>
    <a:srgbClr val="B4907A"/>
    <a:srgbClr val="FFE691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06" autoAdjust="0"/>
    <p:restoredTop sz="93893" autoAdjust="0"/>
  </p:normalViewPr>
  <p:slideViewPr>
    <p:cSldViewPr snapToGrid="0">
      <p:cViewPr varScale="1">
        <p:scale>
          <a:sx n="73" d="100"/>
          <a:sy n="73" d="100"/>
        </p:scale>
        <p:origin x="200" y="8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3993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287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6DAB73-3C0B-41A2-813F-84144A0A652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8D7BE4-6D05-4E92-A872-052A4E3C1038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Observar una situación concreta que nos interese</a:t>
          </a:r>
          <a:endParaRPr lang="en-US"/>
        </a:p>
      </dgm:t>
    </dgm:pt>
    <dgm:pt modelId="{F910C6D7-3993-4D95-82FB-E13A98748365}" type="parTrans" cxnId="{28A7948C-1E41-4189-A78D-A353D3624CE8}">
      <dgm:prSet/>
      <dgm:spPr/>
      <dgm:t>
        <a:bodyPr/>
        <a:lstStyle/>
        <a:p>
          <a:endParaRPr lang="en-US"/>
        </a:p>
      </dgm:t>
    </dgm:pt>
    <dgm:pt modelId="{E7623C49-C130-4D46-A777-0EB3259622FC}" type="sibTrans" cxnId="{28A7948C-1E41-4189-A78D-A353D3624CE8}">
      <dgm:prSet/>
      <dgm:spPr/>
      <dgm:t>
        <a:bodyPr/>
        <a:lstStyle/>
        <a:p>
          <a:endParaRPr lang="en-US"/>
        </a:p>
      </dgm:t>
    </dgm:pt>
    <dgm:pt modelId="{23FBFEF5-49A1-43B7-8CE6-A46B1988F5FA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Lo ideal, es que sea observación NO intrusiva</a:t>
          </a:r>
          <a:endParaRPr lang="en-US"/>
        </a:p>
      </dgm:t>
    </dgm:pt>
    <dgm:pt modelId="{B8E96C8F-EFA3-48A0-9ECC-5546FA28B3B0}" type="parTrans" cxnId="{BD3FC2A0-3C8C-4DB4-AADE-25D6EDAAE43C}">
      <dgm:prSet/>
      <dgm:spPr/>
      <dgm:t>
        <a:bodyPr/>
        <a:lstStyle/>
        <a:p>
          <a:endParaRPr lang="en-US"/>
        </a:p>
      </dgm:t>
    </dgm:pt>
    <dgm:pt modelId="{244DC553-0D23-4DF0-83A9-12431F2C2640}" type="sibTrans" cxnId="{BD3FC2A0-3C8C-4DB4-AADE-25D6EDAAE43C}">
      <dgm:prSet/>
      <dgm:spPr/>
      <dgm:t>
        <a:bodyPr/>
        <a:lstStyle/>
        <a:p>
          <a:endParaRPr lang="en-US"/>
        </a:p>
      </dgm:t>
    </dgm:pt>
    <dgm:pt modelId="{AD822C5B-4932-48FD-9005-C52018D2445C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VENTAJAS:</a:t>
          </a:r>
          <a:endParaRPr lang="en-US"/>
        </a:p>
      </dgm:t>
    </dgm:pt>
    <dgm:pt modelId="{65381BD9-0C75-44F2-B931-8EBCDDB8B9AC}" type="parTrans" cxnId="{B05B4231-1BC1-418C-8432-C7E2AFCD91F1}">
      <dgm:prSet/>
      <dgm:spPr/>
      <dgm:t>
        <a:bodyPr/>
        <a:lstStyle/>
        <a:p>
          <a:endParaRPr lang="en-US"/>
        </a:p>
      </dgm:t>
    </dgm:pt>
    <dgm:pt modelId="{14D84F6D-1564-4433-A969-8FD324BF0E80}" type="sibTrans" cxnId="{B05B4231-1BC1-418C-8432-C7E2AFCD91F1}">
      <dgm:prSet/>
      <dgm:spPr/>
      <dgm:t>
        <a:bodyPr/>
        <a:lstStyle/>
        <a:p>
          <a:endParaRPr lang="en-US"/>
        </a:p>
      </dgm:t>
    </dgm:pt>
    <dgm:pt modelId="{42C46559-5CE0-4E22-9092-860B1ADAAD8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Tiene la ventaja de que no requiere conversación</a:t>
          </a:r>
          <a:endParaRPr lang="en-US"/>
        </a:p>
      </dgm:t>
    </dgm:pt>
    <dgm:pt modelId="{6109570C-B1C9-411F-8B74-6FF55374A46C}" type="parTrans" cxnId="{C1F56085-05B5-4017-863D-2FDBF9D666D5}">
      <dgm:prSet/>
      <dgm:spPr/>
      <dgm:t>
        <a:bodyPr/>
        <a:lstStyle/>
        <a:p>
          <a:endParaRPr lang="en-US"/>
        </a:p>
      </dgm:t>
    </dgm:pt>
    <dgm:pt modelId="{7125C3FA-1757-4A97-A95A-39B77D9E811F}" type="sibTrans" cxnId="{C1F56085-05B5-4017-863D-2FDBF9D666D5}">
      <dgm:prSet/>
      <dgm:spPr/>
      <dgm:t>
        <a:bodyPr/>
        <a:lstStyle/>
        <a:p>
          <a:endParaRPr lang="en-US"/>
        </a:p>
      </dgm:t>
    </dgm:pt>
    <dgm:pt modelId="{2318B4FD-A05C-4DD6-B756-3ADFA72782A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Es idóneo para estudiar comportamientos no verbales comunes</a:t>
          </a:r>
          <a:endParaRPr lang="en-US" dirty="0"/>
        </a:p>
      </dgm:t>
    </dgm:pt>
    <dgm:pt modelId="{5A7091EE-FAB1-44D6-8EB7-60BAECDEB763}" type="parTrans" cxnId="{64268CFC-CCB4-4D9E-91AF-4CDB9D361728}">
      <dgm:prSet/>
      <dgm:spPr/>
      <dgm:t>
        <a:bodyPr/>
        <a:lstStyle/>
        <a:p>
          <a:endParaRPr lang="en-US"/>
        </a:p>
      </dgm:t>
    </dgm:pt>
    <dgm:pt modelId="{AEA5F5B6-9FEA-496B-8F89-A1045FC0EDD9}" type="sibTrans" cxnId="{64268CFC-CCB4-4D9E-91AF-4CDB9D361728}">
      <dgm:prSet/>
      <dgm:spPr/>
      <dgm:t>
        <a:bodyPr/>
        <a:lstStyle/>
        <a:p>
          <a:endParaRPr lang="en-US"/>
        </a:p>
      </dgm:t>
    </dgm:pt>
    <dgm:pt modelId="{643C7AA6-81C9-4455-9AF4-929F0E41D81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Además, los individuos en general no son conscientes de cómo actúan</a:t>
          </a:r>
          <a:endParaRPr lang="en-US" dirty="0"/>
        </a:p>
      </dgm:t>
    </dgm:pt>
    <dgm:pt modelId="{EA302BEF-6057-4699-A0C1-C417FBB20ABE}" type="parTrans" cxnId="{D7E1D972-1027-4DDC-84D0-DB99A58DA0ED}">
      <dgm:prSet/>
      <dgm:spPr/>
      <dgm:t>
        <a:bodyPr/>
        <a:lstStyle/>
        <a:p>
          <a:endParaRPr lang="en-US"/>
        </a:p>
      </dgm:t>
    </dgm:pt>
    <dgm:pt modelId="{CC6F5C6F-AE90-44FB-BBE6-998011E350A1}" type="sibTrans" cxnId="{D7E1D972-1027-4DDC-84D0-DB99A58DA0ED}">
      <dgm:prSet/>
      <dgm:spPr/>
      <dgm:t>
        <a:bodyPr/>
        <a:lstStyle/>
        <a:p>
          <a:endParaRPr lang="en-US"/>
        </a:p>
      </dgm:t>
    </dgm:pt>
    <dgm:pt modelId="{AFBAE932-FA01-44B8-95B3-A9F955F644D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Es más sencillo generalizar los resultados al mundo real</a:t>
          </a:r>
          <a:endParaRPr lang="en-US" dirty="0"/>
        </a:p>
      </dgm:t>
    </dgm:pt>
    <dgm:pt modelId="{0CB5A04E-8B9C-4FEE-85A4-0FDBA81397A4}" type="parTrans" cxnId="{C6D45ABE-20BE-47EF-876A-02D7AAE5E5E2}">
      <dgm:prSet/>
      <dgm:spPr/>
      <dgm:t>
        <a:bodyPr/>
        <a:lstStyle/>
        <a:p>
          <a:endParaRPr lang="en-US"/>
        </a:p>
      </dgm:t>
    </dgm:pt>
    <dgm:pt modelId="{D67632A0-99A4-4367-A589-FDE617A0DE87}" type="sibTrans" cxnId="{C6D45ABE-20BE-47EF-876A-02D7AAE5E5E2}">
      <dgm:prSet/>
      <dgm:spPr/>
      <dgm:t>
        <a:bodyPr/>
        <a:lstStyle/>
        <a:p>
          <a:endParaRPr lang="en-US"/>
        </a:p>
      </dgm:t>
    </dgm:pt>
    <dgm:pt modelId="{DF7EF14F-F6B5-4D57-9CC2-91D897ED9882}" type="pres">
      <dgm:prSet presAssocID="{E06DAB73-3C0B-41A2-813F-84144A0A6526}" presName="root" presStyleCnt="0">
        <dgm:presLayoutVars>
          <dgm:dir/>
          <dgm:resizeHandles val="exact"/>
        </dgm:presLayoutVars>
      </dgm:prSet>
      <dgm:spPr/>
    </dgm:pt>
    <dgm:pt modelId="{0676A2EF-6485-4918-978B-FA90E1B9EF77}" type="pres">
      <dgm:prSet presAssocID="{5D8D7BE4-6D05-4E92-A872-052A4E3C1038}" presName="compNode" presStyleCnt="0"/>
      <dgm:spPr/>
    </dgm:pt>
    <dgm:pt modelId="{D873E9F4-7090-4C3A-8704-D63D7EE22033}" type="pres">
      <dgm:prSet presAssocID="{5D8D7BE4-6D05-4E92-A872-052A4E3C1038}" presName="bgRect" presStyleLbl="bgShp" presStyleIdx="0" presStyleCnt="7"/>
      <dgm:spPr/>
    </dgm:pt>
    <dgm:pt modelId="{DD89232B-C6E5-4837-AE1B-0ECD67C27478}" type="pres">
      <dgm:prSet presAssocID="{5D8D7BE4-6D05-4E92-A872-052A4E3C1038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jo"/>
        </a:ext>
      </dgm:extLst>
    </dgm:pt>
    <dgm:pt modelId="{DBFEADF2-0E98-4E44-AE69-234D27FBAE3F}" type="pres">
      <dgm:prSet presAssocID="{5D8D7BE4-6D05-4E92-A872-052A4E3C1038}" presName="spaceRect" presStyleCnt="0"/>
      <dgm:spPr/>
    </dgm:pt>
    <dgm:pt modelId="{C8174B73-6FD9-4FE6-AEA4-8CD92EC29B0D}" type="pres">
      <dgm:prSet presAssocID="{5D8D7BE4-6D05-4E92-A872-052A4E3C1038}" presName="parTx" presStyleLbl="revTx" presStyleIdx="0" presStyleCnt="7">
        <dgm:presLayoutVars>
          <dgm:chMax val="0"/>
          <dgm:chPref val="0"/>
        </dgm:presLayoutVars>
      </dgm:prSet>
      <dgm:spPr/>
    </dgm:pt>
    <dgm:pt modelId="{BCFD763D-550D-4EC4-A4F6-E525D19D15CA}" type="pres">
      <dgm:prSet presAssocID="{E7623C49-C130-4D46-A777-0EB3259622FC}" presName="sibTrans" presStyleCnt="0"/>
      <dgm:spPr/>
    </dgm:pt>
    <dgm:pt modelId="{3D8E9A2D-8D61-474A-93D0-A30DFD842A4C}" type="pres">
      <dgm:prSet presAssocID="{23FBFEF5-49A1-43B7-8CE6-A46B1988F5FA}" presName="compNode" presStyleCnt="0"/>
      <dgm:spPr/>
    </dgm:pt>
    <dgm:pt modelId="{4165DDF4-2C08-430D-8FAE-AC4334D554AF}" type="pres">
      <dgm:prSet presAssocID="{23FBFEF5-49A1-43B7-8CE6-A46B1988F5FA}" presName="bgRect" presStyleLbl="bgShp" presStyleIdx="1" presStyleCnt="7"/>
      <dgm:spPr/>
    </dgm:pt>
    <dgm:pt modelId="{AC29D542-225B-4EC9-991D-F08A72F6DCA4}" type="pres">
      <dgm:prSet presAssocID="{23FBFEF5-49A1-43B7-8CE6-A46B1988F5FA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z"/>
        </a:ext>
      </dgm:extLst>
    </dgm:pt>
    <dgm:pt modelId="{E6059F5D-86D0-479E-A740-1A767AA270F1}" type="pres">
      <dgm:prSet presAssocID="{23FBFEF5-49A1-43B7-8CE6-A46B1988F5FA}" presName="spaceRect" presStyleCnt="0"/>
      <dgm:spPr/>
    </dgm:pt>
    <dgm:pt modelId="{1ABE92D6-46BD-4AD7-895B-199C464198E4}" type="pres">
      <dgm:prSet presAssocID="{23FBFEF5-49A1-43B7-8CE6-A46B1988F5FA}" presName="parTx" presStyleLbl="revTx" presStyleIdx="1" presStyleCnt="7">
        <dgm:presLayoutVars>
          <dgm:chMax val="0"/>
          <dgm:chPref val="0"/>
        </dgm:presLayoutVars>
      </dgm:prSet>
      <dgm:spPr/>
    </dgm:pt>
    <dgm:pt modelId="{A493D2D5-0C9A-46A2-9882-7F2840D1CF7A}" type="pres">
      <dgm:prSet presAssocID="{244DC553-0D23-4DF0-83A9-12431F2C2640}" presName="sibTrans" presStyleCnt="0"/>
      <dgm:spPr/>
    </dgm:pt>
    <dgm:pt modelId="{9AD4E1BD-38B5-43A3-A6D2-667F9FFB9A63}" type="pres">
      <dgm:prSet presAssocID="{AD822C5B-4932-48FD-9005-C52018D2445C}" presName="compNode" presStyleCnt="0"/>
      <dgm:spPr/>
    </dgm:pt>
    <dgm:pt modelId="{86421273-384E-403C-B702-EF55BBBE838E}" type="pres">
      <dgm:prSet presAssocID="{AD822C5B-4932-48FD-9005-C52018D2445C}" presName="bgRect" presStyleLbl="bgShp" presStyleIdx="2" presStyleCnt="7"/>
      <dgm:spPr/>
    </dgm:pt>
    <dgm:pt modelId="{190B71AF-EEA7-4F0E-B5E6-3D5AC137C50F}" type="pres">
      <dgm:prSet presAssocID="{AD822C5B-4932-48FD-9005-C52018D2445C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7B38C72-E024-4323-9B77-8891A9B0ED13}" type="pres">
      <dgm:prSet presAssocID="{AD822C5B-4932-48FD-9005-C52018D2445C}" presName="spaceRect" presStyleCnt="0"/>
      <dgm:spPr/>
    </dgm:pt>
    <dgm:pt modelId="{54F0730A-4673-4194-8964-FB75D45EF333}" type="pres">
      <dgm:prSet presAssocID="{AD822C5B-4932-48FD-9005-C52018D2445C}" presName="parTx" presStyleLbl="revTx" presStyleIdx="2" presStyleCnt="7">
        <dgm:presLayoutVars>
          <dgm:chMax val="0"/>
          <dgm:chPref val="0"/>
        </dgm:presLayoutVars>
      </dgm:prSet>
      <dgm:spPr/>
    </dgm:pt>
    <dgm:pt modelId="{0C445776-5E14-461F-9461-F4350C0BE850}" type="pres">
      <dgm:prSet presAssocID="{14D84F6D-1564-4433-A969-8FD324BF0E80}" presName="sibTrans" presStyleCnt="0"/>
      <dgm:spPr/>
    </dgm:pt>
    <dgm:pt modelId="{B1090B53-7158-4CE8-BB1C-945EBAB09FD5}" type="pres">
      <dgm:prSet presAssocID="{42C46559-5CE0-4E22-9092-860B1ADAAD80}" presName="compNode" presStyleCnt="0"/>
      <dgm:spPr/>
    </dgm:pt>
    <dgm:pt modelId="{8F570E9A-4DAD-4AE0-B431-802CB7202613}" type="pres">
      <dgm:prSet presAssocID="{42C46559-5CE0-4E22-9092-860B1ADAAD80}" presName="bgRect" presStyleLbl="bgShp" presStyleIdx="3" presStyleCnt="7"/>
      <dgm:spPr/>
    </dgm:pt>
    <dgm:pt modelId="{6FDE0111-851C-491F-992B-D55DDAE154F1}" type="pres">
      <dgm:prSet presAssocID="{42C46559-5CE0-4E22-9092-860B1ADAAD80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F61CBFA5-B108-4BF4-9810-F2B78551D291}" type="pres">
      <dgm:prSet presAssocID="{42C46559-5CE0-4E22-9092-860B1ADAAD80}" presName="spaceRect" presStyleCnt="0"/>
      <dgm:spPr/>
    </dgm:pt>
    <dgm:pt modelId="{178104F3-A9DF-41BD-A698-C469E85422AE}" type="pres">
      <dgm:prSet presAssocID="{42C46559-5CE0-4E22-9092-860B1ADAAD80}" presName="parTx" presStyleLbl="revTx" presStyleIdx="3" presStyleCnt="7">
        <dgm:presLayoutVars>
          <dgm:chMax val="0"/>
          <dgm:chPref val="0"/>
        </dgm:presLayoutVars>
      </dgm:prSet>
      <dgm:spPr/>
    </dgm:pt>
    <dgm:pt modelId="{B2EDDDFA-8B2B-4037-9BCE-4F42F2F18500}" type="pres">
      <dgm:prSet presAssocID="{7125C3FA-1757-4A97-A95A-39B77D9E811F}" presName="sibTrans" presStyleCnt="0"/>
      <dgm:spPr/>
    </dgm:pt>
    <dgm:pt modelId="{7436D82A-7018-40E6-AEA0-FB313373D985}" type="pres">
      <dgm:prSet presAssocID="{2318B4FD-A05C-4DD6-B756-3ADFA72782AF}" presName="compNode" presStyleCnt="0"/>
      <dgm:spPr/>
    </dgm:pt>
    <dgm:pt modelId="{925C046C-3BA1-4FC3-97E8-04EFCE470930}" type="pres">
      <dgm:prSet presAssocID="{2318B4FD-A05C-4DD6-B756-3ADFA72782AF}" presName="bgRect" presStyleLbl="bgShp" presStyleIdx="4" presStyleCnt="7"/>
      <dgm:spPr/>
    </dgm:pt>
    <dgm:pt modelId="{88179749-4131-4F0F-939E-B39D06741EE2}" type="pres">
      <dgm:prSet presAssocID="{2318B4FD-A05C-4DD6-B756-3ADFA72782AF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2B249CCC-7D4C-456B-9C66-F8A2259F86CA}" type="pres">
      <dgm:prSet presAssocID="{2318B4FD-A05C-4DD6-B756-3ADFA72782AF}" presName="spaceRect" presStyleCnt="0"/>
      <dgm:spPr/>
    </dgm:pt>
    <dgm:pt modelId="{61F3AA4B-05E6-4EB2-B3B7-3D307308BAA3}" type="pres">
      <dgm:prSet presAssocID="{2318B4FD-A05C-4DD6-B756-3ADFA72782AF}" presName="parTx" presStyleLbl="revTx" presStyleIdx="4" presStyleCnt="7">
        <dgm:presLayoutVars>
          <dgm:chMax val="0"/>
          <dgm:chPref val="0"/>
        </dgm:presLayoutVars>
      </dgm:prSet>
      <dgm:spPr/>
    </dgm:pt>
    <dgm:pt modelId="{F486D827-872E-4250-A148-7AFD9F1B0A0C}" type="pres">
      <dgm:prSet presAssocID="{AEA5F5B6-9FEA-496B-8F89-A1045FC0EDD9}" presName="sibTrans" presStyleCnt="0"/>
      <dgm:spPr/>
    </dgm:pt>
    <dgm:pt modelId="{37ED8181-B4F3-43F8-B486-19842C15DA89}" type="pres">
      <dgm:prSet presAssocID="{643C7AA6-81C9-4455-9AF4-929F0E41D81D}" presName="compNode" presStyleCnt="0"/>
      <dgm:spPr/>
    </dgm:pt>
    <dgm:pt modelId="{F75CA7A2-B2C9-485E-A1E2-044863A881CE}" type="pres">
      <dgm:prSet presAssocID="{643C7AA6-81C9-4455-9AF4-929F0E41D81D}" presName="bgRect" presStyleLbl="bgShp" presStyleIdx="5" presStyleCnt="7"/>
      <dgm:spPr/>
    </dgm:pt>
    <dgm:pt modelId="{CB2688B1-A66F-43D8-A54E-8561B7616672}" type="pres">
      <dgm:prSet presAssocID="{643C7AA6-81C9-4455-9AF4-929F0E41D81D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A207FA7F-970A-4205-A61A-1060DC013E5C}" type="pres">
      <dgm:prSet presAssocID="{643C7AA6-81C9-4455-9AF4-929F0E41D81D}" presName="spaceRect" presStyleCnt="0"/>
      <dgm:spPr/>
    </dgm:pt>
    <dgm:pt modelId="{E6357B01-2FB9-4E0A-8C4E-DC7A4622A09A}" type="pres">
      <dgm:prSet presAssocID="{643C7AA6-81C9-4455-9AF4-929F0E41D81D}" presName="parTx" presStyleLbl="revTx" presStyleIdx="5" presStyleCnt="7">
        <dgm:presLayoutVars>
          <dgm:chMax val="0"/>
          <dgm:chPref val="0"/>
        </dgm:presLayoutVars>
      </dgm:prSet>
      <dgm:spPr/>
    </dgm:pt>
    <dgm:pt modelId="{CA277993-063D-4217-8EC0-D9B215574712}" type="pres">
      <dgm:prSet presAssocID="{CC6F5C6F-AE90-44FB-BBE6-998011E350A1}" presName="sibTrans" presStyleCnt="0"/>
      <dgm:spPr/>
    </dgm:pt>
    <dgm:pt modelId="{25AB60B6-0AEE-4CA9-A765-9DD1D01FB961}" type="pres">
      <dgm:prSet presAssocID="{AFBAE932-FA01-44B8-95B3-A9F955F644D6}" presName="compNode" presStyleCnt="0"/>
      <dgm:spPr/>
    </dgm:pt>
    <dgm:pt modelId="{BF06A3D4-08C3-4778-9087-1CC04408D9D2}" type="pres">
      <dgm:prSet presAssocID="{AFBAE932-FA01-44B8-95B3-A9F955F644D6}" presName="bgRect" presStyleLbl="bgShp" presStyleIdx="6" presStyleCnt="7"/>
      <dgm:spPr/>
    </dgm:pt>
    <dgm:pt modelId="{5A04CB98-D92C-4009-8AFD-BC6C8294C9C5}" type="pres">
      <dgm:prSet presAssocID="{AFBAE932-FA01-44B8-95B3-A9F955F644D6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AD23C415-1A29-45A3-BB74-A1C77647D177}" type="pres">
      <dgm:prSet presAssocID="{AFBAE932-FA01-44B8-95B3-A9F955F644D6}" presName="spaceRect" presStyleCnt="0"/>
      <dgm:spPr/>
    </dgm:pt>
    <dgm:pt modelId="{078520CB-28D4-46BF-B9DB-57B34F53AA0D}" type="pres">
      <dgm:prSet presAssocID="{AFBAE932-FA01-44B8-95B3-A9F955F644D6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B05B4231-1BC1-418C-8432-C7E2AFCD91F1}" srcId="{E06DAB73-3C0B-41A2-813F-84144A0A6526}" destId="{AD822C5B-4932-48FD-9005-C52018D2445C}" srcOrd="2" destOrd="0" parTransId="{65381BD9-0C75-44F2-B931-8EBCDDB8B9AC}" sibTransId="{14D84F6D-1564-4433-A969-8FD324BF0E80}"/>
    <dgm:cxn modelId="{9EE8974D-36A4-4B50-A0A8-B9B2C835240E}" type="presOf" srcId="{5D8D7BE4-6D05-4E92-A872-052A4E3C1038}" destId="{C8174B73-6FD9-4FE6-AEA4-8CD92EC29B0D}" srcOrd="0" destOrd="0" presId="urn:microsoft.com/office/officeart/2018/2/layout/IconVerticalSolidList"/>
    <dgm:cxn modelId="{04DA425F-26CA-45B9-A2BC-0DAE389C068D}" type="presOf" srcId="{643C7AA6-81C9-4455-9AF4-929F0E41D81D}" destId="{E6357B01-2FB9-4E0A-8C4E-DC7A4622A09A}" srcOrd="0" destOrd="0" presId="urn:microsoft.com/office/officeart/2018/2/layout/IconVerticalSolidList"/>
    <dgm:cxn modelId="{89D8B56C-2A1F-42D3-A6D7-95DA4CE76D54}" type="presOf" srcId="{AFBAE932-FA01-44B8-95B3-A9F955F644D6}" destId="{078520CB-28D4-46BF-B9DB-57B34F53AA0D}" srcOrd="0" destOrd="0" presId="urn:microsoft.com/office/officeart/2018/2/layout/IconVerticalSolidList"/>
    <dgm:cxn modelId="{1DF4A171-160B-45C6-9822-C3C8074D3F6F}" type="presOf" srcId="{E06DAB73-3C0B-41A2-813F-84144A0A6526}" destId="{DF7EF14F-F6B5-4D57-9CC2-91D897ED9882}" srcOrd="0" destOrd="0" presId="urn:microsoft.com/office/officeart/2018/2/layout/IconVerticalSolidList"/>
    <dgm:cxn modelId="{D7E1D972-1027-4DDC-84D0-DB99A58DA0ED}" srcId="{E06DAB73-3C0B-41A2-813F-84144A0A6526}" destId="{643C7AA6-81C9-4455-9AF4-929F0E41D81D}" srcOrd="5" destOrd="0" parTransId="{EA302BEF-6057-4699-A0C1-C417FBB20ABE}" sibTransId="{CC6F5C6F-AE90-44FB-BBE6-998011E350A1}"/>
    <dgm:cxn modelId="{17B5A781-65BE-4EBF-8932-7AF67EBA0398}" type="presOf" srcId="{2318B4FD-A05C-4DD6-B756-3ADFA72782AF}" destId="{61F3AA4B-05E6-4EB2-B3B7-3D307308BAA3}" srcOrd="0" destOrd="0" presId="urn:microsoft.com/office/officeart/2018/2/layout/IconVerticalSolidList"/>
    <dgm:cxn modelId="{C1F56085-05B5-4017-863D-2FDBF9D666D5}" srcId="{E06DAB73-3C0B-41A2-813F-84144A0A6526}" destId="{42C46559-5CE0-4E22-9092-860B1ADAAD80}" srcOrd="3" destOrd="0" parTransId="{6109570C-B1C9-411F-8B74-6FF55374A46C}" sibTransId="{7125C3FA-1757-4A97-A95A-39B77D9E811F}"/>
    <dgm:cxn modelId="{28A7948C-1E41-4189-A78D-A353D3624CE8}" srcId="{E06DAB73-3C0B-41A2-813F-84144A0A6526}" destId="{5D8D7BE4-6D05-4E92-A872-052A4E3C1038}" srcOrd="0" destOrd="0" parTransId="{F910C6D7-3993-4D95-82FB-E13A98748365}" sibTransId="{E7623C49-C130-4D46-A777-0EB3259622FC}"/>
    <dgm:cxn modelId="{BD3FC2A0-3C8C-4DB4-AADE-25D6EDAAE43C}" srcId="{E06DAB73-3C0B-41A2-813F-84144A0A6526}" destId="{23FBFEF5-49A1-43B7-8CE6-A46B1988F5FA}" srcOrd="1" destOrd="0" parTransId="{B8E96C8F-EFA3-48A0-9ECC-5546FA28B3B0}" sibTransId="{244DC553-0D23-4DF0-83A9-12431F2C2640}"/>
    <dgm:cxn modelId="{996AD5BA-FA2E-42C5-9BBE-0FF307024A1F}" type="presOf" srcId="{AD822C5B-4932-48FD-9005-C52018D2445C}" destId="{54F0730A-4673-4194-8964-FB75D45EF333}" srcOrd="0" destOrd="0" presId="urn:microsoft.com/office/officeart/2018/2/layout/IconVerticalSolidList"/>
    <dgm:cxn modelId="{C6D45ABE-20BE-47EF-876A-02D7AAE5E5E2}" srcId="{E06DAB73-3C0B-41A2-813F-84144A0A6526}" destId="{AFBAE932-FA01-44B8-95B3-A9F955F644D6}" srcOrd="6" destOrd="0" parTransId="{0CB5A04E-8B9C-4FEE-85A4-0FDBA81397A4}" sibTransId="{D67632A0-99A4-4367-A589-FDE617A0DE87}"/>
    <dgm:cxn modelId="{410534DC-0054-4E55-A4E5-0B53B95B4F44}" type="presOf" srcId="{23FBFEF5-49A1-43B7-8CE6-A46B1988F5FA}" destId="{1ABE92D6-46BD-4AD7-895B-199C464198E4}" srcOrd="0" destOrd="0" presId="urn:microsoft.com/office/officeart/2018/2/layout/IconVerticalSolidList"/>
    <dgm:cxn modelId="{1351EAEB-CFD1-4EDA-BF9E-7231D26C2F43}" type="presOf" srcId="{42C46559-5CE0-4E22-9092-860B1ADAAD80}" destId="{178104F3-A9DF-41BD-A698-C469E85422AE}" srcOrd="0" destOrd="0" presId="urn:microsoft.com/office/officeart/2018/2/layout/IconVerticalSolidList"/>
    <dgm:cxn modelId="{64268CFC-CCB4-4D9E-91AF-4CDB9D361728}" srcId="{E06DAB73-3C0B-41A2-813F-84144A0A6526}" destId="{2318B4FD-A05C-4DD6-B756-3ADFA72782AF}" srcOrd="4" destOrd="0" parTransId="{5A7091EE-FAB1-44D6-8EB7-60BAECDEB763}" sibTransId="{AEA5F5B6-9FEA-496B-8F89-A1045FC0EDD9}"/>
    <dgm:cxn modelId="{7AA81A0D-EA62-44EA-816B-730F17F8DC24}" type="presParOf" srcId="{DF7EF14F-F6B5-4D57-9CC2-91D897ED9882}" destId="{0676A2EF-6485-4918-978B-FA90E1B9EF77}" srcOrd="0" destOrd="0" presId="urn:microsoft.com/office/officeart/2018/2/layout/IconVerticalSolidList"/>
    <dgm:cxn modelId="{E095E04C-DD86-4055-8BCA-454ED427E39B}" type="presParOf" srcId="{0676A2EF-6485-4918-978B-FA90E1B9EF77}" destId="{D873E9F4-7090-4C3A-8704-D63D7EE22033}" srcOrd="0" destOrd="0" presId="urn:microsoft.com/office/officeart/2018/2/layout/IconVerticalSolidList"/>
    <dgm:cxn modelId="{D0486015-19ED-45B2-98AF-5B1B9274E0EC}" type="presParOf" srcId="{0676A2EF-6485-4918-978B-FA90E1B9EF77}" destId="{DD89232B-C6E5-4837-AE1B-0ECD67C27478}" srcOrd="1" destOrd="0" presId="urn:microsoft.com/office/officeart/2018/2/layout/IconVerticalSolidList"/>
    <dgm:cxn modelId="{64C0E655-FD78-4562-B1FF-58626838B5E3}" type="presParOf" srcId="{0676A2EF-6485-4918-978B-FA90E1B9EF77}" destId="{DBFEADF2-0E98-4E44-AE69-234D27FBAE3F}" srcOrd="2" destOrd="0" presId="urn:microsoft.com/office/officeart/2018/2/layout/IconVerticalSolidList"/>
    <dgm:cxn modelId="{42597E11-9FFF-4879-850E-98B3779DE26D}" type="presParOf" srcId="{0676A2EF-6485-4918-978B-FA90E1B9EF77}" destId="{C8174B73-6FD9-4FE6-AEA4-8CD92EC29B0D}" srcOrd="3" destOrd="0" presId="urn:microsoft.com/office/officeart/2018/2/layout/IconVerticalSolidList"/>
    <dgm:cxn modelId="{362C7F33-6D06-4298-B6F1-F0735CC1ED21}" type="presParOf" srcId="{DF7EF14F-F6B5-4D57-9CC2-91D897ED9882}" destId="{BCFD763D-550D-4EC4-A4F6-E525D19D15CA}" srcOrd="1" destOrd="0" presId="urn:microsoft.com/office/officeart/2018/2/layout/IconVerticalSolidList"/>
    <dgm:cxn modelId="{3569D37C-8182-4014-A349-3AA538BC15CA}" type="presParOf" srcId="{DF7EF14F-F6B5-4D57-9CC2-91D897ED9882}" destId="{3D8E9A2D-8D61-474A-93D0-A30DFD842A4C}" srcOrd="2" destOrd="0" presId="urn:microsoft.com/office/officeart/2018/2/layout/IconVerticalSolidList"/>
    <dgm:cxn modelId="{18E19D31-AB9A-4A8A-A0F5-223C3CEEA45D}" type="presParOf" srcId="{3D8E9A2D-8D61-474A-93D0-A30DFD842A4C}" destId="{4165DDF4-2C08-430D-8FAE-AC4334D554AF}" srcOrd="0" destOrd="0" presId="urn:microsoft.com/office/officeart/2018/2/layout/IconVerticalSolidList"/>
    <dgm:cxn modelId="{F3772167-3C1C-4261-95D8-CA2F335EC5D0}" type="presParOf" srcId="{3D8E9A2D-8D61-474A-93D0-A30DFD842A4C}" destId="{AC29D542-225B-4EC9-991D-F08A72F6DCA4}" srcOrd="1" destOrd="0" presId="urn:microsoft.com/office/officeart/2018/2/layout/IconVerticalSolidList"/>
    <dgm:cxn modelId="{1FFF29CF-8092-4E3D-A0FF-F1D5FB5FBC9C}" type="presParOf" srcId="{3D8E9A2D-8D61-474A-93D0-A30DFD842A4C}" destId="{E6059F5D-86D0-479E-A740-1A767AA270F1}" srcOrd="2" destOrd="0" presId="urn:microsoft.com/office/officeart/2018/2/layout/IconVerticalSolidList"/>
    <dgm:cxn modelId="{6FF8ADEB-8DD1-40E2-A326-07F63B08F038}" type="presParOf" srcId="{3D8E9A2D-8D61-474A-93D0-A30DFD842A4C}" destId="{1ABE92D6-46BD-4AD7-895B-199C464198E4}" srcOrd="3" destOrd="0" presId="urn:microsoft.com/office/officeart/2018/2/layout/IconVerticalSolidList"/>
    <dgm:cxn modelId="{D368E855-7E24-485E-9D98-48356A792D32}" type="presParOf" srcId="{DF7EF14F-F6B5-4D57-9CC2-91D897ED9882}" destId="{A493D2D5-0C9A-46A2-9882-7F2840D1CF7A}" srcOrd="3" destOrd="0" presId="urn:microsoft.com/office/officeart/2018/2/layout/IconVerticalSolidList"/>
    <dgm:cxn modelId="{40DFDAC2-E4BA-474C-A5AC-032012554477}" type="presParOf" srcId="{DF7EF14F-F6B5-4D57-9CC2-91D897ED9882}" destId="{9AD4E1BD-38B5-43A3-A6D2-667F9FFB9A63}" srcOrd="4" destOrd="0" presId="urn:microsoft.com/office/officeart/2018/2/layout/IconVerticalSolidList"/>
    <dgm:cxn modelId="{B8764759-2E01-4957-9AED-08FDDACE4C56}" type="presParOf" srcId="{9AD4E1BD-38B5-43A3-A6D2-667F9FFB9A63}" destId="{86421273-384E-403C-B702-EF55BBBE838E}" srcOrd="0" destOrd="0" presId="urn:microsoft.com/office/officeart/2018/2/layout/IconVerticalSolidList"/>
    <dgm:cxn modelId="{805212F8-58BD-465D-B960-A1047276523D}" type="presParOf" srcId="{9AD4E1BD-38B5-43A3-A6D2-667F9FFB9A63}" destId="{190B71AF-EEA7-4F0E-B5E6-3D5AC137C50F}" srcOrd="1" destOrd="0" presId="urn:microsoft.com/office/officeart/2018/2/layout/IconVerticalSolidList"/>
    <dgm:cxn modelId="{30AD24C6-9C5E-42AA-87D3-7D384FAF6BC8}" type="presParOf" srcId="{9AD4E1BD-38B5-43A3-A6D2-667F9FFB9A63}" destId="{47B38C72-E024-4323-9B77-8891A9B0ED13}" srcOrd="2" destOrd="0" presId="urn:microsoft.com/office/officeart/2018/2/layout/IconVerticalSolidList"/>
    <dgm:cxn modelId="{7FE4ED0F-447E-4F80-815B-BF4F4C595060}" type="presParOf" srcId="{9AD4E1BD-38B5-43A3-A6D2-667F9FFB9A63}" destId="{54F0730A-4673-4194-8964-FB75D45EF333}" srcOrd="3" destOrd="0" presId="urn:microsoft.com/office/officeart/2018/2/layout/IconVerticalSolidList"/>
    <dgm:cxn modelId="{6CEEE7B5-B28B-4D34-B48C-35F2C057AE18}" type="presParOf" srcId="{DF7EF14F-F6B5-4D57-9CC2-91D897ED9882}" destId="{0C445776-5E14-461F-9461-F4350C0BE850}" srcOrd="5" destOrd="0" presId="urn:microsoft.com/office/officeart/2018/2/layout/IconVerticalSolidList"/>
    <dgm:cxn modelId="{CF820D1B-0488-43BB-9CDA-8E4D27B7D4FB}" type="presParOf" srcId="{DF7EF14F-F6B5-4D57-9CC2-91D897ED9882}" destId="{B1090B53-7158-4CE8-BB1C-945EBAB09FD5}" srcOrd="6" destOrd="0" presId="urn:microsoft.com/office/officeart/2018/2/layout/IconVerticalSolidList"/>
    <dgm:cxn modelId="{65B91C87-ADDB-458A-802B-0769954C2219}" type="presParOf" srcId="{B1090B53-7158-4CE8-BB1C-945EBAB09FD5}" destId="{8F570E9A-4DAD-4AE0-B431-802CB7202613}" srcOrd="0" destOrd="0" presId="urn:microsoft.com/office/officeart/2018/2/layout/IconVerticalSolidList"/>
    <dgm:cxn modelId="{05147F59-7F23-4201-889A-CDBA2E7037FB}" type="presParOf" srcId="{B1090B53-7158-4CE8-BB1C-945EBAB09FD5}" destId="{6FDE0111-851C-491F-992B-D55DDAE154F1}" srcOrd="1" destOrd="0" presId="urn:microsoft.com/office/officeart/2018/2/layout/IconVerticalSolidList"/>
    <dgm:cxn modelId="{0D6727EE-5572-4140-A111-213F0BF2A393}" type="presParOf" srcId="{B1090B53-7158-4CE8-BB1C-945EBAB09FD5}" destId="{F61CBFA5-B108-4BF4-9810-F2B78551D291}" srcOrd="2" destOrd="0" presId="urn:microsoft.com/office/officeart/2018/2/layout/IconVerticalSolidList"/>
    <dgm:cxn modelId="{84505960-BABD-4D7A-BA5B-FA6A89E32C40}" type="presParOf" srcId="{B1090B53-7158-4CE8-BB1C-945EBAB09FD5}" destId="{178104F3-A9DF-41BD-A698-C469E85422AE}" srcOrd="3" destOrd="0" presId="urn:microsoft.com/office/officeart/2018/2/layout/IconVerticalSolidList"/>
    <dgm:cxn modelId="{7AF980B3-0551-4F34-9661-0137137A2E68}" type="presParOf" srcId="{DF7EF14F-F6B5-4D57-9CC2-91D897ED9882}" destId="{B2EDDDFA-8B2B-4037-9BCE-4F42F2F18500}" srcOrd="7" destOrd="0" presId="urn:microsoft.com/office/officeart/2018/2/layout/IconVerticalSolidList"/>
    <dgm:cxn modelId="{398F6E95-0F9E-4709-A964-1E5CED9F42C1}" type="presParOf" srcId="{DF7EF14F-F6B5-4D57-9CC2-91D897ED9882}" destId="{7436D82A-7018-40E6-AEA0-FB313373D985}" srcOrd="8" destOrd="0" presId="urn:microsoft.com/office/officeart/2018/2/layout/IconVerticalSolidList"/>
    <dgm:cxn modelId="{E105A400-D27E-4C32-BE8C-CD8C4CC694ED}" type="presParOf" srcId="{7436D82A-7018-40E6-AEA0-FB313373D985}" destId="{925C046C-3BA1-4FC3-97E8-04EFCE470930}" srcOrd="0" destOrd="0" presId="urn:microsoft.com/office/officeart/2018/2/layout/IconVerticalSolidList"/>
    <dgm:cxn modelId="{C6B7BADE-5986-4DCE-AD50-0B335B2EF8E0}" type="presParOf" srcId="{7436D82A-7018-40E6-AEA0-FB313373D985}" destId="{88179749-4131-4F0F-939E-B39D06741EE2}" srcOrd="1" destOrd="0" presId="urn:microsoft.com/office/officeart/2018/2/layout/IconVerticalSolidList"/>
    <dgm:cxn modelId="{4D2BB541-538E-41C1-B2DD-55BF167AA863}" type="presParOf" srcId="{7436D82A-7018-40E6-AEA0-FB313373D985}" destId="{2B249CCC-7D4C-456B-9C66-F8A2259F86CA}" srcOrd="2" destOrd="0" presId="urn:microsoft.com/office/officeart/2018/2/layout/IconVerticalSolidList"/>
    <dgm:cxn modelId="{F22D4671-B239-407F-B64A-9343D8914289}" type="presParOf" srcId="{7436D82A-7018-40E6-AEA0-FB313373D985}" destId="{61F3AA4B-05E6-4EB2-B3B7-3D307308BAA3}" srcOrd="3" destOrd="0" presId="urn:microsoft.com/office/officeart/2018/2/layout/IconVerticalSolidList"/>
    <dgm:cxn modelId="{9D72A5F6-EDCA-472E-A527-FC553D51469D}" type="presParOf" srcId="{DF7EF14F-F6B5-4D57-9CC2-91D897ED9882}" destId="{F486D827-872E-4250-A148-7AFD9F1B0A0C}" srcOrd="9" destOrd="0" presId="urn:microsoft.com/office/officeart/2018/2/layout/IconVerticalSolidList"/>
    <dgm:cxn modelId="{4B6805B3-08D3-45D7-9483-C907E8671CEC}" type="presParOf" srcId="{DF7EF14F-F6B5-4D57-9CC2-91D897ED9882}" destId="{37ED8181-B4F3-43F8-B486-19842C15DA89}" srcOrd="10" destOrd="0" presId="urn:microsoft.com/office/officeart/2018/2/layout/IconVerticalSolidList"/>
    <dgm:cxn modelId="{71DD8582-DB23-453F-89AA-E112EFED862D}" type="presParOf" srcId="{37ED8181-B4F3-43F8-B486-19842C15DA89}" destId="{F75CA7A2-B2C9-485E-A1E2-044863A881CE}" srcOrd="0" destOrd="0" presId="urn:microsoft.com/office/officeart/2018/2/layout/IconVerticalSolidList"/>
    <dgm:cxn modelId="{F299F33F-5AB2-4F8A-868F-E724BA0B5BB8}" type="presParOf" srcId="{37ED8181-B4F3-43F8-B486-19842C15DA89}" destId="{CB2688B1-A66F-43D8-A54E-8561B7616672}" srcOrd="1" destOrd="0" presId="urn:microsoft.com/office/officeart/2018/2/layout/IconVerticalSolidList"/>
    <dgm:cxn modelId="{7C4FB7FD-744E-4BB2-8C43-A4046529FE3E}" type="presParOf" srcId="{37ED8181-B4F3-43F8-B486-19842C15DA89}" destId="{A207FA7F-970A-4205-A61A-1060DC013E5C}" srcOrd="2" destOrd="0" presId="urn:microsoft.com/office/officeart/2018/2/layout/IconVerticalSolidList"/>
    <dgm:cxn modelId="{F10B2DA1-072C-42BF-BFA9-20A20A0184BC}" type="presParOf" srcId="{37ED8181-B4F3-43F8-B486-19842C15DA89}" destId="{E6357B01-2FB9-4E0A-8C4E-DC7A4622A09A}" srcOrd="3" destOrd="0" presId="urn:microsoft.com/office/officeart/2018/2/layout/IconVerticalSolidList"/>
    <dgm:cxn modelId="{B3A11074-0499-44E3-BEDC-F715BB323C03}" type="presParOf" srcId="{DF7EF14F-F6B5-4D57-9CC2-91D897ED9882}" destId="{CA277993-063D-4217-8EC0-D9B215574712}" srcOrd="11" destOrd="0" presId="urn:microsoft.com/office/officeart/2018/2/layout/IconVerticalSolidList"/>
    <dgm:cxn modelId="{28BA1E35-8254-4DFE-9C9F-9AEDD3E7C9E1}" type="presParOf" srcId="{DF7EF14F-F6B5-4D57-9CC2-91D897ED9882}" destId="{25AB60B6-0AEE-4CA9-A765-9DD1D01FB961}" srcOrd="12" destOrd="0" presId="urn:microsoft.com/office/officeart/2018/2/layout/IconVerticalSolidList"/>
    <dgm:cxn modelId="{25D9732E-17FB-4231-8134-6240ACC96B56}" type="presParOf" srcId="{25AB60B6-0AEE-4CA9-A765-9DD1D01FB961}" destId="{BF06A3D4-08C3-4778-9087-1CC04408D9D2}" srcOrd="0" destOrd="0" presId="urn:microsoft.com/office/officeart/2018/2/layout/IconVerticalSolidList"/>
    <dgm:cxn modelId="{DF3807B7-21A8-4615-ACAB-207FB7FE7633}" type="presParOf" srcId="{25AB60B6-0AEE-4CA9-A765-9DD1D01FB961}" destId="{5A04CB98-D92C-4009-8AFD-BC6C8294C9C5}" srcOrd="1" destOrd="0" presId="urn:microsoft.com/office/officeart/2018/2/layout/IconVerticalSolidList"/>
    <dgm:cxn modelId="{5F2ABE00-BD5B-4DD9-A4BE-28D87C0BB738}" type="presParOf" srcId="{25AB60B6-0AEE-4CA9-A765-9DD1D01FB961}" destId="{AD23C415-1A29-45A3-BB74-A1C77647D177}" srcOrd="2" destOrd="0" presId="urn:microsoft.com/office/officeart/2018/2/layout/IconVerticalSolidList"/>
    <dgm:cxn modelId="{3BFD3889-69D6-4AAE-A555-DF4F7ED82650}" type="presParOf" srcId="{25AB60B6-0AEE-4CA9-A765-9DD1D01FB961}" destId="{078520CB-28D4-46BF-B9DB-57B34F53AA0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EB6B0A-BD33-41A0-BDAB-67B0B2E6865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FB2AF9A7-C153-4E15-9F84-1FE27A543C72}">
      <dgm:prSet/>
      <dgm:spPr/>
      <dgm:t>
        <a:bodyPr/>
        <a:lstStyle/>
        <a:p>
          <a:r>
            <a:rPr lang="es-ES"/>
            <a:t>Prestar atención a las conductas no verbales (posturas, gestos, etc.)</a:t>
          </a:r>
          <a:endParaRPr lang="en-US"/>
        </a:p>
      </dgm:t>
    </dgm:pt>
    <dgm:pt modelId="{FAD1292D-821D-43E3-A364-52257DD2910A}" type="parTrans" cxnId="{4CD70B12-1E5A-4158-88FD-DB9E79A2CE54}">
      <dgm:prSet/>
      <dgm:spPr/>
      <dgm:t>
        <a:bodyPr/>
        <a:lstStyle/>
        <a:p>
          <a:endParaRPr lang="en-US"/>
        </a:p>
      </dgm:t>
    </dgm:pt>
    <dgm:pt modelId="{B3CA272F-0EA6-4D37-86B8-D8700CE0734E}" type="sibTrans" cxnId="{4CD70B12-1E5A-4158-88FD-DB9E79A2CE54}">
      <dgm:prSet/>
      <dgm:spPr/>
      <dgm:t>
        <a:bodyPr/>
        <a:lstStyle/>
        <a:p>
          <a:endParaRPr lang="en-US"/>
        </a:p>
      </dgm:t>
    </dgm:pt>
    <dgm:pt modelId="{D95D9CC0-F92E-4341-87A9-DAEE8CF9FB19}">
      <dgm:prSet/>
      <dgm:spPr/>
      <dgm:t>
        <a:bodyPr/>
        <a:lstStyle/>
        <a:p>
          <a:r>
            <a:rPr lang="es-ES"/>
            <a:t>También es relevante aquello que no ocurre (y sí esperábamos que sucediera)</a:t>
          </a:r>
          <a:endParaRPr lang="en-US"/>
        </a:p>
      </dgm:t>
    </dgm:pt>
    <dgm:pt modelId="{6BDDECCD-A086-4A47-B397-3A9D17EA7CA2}" type="parTrans" cxnId="{B21025B4-7C86-4885-AC02-F008518C6D9D}">
      <dgm:prSet/>
      <dgm:spPr/>
      <dgm:t>
        <a:bodyPr/>
        <a:lstStyle/>
        <a:p>
          <a:endParaRPr lang="en-US"/>
        </a:p>
      </dgm:t>
    </dgm:pt>
    <dgm:pt modelId="{F34391C5-0145-4FA2-B30F-600A83701404}" type="sibTrans" cxnId="{B21025B4-7C86-4885-AC02-F008518C6D9D}">
      <dgm:prSet/>
      <dgm:spPr/>
      <dgm:t>
        <a:bodyPr/>
        <a:lstStyle/>
        <a:p>
          <a:endParaRPr lang="en-US"/>
        </a:p>
      </dgm:t>
    </dgm:pt>
    <dgm:pt modelId="{408555DB-0C74-4441-B0E1-3DB2194F2743}">
      <dgm:prSet/>
      <dgm:spPr/>
      <dgm:t>
        <a:bodyPr/>
        <a:lstStyle/>
        <a:p>
          <a:r>
            <a:rPr lang="es-ES"/>
            <a:t>No interferir para no afectar la conducta de las personas</a:t>
          </a:r>
          <a:endParaRPr lang="en-US"/>
        </a:p>
      </dgm:t>
    </dgm:pt>
    <dgm:pt modelId="{7AE70C72-9FA0-4557-B814-635DB4AC1C41}" type="parTrans" cxnId="{AEB681F5-2327-4500-B15E-C0D7795EBCFC}">
      <dgm:prSet/>
      <dgm:spPr/>
      <dgm:t>
        <a:bodyPr/>
        <a:lstStyle/>
        <a:p>
          <a:endParaRPr lang="en-US"/>
        </a:p>
      </dgm:t>
    </dgm:pt>
    <dgm:pt modelId="{28AB2CE9-C837-4769-A4D2-D3A1CFC4CC13}" type="sibTrans" cxnId="{AEB681F5-2327-4500-B15E-C0D7795EBCFC}">
      <dgm:prSet/>
      <dgm:spPr/>
      <dgm:t>
        <a:bodyPr/>
        <a:lstStyle/>
        <a:p>
          <a:endParaRPr lang="en-US"/>
        </a:p>
      </dgm:t>
    </dgm:pt>
    <dgm:pt modelId="{930F283D-C273-487E-8F17-53F4BF9738C4}" type="pres">
      <dgm:prSet presAssocID="{DAEB6B0A-BD33-41A0-BDAB-67B0B2E68656}" presName="root" presStyleCnt="0">
        <dgm:presLayoutVars>
          <dgm:dir/>
          <dgm:resizeHandles val="exact"/>
        </dgm:presLayoutVars>
      </dgm:prSet>
      <dgm:spPr/>
    </dgm:pt>
    <dgm:pt modelId="{D64F972F-4A91-44ED-B181-7A3491C4BD76}" type="pres">
      <dgm:prSet presAssocID="{FB2AF9A7-C153-4E15-9F84-1FE27A543C72}" presName="compNode" presStyleCnt="0"/>
      <dgm:spPr/>
    </dgm:pt>
    <dgm:pt modelId="{3DB6E22C-5F88-4ED7-9CCD-31B1BD772BD3}" type="pres">
      <dgm:prSet presAssocID="{FB2AF9A7-C153-4E15-9F84-1FE27A543C72}" presName="bgRect" presStyleLbl="bgShp" presStyleIdx="0" presStyleCnt="3"/>
      <dgm:spPr/>
    </dgm:pt>
    <dgm:pt modelId="{52FCBFD8-FF2F-4DC8-A973-D22DEB53AD26}" type="pres">
      <dgm:prSet presAssocID="{FB2AF9A7-C153-4E15-9F84-1FE27A543C7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 Language"/>
        </a:ext>
      </dgm:extLst>
    </dgm:pt>
    <dgm:pt modelId="{F459F820-F9D9-4CF1-993E-08CFC2ABA209}" type="pres">
      <dgm:prSet presAssocID="{FB2AF9A7-C153-4E15-9F84-1FE27A543C72}" presName="spaceRect" presStyleCnt="0"/>
      <dgm:spPr/>
    </dgm:pt>
    <dgm:pt modelId="{FC7DAC40-E312-42D9-9114-D52B5F450F8D}" type="pres">
      <dgm:prSet presAssocID="{FB2AF9A7-C153-4E15-9F84-1FE27A543C72}" presName="parTx" presStyleLbl="revTx" presStyleIdx="0" presStyleCnt="3">
        <dgm:presLayoutVars>
          <dgm:chMax val="0"/>
          <dgm:chPref val="0"/>
        </dgm:presLayoutVars>
      </dgm:prSet>
      <dgm:spPr/>
    </dgm:pt>
    <dgm:pt modelId="{54740E62-4823-4905-93B5-70789FCAE764}" type="pres">
      <dgm:prSet presAssocID="{B3CA272F-0EA6-4D37-86B8-D8700CE0734E}" presName="sibTrans" presStyleCnt="0"/>
      <dgm:spPr/>
    </dgm:pt>
    <dgm:pt modelId="{DB5D6584-E3D0-430C-9D87-7C98241AD81F}" type="pres">
      <dgm:prSet presAssocID="{D95D9CC0-F92E-4341-87A9-DAEE8CF9FB19}" presName="compNode" presStyleCnt="0"/>
      <dgm:spPr/>
    </dgm:pt>
    <dgm:pt modelId="{4F90B872-4FAE-456C-9302-4ABBC3C3DA02}" type="pres">
      <dgm:prSet presAssocID="{D95D9CC0-F92E-4341-87A9-DAEE8CF9FB19}" presName="bgRect" presStyleLbl="bgShp" presStyleIdx="1" presStyleCnt="3"/>
      <dgm:spPr/>
    </dgm:pt>
    <dgm:pt modelId="{EC1965C4-95B0-4C27-87C5-4988DBC43953}" type="pres">
      <dgm:prSet presAssocID="{D95D9CC0-F92E-4341-87A9-DAEE8CF9FB1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126F24ED-158B-436B-9845-2331583C88AE}" type="pres">
      <dgm:prSet presAssocID="{D95D9CC0-F92E-4341-87A9-DAEE8CF9FB19}" presName="spaceRect" presStyleCnt="0"/>
      <dgm:spPr/>
    </dgm:pt>
    <dgm:pt modelId="{1D787952-21CA-405A-BB94-AE441A8CD273}" type="pres">
      <dgm:prSet presAssocID="{D95D9CC0-F92E-4341-87A9-DAEE8CF9FB19}" presName="parTx" presStyleLbl="revTx" presStyleIdx="1" presStyleCnt="3">
        <dgm:presLayoutVars>
          <dgm:chMax val="0"/>
          <dgm:chPref val="0"/>
        </dgm:presLayoutVars>
      </dgm:prSet>
      <dgm:spPr/>
    </dgm:pt>
    <dgm:pt modelId="{D9139AEE-26F3-4407-98D5-34C36EBBFC2F}" type="pres">
      <dgm:prSet presAssocID="{F34391C5-0145-4FA2-B30F-600A83701404}" presName="sibTrans" presStyleCnt="0"/>
      <dgm:spPr/>
    </dgm:pt>
    <dgm:pt modelId="{60728F5F-87A8-438B-9454-AE60D1C67411}" type="pres">
      <dgm:prSet presAssocID="{408555DB-0C74-4441-B0E1-3DB2194F2743}" presName="compNode" presStyleCnt="0"/>
      <dgm:spPr/>
    </dgm:pt>
    <dgm:pt modelId="{EC5D6488-A4D1-442D-821F-C656C9DF5502}" type="pres">
      <dgm:prSet presAssocID="{408555DB-0C74-4441-B0E1-3DB2194F2743}" presName="bgRect" presStyleLbl="bgShp" presStyleIdx="2" presStyleCnt="3"/>
      <dgm:spPr/>
    </dgm:pt>
    <dgm:pt modelId="{46AEBFD4-EFAE-4AC8-B5B1-DAD00B319253}" type="pres">
      <dgm:prSet presAssocID="{408555DB-0C74-4441-B0E1-3DB2194F274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9A2F4B89-407E-4CE9-96E5-6B0EBE0A4156}" type="pres">
      <dgm:prSet presAssocID="{408555DB-0C74-4441-B0E1-3DB2194F2743}" presName="spaceRect" presStyleCnt="0"/>
      <dgm:spPr/>
    </dgm:pt>
    <dgm:pt modelId="{78DA54D6-4CB9-4F24-A7AD-7AAF320536CA}" type="pres">
      <dgm:prSet presAssocID="{408555DB-0C74-4441-B0E1-3DB2194F274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CD70B12-1E5A-4158-88FD-DB9E79A2CE54}" srcId="{DAEB6B0A-BD33-41A0-BDAB-67B0B2E68656}" destId="{FB2AF9A7-C153-4E15-9F84-1FE27A543C72}" srcOrd="0" destOrd="0" parTransId="{FAD1292D-821D-43E3-A364-52257DD2910A}" sibTransId="{B3CA272F-0EA6-4D37-86B8-D8700CE0734E}"/>
    <dgm:cxn modelId="{AF554E45-B398-4786-8122-4F0482043130}" type="presOf" srcId="{D95D9CC0-F92E-4341-87A9-DAEE8CF9FB19}" destId="{1D787952-21CA-405A-BB94-AE441A8CD273}" srcOrd="0" destOrd="0" presId="urn:microsoft.com/office/officeart/2018/2/layout/IconVerticalSolidList"/>
    <dgm:cxn modelId="{8E90BE8C-D10C-4903-BBD6-85D444ADC2CD}" type="presOf" srcId="{FB2AF9A7-C153-4E15-9F84-1FE27A543C72}" destId="{FC7DAC40-E312-42D9-9114-D52B5F450F8D}" srcOrd="0" destOrd="0" presId="urn:microsoft.com/office/officeart/2018/2/layout/IconVerticalSolidList"/>
    <dgm:cxn modelId="{D94A3B8E-77C9-420D-8B61-C0D81211E4D0}" type="presOf" srcId="{DAEB6B0A-BD33-41A0-BDAB-67B0B2E68656}" destId="{930F283D-C273-487E-8F17-53F4BF9738C4}" srcOrd="0" destOrd="0" presId="urn:microsoft.com/office/officeart/2018/2/layout/IconVerticalSolidList"/>
    <dgm:cxn modelId="{B21025B4-7C86-4885-AC02-F008518C6D9D}" srcId="{DAEB6B0A-BD33-41A0-BDAB-67B0B2E68656}" destId="{D95D9CC0-F92E-4341-87A9-DAEE8CF9FB19}" srcOrd="1" destOrd="0" parTransId="{6BDDECCD-A086-4A47-B397-3A9D17EA7CA2}" sibTransId="{F34391C5-0145-4FA2-B30F-600A83701404}"/>
    <dgm:cxn modelId="{CC7315B7-8D87-4611-8D8A-77AA08032057}" type="presOf" srcId="{408555DB-0C74-4441-B0E1-3DB2194F2743}" destId="{78DA54D6-4CB9-4F24-A7AD-7AAF320536CA}" srcOrd="0" destOrd="0" presId="urn:microsoft.com/office/officeart/2018/2/layout/IconVerticalSolidList"/>
    <dgm:cxn modelId="{AEB681F5-2327-4500-B15E-C0D7795EBCFC}" srcId="{DAEB6B0A-BD33-41A0-BDAB-67B0B2E68656}" destId="{408555DB-0C74-4441-B0E1-3DB2194F2743}" srcOrd="2" destOrd="0" parTransId="{7AE70C72-9FA0-4557-B814-635DB4AC1C41}" sibTransId="{28AB2CE9-C837-4769-A4D2-D3A1CFC4CC13}"/>
    <dgm:cxn modelId="{B0F47759-B7D4-4703-A4D1-FC0876CDC2CA}" type="presParOf" srcId="{930F283D-C273-487E-8F17-53F4BF9738C4}" destId="{D64F972F-4A91-44ED-B181-7A3491C4BD76}" srcOrd="0" destOrd="0" presId="urn:microsoft.com/office/officeart/2018/2/layout/IconVerticalSolidList"/>
    <dgm:cxn modelId="{30335F87-7BBE-434B-92F3-CF7107DA8D85}" type="presParOf" srcId="{D64F972F-4A91-44ED-B181-7A3491C4BD76}" destId="{3DB6E22C-5F88-4ED7-9CCD-31B1BD772BD3}" srcOrd="0" destOrd="0" presId="urn:microsoft.com/office/officeart/2018/2/layout/IconVerticalSolidList"/>
    <dgm:cxn modelId="{AC516634-A535-417D-8511-9EA928F2D2D5}" type="presParOf" srcId="{D64F972F-4A91-44ED-B181-7A3491C4BD76}" destId="{52FCBFD8-FF2F-4DC8-A973-D22DEB53AD26}" srcOrd="1" destOrd="0" presId="urn:microsoft.com/office/officeart/2018/2/layout/IconVerticalSolidList"/>
    <dgm:cxn modelId="{B5D6720F-2673-4F03-8449-82F341B9CA4D}" type="presParOf" srcId="{D64F972F-4A91-44ED-B181-7A3491C4BD76}" destId="{F459F820-F9D9-4CF1-993E-08CFC2ABA209}" srcOrd="2" destOrd="0" presId="urn:microsoft.com/office/officeart/2018/2/layout/IconVerticalSolidList"/>
    <dgm:cxn modelId="{D3AE9C68-4847-407F-AF5F-1D0033A97ED5}" type="presParOf" srcId="{D64F972F-4A91-44ED-B181-7A3491C4BD76}" destId="{FC7DAC40-E312-42D9-9114-D52B5F450F8D}" srcOrd="3" destOrd="0" presId="urn:microsoft.com/office/officeart/2018/2/layout/IconVerticalSolidList"/>
    <dgm:cxn modelId="{C464FB42-671F-4BB9-A194-125BBA8D5AA0}" type="presParOf" srcId="{930F283D-C273-487E-8F17-53F4BF9738C4}" destId="{54740E62-4823-4905-93B5-70789FCAE764}" srcOrd="1" destOrd="0" presId="urn:microsoft.com/office/officeart/2018/2/layout/IconVerticalSolidList"/>
    <dgm:cxn modelId="{3607CE4B-5E4B-449D-B8EF-D2F77A4FDE8E}" type="presParOf" srcId="{930F283D-C273-487E-8F17-53F4BF9738C4}" destId="{DB5D6584-E3D0-430C-9D87-7C98241AD81F}" srcOrd="2" destOrd="0" presId="urn:microsoft.com/office/officeart/2018/2/layout/IconVerticalSolidList"/>
    <dgm:cxn modelId="{5F8A3A2E-DA9E-41E5-8B1E-B77EB452C8DF}" type="presParOf" srcId="{DB5D6584-E3D0-430C-9D87-7C98241AD81F}" destId="{4F90B872-4FAE-456C-9302-4ABBC3C3DA02}" srcOrd="0" destOrd="0" presId="urn:microsoft.com/office/officeart/2018/2/layout/IconVerticalSolidList"/>
    <dgm:cxn modelId="{7BA0ADE3-9B43-4F69-8C6F-320827F20093}" type="presParOf" srcId="{DB5D6584-E3D0-430C-9D87-7C98241AD81F}" destId="{EC1965C4-95B0-4C27-87C5-4988DBC43953}" srcOrd="1" destOrd="0" presId="urn:microsoft.com/office/officeart/2018/2/layout/IconVerticalSolidList"/>
    <dgm:cxn modelId="{329FBF46-2EE5-40B7-BA7E-C5A4FB69F66A}" type="presParOf" srcId="{DB5D6584-E3D0-430C-9D87-7C98241AD81F}" destId="{126F24ED-158B-436B-9845-2331583C88AE}" srcOrd="2" destOrd="0" presId="urn:microsoft.com/office/officeart/2018/2/layout/IconVerticalSolidList"/>
    <dgm:cxn modelId="{D8684312-D1A6-4CE9-BD42-A7814F71288D}" type="presParOf" srcId="{DB5D6584-E3D0-430C-9D87-7C98241AD81F}" destId="{1D787952-21CA-405A-BB94-AE441A8CD273}" srcOrd="3" destOrd="0" presId="urn:microsoft.com/office/officeart/2018/2/layout/IconVerticalSolidList"/>
    <dgm:cxn modelId="{3584BBBD-80F6-4E9E-AA7B-D97CB9A26882}" type="presParOf" srcId="{930F283D-C273-487E-8F17-53F4BF9738C4}" destId="{D9139AEE-26F3-4407-98D5-34C36EBBFC2F}" srcOrd="3" destOrd="0" presId="urn:microsoft.com/office/officeart/2018/2/layout/IconVerticalSolidList"/>
    <dgm:cxn modelId="{4216F0DA-532F-4540-A811-065712328C26}" type="presParOf" srcId="{930F283D-C273-487E-8F17-53F4BF9738C4}" destId="{60728F5F-87A8-438B-9454-AE60D1C67411}" srcOrd="4" destOrd="0" presId="urn:microsoft.com/office/officeart/2018/2/layout/IconVerticalSolidList"/>
    <dgm:cxn modelId="{46470868-B5AF-44D0-9B7C-41EE2B5FED5B}" type="presParOf" srcId="{60728F5F-87A8-438B-9454-AE60D1C67411}" destId="{EC5D6488-A4D1-442D-821F-C656C9DF5502}" srcOrd="0" destOrd="0" presId="urn:microsoft.com/office/officeart/2018/2/layout/IconVerticalSolidList"/>
    <dgm:cxn modelId="{976BB79C-C36B-4EE8-B656-1C86C8EB3DB8}" type="presParOf" srcId="{60728F5F-87A8-438B-9454-AE60D1C67411}" destId="{46AEBFD4-EFAE-4AC8-B5B1-DAD00B319253}" srcOrd="1" destOrd="0" presId="urn:microsoft.com/office/officeart/2018/2/layout/IconVerticalSolidList"/>
    <dgm:cxn modelId="{8C10DBAF-393B-4B51-9D6E-EFB7B0ADEDBD}" type="presParOf" srcId="{60728F5F-87A8-438B-9454-AE60D1C67411}" destId="{9A2F4B89-407E-4CE9-96E5-6B0EBE0A4156}" srcOrd="2" destOrd="0" presId="urn:microsoft.com/office/officeart/2018/2/layout/IconVerticalSolidList"/>
    <dgm:cxn modelId="{B9D47560-A166-43BF-BA75-6D00B005D69D}" type="presParOf" srcId="{60728F5F-87A8-438B-9454-AE60D1C67411}" destId="{78DA54D6-4CB9-4F24-A7AD-7AAF320536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57C84E-4D1D-4DA0-993C-04B732331EB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873A2BB-72E7-436D-84AF-F1915AB696DC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La entrevista es una “conversación con cierto propósito” </a:t>
          </a:r>
          <a:endParaRPr lang="en-US"/>
        </a:p>
      </dgm:t>
    </dgm:pt>
    <dgm:pt modelId="{4BC3A22F-BCEB-4491-8BCE-168DF93D9023}" type="parTrans" cxnId="{C2290CDB-D6A3-40CC-AEE9-7AE471F2BA89}">
      <dgm:prSet/>
      <dgm:spPr/>
      <dgm:t>
        <a:bodyPr/>
        <a:lstStyle/>
        <a:p>
          <a:endParaRPr lang="en-US"/>
        </a:p>
      </dgm:t>
    </dgm:pt>
    <dgm:pt modelId="{217FCED8-0B0E-48DF-93D2-B42820008450}" type="sibTrans" cxnId="{C2290CDB-D6A3-40CC-AEE9-7AE471F2BA8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4142DCE-AAED-4FB4-85A3-0BCE8C9C734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(Bingham y Moore, 1959)</a:t>
          </a:r>
          <a:endParaRPr lang="en-US"/>
        </a:p>
      </dgm:t>
    </dgm:pt>
    <dgm:pt modelId="{BCB611E5-2C4D-4A3F-AD55-9796C0FF2B4A}" type="parTrans" cxnId="{EE13D422-5A9D-4CA2-9AE4-50B031CB381B}">
      <dgm:prSet/>
      <dgm:spPr/>
      <dgm:t>
        <a:bodyPr/>
        <a:lstStyle/>
        <a:p>
          <a:endParaRPr lang="en-US"/>
        </a:p>
      </dgm:t>
    </dgm:pt>
    <dgm:pt modelId="{0036417A-881B-442F-AA10-2A6838603505}" type="sibTrans" cxnId="{EE13D422-5A9D-4CA2-9AE4-50B031CB381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3A2B06D-69EE-40F4-B741-E328ED830E5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- Gran fuente de datos de investigación</a:t>
          </a:r>
          <a:endParaRPr lang="en-US"/>
        </a:p>
      </dgm:t>
    </dgm:pt>
    <dgm:pt modelId="{70E47D02-FBA5-4D67-BA2F-EFBB3232ED15}" type="parTrans" cxnId="{92B1E49C-5E6E-4E1C-9B09-FCCA05037FEA}">
      <dgm:prSet/>
      <dgm:spPr/>
      <dgm:t>
        <a:bodyPr/>
        <a:lstStyle/>
        <a:p>
          <a:endParaRPr lang="en-US"/>
        </a:p>
      </dgm:t>
    </dgm:pt>
    <dgm:pt modelId="{88146D10-0B7F-4655-8903-C191E49FB2ED}" type="sibTrans" cxnId="{92B1E49C-5E6E-4E1C-9B09-FCCA05037FE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955F474-CB60-4779-B9B6-3AF44A695EB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- La interacción personal cobra especial relevancia</a:t>
          </a:r>
          <a:endParaRPr lang="en-US"/>
        </a:p>
      </dgm:t>
    </dgm:pt>
    <dgm:pt modelId="{FD1D9FDB-9FEE-4C43-9734-CBC082B57E2E}" type="parTrans" cxnId="{B71790E5-A4CF-438B-AFD7-9858994BA8DB}">
      <dgm:prSet/>
      <dgm:spPr/>
      <dgm:t>
        <a:bodyPr/>
        <a:lstStyle/>
        <a:p>
          <a:endParaRPr lang="en-US"/>
        </a:p>
      </dgm:t>
    </dgm:pt>
    <dgm:pt modelId="{93E29D47-F27B-4AE9-9077-06805394FD94}" type="sibTrans" cxnId="{B71790E5-A4CF-438B-AFD7-9858994BA8D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42BFFAA-C5DE-417A-B313-04D2ACEA56D1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- Dar la oportunidad a las personas de poder expresarse verbalmente</a:t>
          </a:r>
          <a:endParaRPr lang="en-US"/>
        </a:p>
      </dgm:t>
    </dgm:pt>
    <dgm:pt modelId="{DC5A8600-5FEF-4DEA-9280-181F0AB99724}" type="parTrans" cxnId="{7225338C-561E-4E4C-A371-FB9A39782A10}">
      <dgm:prSet/>
      <dgm:spPr/>
      <dgm:t>
        <a:bodyPr/>
        <a:lstStyle/>
        <a:p>
          <a:endParaRPr lang="en-US"/>
        </a:p>
      </dgm:t>
    </dgm:pt>
    <dgm:pt modelId="{A280B013-3F10-4033-8685-DFC2F7F6C492}" type="sibTrans" cxnId="{7225338C-561E-4E4C-A371-FB9A39782A10}">
      <dgm:prSet/>
      <dgm:spPr/>
      <dgm:t>
        <a:bodyPr/>
        <a:lstStyle/>
        <a:p>
          <a:endParaRPr lang="en-US"/>
        </a:p>
      </dgm:t>
    </dgm:pt>
    <dgm:pt modelId="{58BD5789-F5E7-47D6-A283-DF4F60039C18}" type="pres">
      <dgm:prSet presAssocID="{6B57C84E-4D1D-4DA0-993C-04B732331EBD}" presName="root" presStyleCnt="0">
        <dgm:presLayoutVars>
          <dgm:dir/>
          <dgm:resizeHandles val="exact"/>
        </dgm:presLayoutVars>
      </dgm:prSet>
      <dgm:spPr/>
    </dgm:pt>
    <dgm:pt modelId="{9D340104-82C1-4731-B282-A7948F1BE179}" type="pres">
      <dgm:prSet presAssocID="{6B57C84E-4D1D-4DA0-993C-04B732331EBD}" presName="container" presStyleCnt="0">
        <dgm:presLayoutVars>
          <dgm:dir/>
          <dgm:resizeHandles val="exact"/>
        </dgm:presLayoutVars>
      </dgm:prSet>
      <dgm:spPr/>
    </dgm:pt>
    <dgm:pt modelId="{DD989221-C573-443F-BD42-7A2A8F12A161}" type="pres">
      <dgm:prSet presAssocID="{B873A2BB-72E7-436D-84AF-F1915AB696DC}" presName="compNode" presStyleCnt="0"/>
      <dgm:spPr/>
    </dgm:pt>
    <dgm:pt modelId="{01DD8521-EEC3-43A2-AD1A-64822784471E}" type="pres">
      <dgm:prSet presAssocID="{B873A2BB-72E7-436D-84AF-F1915AB696DC}" presName="iconBgRect" presStyleLbl="bgShp" presStyleIdx="0" presStyleCnt="5"/>
      <dgm:spPr/>
    </dgm:pt>
    <dgm:pt modelId="{FF4FBD20-50D4-42AA-BCA0-36A2044272A9}" type="pres">
      <dgm:prSet presAssocID="{B873A2BB-72E7-436D-84AF-F1915AB696D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8DDEF278-2D7E-400C-BAA7-18F2971F15B7}" type="pres">
      <dgm:prSet presAssocID="{B873A2BB-72E7-436D-84AF-F1915AB696DC}" presName="spaceRect" presStyleCnt="0"/>
      <dgm:spPr/>
    </dgm:pt>
    <dgm:pt modelId="{D862C6ED-56DA-4D4D-A844-9C83870A5F40}" type="pres">
      <dgm:prSet presAssocID="{B873A2BB-72E7-436D-84AF-F1915AB696DC}" presName="textRect" presStyleLbl="revTx" presStyleIdx="0" presStyleCnt="5">
        <dgm:presLayoutVars>
          <dgm:chMax val="1"/>
          <dgm:chPref val="1"/>
        </dgm:presLayoutVars>
      </dgm:prSet>
      <dgm:spPr/>
    </dgm:pt>
    <dgm:pt modelId="{3F36639F-30CF-4C61-AA5B-AEB932F8F2C0}" type="pres">
      <dgm:prSet presAssocID="{217FCED8-0B0E-48DF-93D2-B42820008450}" presName="sibTrans" presStyleLbl="sibTrans2D1" presStyleIdx="0" presStyleCnt="0"/>
      <dgm:spPr/>
    </dgm:pt>
    <dgm:pt modelId="{DF557E1B-3CC7-42F8-BA70-E72A08520E01}" type="pres">
      <dgm:prSet presAssocID="{44142DCE-AAED-4FB4-85A3-0BCE8C9C7346}" presName="compNode" presStyleCnt="0"/>
      <dgm:spPr/>
    </dgm:pt>
    <dgm:pt modelId="{C5979E86-AA8C-43C1-B440-9514A58FF7E0}" type="pres">
      <dgm:prSet presAssocID="{44142DCE-AAED-4FB4-85A3-0BCE8C9C7346}" presName="iconBgRect" presStyleLbl="bgShp" presStyleIdx="1" presStyleCnt="5"/>
      <dgm:spPr/>
    </dgm:pt>
    <dgm:pt modelId="{13288367-1514-47D3-97A5-8A1CFCB1819A}" type="pres">
      <dgm:prSet presAssocID="{44142DCE-AAED-4FB4-85A3-0BCE8C9C734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dding Cake"/>
        </a:ext>
      </dgm:extLst>
    </dgm:pt>
    <dgm:pt modelId="{1A65AC69-BDD1-4943-9337-89473B44644C}" type="pres">
      <dgm:prSet presAssocID="{44142DCE-AAED-4FB4-85A3-0BCE8C9C7346}" presName="spaceRect" presStyleCnt="0"/>
      <dgm:spPr/>
    </dgm:pt>
    <dgm:pt modelId="{44ECD6A8-B48A-45D0-905C-D2978DB99277}" type="pres">
      <dgm:prSet presAssocID="{44142DCE-AAED-4FB4-85A3-0BCE8C9C7346}" presName="textRect" presStyleLbl="revTx" presStyleIdx="1" presStyleCnt="5">
        <dgm:presLayoutVars>
          <dgm:chMax val="1"/>
          <dgm:chPref val="1"/>
        </dgm:presLayoutVars>
      </dgm:prSet>
      <dgm:spPr/>
    </dgm:pt>
    <dgm:pt modelId="{F0DEB2A6-71A6-499E-937F-0003AA079B7C}" type="pres">
      <dgm:prSet presAssocID="{0036417A-881B-442F-AA10-2A6838603505}" presName="sibTrans" presStyleLbl="sibTrans2D1" presStyleIdx="0" presStyleCnt="0"/>
      <dgm:spPr/>
    </dgm:pt>
    <dgm:pt modelId="{FAFC4CC7-7CAE-463F-8ED7-1BB86F060696}" type="pres">
      <dgm:prSet presAssocID="{D3A2B06D-69EE-40F4-B741-E328ED830E54}" presName="compNode" presStyleCnt="0"/>
      <dgm:spPr/>
    </dgm:pt>
    <dgm:pt modelId="{A5E3AEDC-9051-42A1-BBD7-C980D9429CB1}" type="pres">
      <dgm:prSet presAssocID="{D3A2B06D-69EE-40F4-B741-E328ED830E54}" presName="iconBgRect" presStyleLbl="bgShp" presStyleIdx="2" presStyleCnt="5"/>
      <dgm:spPr/>
    </dgm:pt>
    <dgm:pt modelId="{6353A96C-5CB0-4524-A539-FBE9AF8B63BD}" type="pres">
      <dgm:prSet presAssocID="{D3A2B06D-69EE-40F4-B741-E328ED830E5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4BB8BDE6-BDA2-41F2-8449-78853CD9F4AA}" type="pres">
      <dgm:prSet presAssocID="{D3A2B06D-69EE-40F4-B741-E328ED830E54}" presName="spaceRect" presStyleCnt="0"/>
      <dgm:spPr/>
    </dgm:pt>
    <dgm:pt modelId="{E7428BFE-11A3-433A-ACEA-9544DFB36E43}" type="pres">
      <dgm:prSet presAssocID="{D3A2B06D-69EE-40F4-B741-E328ED830E54}" presName="textRect" presStyleLbl="revTx" presStyleIdx="2" presStyleCnt="5">
        <dgm:presLayoutVars>
          <dgm:chMax val="1"/>
          <dgm:chPref val="1"/>
        </dgm:presLayoutVars>
      </dgm:prSet>
      <dgm:spPr/>
    </dgm:pt>
    <dgm:pt modelId="{8125B831-15D7-4448-B399-B12043F2A97E}" type="pres">
      <dgm:prSet presAssocID="{88146D10-0B7F-4655-8903-C191E49FB2ED}" presName="sibTrans" presStyleLbl="sibTrans2D1" presStyleIdx="0" presStyleCnt="0"/>
      <dgm:spPr/>
    </dgm:pt>
    <dgm:pt modelId="{195267C5-AE1E-49D6-9E37-A0B46EEFC39D}" type="pres">
      <dgm:prSet presAssocID="{2955F474-CB60-4779-B9B6-3AF44A695EB6}" presName="compNode" presStyleCnt="0"/>
      <dgm:spPr/>
    </dgm:pt>
    <dgm:pt modelId="{AF4E569D-0E2B-444D-9756-03F0F3DCF869}" type="pres">
      <dgm:prSet presAssocID="{2955F474-CB60-4779-B9B6-3AF44A695EB6}" presName="iconBgRect" presStyleLbl="bgShp" presStyleIdx="3" presStyleCnt="5"/>
      <dgm:spPr/>
    </dgm:pt>
    <dgm:pt modelId="{51151BA1-7BF4-4074-9F1F-284800F8C599}" type="pres">
      <dgm:prSet presAssocID="{2955F474-CB60-4779-B9B6-3AF44A695EB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91538B6E-2BAD-46A7-B25D-57E08BE584B5}" type="pres">
      <dgm:prSet presAssocID="{2955F474-CB60-4779-B9B6-3AF44A695EB6}" presName="spaceRect" presStyleCnt="0"/>
      <dgm:spPr/>
    </dgm:pt>
    <dgm:pt modelId="{DE152F02-B5E5-4599-95AB-9EDF9B33A6D8}" type="pres">
      <dgm:prSet presAssocID="{2955F474-CB60-4779-B9B6-3AF44A695EB6}" presName="textRect" presStyleLbl="revTx" presStyleIdx="3" presStyleCnt="5">
        <dgm:presLayoutVars>
          <dgm:chMax val="1"/>
          <dgm:chPref val="1"/>
        </dgm:presLayoutVars>
      </dgm:prSet>
      <dgm:spPr/>
    </dgm:pt>
    <dgm:pt modelId="{BA6064DE-CAB0-4512-8ACC-5C7B508B94AE}" type="pres">
      <dgm:prSet presAssocID="{93E29D47-F27B-4AE9-9077-06805394FD94}" presName="sibTrans" presStyleLbl="sibTrans2D1" presStyleIdx="0" presStyleCnt="0"/>
      <dgm:spPr/>
    </dgm:pt>
    <dgm:pt modelId="{59A3CF8D-E6D9-4C92-9793-55684CC06262}" type="pres">
      <dgm:prSet presAssocID="{F42BFFAA-C5DE-417A-B313-04D2ACEA56D1}" presName="compNode" presStyleCnt="0"/>
      <dgm:spPr/>
    </dgm:pt>
    <dgm:pt modelId="{E3C8B6A0-C9A4-47AF-BA12-46358A1865CC}" type="pres">
      <dgm:prSet presAssocID="{F42BFFAA-C5DE-417A-B313-04D2ACEA56D1}" presName="iconBgRect" presStyleLbl="bgShp" presStyleIdx="4" presStyleCnt="5"/>
      <dgm:spPr/>
    </dgm:pt>
    <dgm:pt modelId="{B1F43EC2-3D46-421C-BBE1-4E1C392396BA}" type="pres">
      <dgm:prSet presAssocID="{F42BFFAA-C5DE-417A-B313-04D2ACEA56D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exiones"/>
        </a:ext>
      </dgm:extLst>
    </dgm:pt>
    <dgm:pt modelId="{6CB4CE01-F853-433E-A77C-1B74777F1EF2}" type="pres">
      <dgm:prSet presAssocID="{F42BFFAA-C5DE-417A-B313-04D2ACEA56D1}" presName="spaceRect" presStyleCnt="0"/>
      <dgm:spPr/>
    </dgm:pt>
    <dgm:pt modelId="{A82CA7E7-0A4B-4AB9-ADEB-8598DA8E5DB1}" type="pres">
      <dgm:prSet presAssocID="{F42BFFAA-C5DE-417A-B313-04D2ACEA56D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E13D422-5A9D-4CA2-9AE4-50B031CB381B}" srcId="{6B57C84E-4D1D-4DA0-993C-04B732331EBD}" destId="{44142DCE-AAED-4FB4-85A3-0BCE8C9C7346}" srcOrd="1" destOrd="0" parTransId="{BCB611E5-2C4D-4A3F-AD55-9796C0FF2B4A}" sibTransId="{0036417A-881B-442F-AA10-2A6838603505}"/>
    <dgm:cxn modelId="{87605A2E-DF1E-44C3-8DEC-C7A22BBFABED}" type="presOf" srcId="{D3A2B06D-69EE-40F4-B741-E328ED830E54}" destId="{E7428BFE-11A3-433A-ACEA-9544DFB36E43}" srcOrd="0" destOrd="0" presId="urn:microsoft.com/office/officeart/2018/2/layout/IconCircleList"/>
    <dgm:cxn modelId="{F95E2337-DCB0-4ABC-922D-8C71C44674A0}" type="presOf" srcId="{B873A2BB-72E7-436D-84AF-F1915AB696DC}" destId="{D862C6ED-56DA-4D4D-A844-9C83870A5F40}" srcOrd="0" destOrd="0" presId="urn:microsoft.com/office/officeart/2018/2/layout/IconCircleList"/>
    <dgm:cxn modelId="{03F18E47-A255-4BBA-A168-FEA98A7F567A}" type="presOf" srcId="{F42BFFAA-C5DE-417A-B313-04D2ACEA56D1}" destId="{A82CA7E7-0A4B-4AB9-ADEB-8598DA8E5DB1}" srcOrd="0" destOrd="0" presId="urn:microsoft.com/office/officeart/2018/2/layout/IconCircleList"/>
    <dgm:cxn modelId="{3CFA2363-9097-4A5D-BB45-E437116A116B}" type="presOf" srcId="{0036417A-881B-442F-AA10-2A6838603505}" destId="{F0DEB2A6-71A6-499E-937F-0003AA079B7C}" srcOrd="0" destOrd="0" presId="urn:microsoft.com/office/officeart/2018/2/layout/IconCircleList"/>
    <dgm:cxn modelId="{98B5AD68-57F0-4C83-9506-B7F31BD28BFC}" type="presOf" srcId="{44142DCE-AAED-4FB4-85A3-0BCE8C9C7346}" destId="{44ECD6A8-B48A-45D0-905C-D2978DB99277}" srcOrd="0" destOrd="0" presId="urn:microsoft.com/office/officeart/2018/2/layout/IconCircleList"/>
    <dgm:cxn modelId="{7225338C-561E-4E4C-A371-FB9A39782A10}" srcId="{6B57C84E-4D1D-4DA0-993C-04B732331EBD}" destId="{F42BFFAA-C5DE-417A-B313-04D2ACEA56D1}" srcOrd="4" destOrd="0" parTransId="{DC5A8600-5FEF-4DEA-9280-181F0AB99724}" sibTransId="{A280B013-3F10-4033-8685-DFC2F7F6C492}"/>
    <dgm:cxn modelId="{8003A495-70FD-4F4D-9701-BCD6DB8EA784}" type="presOf" srcId="{88146D10-0B7F-4655-8903-C191E49FB2ED}" destId="{8125B831-15D7-4448-B399-B12043F2A97E}" srcOrd="0" destOrd="0" presId="urn:microsoft.com/office/officeart/2018/2/layout/IconCircleList"/>
    <dgm:cxn modelId="{92B1E49C-5E6E-4E1C-9B09-FCCA05037FEA}" srcId="{6B57C84E-4D1D-4DA0-993C-04B732331EBD}" destId="{D3A2B06D-69EE-40F4-B741-E328ED830E54}" srcOrd="2" destOrd="0" parTransId="{70E47D02-FBA5-4D67-BA2F-EFBB3232ED15}" sibTransId="{88146D10-0B7F-4655-8903-C191E49FB2ED}"/>
    <dgm:cxn modelId="{55495AA4-54C2-4C3C-9464-B5B25FE84B57}" type="presOf" srcId="{2955F474-CB60-4779-B9B6-3AF44A695EB6}" destId="{DE152F02-B5E5-4599-95AB-9EDF9B33A6D8}" srcOrd="0" destOrd="0" presId="urn:microsoft.com/office/officeart/2018/2/layout/IconCircleList"/>
    <dgm:cxn modelId="{9294AAAE-A94E-4CED-8059-5FA4B34DAEEE}" type="presOf" srcId="{6B57C84E-4D1D-4DA0-993C-04B732331EBD}" destId="{58BD5789-F5E7-47D6-A283-DF4F60039C18}" srcOrd="0" destOrd="0" presId="urn:microsoft.com/office/officeart/2018/2/layout/IconCircleList"/>
    <dgm:cxn modelId="{E3B803B9-D667-4C72-AA55-C07C62521A94}" type="presOf" srcId="{93E29D47-F27B-4AE9-9077-06805394FD94}" destId="{BA6064DE-CAB0-4512-8ACC-5C7B508B94AE}" srcOrd="0" destOrd="0" presId="urn:microsoft.com/office/officeart/2018/2/layout/IconCircleList"/>
    <dgm:cxn modelId="{C2290CDB-D6A3-40CC-AEE9-7AE471F2BA89}" srcId="{6B57C84E-4D1D-4DA0-993C-04B732331EBD}" destId="{B873A2BB-72E7-436D-84AF-F1915AB696DC}" srcOrd="0" destOrd="0" parTransId="{4BC3A22F-BCEB-4491-8BCE-168DF93D9023}" sibTransId="{217FCED8-0B0E-48DF-93D2-B42820008450}"/>
    <dgm:cxn modelId="{B71790E5-A4CF-438B-AFD7-9858994BA8DB}" srcId="{6B57C84E-4D1D-4DA0-993C-04B732331EBD}" destId="{2955F474-CB60-4779-B9B6-3AF44A695EB6}" srcOrd="3" destOrd="0" parTransId="{FD1D9FDB-9FEE-4C43-9734-CBC082B57E2E}" sibTransId="{93E29D47-F27B-4AE9-9077-06805394FD94}"/>
    <dgm:cxn modelId="{2ACE0AE8-FA79-4B42-8B04-976B082654F0}" type="presOf" srcId="{217FCED8-0B0E-48DF-93D2-B42820008450}" destId="{3F36639F-30CF-4C61-AA5B-AEB932F8F2C0}" srcOrd="0" destOrd="0" presId="urn:microsoft.com/office/officeart/2018/2/layout/IconCircleList"/>
    <dgm:cxn modelId="{FC9AC5E7-B78A-4F2E-B1D6-7100579B007F}" type="presParOf" srcId="{58BD5789-F5E7-47D6-A283-DF4F60039C18}" destId="{9D340104-82C1-4731-B282-A7948F1BE179}" srcOrd="0" destOrd="0" presId="urn:microsoft.com/office/officeart/2018/2/layout/IconCircleList"/>
    <dgm:cxn modelId="{41AA442A-4872-40B1-98EB-AA8642A6B9FD}" type="presParOf" srcId="{9D340104-82C1-4731-B282-A7948F1BE179}" destId="{DD989221-C573-443F-BD42-7A2A8F12A161}" srcOrd="0" destOrd="0" presId="urn:microsoft.com/office/officeart/2018/2/layout/IconCircleList"/>
    <dgm:cxn modelId="{02FFAE8B-AE27-4C46-81F9-5B51FF1EC78B}" type="presParOf" srcId="{DD989221-C573-443F-BD42-7A2A8F12A161}" destId="{01DD8521-EEC3-43A2-AD1A-64822784471E}" srcOrd="0" destOrd="0" presId="urn:microsoft.com/office/officeart/2018/2/layout/IconCircleList"/>
    <dgm:cxn modelId="{99D51898-4141-4F10-B68B-47EA14625821}" type="presParOf" srcId="{DD989221-C573-443F-BD42-7A2A8F12A161}" destId="{FF4FBD20-50D4-42AA-BCA0-36A2044272A9}" srcOrd="1" destOrd="0" presId="urn:microsoft.com/office/officeart/2018/2/layout/IconCircleList"/>
    <dgm:cxn modelId="{09DE204F-7F6D-4580-A7E2-B8A2F9D73AC2}" type="presParOf" srcId="{DD989221-C573-443F-BD42-7A2A8F12A161}" destId="{8DDEF278-2D7E-400C-BAA7-18F2971F15B7}" srcOrd="2" destOrd="0" presId="urn:microsoft.com/office/officeart/2018/2/layout/IconCircleList"/>
    <dgm:cxn modelId="{54F1C563-6FD1-46BA-AC24-52719F013DD4}" type="presParOf" srcId="{DD989221-C573-443F-BD42-7A2A8F12A161}" destId="{D862C6ED-56DA-4D4D-A844-9C83870A5F40}" srcOrd="3" destOrd="0" presId="urn:microsoft.com/office/officeart/2018/2/layout/IconCircleList"/>
    <dgm:cxn modelId="{D264C7E8-E1B4-445B-87C4-DBDE242788B9}" type="presParOf" srcId="{9D340104-82C1-4731-B282-A7948F1BE179}" destId="{3F36639F-30CF-4C61-AA5B-AEB932F8F2C0}" srcOrd="1" destOrd="0" presId="urn:microsoft.com/office/officeart/2018/2/layout/IconCircleList"/>
    <dgm:cxn modelId="{E3DC7EF9-0059-4710-8561-09E72DC1944E}" type="presParOf" srcId="{9D340104-82C1-4731-B282-A7948F1BE179}" destId="{DF557E1B-3CC7-42F8-BA70-E72A08520E01}" srcOrd="2" destOrd="0" presId="urn:microsoft.com/office/officeart/2018/2/layout/IconCircleList"/>
    <dgm:cxn modelId="{3E1DA881-C37E-40A0-8F42-679DDC19F2E0}" type="presParOf" srcId="{DF557E1B-3CC7-42F8-BA70-E72A08520E01}" destId="{C5979E86-AA8C-43C1-B440-9514A58FF7E0}" srcOrd="0" destOrd="0" presId="urn:microsoft.com/office/officeart/2018/2/layout/IconCircleList"/>
    <dgm:cxn modelId="{C3BBE3F9-E58A-4CCC-893F-F924BDFF59E3}" type="presParOf" srcId="{DF557E1B-3CC7-42F8-BA70-E72A08520E01}" destId="{13288367-1514-47D3-97A5-8A1CFCB1819A}" srcOrd="1" destOrd="0" presId="urn:microsoft.com/office/officeart/2018/2/layout/IconCircleList"/>
    <dgm:cxn modelId="{50A756E6-AA58-4DFE-9239-49CC6876E9CD}" type="presParOf" srcId="{DF557E1B-3CC7-42F8-BA70-E72A08520E01}" destId="{1A65AC69-BDD1-4943-9337-89473B44644C}" srcOrd="2" destOrd="0" presId="urn:microsoft.com/office/officeart/2018/2/layout/IconCircleList"/>
    <dgm:cxn modelId="{47D1F867-8D07-4E2D-839C-BF71471B5EB2}" type="presParOf" srcId="{DF557E1B-3CC7-42F8-BA70-E72A08520E01}" destId="{44ECD6A8-B48A-45D0-905C-D2978DB99277}" srcOrd="3" destOrd="0" presId="urn:microsoft.com/office/officeart/2018/2/layout/IconCircleList"/>
    <dgm:cxn modelId="{D04A1FF9-5B46-40B4-8EA9-0C9D66F4D9E5}" type="presParOf" srcId="{9D340104-82C1-4731-B282-A7948F1BE179}" destId="{F0DEB2A6-71A6-499E-937F-0003AA079B7C}" srcOrd="3" destOrd="0" presId="urn:microsoft.com/office/officeart/2018/2/layout/IconCircleList"/>
    <dgm:cxn modelId="{0EEDE0F9-919D-4BCF-B4F5-A411B15CF8AE}" type="presParOf" srcId="{9D340104-82C1-4731-B282-A7948F1BE179}" destId="{FAFC4CC7-7CAE-463F-8ED7-1BB86F060696}" srcOrd="4" destOrd="0" presId="urn:microsoft.com/office/officeart/2018/2/layout/IconCircleList"/>
    <dgm:cxn modelId="{6ECC4FBE-3E8B-4F91-9ADE-71385F3B63A3}" type="presParOf" srcId="{FAFC4CC7-7CAE-463F-8ED7-1BB86F060696}" destId="{A5E3AEDC-9051-42A1-BBD7-C980D9429CB1}" srcOrd="0" destOrd="0" presId="urn:microsoft.com/office/officeart/2018/2/layout/IconCircleList"/>
    <dgm:cxn modelId="{4017E47C-077F-4EAD-A23E-1719FC7A0244}" type="presParOf" srcId="{FAFC4CC7-7CAE-463F-8ED7-1BB86F060696}" destId="{6353A96C-5CB0-4524-A539-FBE9AF8B63BD}" srcOrd="1" destOrd="0" presId="urn:microsoft.com/office/officeart/2018/2/layout/IconCircleList"/>
    <dgm:cxn modelId="{E9FD9FBF-1B86-4113-8E3E-DC6828E4B165}" type="presParOf" srcId="{FAFC4CC7-7CAE-463F-8ED7-1BB86F060696}" destId="{4BB8BDE6-BDA2-41F2-8449-78853CD9F4AA}" srcOrd="2" destOrd="0" presId="urn:microsoft.com/office/officeart/2018/2/layout/IconCircleList"/>
    <dgm:cxn modelId="{28ACBA6E-3E19-4B18-98A2-3FABBC89B5B6}" type="presParOf" srcId="{FAFC4CC7-7CAE-463F-8ED7-1BB86F060696}" destId="{E7428BFE-11A3-433A-ACEA-9544DFB36E43}" srcOrd="3" destOrd="0" presId="urn:microsoft.com/office/officeart/2018/2/layout/IconCircleList"/>
    <dgm:cxn modelId="{DA4FDA22-5784-4820-B2BB-D2DC00040BFD}" type="presParOf" srcId="{9D340104-82C1-4731-B282-A7948F1BE179}" destId="{8125B831-15D7-4448-B399-B12043F2A97E}" srcOrd="5" destOrd="0" presId="urn:microsoft.com/office/officeart/2018/2/layout/IconCircleList"/>
    <dgm:cxn modelId="{88E2656A-9924-4AED-8AEE-DE04C7670D28}" type="presParOf" srcId="{9D340104-82C1-4731-B282-A7948F1BE179}" destId="{195267C5-AE1E-49D6-9E37-A0B46EEFC39D}" srcOrd="6" destOrd="0" presId="urn:microsoft.com/office/officeart/2018/2/layout/IconCircleList"/>
    <dgm:cxn modelId="{8337D3FA-C403-4958-820C-FF2C0CDD37B2}" type="presParOf" srcId="{195267C5-AE1E-49D6-9E37-A0B46EEFC39D}" destId="{AF4E569D-0E2B-444D-9756-03F0F3DCF869}" srcOrd="0" destOrd="0" presId="urn:microsoft.com/office/officeart/2018/2/layout/IconCircleList"/>
    <dgm:cxn modelId="{A79D2D9B-EF0A-4B8B-880C-BF5233B8417C}" type="presParOf" srcId="{195267C5-AE1E-49D6-9E37-A0B46EEFC39D}" destId="{51151BA1-7BF4-4074-9F1F-284800F8C599}" srcOrd="1" destOrd="0" presId="urn:microsoft.com/office/officeart/2018/2/layout/IconCircleList"/>
    <dgm:cxn modelId="{CF4ACD7D-3608-4402-A4D4-CAE09994C826}" type="presParOf" srcId="{195267C5-AE1E-49D6-9E37-A0B46EEFC39D}" destId="{91538B6E-2BAD-46A7-B25D-57E08BE584B5}" srcOrd="2" destOrd="0" presId="urn:microsoft.com/office/officeart/2018/2/layout/IconCircleList"/>
    <dgm:cxn modelId="{07805988-6185-43CA-9936-9084C9E66C65}" type="presParOf" srcId="{195267C5-AE1E-49D6-9E37-A0B46EEFC39D}" destId="{DE152F02-B5E5-4599-95AB-9EDF9B33A6D8}" srcOrd="3" destOrd="0" presId="urn:microsoft.com/office/officeart/2018/2/layout/IconCircleList"/>
    <dgm:cxn modelId="{089CD795-AF88-4E36-BA1D-F9586AA2D3C7}" type="presParOf" srcId="{9D340104-82C1-4731-B282-A7948F1BE179}" destId="{BA6064DE-CAB0-4512-8ACC-5C7B508B94AE}" srcOrd="7" destOrd="0" presId="urn:microsoft.com/office/officeart/2018/2/layout/IconCircleList"/>
    <dgm:cxn modelId="{0813CADC-A22B-4BE8-A35B-DC99573D7BCF}" type="presParOf" srcId="{9D340104-82C1-4731-B282-A7948F1BE179}" destId="{59A3CF8D-E6D9-4C92-9793-55684CC06262}" srcOrd="8" destOrd="0" presId="urn:microsoft.com/office/officeart/2018/2/layout/IconCircleList"/>
    <dgm:cxn modelId="{B6DA1615-C96D-41D6-B19C-6FAB534ECA83}" type="presParOf" srcId="{59A3CF8D-E6D9-4C92-9793-55684CC06262}" destId="{E3C8B6A0-C9A4-47AF-BA12-46358A1865CC}" srcOrd="0" destOrd="0" presId="urn:microsoft.com/office/officeart/2018/2/layout/IconCircleList"/>
    <dgm:cxn modelId="{50F663F2-9F78-4900-83FF-D41EBF122B55}" type="presParOf" srcId="{59A3CF8D-E6D9-4C92-9793-55684CC06262}" destId="{B1F43EC2-3D46-421C-BBE1-4E1C392396BA}" srcOrd="1" destOrd="0" presId="urn:microsoft.com/office/officeart/2018/2/layout/IconCircleList"/>
    <dgm:cxn modelId="{B70550C6-9F89-4141-90EF-1098D07BE081}" type="presParOf" srcId="{59A3CF8D-E6D9-4C92-9793-55684CC06262}" destId="{6CB4CE01-F853-433E-A77C-1B74777F1EF2}" srcOrd="2" destOrd="0" presId="urn:microsoft.com/office/officeart/2018/2/layout/IconCircleList"/>
    <dgm:cxn modelId="{0C7ACC4B-A438-490C-ACC8-B9DD8FA1DCE3}" type="presParOf" srcId="{59A3CF8D-E6D9-4C92-9793-55684CC06262}" destId="{A82CA7E7-0A4B-4AB9-ADEB-8598DA8E5DB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73E9F4-7090-4C3A-8704-D63D7EE22033}">
      <dsp:nvSpPr>
        <dsp:cNvPr id="0" name=""/>
        <dsp:cNvSpPr/>
      </dsp:nvSpPr>
      <dsp:spPr>
        <a:xfrm>
          <a:off x="0" y="482"/>
          <a:ext cx="6797675" cy="664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89232B-C6E5-4837-AE1B-0ECD67C27478}">
      <dsp:nvSpPr>
        <dsp:cNvPr id="0" name=""/>
        <dsp:cNvSpPr/>
      </dsp:nvSpPr>
      <dsp:spPr>
        <a:xfrm>
          <a:off x="201036" y="150013"/>
          <a:ext cx="365520" cy="3655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74B73-6FD9-4FE6-AEA4-8CD92EC29B0D}">
      <dsp:nvSpPr>
        <dsp:cNvPr id="0" name=""/>
        <dsp:cNvSpPr/>
      </dsp:nvSpPr>
      <dsp:spPr>
        <a:xfrm>
          <a:off x="767592" y="482"/>
          <a:ext cx="6030082" cy="66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35" tIns="70335" rIns="70335" bIns="7033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Observar una situación concreta que nos interese</a:t>
          </a:r>
          <a:endParaRPr lang="en-US" sz="1600" kern="1200"/>
        </a:p>
      </dsp:txBody>
      <dsp:txXfrm>
        <a:off x="767592" y="482"/>
        <a:ext cx="6030082" cy="664581"/>
      </dsp:txXfrm>
    </dsp:sp>
    <dsp:sp modelId="{4165DDF4-2C08-430D-8FAE-AC4334D554AF}">
      <dsp:nvSpPr>
        <dsp:cNvPr id="0" name=""/>
        <dsp:cNvSpPr/>
      </dsp:nvSpPr>
      <dsp:spPr>
        <a:xfrm>
          <a:off x="0" y="831210"/>
          <a:ext cx="6797675" cy="664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29D542-225B-4EC9-991D-F08A72F6DCA4}">
      <dsp:nvSpPr>
        <dsp:cNvPr id="0" name=""/>
        <dsp:cNvSpPr/>
      </dsp:nvSpPr>
      <dsp:spPr>
        <a:xfrm>
          <a:off x="201036" y="980741"/>
          <a:ext cx="365520" cy="3655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BE92D6-46BD-4AD7-895B-199C464198E4}">
      <dsp:nvSpPr>
        <dsp:cNvPr id="0" name=""/>
        <dsp:cNvSpPr/>
      </dsp:nvSpPr>
      <dsp:spPr>
        <a:xfrm>
          <a:off x="767592" y="831210"/>
          <a:ext cx="6030082" cy="66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35" tIns="70335" rIns="70335" bIns="7033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Lo ideal, es que sea observación NO intrusiva</a:t>
          </a:r>
          <a:endParaRPr lang="en-US" sz="1600" kern="1200"/>
        </a:p>
      </dsp:txBody>
      <dsp:txXfrm>
        <a:off x="767592" y="831210"/>
        <a:ext cx="6030082" cy="664581"/>
      </dsp:txXfrm>
    </dsp:sp>
    <dsp:sp modelId="{86421273-384E-403C-B702-EF55BBBE838E}">
      <dsp:nvSpPr>
        <dsp:cNvPr id="0" name=""/>
        <dsp:cNvSpPr/>
      </dsp:nvSpPr>
      <dsp:spPr>
        <a:xfrm>
          <a:off x="0" y="1661937"/>
          <a:ext cx="6797675" cy="664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0B71AF-EEA7-4F0E-B5E6-3D5AC137C50F}">
      <dsp:nvSpPr>
        <dsp:cNvPr id="0" name=""/>
        <dsp:cNvSpPr/>
      </dsp:nvSpPr>
      <dsp:spPr>
        <a:xfrm>
          <a:off x="201036" y="1811468"/>
          <a:ext cx="365520" cy="3655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0730A-4673-4194-8964-FB75D45EF333}">
      <dsp:nvSpPr>
        <dsp:cNvPr id="0" name=""/>
        <dsp:cNvSpPr/>
      </dsp:nvSpPr>
      <dsp:spPr>
        <a:xfrm>
          <a:off x="767592" y="1661937"/>
          <a:ext cx="6030082" cy="66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35" tIns="70335" rIns="70335" bIns="7033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VENTAJAS:</a:t>
          </a:r>
          <a:endParaRPr lang="en-US" sz="1600" kern="1200"/>
        </a:p>
      </dsp:txBody>
      <dsp:txXfrm>
        <a:off x="767592" y="1661937"/>
        <a:ext cx="6030082" cy="664581"/>
      </dsp:txXfrm>
    </dsp:sp>
    <dsp:sp modelId="{8F570E9A-4DAD-4AE0-B431-802CB7202613}">
      <dsp:nvSpPr>
        <dsp:cNvPr id="0" name=""/>
        <dsp:cNvSpPr/>
      </dsp:nvSpPr>
      <dsp:spPr>
        <a:xfrm>
          <a:off x="0" y="2492665"/>
          <a:ext cx="6797675" cy="664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DE0111-851C-491F-992B-D55DDAE154F1}">
      <dsp:nvSpPr>
        <dsp:cNvPr id="0" name=""/>
        <dsp:cNvSpPr/>
      </dsp:nvSpPr>
      <dsp:spPr>
        <a:xfrm>
          <a:off x="201036" y="2642195"/>
          <a:ext cx="365520" cy="3655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104F3-A9DF-41BD-A698-C469E85422AE}">
      <dsp:nvSpPr>
        <dsp:cNvPr id="0" name=""/>
        <dsp:cNvSpPr/>
      </dsp:nvSpPr>
      <dsp:spPr>
        <a:xfrm>
          <a:off x="767592" y="2492665"/>
          <a:ext cx="6030082" cy="66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35" tIns="70335" rIns="70335" bIns="7033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Tiene la ventaja de que no requiere conversación</a:t>
          </a:r>
          <a:endParaRPr lang="en-US" sz="1600" kern="1200"/>
        </a:p>
      </dsp:txBody>
      <dsp:txXfrm>
        <a:off x="767592" y="2492665"/>
        <a:ext cx="6030082" cy="664581"/>
      </dsp:txXfrm>
    </dsp:sp>
    <dsp:sp modelId="{925C046C-3BA1-4FC3-97E8-04EFCE470930}">
      <dsp:nvSpPr>
        <dsp:cNvPr id="0" name=""/>
        <dsp:cNvSpPr/>
      </dsp:nvSpPr>
      <dsp:spPr>
        <a:xfrm>
          <a:off x="0" y="3323392"/>
          <a:ext cx="6797675" cy="664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179749-4131-4F0F-939E-B39D06741EE2}">
      <dsp:nvSpPr>
        <dsp:cNvPr id="0" name=""/>
        <dsp:cNvSpPr/>
      </dsp:nvSpPr>
      <dsp:spPr>
        <a:xfrm>
          <a:off x="201036" y="3472923"/>
          <a:ext cx="365520" cy="3655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F3AA4B-05E6-4EB2-B3B7-3D307308BAA3}">
      <dsp:nvSpPr>
        <dsp:cNvPr id="0" name=""/>
        <dsp:cNvSpPr/>
      </dsp:nvSpPr>
      <dsp:spPr>
        <a:xfrm>
          <a:off x="767592" y="3323392"/>
          <a:ext cx="6030082" cy="66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35" tIns="70335" rIns="70335" bIns="7033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Es idóneo para estudiar comportamientos no verbales comunes</a:t>
          </a:r>
          <a:endParaRPr lang="en-US" sz="1600" kern="1200" dirty="0"/>
        </a:p>
      </dsp:txBody>
      <dsp:txXfrm>
        <a:off x="767592" y="3323392"/>
        <a:ext cx="6030082" cy="664581"/>
      </dsp:txXfrm>
    </dsp:sp>
    <dsp:sp modelId="{F75CA7A2-B2C9-485E-A1E2-044863A881CE}">
      <dsp:nvSpPr>
        <dsp:cNvPr id="0" name=""/>
        <dsp:cNvSpPr/>
      </dsp:nvSpPr>
      <dsp:spPr>
        <a:xfrm>
          <a:off x="0" y="4154119"/>
          <a:ext cx="6797675" cy="664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2688B1-A66F-43D8-A54E-8561B7616672}">
      <dsp:nvSpPr>
        <dsp:cNvPr id="0" name=""/>
        <dsp:cNvSpPr/>
      </dsp:nvSpPr>
      <dsp:spPr>
        <a:xfrm>
          <a:off x="201036" y="4303650"/>
          <a:ext cx="365520" cy="3655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57B01-2FB9-4E0A-8C4E-DC7A4622A09A}">
      <dsp:nvSpPr>
        <dsp:cNvPr id="0" name=""/>
        <dsp:cNvSpPr/>
      </dsp:nvSpPr>
      <dsp:spPr>
        <a:xfrm>
          <a:off x="767592" y="4154119"/>
          <a:ext cx="6030082" cy="66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35" tIns="70335" rIns="70335" bIns="7033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Además, los individuos en general no son conscientes de cómo actúan</a:t>
          </a:r>
          <a:endParaRPr lang="en-US" sz="1600" kern="1200" dirty="0"/>
        </a:p>
      </dsp:txBody>
      <dsp:txXfrm>
        <a:off x="767592" y="4154119"/>
        <a:ext cx="6030082" cy="664581"/>
      </dsp:txXfrm>
    </dsp:sp>
    <dsp:sp modelId="{BF06A3D4-08C3-4778-9087-1CC04408D9D2}">
      <dsp:nvSpPr>
        <dsp:cNvPr id="0" name=""/>
        <dsp:cNvSpPr/>
      </dsp:nvSpPr>
      <dsp:spPr>
        <a:xfrm>
          <a:off x="0" y="4984847"/>
          <a:ext cx="6797675" cy="664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04CB98-D92C-4009-8AFD-BC6C8294C9C5}">
      <dsp:nvSpPr>
        <dsp:cNvPr id="0" name=""/>
        <dsp:cNvSpPr/>
      </dsp:nvSpPr>
      <dsp:spPr>
        <a:xfrm>
          <a:off x="201036" y="5134378"/>
          <a:ext cx="365520" cy="36552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8520CB-28D4-46BF-B9DB-57B34F53AA0D}">
      <dsp:nvSpPr>
        <dsp:cNvPr id="0" name=""/>
        <dsp:cNvSpPr/>
      </dsp:nvSpPr>
      <dsp:spPr>
        <a:xfrm>
          <a:off x="767592" y="4984847"/>
          <a:ext cx="6030082" cy="66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35" tIns="70335" rIns="70335" bIns="7033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Es más sencillo generalizar los resultados al mundo real</a:t>
          </a:r>
          <a:endParaRPr lang="en-US" sz="1600" kern="1200" dirty="0"/>
        </a:p>
      </dsp:txBody>
      <dsp:txXfrm>
        <a:off x="767592" y="4984847"/>
        <a:ext cx="6030082" cy="6645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B6E22C-5F88-4ED7-9CCD-31B1BD772BD3}">
      <dsp:nvSpPr>
        <dsp:cNvPr id="0" name=""/>
        <dsp:cNvSpPr/>
      </dsp:nvSpPr>
      <dsp:spPr>
        <a:xfrm>
          <a:off x="0" y="462"/>
          <a:ext cx="10058399" cy="10814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FCBFD8-FF2F-4DC8-A973-D22DEB53AD26}">
      <dsp:nvSpPr>
        <dsp:cNvPr id="0" name=""/>
        <dsp:cNvSpPr/>
      </dsp:nvSpPr>
      <dsp:spPr>
        <a:xfrm>
          <a:off x="327145" y="243793"/>
          <a:ext cx="594810" cy="5948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DAC40-E312-42D9-9114-D52B5F450F8D}">
      <dsp:nvSpPr>
        <dsp:cNvPr id="0" name=""/>
        <dsp:cNvSpPr/>
      </dsp:nvSpPr>
      <dsp:spPr>
        <a:xfrm>
          <a:off x="1249101" y="462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Prestar atención a las conductas no verbales (posturas, gestos, etc.)</a:t>
          </a:r>
          <a:endParaRPr lang="en-US" sz="2500" kern="1200"/>
        </a:p>
      </dsp:txBody>
      <dsp:txXfrm>
        <a:off x="1249101" y="462"/>
        <a:ext cx="8809298" cy="1081473"/>
      </dsp:txXfrm>
    </dsp:sp>
    <dsp:sp modelId="{4F90B872-4FAE-456C-9302-4ABBC3C3DA02}">
      <dsp:nvSpPr>
        <dsp:cNvPr id="0" name=""/>
        <dsp:cNvSpPr/>
      </dsp:nvSpPr>
      <dsp:spPr>
        <a:xfrm>
          <a:off x="0" y="1352303"/>
          <a:ext cx="10058399" cy="10814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1965C4-95B0-4C27-87C5-4988DBC43953}">
      <dsp:nvSpPr>
        <dsp:cNvPr id="0" name=""/>
        <dsp:cNvSpPr/>
      </dsp:nvSpPr>
      <dsp:spPr>
        <a:xfrm>
          <a:off x="327145" y="1595634"/>
          <a:ext cx="594810" cy="5948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87952-21CA-405A-BB94-AE441A8CD273}">
      <dsp:nvSpPr>
        <dsp:cNvPr id="0" name=""/>
        <dsp:cNvSpPr/>
      </dsp:nvSpPr>
      <dsp:spPr>
        <a:xfrm>
          <a:off x="1249101" y="1352303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También es relevante aquello que no ocurre (y sí esperábamos que sucediera)</a:t>
          </a:r>
          <a:endParaRPr lang="en-US" sz="2500" kern="1200"/>
        </a:p>
      </dsp:txBody>
      <dsp:txXfrm>
        <a:off x="1249101" y="1352303"/>
        <a:ext cx="8809298" cy="1081473"/>
      </dsp:txXfrm>
    </dsp:sp>
    <dsp:sp modelId="{EC5D6488-A4D1-442D-821F-C656C9DF5502}">
      <dsp:nvSpPr>
        <dsp:cNvPr id="0" name=""/>
        <dsp:cNvSpPr/>
      </dsp:nvSpPr>
      <dsp:spPr>
        <a:xfrm>
          <a:off x="0" y="2704144"/>
          <a:ext cx="10058399" cy="10814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AEBFD4-EFAE-4AC8-B5B1-DAD00B319253}">
      <dsp:nvSpPr>
        <dsp:cNvPr id="0" name=""/>
        <dsp:cNvSpPr/>
      </dsp:nvSpPr>
      <dsp:spPr>
        <a:xfrm>
          <a:off x="327145" y="2947476"/>
          <a:ext cx="594810" cy="5948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A54D6-4CB9-4F24-A7AD-7AAF320536CA}">
      <dsp:nvSpPr>
        <dsp:cNvPr id="0" name=""/>
        <dsp:cNvSpPr/>
      </dsp:nvSpPr>
      <dsp:spPr>
        <a:xfrm>
          <a:off x="1249101" y="2704144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No interferir para no afectar la conducta de las personas</a:t>
          </a:r>
          <a:endParaRPr lang="en-US" sz="2500" kern="1200"/>
        </a:p>
      </dsp:txBody>
      <dsp:txXfrm>
        <a:off x="1249101" y="2704144"/>
        <a:ext cx="8809298" cy="10814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DD8521-EEC3-43A2-AD1A-64822784471E}">
      <dsp:nvSpPr>
        <dsp:cNvPr id="0" name=""/>
        <dsp:cNvSpPr/>
      </dsp:nvSpPr>
      <dsp:spPr>
        <a:xfrm>
          <a:off x="41812" y="531184"/>
          <a:ext cx="888857" cy="88885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4FBD20-50D4-42AA-BCA0-36A2044272A9}">
      <dsp:nvSpPr>
        <dsp:cNvPr id="0" name=""/>
        <dsp:cNvSpPr/>
      </dsp:nvSpPr>
      <dsp:spPr>
        <a:xfrm>
          <a:off x="228472" y="717844"/>
          <a:ext cx="515537" cy="5155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2C6ED-56DA-4D4D-A844-9C83870A5F40}">
      <dsp:nvSpPr>
        <dsp:cNvPr id="0" name=""/>
        <dsp:cNvSpPr/>
      </dsp:nvSpPr>
      <dsp:spPr>
        <a:xfrm>
          <a:off x="1121139" y="531184"/>
          <a:ext cx="2095164" cy="88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La entrevista es una “conversación con cierto propósito” </a:t>
          </a:r>
          <a:endParaRPr lang="en-US" sz="1600" kern="1200"/>
        </a:p>
      </dsp:txBody>
      <dsp:txXfrm>
        <a:off x="1121139" y="531184"/>
        <a:ext cx="2095164" cy="888857"/>
      </dsp:txXfrm>
    </dsp:sp>
    <dsp:sp modelId="{C5979E86-AA8C-43C1-B440-9514A58FF7E0}">
      <dsp:nvSpPr>
        <dsp:cNvPr id="0" name=""/>
        <dsp:cNvSpPr/>
      </dsp:nvSpPr>
      <dsp:spPr>
        <a:xfrm>
          <a:off x="3581370" y="531184"/>
          <a:ext cx="888857" cy="88885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88367-1514-47D3-97A5-8A1CFCB1819A}">
      <dsp:nvSpPr>
        <dsp:cNvPr id="0" name=""/>
        <dsp:cNvSpPr/>
      </dsp:nvSpPr>
      <dsp:spPr>
        <a:xfrm>
          <a:off x="3768030" y="717844"/>
          <a:ext cx="515537" cy="5155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CD6A8-B48A-45D0-905C-D2978DB99277}">
      <dsp:nvSpPr>
        <dsp:cNvPr id="0" name=""/>
        <dsp:cNvSpPr/>
      </dsp:nvSpPr>
      <dsp:spPr>
        <a:xfrm>
          <a:off x="4660697" y="531184"/>
          <a:ext cx="2095164" cy="88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(Bingham y Moore, 1959)</a:t>
          </a:r>
          <a:endParaRPr lang="en-US" sz="1600" kern="1200"/>
        </a:p>
      </dsp:txBody>
      <dsp:txXfrm>
        <a:off x="4660697" y="531184"/>
        <a:ext cx="2095164" cy="888857"/>
      </dsp:txXfrm>
    </dsp:sp>
    <dsp:sp modelId="{A5E3AEDC-9051-42A1-BBD7-C980D9429CB1}">
      <dsp:nvSpPr>
        <dsp:cNvPr id="0" name=""/>
        <dsp:cNvSpPr/>
      </dsp:nvSpPr>
      <dsp:spPr>
        <a:xfrm>
          <a:off x="41812" y="2380527"/>
          <a:ext cx="888857" cy="88885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3A96C-5CB0-4524-A539-FBE9AF8B63BD}">
      <dsp:nvSpPr>
        <dsp:cNvPr id="0" name=""/>
        <dsp:cNvSpPr/>
      </dsp:nvSpPr>
      <dsp:spPr>
        <a:xfrm>
          <a:off x="228472" y="2567187"/>
          <a:ext cx="515537" cy="5155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28BFE-11A3-433A-ACEA-9544DFB36E43}">
      <dsp:nvSpPr>
        <dsp:cNvPr id="0" name=""/>
        <dsp:cNvSpPr/>
      </dsp:nvSpPr>
      <dsp:spPr>
        <a:xfrm>
          <a:off x="1121139" y="2380527"/>
          <a:ext cx="2095164" cy="88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- Gran fuente de datos de investigación</a:t>
          </a:r>
          <a:endParaRPr lang="en-US" sz="1600" kern="1200"/>
        </a:p>
      </dsp:txBody>
      <dsp:txXfrm>
        <a:off x="1121139" y="2380527"/>
        <a:ext cx="2095164" cy="888857"/>
      </dsp:txXfrm>
    </dsp:sp>
    <dsp:sp modelId="{AF4E569D-0E2B-444D-9756-03F0F3DCF869}">
      <dsp:nvSpPr>
        <dsp:cNvPr id="0" name=""/>
        <dsp:cNvSpPr/>
      </dsp:nvSpPr>
      <dsp:spPr>
        <a:xfrm>
          <a:off x="3581370" y="2380527"/>
          <a:ext cx="888857" cy="88885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51BA1-7BF4-4074-9F1F-284800F8C599}">
      <dsp:nvSpPr>
        <dsp:cNvPr id="0" name=""/>
        <dsp:cNvSpPr/>
      </dsp:nvSpPr>
      <dsp:spPr>
        <a:xfrm>
          <a:off x="3768030" y="2567187"/>
          <a:ext cx="515537" cy="5155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52F02-B5E5-4599-95AB-9EDF9B33A6D8}">
      <dsp:nvSpPr>
        <dsp:cNvPr id="0" name=""/>
        <dsp:cNvSpPr/>
      </dsp:nvSpPr>
      <dsp:spPr>
        <a:xfrm>
          <a:off x="4660697" y="2380527"/>
          <a:ext cx="2095164" cy="88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- La interacción personal cobra especial relevancia</a:t>
          </a:r>
          <a:endParaRPr lang="en-US" sz="1600" kern="1200"/>
        </a:p>
      </dsp:txBody>
      <dsp:txXfrm>
        <a:off x="4660697" y="2380527"/>
        <a:ext cx="2095164" cy="888857"/>
      </dsp:txXfrm>
    </dsp:sp>
    <dsp:sp modelId="{E3C8B6A0-C9A4-47AF-BA12-46358A1865CC}">
      <dsp:nvSpPr>
        <dsp:cNvPr id="0" name=""/>
        <dsp:cNvSpPr/>
      </dsp:nvSpPr>
      <dsp:spPr>
        <a:xfrm>
          <a:off x="41812" y="4229869"/>
          <a:ext cx="888857" cy="88885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43EC2-3D46-421C-BBE1-4E1C392396BA}">
      <dsp:nvSpPr>
        <dsp:cNvPr id="0" name=""/>
        <dsp:cNvSpPr/>
      </dsp:nvSpPr>
      <dsp:spPr>
        <a:xfrm>
          <a:off x="228472" y="4416529"/>
          <a:ext cx="515537" cy="51553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CA7E7-0A4B-4AB9-ADEB-8598DA8E5DB1}">
      <dsp:nvSpPr>
        <dsp:cNvPr id="0" name=""/>
        <dsp:cNvSpPr/>
      </dsp:nvSpPr>
      <dsp:spPr>
        <a:xfrm>
          <a:off x="1121139" y="4229869"/>
          <a:ext cx="2095164" cy="88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- Dar la oportunidad a las personas de poder expresarse verbalmente</a:t>
          </a:r>
          <a:endParaRPr lang="en-US" sz="1600" kern="1200"/>
        </a:p>
      </dsp:txBody>
      <dsp:txXfrm>
        <a:off x="1121139" y="4229869"/>
        <a:ext cx="2095164" cy="8888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6733433-91C9-4F25-89C5-2049FA2AC72A}" type="datetime1">
              <a:rPr lang="es-ES" smtClean="0"/>
              <a:pPr rtl="0"/>
              <a:t>4/5/26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798501B-77B5-4365-9881-C6E19A3C1E42}" type="slidenum">
              <a:rPr lang="es-ES" smtClean="0"/>
              <a:pPr rtl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514561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42799A-0270-465F-BFBB-B1E8788AA761}" type="datetime1">
              <a:rPr lang="es-ES" noProof="0" smtClean="0"/>
              <a:pPr rtl="0"/>
              <a:t>4/5/26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C8BD8E7-1312-41F3-99C4-6DA5AF891969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920842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smtClean="0"/>
              <a:pPr rtl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72865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DF3B8-306C-4D66-A822-B5E0F66B87A1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6121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DF3B8-306C-4D66-A822-B5E0F66B87A1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7875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DF3B8-306C-4D66-A822-B5E0F66B87A1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5044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DF3B8-306C-4D66-A822-B5E0F66B87A1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8788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DF3B8-306C-4D66-A822-B5E0F66B87A1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2674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DF3B8-306C-4D66-A822-B5E0F66B87A1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16509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noProof="0" smtClean="0"/>
              <a:pPr rtl="0"/>
              <a:t>23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67587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noProof="0" smtClean="0"/>
              <a:pPr rtl="0"/>
              <a:t>29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86533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noProof="0" smtClean="0"/>
              <a:pPr rtl="0"/>
              <a:t>40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30483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ef4f7a7341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ef4f7a7341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9418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ecd9237362_0_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ecd9237362_0_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4855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pPr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448E3757-13A1-44DB-9643-75F53F2346A1}"/>
              </a:ext>
            </a:extLst>
          </p:cNvPr>
          <p:cNvSpPr/>
          <p:nvPr userDrawn="1"/>
        </p:nvSpPr>
        <p:spPr>
          <a:xfrm>
            <a:off x="304800" y="304800"/>
            <a:ext cx="11582400" cy="6248400"/>
          </a:xfrm>
          <a:prstGeom prst="rect">
            <a:avLst/>
          </a:prstGeom>
          <a:noFill/>
          <a:ln w="508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7044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E879E85-5BBE-4DC3-949C-B551255CCB64}" type="datetime1">
              <a:rPr lang="es-ES" noProof="0" smtClean="0"/>
              <a:pPr rtl="0"/>
              <a:t>4/5/26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116656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E879E85-5BBE-4DC3-949C-B551255CCB64}" type="datetime1">
              <a:rPr lang="es-ES" noProof="0" smtClean="0"/>
              <a:pPr rtl="0"/>
              <a:t>4/5/26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52540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8D2FC1E-83DA-4E03-9666-93C59D8ACCEA}" type="datetime1">
              <a:rPr lang="es-ES" noProof="0" smtClean="0"/>
              <a:pPr rtl="0"/>
              <a:t>4/5/26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8519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A1153A9-469E-4B41-9F8D-6E09C4AFB7F0}" type="datetime1">
              <a:rPr lang="es-ES" noProof="0" smtClean="0"/>
              <a:pPr rtl="0"/>
              <a:t>4/5/26</a:t>
            </a:fld>
            <a:endParaRPr lang="es-E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5511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9ADA510-67ED-4878-A088-E9242C8AA6FD}" type="datetime1">
              <a:rPr lang="es-ES" noProof="0" smtClean="0"/>
              <a:pPr rtl="0"/>
              <a:t>4/5/26</a:t>
            </a:fld>
            <a:endParaRPr lang="es-E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3854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pPr/>
              <a:t>5/4/26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16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5E879E85-5BBE-4DC3-949C-B551255CCB64}" type="datetime1">
              <a:rPr lang="es-ES" noProof="0" smtClean="0"/>
              <a:pPr rtl="0"/>
              <a:t>4/5/26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007619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 cstate="print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E879E85-5BBE-4DC3-949C-B551255CCB64}" type="datetime1">
              <a:rPr lang="es-ES" noProof="0" smtClean="0"/>
              <a:pPr rtl="0"/>
              <a:t>4/5/26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529133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49C5101-B6E1-4C2F-96CC-D4D7C5FEAAF7}" type="datetime1">
              <a:rPr lang="es-ES" noProof="0" smtClean="0"/>
              <a:pPr rtl="0"/>
              <a:t>4/5/26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1720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E3F2578-7180-4CCB-9A96-7D1B03AD95AA}" type="datetime1">
              <a:rPr lang="es-ES" noProof="0" smtClean="0"/>
              <a:pPr rtl="0"/>
              <a:t>4/5/26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4739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apositiva de título con imáge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 userDrawn="1"/>
        </p:nvSpPr>
        <p:spPr>
          <a:xfrm>
            <a:off x="0" y="4800600"/>
            <a:ext cx="12192000" cy="2057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3400" y="5084483"/>
            <a:ext cx="11125200" cy="914400"/>
          </a:xfrm>
        </p:spPr>
        <p:txBody>
          <a:bodyPr rtlCol="0" anchor="b">
            <a:normAutofit/>
          </a:bodyPr>
          <a:lstStyle>
            <a:lvl1pPr algn="ctr">
              <a:defRPr sz="4400" spc="-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9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0"/>
          </p:nvPr>
        </p:nvSpPr>
        <p:spPr>
          <a:xfrm>
            <a:off x="1" y="1"/>
            <a:ext cx="4023360" cy="4745736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3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1"/>
          </p:nvPr>
        </p:nvSpPr>
        <p:spPr>
          <a:xfrm>
            <a:off x="4084320" y="1"/>
            <a:ext cx="4023360" cy="4745736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4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2"/>
          </p:nvPr>
        </p:nvSpPr>
        <p:spPr>
          <a:xfrm>
            <a:off x="8168640" y="1"/>
            <a:ext cx="4023360" cy="4745736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33400" y="6043123"/>
            <a:ext cx="11125200" cy="5715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83230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ncabezado de secció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304800" y="304800"/>
            <a:ext cx="11582400" cy="6248400"/>
          </a:xfrm>
          <a:prstGeom prst="rect">
            <a:avLst/>
          </a:prstGeom>
          <a:noFill/>
          <a:ln w="508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2483427"/>
            <a:ext cx="10515600" cy="2743200"/>
          </a:xfrm>
        </p:spPr>
        <p:txBody>
          <a:bodyPr rtlCol="0" anchor="b">
            <a:normAutofit/>
          </a:bodyPr>
          <a:lstStyle>
            <a:lvl1pPr algn="ctr">
              <a:defRPr sz="4400" spc="-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10"/>
          </p:nvPr>
        </p:nvSpPr>
        <p:spPr>
          <a:xfrm>
            <a:off x="835025" y="5257800"/>
            <a:ext cx="10515600" cy="9144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cap="all" spc="50" baseline="0">
                <a:solidFill>
                  <a:schemeClr val="bg1"/>
                </a:solidFill>
              </a:defRPr>
            </a:lvl1pPr>
            <a:lvl2pPr marL="365760" indent="0" algn="ctr">
              <a:buNone/>
              <a:defRPr sz="2000" cap="all" spc="50" baseline="0">
                <a:solidFill>
                  <a:schemeClr val="bg1"/>
                </a:solidFill>
              </a:defRPr>
            </a:lvl2pPr>
            <a:lvl3pPr algn="ctr">
              <a:defRPr sz="2000" cap="all" spc="50" baseline="0">
                <a:solidFill>
                  <a:schemeClr val="bg1"/>
                </a:solidFill>
              </a:defRPr>
            </a:lvl3pPr>
            <a:lvl4pPr algn="ctr">
              <a:defRPr sz="2000" cap="all" spc="50" baseline="0">
                <a:solidFill>
                  <a:schemeClr val="bg1"/>
                </a:solidFill>
              </a:defRPr>
            </a:lvl4pPr>
            <a:lvl5pPr algn="ctr">
              <a:defRPr sz="2000" cap="all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61005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 userDrawn="1"/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32813" y="1683327"/>
            <a:ext cx="3125787" cy="2877260"/>
          </a:xfrm>
        </p:spPr>
        <p:txBody>
          <a:bodyPr rtlCol="0"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6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"/>
          </p:nvPr>
        </p:nvSpPr>
        <p:spPr>
          <a:xfrm>
            <a:off x="0" y="0"/>
            <a:ext cx="8101584" cy="6857999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532813" y="4591761"/>
            <a:ext cx="3125787" cy="1580440"/>
          </a:xfrm>
        </p:spPr>
        <p:txBody>
          <a:bodyPr rtlCol="0"/>
          <a:lstStyle>
            <a:lvl1pPr marL="0" indent="0">
              <a:spcBef>
                <a:spcPts val="8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8475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51812" y="1672934"/>
            <a:ext cx="3506788" cy="2880360"/>
          </a:xfrm>
        </p:spPr>
        <p:txBody>
          <a:bodyPr rtlCol="0" anchor="b">
            <a:normAutofit/>
          </a:bodyPr>
          <a:lstStyle>
            <a:lvl1pPr>
              <a:defRPr sz="30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30352" y="457200"/>
            <a:ext cx="7242111" cy="5715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151812" y="4590288"/>
            <a:ext cx="3514564" cy="1581912"/>
          </a:xfrm>
        </p:spPr>
        <p:txBody>
          <a:bodyPr rtlCol="0"/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7FFF32-C91A-4880-A5BC-2E29719B4A91}" type="datetime1">
              <a:rPr lang="es-ES" noProof="0" smtClean="0"/>
              <a:pPr rtl="0"/>
              <a:t>4/5/26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415600" y="1688433"/>
            <a:ext cx="11360800" cy="44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95285" lvl="0" indent="-371464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90570" lvl="1" indent="-3439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485854" lvl="2" indent="-3439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981139" lvl="3" indent="-3439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476424" lvl="4" indent="-3439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971709" lvl="5" indent="-3439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466993" lvl="6" indent="-3439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962278" lvl="7" indent="-3439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457563" lvl="8" indent="-3439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138556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5E879E85-5BBE-4DC3-949C-B551255CCB64}" type="datetime1">
              <a:rPr lang="es-ES" noProof="0" smtClean="0"/>
              <a:pPr rtl="0"/>
              <a:t>4/5/26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B04F426-009D-4BBC-A1CD-024360468F06}"/>
              </a:ext>
            </a:extLst>
          </p:cNvPr>
          <p:cNvSpPr/>
          <p:nvPr userDrawn="1"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83228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656" r:id="rId15"/>
    <p:sldLayoutId id="2147483706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5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41463" y="4582985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Investigación</a:t>
            </a:r>
            <a:r>
              <a:rPr lang="en-US" sz="4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4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en</a:t>
            </a:r>
            <a:r>
              <a:rPr lang="en-US" sz="4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4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Psicología</a:t>
            </a:r>
            <a:r>
              <a:rPr lang="en-US" sz="4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4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Comunitaria</a:t>
            </a:r>
            <a:endParaRPr lang="en-US" sz="4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6" name="Marcador de posición de imagen 15">
            <a:extLst>
              <a:ext uri="{FF2B5EF4-FFF2-40B4-BE49-F238E27FC236}">
                <a16:creationId xmlns:a16="http://schemas.microsoft.com/office/drawing/2014/main" id="{04978791-56A0-4677-ADA5-E3E85676DA78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0" r="14780"/>
          <a:stretch>
            <a:fillRect/>
          </a:stretch>
        </p:blipFill>
        <p:spPr>
          <a:xfrm>
            <a:off x="966182" y="640079"/>
            <a:ext cx="3057178" cy="3602737"/>
          </a:xfrm>
          <a:prstGeom prst="rect">
            <a:avLst/>
          </a:prstGeom>
        </p:spPr>
      </p:pic>
      <p:pic>
        <p:nvPicPr>
          <p:cNvPr id="14" name="Marcador de posición de imagen 13"/>
          <p:cNvPicPr>
            <a:picLocks noGrp="1" noChangeAspect="1"/>
          </p:cNvPicPr>
          <p:nvPr>
            <p:ph type="pic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1" r="25081"/>
          <a:stretch>
            <a:fillRect/>
          </a:stretch>
        </p:blipFill>
        <p:spPr>
          <a:xfrm>
            <a:off x="4561153" y="640080"/>
            <a:ext cx="3056222" cy="3602736"/>
          </a:xfrm>
          <a:prstGeom prst="rect">
            <a:avLst/>
          </a:prstGeom>
        </p:spPr>
      </p:pic>
      <p:pic>
        <p:nvPicPr>
          <p:cNvPr id="10" name="Marcador de posición de imagen 8">
            <a:extLst>
              <a:ext uri="{FF2B5EF4-FFF2-40B4-BE49-F238E27FC236}">
                <a16:creationId xmlns:a16="http://schemas.microsoft.com/office/drawing/2014/main" id="{70482568-50A5-4E85-AB2D-B3B12F47C30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5" t="3001" r="18815" b="2421"/>
          <a:stretch/>
        </p:blipFill>
        <p:spPr>
          <a:xfrm>
            <a:off x="8336817" y="640079"/>
            <a:ext cx="3078453" cy="3602736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6165762B-FEB5-9FFE-5F65-41D46F14BC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8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>
            <a:extLst>
              <a:ext uri="{FF2B5EF4-FFF2-40B4-BE49-F238E27FC236}">
                <a16:creationId xmlns:a16="http://schemas.microsoft.com/office/drawing/2014/main" id="{84B7E250-1C88-090C-DD01-02D9E52A7780}"/>
              </a:ext>
            </a:extLst>
          </p:cNvPr>
          <p:cNvGrpSpPr/>
          <p:nvPr/>
        </p:nvGrpSpPr>
        <p:grpSpPr>
          <a:xfrm>
            <a:off x="838200" y="1795522"/>
            <a:ext cx="10515600" cy="4826951"/>
            <a:chOff x="703447" y="2034925"/>
            <a:chExt cx="8750935" cy="3447771"/>
          </a:xfrm>
        </p:grpSpPr>
        <p:sp>
          <p:nvSpPr>
            <p:cNvPr id="4" name="object 4"/>
            <p:cNvSpPr/>
            <p:nvPr/>
          </p:nvSpPr>
          <p:spPr>
            <a:xfrm>
              <a:off x="1279194" y="2273687"/>
              <a:ext cx="7799070" cy="2867604"/>
            </a:xfrm>
            <a:custGeom>
              <a:avLst/>
              <a:gdLst/>
              <a:ahLst/>
              <a:cxnLst/>
              <a:rect l="l" t="t" r="r" b="b"/>
              <a:pathLst>
                <a:path w="7799070" h="3261995">
                  <a:moveTo>
                    <a:pt x="0" y="543661"/>
                  </a:moveTo>
                  <a:lnTo>
                    <a:pt x="1993" y="496752"/>
                  </a:lnTo>
                  <a:lnTo>
                    <a:pt x="7863" y="450951"/>
                  </a:lnTo>
                  <a:lnTo>
                    <a:pt x="17448" y="406421"/>
                  </a:lnTo>
                  <a:lnTo>
                    <a:pt x="30585" y="363326"/>
                  </a:lnTo>
                  <a:lnTo>
                    <a:pt x="47110" y="321828"/>
                  </a:lnTo>
                  <a:lnTo>
                    <a:pt x="66861" y="282091"/>
                  </a:lnTo>
                  <a:lnTo>
                    <a:pt x="89674" y="244278"/>
                  </a:lnTo>
                  <a:lnTo>
                    <a:pt x="115387" y="208552"/>
                  </a:lnTo>
                  <a:lnTo>
                    <a:pt x="143836" y="175077"/>
                  </a:lnTo>
                  <a:lnTo>
                    <a:pt x="174859" y="144015"/>
                  </a:lnTo>
                  <a:lnTo>
                    <a:pt x="208292" y="115531"/>
                  </a:lnTo>
                  <a:lnTo>
                    <a:pt x="243973" y="89786"/>
                  </a:lnTo>
                  <a:lnTo>
                    <a:pt x="281739" y="66944"/>
                  </a:lnTo>
                  <a:lnTo>
                    <a:pt x="321427" y="47169"/>
                  </a:lnTo>
                  <a:lnTo>
                    <a:pt x="362873" y="30623"/>
                  </a:lnTo>
                  <a:lnTo>
                    <a:pt x="405914" y="17470"/>
                  </a:lnTo>
                  <a:lnTo>
                    <a:pt x="450389" y="7873"/>
                  </a:lnTo>
                  <a:lnTo>
                    <a:pt x="496133" y="1995"/>
                  </a:lnTo>
                  <a:lnTo>
                    <a:pt x="542983" y="0"/>
                  </a:lnTo>
                  <a:lnTo>
                    <a:pt x="7256086" y="0"/>
                  </a:lnTo>
                  <a:lnTo>
                    <a:pt x="7302936" y="1995"/>
                  </a:lnTo>
                  <a:lnTo>
                    <a:pt x="7348680" y="7873"/>
                  </a:lnTo>
                  <a:lnTo>
                    <a:pt x="7393155" y="17470"/>
                  </a:lnTo>
                  <a:lnTo>
                    <a:pt x="7436196" y="30623"/>
                  </a:lnTo>
                  <a:lnTo>
                    <a:pt x="7477642" y="47169"/>
                  </a:lnTo>
                  <a:lnTo>
                    <a:pt x="7517330" y="66944"/>
                  </a:lnTo>
                  <a:lnTo>
                    <a:pt x="7555096" y="89786"/>
                  </a:lnTo>
                  <a:lnTo>
                    <a:pt x="7590777" y="115531"/>
                  </a:lnTo>
                  <a:lnTo>
                    <a:pt x="7624210" y="144015"/>
                  </a:lnTo>
                  <a:lnTo>
                    <a:pt x="7655233" y="175077"/>
                  </a:lnTo>
                  <a:lnTo>
                    <a:pt x="7683682" y="208552"/>
                  </a:lnTo>
                  <a:lnTo>
                    <a:pt x="7709395" y="244278"/>
                  </a:lnTo>
                  <a:lnTo>
                    <a:pt x="7732208" y="282091"/>
                  </a:lnTo>
                  <a:lnTo>
                    <a:pt x="7751959" y="321828"/>
                  </a:lnTo>
                  <a:lnTo>
                    <a:pt x="7768484" y="363326"/>
                  </a:lnTo>
                  <a:lnTo>
                    <a:pt x="7781621" y="406421"/>
                  </a:lnTo>
                  <a:lnTo>
                    <a:pt x="7791206" y="450951"/>
                  </a:lnTo>
                  <a:lnTo>
                    <a:pt x="7797076" y="496752"/>
                  </a:lnTo>
                  <a:lnTo>
                    <a:pt x="7799069" y="543661"/>
                  </a:lnTo>
                  <a:lnTo>
                    <a:pt x="7799069" y="2718258"/>
                  </a:lnTo>
                  <a:lnTo>
                    <a:pt x="7797076" y="2765167"/>
                  </a:lnTo>
                  <a:lnTo>
                    <a:pt x="7791206" y="2810968"/>
                  </a:lnTo>
                  <a:lnTo>
                    <a:pt x="7781621" y="2855498"/>
                  </a:lnTo>
                  <a:lnTo>
                    <a:pt x="7768484" y="2898594"/>
                  </a:lnTo>
                  <a:lnTo>
                    <a:pt x="7751959" y="2940092"/>
                  </a:lnTo>
                  <a:lnTo>
                    <a:pt x="7732208" y="2979829"/>
                  </a:lnTo>
                  <a:lnTo>
                    <a:pt x="7709395" y="3017642"/>
                  </a:lnTo>
                  <a:lnTo>
                    <a:pt x="7683682" y="3053367"/>
                  </a:lnTo>
                  <a:lnTo>
                    <a:pt x="7655233" y="3086843"/>
                  </a:lnTo>
                  <a:lnTo>
                    <a:pt x="7624210" y="3117904"/>
                  </a:lnTo>
                  <a:lnTo>
                    <a:pt x="7590777" y="3146389"/>
                  </a:lnTo>
                  <a:lnTo>
                    <a:pt x="7555096" y="3172134"/>
                  </a:lnTo>
                  <a:lnTo>
                    <a:pt x="7517330" y="3194976"/>
                  </a:lnTo>
                  <a:lnTo>
                    <a:pt x="7477642" y="3214751"/>
                  </a:lnTo>
                  <a:lnTo>
                    <a:pt x="7436196" y="3231297"/>
                  </a:lnTo>
                  <a:lnTo>
                    <a:pt x="7393155" y="3244450"/>
                  </a:lnTo>
                  <a:lnTo>
                    <a:pt x="7348680" y="3254047"/>
                  </a:lnTo>
                  <a:lnTo>
                    <a:pt x="7302936" y="3259925"/>
                  </a:lnTo>
                  <a:lnTo>
                    <a:pt x="7256086" y="3261920"/>
                  </a:lnTo>
                  <a:lnTo>
                    <a:pt x="542983" y="3261920"/>
                  </a:lnTo>
                  <a:lnTo>
                    <a:pt x="496133" y="3259925"/>
                  </a:lnTo>
                  <a:lnTo>
                    <a:pt x="450389" y="3254047"/>
                  </a:lnTo>
                  <a:lnTo>
                    <a:pt x="405914" y="3244450"/>
                  </a:lnTo>
                  <a:lnTo>
                    <a:pt x="362873" y="3231297"/>
                  </a:lnTo>
                  <a:lnTo>
                    <a:pt x="321427" y="3214751"/>
                  </a:lnTo>
                  <a:lnTo>
                    <a:pt x="281739" y="3194976"/>
                  </a:lnTo>
                  <a:lnTo>
                    <a:pt x="243973" y="3172134"/>
                  </a:lnTo>
                  <a:lnTo>
                    <a:pt x="208292" y="3146389"/>
                  </a:lnTo>
                  <a:lnTo>
                    <a:pt x="174859" y="3117904"/>
                  </a:lnTo>
                  <a:lnTo>
                    <a:pt x="143836" y="3086843"/>
                  </a:lnTo>
                  <a:lnTo>
                    <a:pt x="115387" y="3053367"/>
                  </a:lnTo>
                  <a:lnTo>
                    <a:pt x="89674" y="3017642"/>
                  </a:lnTo>
                  <a:lnTo>
                    <a:pt x="66861" y="2979829"/>
                  </a:lnTo>
                  <a:lnTo>
                    <a:pt x="47110" y="2940092"/>
                  </a:lnTo>
                  <a:lnTo>
                    <a:pt x="30585" y="2898594"/>
                  </a:lnTo>
                  <a:lnTo>
                    <a:pt x="17448" y="2855498"/>
                  </a:lnTo>
                  <a:lnTo>
                    <a:pt x="7863" y="2810968"/>
                  </a:lnTo>
                  <a:lnTo>
                    <a:pt x="1993" y="2765167"/>
                  </a:lnTo>
                  <a:lnTo>
                    <a:pt x="0" y="2718258"/>
                  </a:lnTo>
                  <a:lnTo>
                    <a:pt x="0" y="543661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923229" y="2795998"/>
              <a:ext cx="1442720" cy="1775999"/>
            </a:xfrm>
            <a:custGeom>
              <a:avLst/>
              <a:gdLst/>
              <a:ahLst/>
              <a:cxnLst/>
              <a:rect l="l" t="t" r="r" b="b"/>
              <a:pathLst>
                <a:path w="1442720" h="1550670">
                  <a:moveTo>
                    <a:pt x="1442311" y="0"/>
                  </a:moveTo>
                  <a:lnTo>
                    <a:pt x="0" y="0"/>
                  </a:lnTo>
                  <a:lnTo>
                    <a:pt x="0" y="1550207"/>
                  </a:lnTo>
                  <a:lnTo>
                    <a:pt x="1442311" y="1550207"/>
                  </a:lnTo>
                  <a:lnTo>
                    <a:pt x="1442311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923229" y="2819400"/>
              <a:ext cx="1442720" cy="1752600"/>
            </a:xfrm>
            <a:custGeom>
              <a:avLst/>
              <a:gdLst/>
              <a:ahLst/>
              <a:cxnLst/>
              <a:rect l="l" t="t" r="r" b="b"/>
              <a:pathLst>
                <a:path w="1442720" h="1550670">
                  <a:moveTo>
                    <a:pt x="0" y="0"/>
                  </a:moveTo>
                  <a:lnTo>
                    <a:pt x="1442310" y="0"/>
                  </a:lnTo>
                  <a:lnTo>
                    <a:pt x="1442310" y="1550207"/>
                  </a:lnTo>
                  <a:lnTo>
                    <a:pt x="0" y="155020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703447" y="3240904"/>
              <a:ext cx="1066165" cy="502230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0" tIns="25773" rIns="0" bIns="0" rtlCol="0">
              <a:spAutoFit/>
            </a:bodyPr>
            <a:lstStyle/>
            <a:p>
              <a:pPr>
                <a:spcBef>
                  <a:spcPts val="202"/>
                </a:spcBef>
              </a:pPr>
              <a:endParaRPr sz="1100" b="1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 marL="163615" marR="146245" indent="-10086" algn="just"/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Definiendo</a:t>
              </a:r>
              <a:r>
                <a:rPr sz="1100" b="1" spc="141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"/>
                  <a:cs typeface="Calibri"/>
                </a:rPr>
                <a:t>el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 problema</a:t>
              </a:r>
              <a:r>
                <a:rPr sz="1100" b="1" spc="88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"/>
                  <a:cs typeface="Calibri"/>
                </a:rPr>
                <a:t>de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 investigación</a:t>
              </a:r>
              <a:endParaRPr sz="1100" b="1" dirty="0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144580" y="3736091"/>
              <a:ext cx="1068070" cy="488555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40340" rIns="0" bIns="0" rtlCol="0">
              <a:spAutoFit/>
            </a:bodyPr>
            <a:lstStyle/>
            <a:p>
              <a:pPr marL="111504" marR="106462" indent="-560" algn="ctr">
                <a:lnSpc>
                  <a:spcPct val="94700"/>
                </a:lnSpc>
                <a:spcBef>
                  <a:spcPts val="317"/>
                </a:spcBef>
              </a:pP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Revision</a:t>
              </a:r>
              <a:r>
                <a:rPr sz="1100" b="1" spc="101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"/>
                  <a:cs typeface="Calibri"/>
                </a:rPr>
                <a:t>de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 investigaciones 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previas</a:t>
              </a:r>
              <a:r>
                <a:rPr sz="1100" b="1" spc="75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44" dirty="0">
                  <a:solidFill>
                    <a:schemeClr val="tx1"/>
                  </a:solidFill>
                  <a:latin typeface="Calibri"/>
                  <a:cs typeface="Calibri"/>
                </a:rPr>
                <a:t>y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 hallazgos</a:t>
              </a:r>
              <a:endParaRPr sz="1100" b="1" dirty="0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2135257" y="2932679"/>
              <a:ext cx="1068070" cy="415266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72838" rIns="0" bIns="0" rtlCol="0">
              <a:spAutoFit/>
            </a:bodyPr>
            <a:lstStyle/>
            <a:p>
              <a:pPr marL="121030" marR="116547" algn="ctr">
                <a:spcBef>
                  <a:spcPts val="574"/>
                </a:spcBef>
              </a:pP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Revision</a:t>
              </a:r>
              <a:r>
                <a:rPr sz="1100" b="1" spc="62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de</a:t>
              </a:r>
              <a:r>
                <a:rPr sz="1100" b="1" spc="66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"/>
                  <a:cs typeface="Calibri"/>
                </a:rPr>
                <a:t>los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 conceptos</a:t>
              </a:r>
              <a:r>
                <a:rPr sz="1100" b="1" spc="88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44" dirty="0">
                  <a:solidFill>
                    <a:schemeClr val="tx1"/>
                  </a:solidFill>
                  <a:latin typeface="Calibri"/>
                  <a:cs typeface="Calibri"/>
                </a:rPr>
                <a:t>y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 teorias</a:t>
              </a:r>
              <a:endParaRPr sz="1100" b="1" dirty="0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888865" y="2616759"/>
              <a:ext cx="1486504" cy="127315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0085" rIns="0" bIns="0" rtlCol="0">
              <a:spAutoFit/>
            </a:bodyPr>
            <a:lstStyle/>
            <a:p>
              <a:pPr marL="11206" marR="4483">
                <a:lnSpc>
                  <a:spcPct val="102600"/>
                </a:lnSpc>
                <a:spcBef>
                  <a:spcPts val="79"/>
                </a:spcBef>
              </a:pPr>
              <a:r>
                <a:rPr sz="1100" b="1" dirty="0">
                  <a:solidFill>
                    <a:schemeClr val="tx1"/>
                  </a:solidFill>
                  <a:latin typeface="Calibri Light"/>
                  <a:cs typeface="Calibri Light"/>
                </a:rPr>
                <a:t>Revision</a:t>
              </a:r>
              <a:r>
                <a:rPr sz="1100" b="1" spc="53" dirty="0">
                  <a:solidFill>
                    <a:schemeClr val="tx1"/>
                  </a:solidFill>
                  <a:latin typeface="Calibri Light"/>
                  <a:cs typeface="Calibri Light"/>
                </a:rPr>
                <a:t> </a:t>
              </a:r>
              <a:r>
                <a:rPr sz="1100" b="1" dirty="0">
                  <a:solidFill>
                    <a:schemeClr val="tx1"/>
                  </a:solidFill>
                  <a:latin typeface="Calibri Light"/>
                  <a:cs typeface="Calibri Light"/>
                </a:rPr>
                <a:t>de</a:t>
              </a:r>
              <a:r>
                <a:rPr sz="1100" b="1" spc="49" dirty="0">
                  <a:solidFill>
                    <a:schemeClr val="tx1"/>
                  </a:solidFill>
                  <a:latin typeface="Calibri Light"/>
                  <a:cs typeface="Calibri Light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 Light"/>
                  <a:cs typeface="Calibri Light"/>
                </a:rPr>
                <a:t>la </a:t>
              </a:r>
              <a:r>
                <a:rPr sz="1100" b="1" spc="-9" dirty="0">
                  <a:solidFill>
                    <a:schemeClr val="tx1"/>
                  </a:solidFill>
                  <a:latin typeface="Calibri Light"/>
                  <a:cs typeface="Calibri Light"/>
                </a:rPr>
                <a:t>literatura</a:t>
              </a:r>
              <a:endParaRPr sz="1100" b="1" dirty="0">
                <a:solidFill>
                  <a:schemeClr val="tx1"/>
                </a:solidFill>
                <a:latin typeface="Calibri Light"/>
                <a:cs typeface="Calibri Light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473860" y="3180782"/>
              <a:ext cx="1014094" cy="854710"/>
            </a:xfrm>
            <a:custGeom>
              <a:avLst/>
              <a:gdLst/>
              <a:ahLst/>
              <a:cxnLst/>
              <a:rect l="l" t="t" r="r" b="b"/>
              <a:pathLst>
                <a:path w="1014095" h="854710">
                  <a:moveTo>
                    <a:pt x="1013738" y="0"/>
                  </a:moveTo>
                  <a:lnTo>
                    <a:pt x="0" y="0"/>
                  </a:lnTo>
                  <a:lnTo>
                    <a:pt x="0" y="854678"/>
                  </a:lnTo>
                  <a:lnTo>
                    <a:pt x="1013738" y="854678"/>
                  </a:lnTo>
                  <a:lnTo>
                    <a:pt x="1013738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473860" y="3180782"/>
              <a:ext cx="1014094" cy="854710"/>
            </a:xfrm>
            <a:custGeom>
              <a:avLst/>
              <a:gdLst/>
              <a:ahLst/>
              <a:cxnLst/>
              <a:rect l="l" t="t" r="r" b="b"/>
              <a:pathLst>
                <a:path w="1014095" h="854710">
                  <a:moveTo>
                    <a:pt x="0" y="0"/>
                  </a:moveTo>
                  <a:lnTo>
                    <a:pt x="1013737" y="0"/>
                  </a:lnTo>
                  <a:lnTo>
                    <a:pt x="1013737" y="854677"/>
                  </a:lnTo>
                  <a:lnTo>
                    <a:pt x="0" y="85467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3552125" y="3440018"/>
              <a:ext cx="857885" cy="249903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1206" rIns="0" bIns="0" rtlCol="0">
              <a:spAutoFit/>
            </a:bodyPr>
            <a:lstStyle/>
            <a:p>
              <a:pPr marL="165296" marR="4483" indent="-154649">
                <a:spcBef>
                  <a:spcPts val="88"/>
                </a:spcBef>
              </a:pP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Formulación</a:t>
              </a:r>
              <a:r>
                <a:rPr sz="1100" b="1" spc="115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"/>
                  <a:cs typeface="Calibri"/>
                </a:rPr>
                <a:t>de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 hipótesis</a:t>
              </a:r>
              <a:endParaRPr sz="1100" b="1" dirty="0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8338" y="3546962"/>
              <a:ext cx="213810" cy="84772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18" name="object 18"/>
            <p:cNvSpPr/>
            <p:nvPr/>
          </p:nvSpPr>
          <p:spPr>
            <a:xfrm>
              <a:off x="4618289" y="3180782"/>
              <a:ext cx="1121410" cy="854710"/>
            </a:xfrm>
            <a:custGeom>
              <a:avLst/>
              <a:gdLst/>
              <a:ahLst/>
              <a:cxnLst/>
              <a:rect l="l" t="t" r="r" b="b"/>
              <a:pathLst>
                <a:path w="1121410" h="854710">
                  <a:moveTo>
                    <a:pt x="1120881" y="0"/>
                  </a:moveTo>
                  <a:lnTo>
                    <a:pt x="0" y="0"/>
                  </a:lnTo>
                  <a:lnTo>
                    <a:pt x="0" y="854678"/>
                  </a:lnTo>
                  <a:lnTo>
                    <a:pt x="1120881" y="854678"/>
                  </a:lnTo>
                  <a:lnTo>
                    <a:pt x="1120881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4618289" y="3180782"/>
              <a:ext cx="1121410" cy="854710"/>
            </a:xfrm>
            <a:custGeom>
              <a:avLst/>
              <a:gdLst/>
              <a:ahLst/>
              <a:cxnLst/>
              <a:rect l="l" t="t" r="r" b="b"/>
              <a:pathLst>
                <a:path w="1121410" h="854710">
                  <a:moveTo>
                    <a:pt x="0" y="0"/>
                  </a:moveTo>
                  <a:lnTo>
                    <a:pt x="1120880" y="0"/>
                  </a:lnTo>
                  <a:lnTo>
                    <a:pt x="1120880" y="854677"/>
                  </a:lnTo>
                  <a:lnTo>
                    <a:pt x="0" y="85467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4700368" y="3281522"/>
              <a:ext cx="957581" cy="498475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6724" rIns="0" bIns="0" rtlCol="0">
              <a:spAutoFit/>
            </a:bodyPr>
            <a:lstStyle/>
            <a:p>
              <a:pPr marL="11206" marR="4483" indent="-560" algn="ctr">
                <a:lnSpc>
                  <a:spcPct val="103299"/>
                </a:lnSpc>
                <a:spcBef>
                  <a:spcPts val="53"/>
                </a:spcBef>
              </a:pP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Diseño</a:t>
              </a:r>
              <a:r>
                <a:rPr sz="1100" b="1" spc="93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"/>
                  <a:cs typeface="Calibri"/>
                </a:rPr>
                <a:t>de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 investigación 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(inlcuye</a:t>
              </a:r>
              <a:r>
                <a:rPr sz="1100" b="1" spc="66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el</a:t>
              </a:r>
              <a:r>
                <a:rPr sz="1100" b="1" spc="53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diseño 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de</a:t>
              </a:r>
              <a:r>
                <a:rPr sz="1100" b="1" spc="31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la</a:t>
              </a:r>
              <a:r>
                <a:rPr sz="1100" b="1" spc="31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muestra)</a:t>
              </a:r>
              <a:endParaRPr sz="1100" b="1" dirty="0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5675" y="3558726"/>
              <a:ext cx="214983" cy="84775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23" name="object 23"/>
            <p:cNvSpPr/>
            <p:nvPr/>
          </p:nvSpPr>
          <p:spPr>
            <a:xfrm>
              <a:off x="5851022" y="3180782"/>
              <a:ext cx="1122680" cy="854710"/>
            </a:xfrm>
            <a:custGeom>
              <a:avLst/>
              <a:gdLst/>
              <a:ahLst/>
              <a:cxnLst/>
              <a:rect l="l" t="t" r="r" b="b"/>
              <a:pathLst>
                <a:path w="1122679" h="854710">
                  <a:moveTo>
                    <a:pt x="1122058" y="0"/>
                  </a:moveTo>
                  <a:lnTo>
                    <a:pt x="0" y="0"/>
                  </a:lnTo>
                  <a:lnTo>
                    <a:pt x="0" y="854678"/>
                  </a:lnTo>
                  <a:lnTo>
                    <a:pt x="1122058" y="854678"/>
                  </a:lnTo>
                  <a:lnTo>
                    <a:pt x="1122058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5851022" y="3180782"/>
              <a:ext cx="1122680" cy="854710"/>
            </a:xfrm>
            <a:custGeom>
              <a:avLst/>
              <a:gdLst/>
              <a:ahLst/>
              <a:cxnLst/>
              <a:rect l="l" t="t" r="r" b="b"/>
              <a:pathLst>
                <a:path w="1122679" h="854710">
                  <a:moveTo>
                    <a:pt x="0" y="0"/>
                  </a:moveTo>
                  <a:lnTo>
                    <a:pt x="1122058" y="0"/>
                  </a:lnTo>
                  <a:lnTo>
                    <a:pt x="1122058" y="854677"/>
                  </a:lnTo>
                  <a:lnTo>
                    <a:pt x="0" y="85467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5940167" y="3440018"/>
              <a:ext cx="942339" cy="249903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1206" rIns="0" bIns="0" rtlCol="0">
              <a:spAutoFit/>
            </a:bodyPr>
            <a:lstStyle/>
            <a:p>
              <a:pPr marL="11206" marR="4483" indent="51549">
                <a:spcBef>
                  <a:spcPts val="88"/>
                </a:spcBef>
              </a:pP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Recolección</a:t>
              </a:r>
              <a:r>
                <a:rPr sz="1100" b="1" spc="106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"/>
                  <a:cs typeface="Calibri"/>
                </a:rPr>
                <a:t>de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 datos</a:t>
              </a:r>
              <a:r>
                <a:rPr sz="1100" b="1" spc="49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(ejecución)</a:t>
              </a:r>
              <a:endParaRPr sz="1100" b="1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3762" y="3555191"/>
              <a:ext cx="214983" cy="84773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28" name="object 28"/>
            <p:cNvSpPr/>
            <p:nvPr/>
          </p:nvSpPr>
          <p:spPr>
            <a:xfrm>
              <a:off x="7103771" y="3183140"/>
              <a:ext cx="1122680" cy="855980"/>
            </a:xfrm>
            <a:custGeom>
              <a:avLst/>
              <a:gdLst/>
              <a:ahLst/>
              <a:cxnLst/>
              <a:rect l="l" t="t" r="r" b="b"/>
              <a:pathLst>
                <a:path w="1122679" h="855979">
                  <a:moveTo>
                    <a:pt x="1122057" y="0"/>
                  </a:moveTo>
                  <a:lnTo>
                    <a:pt x="0" y="0"/>
                  </a:lnTo>
                  <a:lnTo>
                    <a:pt x="0" y="855856"/>
                  </a:lnTo>
                  <a:lnTo>
                    <a:pt x="1122057" y="855856"/>
                  </a:lnTo>
                  <a:lnTo>
                    <a:pt x="1122057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7103771" y="3183140"/>
              <a:ext cx="1122680" cy="855980"/>
            </a:xfrm>
            <a:custGeom>
              <a:avLst/>
              <a:gdLst/>
              <a:ahLst/>
              <a:cxnLst/>
              <a:rect l="l" t="t" r="r" b="b"/>
              <a:pathLst>
                <a:path w="1122679" h="855979">
                  <a:moveTo>
                    <a:pt x="0" y="0"/>
                  </a:moveTo>
                  <a:lnTo>
                    <a:pt x="1122058" y="0"/>
                  </a:lnTo>
                  <a:lnTo>
                    <a:pt x="1122058" y="855856"/>
                  </a:lnTo>
                  <a:lnTo>
                    <a:pt x="0" y="855856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7276510" y="3443066"/>
              <a:ext cx="774700" cy="249903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1206" rIns="0" bIns="0" rtlCol="0">
              <a:spAutoFit/>
            </a:bodyPr>
            <a:lstStyle/>
            <a:p>
              <a:pPr marL="211802" marR="4483" indent="-201156">
                <a:spcBef>
                  <a:spcPts val="88"/>
                </a:spcBef>
              </a:pP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Análisis</a:t>
              </a:r>
              <a:r>
                <a:rPr sz="1100" b="1" spc="75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de</a:t>
              </a:r>
              <a:r>
                <a:rPr sz="1100" b="1" spc="75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22" dirty="0">
                  <a:solidFill>
                    <a:schemeClr val="tx1"/>
                  </a:solidFill>
                  <a:latin typeface="Calibri"/>
                  <a:cs typeface="Calibri"/>
                </a:rPr>
                <a:t>los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 datos</a:t>
              </a:r>
              <a:endParaRPr sz="1100" b="1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8332972" y="3180782"/>
              <a:ext cx="1121410" cy="854710"/>
            </a:xfrm>
            <a:custGeom>
              <a:avLst/>
              <a:gdLst/>
              <a:ahLst/>
              <a:cxnLst/>
              <a:rect l="l" t="t" r="r" b="b"/>
              <a:pathLst>
                <a:path w="1121409" h="854710">
                  <a:moveTo>
                    <a:pt x="1120880" y="0"/>
                  </a:moveTo>
                  <a:lnTo>
                    <a:pt x="0" y="0"/>
                  </a:lnTo>
                  <a:lnTo>
                    <a:pt x="0" y="854678"/>
                  </a:lnTo>
                  <a:lnTo>
                    <a:pt x="1120880" y="854678"/>
                  </a:lnTo>
                  <a:lnTo>
                    <a:pt x="1120880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8332972" y="3180782"/>
              <a:ext cx="1121410" cy="854710"/>
            </a:xfrm>
            <a:custGeom>
              <a:avLst/>
              <a:gdLst/>
              <a:ahLst/>
              <a:cxnLst/>
              <a:rect l="l" t="t" r="r" b="b"/>
              <a:pathLst>
                <a:path w="1121409" h="854710">
                  <a:moveTo>
                    <a:pt x="0" y="0"/>
                  </a:moveTo>
                  <a:lnTo>
                    <a:pt x="1120880" y="0"/>
                  </a:lnTo>
                  <a:lnTo>
                    <a:pt x="1120880" y="854677"/>
                  </a:lnTo>
                  <a:lnTo>
                    <a:pt x="0" y="85467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8453318" y="3440018"/>
              <a:ext cx="878205" cy="249903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1206" rIns="0" bIns="0" rtlCol="0">
              <a:spAutoFit/>
            </a:bodyPr>
            <a:lstStyle/>
            <a:p>
              <a:pPr marL="210122" marR="4483" indent="-199475">
                <a:spcBef>
                  <a:spcPts val="88"/>
                </a:spcBef>
              </a:pPr>
              <a:r>
                <a:rPr sz="1100" b="1" dirty="0">
                  <a:solidFill>
                    <a:schemeClr val="tx1"/>
                  </a:solidFill>
                  <a:latin typeface="Calibri"/>
                  <a:cs typeface="Calibri"/>
                </a:rPr>
                <a:t>Interpretación</a:t>
              </a:r>
              <a:r>
                <a:rPr sz="1100" b="1" spc="101" dirty="0">
                  <a:solidFill>
                    <a:schemeClr val="tx1"/>
                  </a:solidFill>
                  <a:latin typeface="Calibri"/>
                  <a:cs typeface="Calibri"/>
                </a:rPr>
                <a:t> </a:t>
              </a:r>
              <a:r>
                <a:rPr sz="1100" b="1" spc="-44" dirty="0">
                  <a:solidFill>
                    <a:schemeClr val="tx1"/>
                  </a:solidFill>
                  <a:latin typeface="Calibri"/>
                  <a:cs typeface="Calibri"/>
                </a:rPr>
                <a:t>y</a:t>
              </a:r>
              <a:r>
                <a:rPr sz="1100" b="1" spc="-9" dirty="0">
                  <a:solidFill>
                    <a:schemeClr val="tx1"/>
                  </a:solidFill>
                  <a:latin typeface="Calibri"/>
                  <a:cs typeface="Calibri"/>
                </a:rPr>
                <a:t> reporte</a:t>
              </a:r>
              <a:endParaRPr sz="1100" b="1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2362" y="3541067"/>
              <a:ext cx="213810" cy="84773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0971" y="3543401"/>
              <a:ext cx="214984" cy="84775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39" name="object 39"/>
            <p:cNvSpPr/>
            <p:nvPr/>
          </p:nvSpPr>
          <p:spPr>
            <a:xfrm>
              <a:off x="5188149" y="2667976"/>
              <a:ext cx="0" cy="481330"/>
            </a:xfrm>
            <a:custGeom>
              <a:avLst/>
              <a:gdLst/>
              <a:ahLst/>
              <a:cxnLst/>
              <a:rect l="l" t="t" r="r" b="b"/>
              <a:pathLst>
                <a:path h="481330">
                  <a:moveTo>
                    <a:pt x="0" y="0"/>
                  </a:moveTo>
                  <a:lnTo>
                    <a:pt x="0" y="480977"/>
                  </a:lnTo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5178729" y="2667976"/>
              <a:ext cx="2564765" cy="0"/>
            </a:xfrm>
            <a:custGeom>
              <a:avLst/>
              <a:gdLst/>
              <a:ahLst/>
              <a:cxnLst/>
              <a:rect l="l" t="t" r="r" b="b"/>
              <a:pathLst>
                <a:path w="2564765">
                  <a:moveTo>
                    <a:pt x="2564368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7743097" y="2667976"/>
              <a:ext cx="9525" cy="513080"/>
            </a:xfrm>
            <a:custGeom>
              <a:avLst/>
              <a:gdLst/>
              <a:ahLst/>
              <a:cxnLst/>
              <a:rect l="l" t="t" r="r" b="b"/>
              <a:pathLst>
                <a:path w="9525" h="513080">
                  <a:moveTo>
                    <a:pt x="9419" y="0"/>
                  </a:moveTo>
                  <a:lnTo>
                    <a:pt x="0" y="512806"/>
                  </a:lnTo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5818055" y="2484072"/>
              <a:ext cx="1494155" cy="481330"/>
            </a:xfrm>
            <a:custGeom>
              <a:avLst/>
              <a:gdLst/>
              <a:ahLst/>
              <a:cxnLst/>
              <a:rect l="l" t="t" r="r" b="b"/>
              <a:pathLst>
                <a:path w="1494154" h="481330">
                  <a:moveTo>
                    <a:pt x="747057" y="0"/>
                  </a:moveTo>
                  <a:lnTo>
                    <a:pt x="679059" y="982"/>
                  </a:lnTo>
                  <a:lnTo>
                    <a:pt x="612772" y="3874"/>
                  </a:lnTo>
                  <a:lnTo>
                    <a:pt x="548459" y="8590"/>
                  </a:lnTo>
                  <a:lnTo>
                    <a:pt x="486384" y="15045"/>
                  </a:lnTo>
                  <a:lnTo>
                    <a:pt x="426811" y="23154"/>
                  </a:lnTo>
                  <a:lnTo>
                    <a:pt x="370002" y="32833"/>
                  </a:lnTo>
                  <a:lnTo>
                    <a:pt x="316223" y="43997"/>
                  </a:lnTo>
                  <a:lnTo>
                    <a:pt x="265737" y="56559"/>
                  </a:lnTo>
                  <a:lnTo>
                    <a:pt x="218807" y="70437"/>
                  </a:lnTo>
                  <a:lnTo>
                    <a:pt x="175698" y="85544"/>
                  </a:lnTo>
                  <a:lnTo>
                    <a:pt x="136672" y="101797"/>
                  </a:lnTo>
                  <a:lnTo>
                    <a:pt x="101995" y="119109"/>
                  </a:lnTo>
                  <a:lnTo>
                    <a:pt x="46737" y="156574"/>
                  </a:lnTo>
                  <a:lnTo>
                    <a:pt x="12036" y="197260"/>
                  </a:lnTo>
                  <a:lnTo>
                    <a:pt x="0" y="240488"/>
                  </a:lnTo>
                  <a:lnTo>
                    <a:pt x="3052" y="262377"/>
                  </a:lnTo>
                  <a:lnTo>
                    <a:pt x="26685" y="304419"/>
                  </a:lnTo>
                  <a:lnTo>
                    <a:pt x="71928" y="343580"/>
                  </a:lnTo>
                  <a:lnTo>
                    <a:pt x="136672" y="379179"/>
                  </a:lnTo>
                  <a:lnTo>
                    <a:pt x="175698" y="395432"/>
                  </a:lnTo>
                  <a:lnTo>
                    <a:pt x="218807" y="410539"/>
                  </a:lnTo>
                  <a:lnTo>
                    <a:pt x="265737" y="424416"/>
                  </a:lnTo>
                  <a:lnTo>
                    <a:pt x="316223" y="436979"/>
                  </a:lnTo>
                  <a:lnTo>
                    <a:pt x="370002" y="448143"/>
                  </a:lnTo>
                  <a:lnTo>
                    <a:pt x="426811" y="457821"/>
                  </a:lnTo>
                  <a:lnTo>
                    <a:pt x="486384" y="465931"/>
                  </a:lnTo>
                  <a:lnTo>
                    <a:pt x="548459" y="472386"/>
                  </a:lnTo>
                  <a:lnTo>
                    <a:pt x="612772" y="477102"/>
                  </a:lnTo>
                  <a:lnTo>
                    <a:pt x="679059" y="479994"/>
                  </a:lnTo>
                  <a:lnTo>
                    <a:pt x="747057" y="480976"/>
                  </a:lnTo>
                  <a:lnTo>
                    <a:pt x="815054" y="479994"/>
                  </a:lnTo>
                  <a:lnTo>
                    <a:pt x="881341" y="477102"/>
                  </a:lnTo>
                  <a:lnTo>
                    <a:pt x="945654" y="472386"/>
                  </a:lnTo>
                  <a:lnTo>
                    <a:pt x="1007729" y="465931"/>
                  </a:lnTo>
                  <a:lnTo>
                    <a:pt x="1067303" y="457821"/>
                  </a:lnTo>
                  <a:lnTo>
                    <a:pt x="1124111" y="448143"/>
                  </a:lnTo>
                  <a:lnTo>
                    <a:pt x="1177890" y="436979"/>
                  </a:lnTo>
                  <a:lnTo>
                    <a:pt x="1228377" y="424416"/>
                  </a:lnTo>
                  <a:lnTo>
                    <a:pt x="1275307" y="410539"/>
                  </a:lnTo>
                  <a:lnTo>
                    <a:pt x="1318416" y="395432"/>
                  </a:lnTo>
                  <a:lnTo>
                    <a:pt x="1357442" y="379179"/>
                  </a:lnTo>
                  <a:lnTo>
                    <a:pt x="1392120" y="361867"/>
                  </a:lnTo>
                  <a:lnTo>
                    <a:pt x="1447377" y="324402"/>
                  </a:lnTo>
                  <a:lnTo>
                    <a:pt x="1482079" y="283716"/>
                  </a:lnTo>
                  <a:lnTo>
                    <a:pt x="1494115" y="240488"/>
                  </a:lnTo>
                  <a:lnTo>
                    <a:pt x="1491062" y="218599"/>
                  </a:lnTo>
                  <a:lnTo>
                    <a:pt x="1467429" y="176557"/>
                  </a:lnTo>
                  <a:lnTo>
                    <a:pt x="1422186" y="137396"/>
                  </a:lnTo>
                  <a:lnTo>
                    <a:pt x="1357442" y="101797"/>
                  </a:lnTo>
                  <a:lnTo>
                    <a:pt x="1318416" y="85544"/>
                  </a:lnTo>
                  <a:lnTo>
                    <a:pt x="1275307" y="70437"/>
                  </a:lnTo>
                  <a:lnTo>
                    <a:pt x="1228377" y="56559"/>
                  </a:lnTo>
                  <a:lnTo>
                    <a:pt x="1177890" y="43997"/>
                  </a:lnTo>
                  <a:lnTo>
                    <a:pt x="1124111" y="32833"/>
                  </a:lnTo>
                  <a:lnTo>
                    <a:pt x="1067303" y="23154"/>
                  </a:lnTo>
                  <a:lnTo>
                    <a:pt x="1007729" y="15045"/>
                  </a:lnTo>
                  <a:lnTo>
                    <a:pt x="945654" y="8590"/>
                  </a:lnTo>
                  <a:lnTo>
                    <a:pt x="881341" y="3874"/>
                  </a:lnTo>
                  <a:lnTo>
                    <a:pt x="815054" y="982"/>
                  </a:lnTo>
                  <a:lnTo>
                    <a:pt x="747057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5818055" y="2484072"/>
              <a:ext cx="1494155" cy="481330"/>
            </a:xfrm>
            <a:custGeom>
              <a:avLst/>
              <a:gdLst/>
              <a:ahLst/>
              <a:cxnLst/>
              <a:rect l="l" t="t" r="r" b="b"/>
              <a:pathLst>
                <a:path w="1494154" h="481330">
                  <a:moveTo>
                    <a:pt x="0" y="240488"/>
                  </a:moveTo>
                  <a:lnTo>
                    <a:pt x="12036" y="197260"/>
                  </a:lnTo>
                  <a:lnTo>
                    <a:pt x="46737" y="156574"/>
                  </a:lnTo>
                  <a:lnTo>
                    <a:pt x="101995" y="119109"/>
                  </a:lnTo>
                  <a:lnTo>
                    <a:pt x="136673" y="101797"/>
                  </a:lnTo>
                  <a:lnTo>
                    <a:pt x="175698" y="85544"/>
                  </a:lnTo>
                  <a:lnTo>
                    <a:pt x="218808" y="70437"/>
                  </a:lnTo>
                  <a:lnTo>
                    <a:pt x="265737" y="56559"/>
                  </a:lnTo>
                  <a:lnTo>
                    <a:pt x="316224" y="43997"/>
                  </a:lnTo>
                  <a:lnTo>
                    <a:pt x="370003" y="32833"/>
                  </a:lnTo>
                  <a:lnTo>
                    <a:pt x="426811" y="23154"/>
                  </a:lnTo>
                  <a:lnTo>
                    <a:pt x="486385" y="15045"/>
                  </a:lnTo>
                  <a:lnTo>
                    <a:pt x="548460" y="8590"/>
                  </a:lnTo>
                  <a:lnTo>
                    <a:pt x="612773" y="3874"/>
                  </a:lnTo>
                  <a:lnTo>
                    <a:pt x="679060" y="982"/>
                  </a:lnTo>
                  <a:lnTo>
                    <a:pt x="747057" y="0"/>
                  </a:lnTo>
                  <a:lnTo>
                    <a:pt x="815055" y="982"/>
                  </a:lnTo>
                  <a:lnTo>
                    <a:pt x="881342" y="3874"/>
                  </a:lnTo>
                  <a:lnTo>
                    <a:pt x="945655" y="8590"/>
                  </a:lnTo>
                  <a:lnTo>
                    <a:pt x="1007730" y="15045"/>
                  </a:lnTo>
                  <a:lnTo>
                    <a:pt x="1067303" y="23154"/>
                  </a:lnTo>
                  <a:lnTo>
                    <a:pt x="1124112" y="32833"/>
                  </a:lnTo>
                  <a:lnTo>
                    <a:pt x="1177891" y="43997"/>
                  </a:lnTo>
                  <a:lnTo>
                    <a:pt x="1228377" y="56559"/>
                  </a:lnTo>
                  <a:lnTo>
                    <a:pt x="1275307" y="70437"/>
                  </a:lnTo>
                  <a:lnTo>
                    <a:pt x="1318416" y="85544"/>
                  </a:lnTo>
                  <a:lnTo>
                    <a:pt x="1357442" y="101797"/>
                  </a:lnTo>
                  <a:lnTo>
                    <a:pt x="1392120" y="119109"/>
                  </a:lnTo>
                  <a:lnTo>
                    <a:pt x="1447377" y="156574"/>
                  </a:lnTo>
                  <a:lnTo>
                    <a:pt x="1482079" y="197260"/>
                  </a:lnTo>
                  <a:lnTo>
                    <a:pt x="1494115" y="240488"/>
                  </a:lnTo>
                  <a:lnTo>
                    <a:pt x="1491062" y="262377"/>
                  </a:lnTo>
                  <a:lnTo>
                    <a:pt x="1467430" y="304419"/>
                  </a:lnTo>
                  <a:lnTo>
                    <a:pt x="1422186" y="343580"/>
                  </a:lnTo>
                  <a:lnTo>
                    <a:pt x="1357442" y="379180"/>
                  </a:lnTo>
                  <a:lnTo>
                    <a:pt x="1318416" y="395432"/>
                  </a:lnTo>
                  <a:lnTo>
                    <a:pt x="1275307" y="410539"/>
                  </a:lnTo>
                  <a:lnTo>
                    <a:pt x="1228377" y="424417"/>
                  </a:lnTo>
                  <a:lnTo>
                    <a:pt x="1177891" y="436980"/>
                  </a:lnTo>
                  <a:lnTo>
                    <a:pt x="1124112" y="448143"/>
                  </a:lnTo>
                  <a:lnTo>
                    <a:pt x="1067303" y="457822"/>
                  </a:lnTo>
                  <a:lnTo>
                    <a:pt x="1007730" y="465931"/>
                  </a:lnTo>
                  <a:lnTo>
                    <a:pt x="945655" y="472386"/>
                  </a:lnTo>
                  <a:lnTo>
                    <a:pt x="881342" y="477102"/>
                  </a:lnTo>
                  <a:lnTo>
                    <a:pt x="815055" y="479994"/>
                  </a:lnTo>
                  <a:lnTo>
                    <a:pt x="747057" y="480977"/>
                  </a:lnTo>
                  <a:lnTo>
                    <a:pt x="679060" y="479994"/>
                  </a:lnTo>
                  <a:lnTo>
                    <a:pt x="612773" y="477102"/>
                  </a:lnTo>
                  <a:lnTo>
                    <a:pt x="548460" y="472386"/>
                  </a:lnTo>
                  <a:lnTo>
                    <a:pt x="486385" y="465931"/>
                  </a:lnTo>
                  <a:lnTo>
                    <a:pt x="426811" y="457822"/>
                  </a:lnTo>
                  <a:lnTo>
                    <a:pt x="370003" y="448143"/>
                  </a:lnTo>
                  <a:lnTo>
                    <a:pt x="316224" y="436980"/>
                  </a:lnTo>
                  <a:lnTo>
                    <a:pt x="265737" y="424417"/>
                  </a:lnTo>
                  <a:lnTo>
                    <a:pt x="218808" y="410539"/>
                  </a:lnTo>
                  <a:lnTo>
                    <a:pt x="175698" y="395432"/>
                  </a:lnTo>
                  <a:lnTo>
                    <a:pt x="136673" y="379180"/>
                  </a:lnTo>
                  <a:lnTo>
                    <a:pt x="101995" y="361867"/>
                  </a:lnTo>
                  <a:lnTo>
                    <a:pt x="46737" y="324402"/>
                  </a:lnTo>
                  <a:lnTo>
                    <a:pt x="12036" y="283716"/>
                  </a:lnTo>
                  <a:lnTo>
                    <a:pt x="0" y="240488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>
              <a:off x="6150802" y="2521522"/>
              <a:ext cx="828675" cy="139984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200" b="1" dirty="0">
                  <a:solidFill>
                    <a:schemeClr val="tx1"/>
                  </a:solidFill>
                  <a:latin typeface="Calibri Light"/>
                  <a:cs typeface="Calibri Light"/>
                </a:rPr>
                <a:t>Feed</a:t>
              </a:r>
              <a:r>
                <a:rPr sz="1200" b="1" spc="-53" dirty="0">
                  <a:solidFill>
                    <a:schemeClr val="tx1"/>
                  </a:solidFill>
                  <a:latin typeface="Calibri Light"/>
                  <a:cs typeface="Calibri Light"/>
                </a:rPr>
                <a:t> </a:t>
              </a:r>
              <a:r>
                <a:rPr sz="1200" b="1" spc="-9" dirty="0">
                  <a:solidFill>
                    <a:schemeClr val="tx1"/>
                  </a:solidFill>
                  <a:latin typeface="Calibri Light"/>
                  <a:cs typeface="Calibri Light"/>
                </a:rPr>
                <a:t>forward</a:t>
              </a:r>
              <a:endParaRPr sz="1200" b="1" dirty="0">
                <a:solidFill>
                  <a:schemeClr val="tx1"/>
                </a:solidFill>
                <a:latin typeface="Calibri Light"/>
                <a:cs typeface="Calibri Light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6438229" y="2698306"/>
              <a:ext cx="254635" cy="128993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100" b="1" spc="-18" dirty="0">
                  <a:solidFill>
                    <a:schemeClr val="tx1"/>
                  </a:solidFill>
                  <a:latin typeface="Calibri Light"/>
                  <a:cs typeface="Calibri Light"/>
                </a:rPr>
                <a:t>(FF)</a:t>
              </a:r>
              <a:endParaRPr sz="1100" b="1">
                <a:solidFill>
                  <a:schemeClr val="tx1"/>
                </a:solidFill>
                <a:latin typeface="Calibri Light"/>
                <a:cs typeface="Calibri Light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4010555" y="2034925"/>
              <a:ext cx="1801751" cy="481330"/>
            </a:xfrm>
            <a:custGeom>
              <a:avLst/>
              <a:gdLst/>
              <a:ahLst/>
              <a:cxnLst/>
              <a:rect l="l" t="t" r="r" b="b"/>
              <a:pathLst>
                <a:path w="1494154" h="481330">
                  <a:moveTo>
                    <a:pt x="747057" y="0"/>
                  </a:moveTo>
                  <a:lnTo>
                    <a:pt x="679059" y="982"/>
                  </a:lnTo>
                  <a:lnTo>
                    <a:pt x="612772" y="3874"/>
                  </a:lnTo>
                  <a:lnTo>
                    <a:pt x="548459" y="8590"/>
                  </a:lnTo>
                  <a:lnTo>
                    <a:pt x="486384" y="15045"/>
                  </a:lnTo>
                  <a:lnTo>
                    <a:pt x="426811" y="23154"/>
                  </a:lnTo>
                  <a:lnTo>
                    <a:pt x="370002" y="32833"/>
                  </a:lnTo>
                  <a:lnTo>
                    <a:pt x="316223" y="43996"/>
                  </a:lnTo>
                  <a:lnTo>
                    <a:pt x="265737" y="56559"/>
                  </a:lnTo>
                  <a:lnTo>
                    <a:pt x="218807" y="70437"/>
                  </a:lnTo>
                  <a:lnTo>
                    <a:pt x="175698" y="85544"/>
                  </a:lnTo>
                  <a:lnTo>
                    <a:pt x="136672" y="101796"/>
                  </a:lnTo>
                  <a:lnTo>
                    <a:pt x="101995" y="119108"/>
                  </a:lnTo>
                  <a:lnTo>
                    <a:pt x="46737" y="156573"/>
                  </a:lnTo>
                  <a:lnTo>
                    <a:pt x="12036" y="197260"/>
                  </a:lnTo>
                  <a:lnTo>
                    <a:pt x="0" y="240488"/>
                  </a:lnTo>
                  <a:lnTo>
                    <a:pt x="3052" y="262377"/>
                  </a:lnTo>
                  <a:lnTo>
                    <a:pt x="26685" y="304419"/>
                  </a:lnTo>
                  <a:lnTo>
                    <a:pt x="71928" y="343580"/>
                  </a:lnTo>
                  <a:lnTo>
                    <a:pt x="136672" y="379179"/>
                  </a:lnTo>
                  <a:lnTo>
                    <a:pt x="175698" y="395432"/>
                  </a:lnTo>
                  <a:lnTo>
                    <a:pt x="218807" y="410539"/>
                  </a:lnTo>
                  <a:lnTo>
                    <a:pt x="265737" y="424416"/>
                  </a:lnTo>
                  <a:lnTo>
                    <a:pt x="316223" y="436979"/>
                  </a:lnTo>
                  <a:lnTo>
                    <a:pt x="370002" y="448143"/>
                  </a:lnTo>
                  <a:lnTo>
                    <a:pt x="426811" y="457821"/>
                  </a:lnTo>
                  <a:lnTo>
                    <a:pt x="486384" y="465931"/>
                  </a:lnTo>
                  <a:lnTo>
                    <a:pt x="548459" y="472386"/>
                  </a:lnTo>
                  <a:lnTo>
                    <a:pt x="612772" y="477102"/>
                  </a:lnTo>
                  <a:lnTo>
                    <a:pt x="679059" y="479994"/>
                  </a:lnTo>
                  <a:lnTo>
                    <a:pt x="747057" y="480976"/>
                  </a:lnTo>
                  <a:lnTo>
                    <a:pt x="815054" y="479994"/>
                  </a:lnTo>
                  <a:lnTo>
                    <a:pt x="881341" y="477102"/>
                  </a:lnTo>
                  <a:lnTo>
                    <a:pt x="945654" y="472386"/>
                  </a:lnTo>
                  <a:lnTo>
                    <a:pt x="1007729" y="465931"/>
                  </a:lnTo>
                  <a:lnTo>
                    <a:pt x="1067303" y="457821"/>
                  </a:lnTo>
                  <a:lnTo>
                    <a:pt x="1124111" y="448143"/>
                  </a:lnTo>
                  <a:lnTo>
                    <a:pt x="1177890" y="436979"/>
                  </a:lnTo>
                  <a:lnTo>
                    <a:pt x="1228377" y="424416"/>
                  </a:lnTo>
                  <a:lnTo>
                    <a:pt x="1275307" y="410539"/>
                  </a:lnTo>
                  <a:lnTo>
                    <a:pt x="1318416" y="395432"/>
                  </a:lnTo>
                  <a:lnTo>
                    <a:pt x="1357442" y="379179"/>
                  </a:lnTo>
                  <a:lnTo>
                    <a:pt x="1392120" y="361867"/>
                  </a:lnTo>
                  <a:lnTo>
                    <a:pt x="1447377" y="324402"/>
                  </a:lnTo>
                  <a:lnTo>
                    <a:pt x="1482079" y="283716"/>
                  </a:lnTo>
                  <a:lnTo>
                    <a:pt x="1494115" y="240488"/>
                  </a:lnTo>
                  <a:lnTo>
                    <a:pt x="1491062" y="218598"/>
                  </a:lnTo>
                  <a:lnTo>
                    <a:pt x="1467429" y="176556"/>
                  </a:lnTo>
                  <a:lnTo>
                    <a:pt x="1422186" y="137396"/>
                  </a:lnTo>
                  <a:lnTo>
                    <a:pt x="1357442" y="101796"/>
                  </a:lnTo>
                  <a:lnTo>
                    <a:pt x="1318416" y="85544"/>
                  </a:lnTo>
                  <a:lnTo>
                    <a:pt x="1275307" y="70437"/>
                  </a:lnTo>
                  <a:lnTo>
                    <a:pt x="1228377" y="56559"/>
                  </a:lnTo>
                  <a:lnTo>
                    <a:pt x="1177890" y="43996"/>
                  </a:lnTo>
                  <a:lnTo>
                    <a:pt x="1124111" y="32833"/>
                  </a:lnTo>
                  <a:lnTo>
                    <a:pt x="1067303" y="23154"/>
                  </a:lnTo>
                  <a:lnTo>
                    <a:pt x="1007729" y="15045"/>
                  </a:lnTo>
                  <a:lnTo>
                    <a:pt x="945654" y="8590"/>
                  </a:lnTo>
                  <a:lnTo>
                    <a:pt x="881341" y="3874"/>
                  </a:lnTo>
                  <a:lnTo>
                    <a:pt x="815054" y="982"/>
                  </a:lnTo>
                  <a:lnTo>
                    <a:pt x="747057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4010555" y="2034925"/>
              <a:ext cx="1801751" cy="481330"/>
            </a:xfrm>
            <a:custGeom>
              <a:avLst/>
              <a:gdLst/>
              <a:ahLst/>
              <a:cxnLst/>
              <a:rect l="l" t="t" r="r" b="b"/>
              <a:pathLst>
                <a:path w="1494154" h="481330">
                  <a:moveTo>
                    <a:pt x="0" y="240488"/>
                  </a:moveTo>
                  <a:lnTo>
                    <a:pt x="12036" y="197260"/>
                  </a:lnTo>
                  <a:lnTo>
                    <a:pt x="46737" y="156574"/>
                  </a:lnTo>
                  <a:lnTo>
                    <a:pt x="101995" y="119109"/>
                  </a:lnTo>
                  <a:lnTo>
                    <a:pt x="136673" y="101797"/>
                  </a:lnTo>
                  <a:lnTo>
                    <a:pt x="175698" y="85544"/>
                  </a:lnTo>
                  <a:lnTo>
                    <a:pt x="218808" y="70437"/>
                  </a:lnTo>
                  <a:lnTo>
                    <a:pt x="265737" y="56559"/>
                  </a:lnTo>
                  <a:lnTo>
                    <a:pt x="316224" y="43997"/>
                  </a:lnTo>
                  <a:lnTo>
                    <a:pt x="370003" y="32833"/>
                  </a:lnTo>
                  <a:lnTo>
                    <a:pt x="426811" y="23154"/>
                  </a:lnTo>
                  <a:lnTo>
                    <a:pt x="486385" y="15045"/>
                  </a:lnTo>
                  <a:lnTo>
                    <a:pt x="548460" y="8590"/>
                  </a:lnTo>
                  <a:lnTo>
                    <a:pt x="612773" y="3874"/>
                  </a:lnTo>
                  <a:lnTo>
                    <a:pt x="679060" y="982"/>
                  </a:lnTo>
                  <a:lnTo>
                    <a:pt x="747057" y="0"/>
                  </a:lnTo>
                  <a:lnTo>
                    <a:pt x="815055" y="982"/>
                  </a:lnTo>
                  <a:lnTo>
                    <a:pt x="881342" y="3874"/>
                  </a:lnTo>
                  <a:lnTo>
                    <a:pt x="945655" y="8590"/>
                  </a:lnTo>
                  <a:lnTo>
                    <a:pt x="1007730" y="15045"/>
                  </a:lnTo>
                  <a:lnTo>
                    <a:pt x="1067303" y="23154"/>
                  </a:lnTo>
                  <a:lnTo>
                    <a:pt x="1124112" y="32833"/>
                  </a:lnTo>
                  <a:lnTo>
                    <a:pt x="1177891" y="43997"/>
                  </a:lnTo>
                  <a:lnTo>
                    <a:pt x="1228377" y="56559"/>
                  </a:lnTo>
                  <a:lnTo>
                    <a:pt x="1275307" y="70437"/>
                  </a:lnTo>
                  <a:lnTo>
                    <a:pt x="1318416" y="85544"/>
                  </a:lnTo>
                  <a:lnTo>
                    <a:pt x="1357442" y="101797"/>
                  </a:lnTo>
                  <a:lnTo>
                    <a:pt x="1392120" y="119109"/>
                  </a:lnTo>
                  <a:lnTo>
                    <a:pt x="1447377" y="156574"/>
                  </a:lnTo>
                  <a:lnTo>
                    <a:pt x="1482079" y="197260"/>
                  </a:lnTo>
                  <a:lnTo>
                    <a:pt x="1494115" y="240488"/>
                  </a:lnTo>
                  <a:lnTo>
                    <a:pt x="1491062" y="262377"/>
                  </a:lnTo>
                  <a:lnTo>
                    <a:pt x="1467430" y="304419"/>
                  </a:lnTo>
                  <a:lnTo>
                    <a:pt x="1422186" y="343580"/>
                  </a:lnTo>
                  <a:lnTo>
                    <a:pt x="1357442" y="379180"/>
                  </a:lnTo>
                  <a:lnTo>
                    <a:pt x="1318416" y="395432"/>
                  </a:lnTo>
                  <a:lnTo>
                    <a:pt x="1275307" y="410539"/>
                  </a:lnTo>
                  <a:lnTo>
                    <a:pt x="1228377" y="424417"/>
                  </a:lnTo>
                  <a:lnTo>
                    <a:pt x="1177891" y="436980"/>
                  </a:lnTo>
                  <a:lnTo>
                    <a:pt x="1124112" y="448143"/>
                  </a:lnTo>
                  <a:lnTo>
                    <a:pt x="1067303" y="457822"/>
                  </a:lnTo>
                  <a:lnTo>
                    <a:pt x="1007730" y="465931"/>
                  </a:lnTo>
                  <a:lnTo>
                    <a:pt x="945655" y="472386"/>
                  </a:lnTo>
                  <a:lnTo>
                    <a:pt x="881342" y="477102"/>
                  </a:lnTo>
                  <a:lnTo>
                    <a:pt x="815055" y="479994"/>
                  </a:lnTo>
                  <a:lnTo>
                    <a:pt x="747057" y="480977"/>
                  </a:lnTo>
                  <a:lnTo>
                    <a:pt x="679060" y="479994"/>
                  </a:lnTo>
                  <a:lnTo>
                    <a:pt x="612773" y="477102"/>
                  </a:lnTo>
                  <a:lnTo>
                    <a:pt x="548460" y="472386"/>
                  </a:lnTo>
                  <a:lnTo>
                    <a:pt x="486385" y="465931"/>
                  </a:lnTo>
                  <a:lnTo>
                    <a:pt x="426811" y="457822"/>
                  </a:lnTo>
                  <a:lnTo>
                    <a:pt x="370003" y="448143"/>
                  </a:lnTo>
                  <a:lnTo>
                    <a:pt x="316224" y="436980"/>
                  </a:lnTo>
                  <a:lnTo>
                    <a:pt x="265737" y="424417"/>
                  </a:lnTo>
                  <a:lnTo>
                    <a:pt x="218808" y="410539"/>
                  </a:lnTo>
                  <a:lnTo>
                    <a:pt x="175698" y="395432"/>
                  </a:lnTo>
                  <a:lnTo>
                    <a:pt x="136673" y="379180"/>
                  </a:lnTo>
                  <a:lnTo>
                    <a:pt x="101995" y="361867"/>
                  </a:lnTo>
                  <a:lnTo>
                    <a:pt x="46737" y="324402"/>
                  </a:lnTo>
                  <a:lnTo>
                    <a:pt x="12036" y="283716"/>
                  </a:lnTo>
                  <a:lnTo>
                    <a:pt x="0" y="240488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200" b="1">
                <a:solidFill>
                  <a:schemeClr val="tx1"/>
                </a:solidFill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4407139" y="2169788"/>
              <a:ext cx="1220159" cy="136491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8490" rIns="0" bIns="0" rtlCol="0">
              <a:spAutoFit/>
            </a:bodyPr>
            <a:lstStyle/>
            <a:p>
              <a:pPr marL="264473" marR="4483" indent="-253827">
                <a:lnSpc>
                  <a:spcPts val="1253"/>
                </a:lnSpc>
                <a:spcBef>
                  <a:spcPts val="146"/>
                </a:spcBef>
              </a:pPr>
              <a:r>
                <a:rPr sz="1400" b="1" dirty="0">
                  <a:solidFill>
                    <a:schemeClr val="tx1"/>
                  </a:solidFill>
                  <a:latin typeface="Calibri Light"/>
                  <a:cs typeface="Calibri Light"/>
                </a:rPr>
                <a:t>Feed</a:t>
              </a:r>
              <a:r>
                <a:rPr sz="1400" b="1" spc="-62" dirty="0">
                  <a:solidFill>
                    <a:schemeClr val="tx1"/>
                  </a:solidFill>
                  <a:latin typeface="Calibri Light"/>
                  <a:cs typeface="Calibri Light"/>
                </a:rPr>
                <a:t> </a:t>
              </a:r>
              <a:r>
                <a:rPr sz="1400" b="1" spc="-22" dirty="0">
                  <a:solidFill>
                    <a:schemeClr val="tx1"/>
                  </a:solidFill>
                  <a:latin typeface="Calibri Light"/>
                  <a:cs typeface="Calibri Light"/>
                </a:rPr>
                <a:t>forward </a:t>
              </a:r>
              <a:r>
                <a:rPr sz="1400" b="1" spc="-18" dirty="0">
                  <a:solidFill>
                    <a:schemeClr val="tx1"/>
                  </a:solidFill>
                  <a:latin typeface="Calibri Light"/>
                  <a:cs typeface="Calibri Light"/>
                </a:rPr>
                <a:t>(FF)</a:t>
              </a:r>
              <a:endParaRPr sz="1400" b="1" dirty="0">
                <a:solidFill>
                  <a:schemeClr val="tx1"/>
                </a:solidFill>
                <a:latin typeface="Calibri Light"/>
                <a:cs typeface="Calibri Light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4159030" y="5001366"/>
              <a:ext cx="1494155" cy="481330"/>
            </a:xfrm>
            <a:custGeom>
              <a:avLst/>
              <a:gdLst/>
              <a:ahLst/>
              <a:cxnLst/>
              <a:rect l="l" t="t" r="r" b="b"/>
              <a:pathLst>
                <a:path w="1494154" h="481329">
                  <a:moveTo>
                    <a:pt x="747057" y="0"/>
                  </a:moveTo>
                  <a:lnTo>
                    <a:pt x="679059" y="982"/>
                  </a:lnTo>
                  <a:lnTo>
                    <a:pt x="612772" y="3874"/>
                  </a:lnTo>
                  <a:lnTo>
                    <a:pt x="548460" y="8590"/>
                  </a:lnTo>
                  <a:lnTo>
                    <a:pt x="486385" y="15045"/>
                  </a:lnTo>
                  <a:lnTo>
                    <a:pt x="426811" y="23154"/>
                  </a:lnTo>
                  <a:lnTo>
                    <a:pt x="370003" y="32833"/>
                  </a:lnTo>
                  <a:lnTo>
                    <a:pt x="316224" y="43997"/>
                  </a:lnTo>
                  <a:lnTo>
                    <a:pt x="265738" y="56559"/>
                  </a:lnTo>
                  <a:lnTo>
                    <a:pt x="218808" y="70437"/>
                  </a:lnTo>
                  <a:lnTo>
                    <a:pt x="175698" y="85544"/>
                  </a:lnTo>
                  <a:lnTo>
                    <a:pt x="136673" y="101797"/>
                  </a:lnTo>
                  <a:lnTo>
                    <a:pt x="101995" y="119109"/>
                  </a:lnTo>
                  <a:lnTo>
                    <a:pt x="46737" y="156574"/>
                  </a:lnTo>
                  <a:lnTo>
                    <a:pt x="12036" y="197260"/>
                  </a:lnTo>
                  <a:lnTo>
                    <a:pt x="0" y="240488"/>
                  </a:lnTo>
                  <a:lnTo>
                    <a:pt x="3052" y="262377"/>
                  </a:lnTo>
                  <a:lnTo>
                    <a:pt x="26685" y="304420"/>
                  </a:lnTo>
                  <a:lnTo>
                    <a:pt x="71929" y="343580"/>
                  </a:lnTo>
                  <a:lnTo>
                    <a:pt x="136673" y="379180"/>
                  </a:lnTo>
                  <a:lnTo>
                    <a:pt x="175698" y="395432"/>
                  </a:lnTo>
                  <a:lnTo>
                    <a:pt x="218808" y="410539"/>
                  </a:lnTo>
                  <a:lnTo>
                    <a:pt x="265738" y="424417"/>
                  </a:lnTo>
                  <a:lnTo>
                    <a:pt x="316224" y="436980"/>
                  </a:lnTo>
                  <a:lnTo>
                    <a:pt x="370003" y="448143"/>
                  </a:lnTo>
                  <a:lnTo>
                    <a:pt x="426811" y="457822"/>
                  </a:lnTo>
                  <a:lnTo>
                    <a:pt x="486385" y="465931"/>
                  </a:lnTo>
                  <a:lnTo>
                    <a:pt x="548460" y="472386"/>
                  </a:lnTo>
                  <a:lnTo>
                    <a:pt x="612772" y="477102"/>
                  </a:lnTo>
                  <a:lnTo>
                    <a:pt x="679059" y="479994"/>
                  </a:lnTo>
                  <a:lnTo>
                    <a:pt x="747057" y="480976"/>
                  </a:lnTo>
                  <a:lnTo>
                    <a:pt x="815054" y="479994"/>
                  </a:lnTo>
                  <a:lnTo>
                    <a:pt x="881341" y="477102"/>
                  </a:lnTo>
                  <a:lnTo>
                    <a:pt x="945654" y="472386"/>
                  </a:lnTo>
                  <a:lnTo>
                    <a:pt x="1007729" y="465931"/>
                  </a:lnTo>
                  <a:lnTo>
                    <a:pt x="1067303" y="457822"/>
                  </a:lnTo>
                  <a:lnTo>
                    <a:pt x="1124111" y="448143"/>
                  </a:lnTo>
                  <a:lnTo>
                    <a:pt x="1177890" y="436980"/>
                  </a:lnTo>
                  <a:lnTo>
                    <a:pt x="1228377" y="424417"/>
                  </a:lnTo>
                  <a:lnTo>
                    <a:pt x="1275307" y="410539"/>
                  </a:lnTo>
                  <a:lnTo>
                    <a:pt x="1318416" y="395432"/>
                  </a:lnTo>
                  <a:lnTo>
                    <a:pt x="1357442" y="379180"/>
                  </a:lnTo>
                  <a:lnTo>
                    <a:pt x="1392120" y="361868"/>
                  </a:lnTo>
                  <a:lnTo>
                    <a:pt x="1447377" y="324403"/>
                  </a:lnTo>
                  <a:lnTo>
                    <a:pt x="1482079" y="283716"/>
                  </a:lnTo>
                  <a:lnTo>
                    <a:pt x="1494115" y="240488"/>
                  </a:lnTo>
                  <a:lnTo>
                    <a:pt x="1491062" y="218599"/>
                  </a:lnTo>
                  <a:lnTo>
                    <a:pt x="1467429" y="176557"/>
                  </a:lnTo>
                  <a:lnTo>
                    <a:pt x="1422186" y="137396"/>
                  </a:lnTo>
                  <a:lnTo>
                    <a:pt x="1357442" y="101797"/>
                  </a:lnTo>
                  <a:lnTo>
                    <a:pt x="1318416" y="85544"/>
                  </a:lnTo>
                  <a:lnTo>
                    <a:pt x="1275307" y="70437"/>
                  </a:lnTo>
                  <a:lnTo>
                    <a:pt x="1228377" y="56559"/>
                  </a:lnTo>
                  <a:lnTo>
                    <a:pt x="1177890" y="43997"/>
                  </a:lnTo>
                  <a:lnTo>
                    <a:pt x="1124111" y="32833"/>
                  </a:lnTo>
                  <a:lnTo>
                    <a:pt x="1067303" y="23154"/>
                  </a:lnTo>
                  <a:lnTo>
                    <a:pt x="1007729" y="15045"/>
                  </a:lnTo>
                  <a:lnTo>
                    <a:pt x="945654" y="8590"/>
                  </a:lnTo>
                  <a:lnTo>
                    <a:pt x="881341" y="3874"/>
                  </a:lnTo>
                  <a:lnTo>
                    <a:pt x="815054" y="982"/>
                  </a:lnTo>
                  <a:lnTo>
                    <a:pt x="747057" y="0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100" b="1">
                <a:solidFill>
                  <a:schemeClr val="tx1"/>
                </a:solidFill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4159030" y="5001366"/>
              <a:ext cx="1494155" cy="481330"/>
            </a:xfrm>
            <a:custGeom>
              <a:avLst/>
              <a:gdLst/>
              <a:ahLst/>
              <a:cxnLst/>
              <a:rect l="l" t="t" r="r" b="b"/>
              <a:pathLst>
                <a:path w="1494154" h="481329">
                  <a:moveTo>
                    <a:pt x="0" y="240488"/>
                  </a:moveTo>
                  <a:lnTo>
                    <a:pt x="12036" y="197260"/>
                  </a:lnTo>
                  <a:lnTo>
                    <a:pt x="46737" y="156574"/>
                  </a:lnTo>
                  <a:lnTo>
                    <a:pt x="101995" y="119109"/>
                  </a:lnTo>
                  <a:lnTo>
                    <a:pt x="136673" y="101797"/>
                  </a:lnTo>
                  <a:lnTo>
                    <a:pt x="175698" y="85544"/>
                  </a:lnTo>
                  <a:lnTo>
                    <a:pt x="218808" y="70437"/>
                  </a:lnTo>
                  <a:lnTo>
                    <a:pt x="265737" y="56559"/>
                  </a:lnTo>
                  <a:lnTo>
                    <a:pt x="316224" y="43997"/>
                  </a:lnTo>
                  <a:lnTo>
                    <a:pt x="370003" y="32833"/>
                  </a:lnTo>
                  <a:lnTo>
                    <a:pt x="426811" y="23154"/>
                  </a:lnTo>
                  <a:lnTo>
                    <a:pt x="486385" y="15045"/>
                  </a:lnTo>
                  <a:lnTo>
                    <a:pt x="548460" y="8590"/>
                  </a:lnTo>
                  <a:lnTo>
                    <a:pt x="612773" y="3874"/>
                  </a:lnTo>
                  <a:lnTo>
                    <a:pt x="679060" y="982"/>
                  </a:lnTo>
                  <a:lnTo>
                    <a:pt x="747057" y="0"/>
                  </a:lnTo>
                  <a:lnTo>
                    <a:pt x="815055" y="982"/>
                  </a:lnTo>
                  <a:lnTo>
                    <a:pt x="881342" y="3874"/>
                  </a:lnTo>
                  <a:lnTo>
                    <a:pt x="945655" y="8590"/>
                  </a:lnTo>
                  <a:lnTo>
                    <a:pt x="1007730" y="15045"/>
                  </a:lnTo>
                  <a:lnTo>
                    <a:pt x="1067303" y="23154"/>
                  </a:lnTo>
                  <a:lnTo>
                    <a:pt x="1124111" y="32833"/>
                  </a:lnTo>
                  <a:lnTo>
                    <a:pt x="1177891" y="43997"/>
                  </a:lnTo>
                  <a:lnTo>
                    <a:pt x="1228377" y="56559"/>
                  </a:lnTo>
                  <a:lnTo>
                    <a:pt x="1275307" y="70437"/>
                  </a:lnTo>
                  <a:lnTo>
                    <a:pt x="1318416" y="85544"/>
                  </a:lnTo>
                  <a:lnTo>
                    <a:pt x="1357442" y="101797"/>
                  </a:lnTo>
                  <a:lnTo>
                    <a:pt x="1392119" y="119109"/>
                  </a:lnTo>
                  <a:lnTo>
                    <a:pt x="1447377" y="156574"/>
                  </a:lnTo>
                  <a:lnTo>
                    <a:pt x="1482078" y="197260"/>
                  </a:lnTo>
                  <a:lnTo>
                    <a:pt x="1494114" y="240488"/>
                  </a:lnTo>
                  <a:lnTo>
                    <a:pt x="1491061" y="262377"/>
                  </a:lnTo>
                  <a:lnTo>
                    <a:pt x="1467429" y="304419"/>
                  </a:lnTo>
                  <a:lnTo>
                    <a:pt x="1422186" y="343580"/>
                  </a:lnTo>
                  <a:lnTo>
                    <a:pt x="1357442" y="379180"/>
                  </a:lnTo>
                  <a:lnTo>
                    <a:pt x="1318416" y="395432"/>
                  </a:lnTo>
                  <a:lnTo>
                    <a:pt x="1275307" y="410539"/>
                  </a:lnTo>
                  <a:lnTo>
                    <a:pt x="1228377" y="424417"/>
                  </a:lnTo>
                  <a:lnTo>
                    <a:pt x="1177891" y="436980"/>
                  </a:lnTo>
                  <a:lnTo>
                    <a:pt x="1124111" y="448143"/>
                  </a:lnTo>
                  <a:lnTo>
                    <a:pt x="1067303" y="457822"/>
                  </a:lnTo>
                  <a:lnTo>
                    <a:pt x="1007730" y="465931"/>
                  </a:lnTo>
                  <a:lnTo>
                    <a:pt x="945655" y="472386"/>
                  </a:lnTo>
                  <a:lnTo>
                    <a:pt x="881342" y="477102"/>
                  </a:lnTo>
                  <a:lnTo>
                    <a:pt x="815055" y="479994"/>
                  </a:lnTo>
                  <a:lnTo>
                    <a:pt x="747057" y="480977"/>
                  </a:lnTo>
                  <a:lnTo>
                    <a:pt x="679060" y="479994"/>
                  </a:lnTo>
                  <a:lnTo>
                    <a:pt x="612773" y="477102"/>
                  </a:lnTo>
                  <a:lnTo>
                    <a:pt x="548460" y="472386"/>
                  </a:lnTo>
                  <a:lnTo>
                    <a:pt x="486385" y="465931"/>
                  </a:lnTo>
                  <a:lnTo>
                    <a:pt x="426811" y="457822"/>
                  </a:lnTo>
                  <a:lnTo>
                    <a:pt x="370003" y="448143"/>
                  </a:lnTo>
                  <a:lnTo>
                    <a:pt x="316224" y="436980"/>
                  </a:lnTo>
                  <a:lnTo>
                    <a:pt x="265737" y="424417"/>
                  </a:lnTo>
                  <a:lnTo>
                    <a:pt x="218808" y="410539"/>
                  </a:lnTo>
                  <a:lnTo>
                    <a:pt x="175698" y="395432"/>
                  </a:lnTo>
                  <a:lnTo>
                    <a:pt x="136673" y="379180"/>
                  </a:lnTo>
                  <a:lnTo>
                    <a:pt x="101995" y="361867"/>
                  </a:lnTo>
                  <a:lnTo>
                    <a:pt x="46737" y="324402"/>
                  </a:lnTo>
                  <a:lnTo>
                    <a:pt x="12036" y="283716"/>
                  </a:lnTo>
                  <a:lnTo>
                    <a:pt x="0" y="240488"/>
                  </a:lnTo>
                  <a:close/>
                </a:path>
              </a:pathLst>
            </a:custGeom>
            <a:ln w="2857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 sz="1600" b="1">
                <a:solidFill>
                  <a:schemeClr val="tx1"/>
                </a:solidFill>
              </a:endParaRPr>
            </a:p>
          </p:txBody>
        </p:sp>
        <p:sp>
          <p:nvSpPr>
            <p:cNvPr id="53" name="object 53"/>
            <p:cNvSpPr txBox="1"/>
            <p:nvPr/>
          </p:nvSpPr>
          <p:spPr>
            <a:xfrm>
              <a:off x="4493040" y="5116280"/>
              <a:ext cx="826135" cy="161968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400" b="1" dirty="0">
                  <a:solidFill>
                    <a:schemeClr val="tx1"/>
                  </a:solidFill>
                  <a:latin typeface="Calibri Light"/>
                  <a:cs typeface="Calibri Light"/>
                </a:rPr>
                <a:t>Feed</a:t>
              </a:r>
              <a:r>
                <a:rPr sz="1400" b="1" spc="-53" dirty="0">
                  <a:solidFill>
                    <a:schemeClr val="tx1"/>
                  </a:solidFill>
                  <a:latin typeface="Calibri Light"/>
                  <a:cs typeface="Calibri Light"/>
                </a:rPr>
                <a:t> </a:t>
              </a:r>
              <a:r>
                <a:rPr sz="1400" b="1" dirty="0">
                  <a:solidFill>
                    <a:schemeClr val="tx1"/>
                  </a:solidFill>
                  <a:latin typeface="Calibri Light"/>
                  <a:cs typeface="Calibri Light"/>
                </a:rPr>
                <a:t>back</a:t>
              </a:r>
              <a:r>
                <a:rPr sz="1400" b="1" spc="-53" dirty="0">
                  <a:solidFill>
                    <a:schemeClr val="tx1"/>
                  </a:solidFill>
                  <a:latin typeface="Calibri Light"/>
                  <a:cs typeface="Calibri Light"/>
                </a:rPr>
                <a:t> </a:t>
              </a:r>
              <a:r>
                <a:rPr sz="1400" b="1" spc="-22" dirty="0">
                  <a:solidFill>
                    <a:schemeClr val="tx1"/>
                  </a:solidFill>
                  <a:latin typeface="Calibri Light"/>
                  <a:cs typeface="Calibri Light"/>
                </a:rPr>
                <a:t>(F)</a:t>
              </a:r>
              <a:endParaRPr sz="1400" b="1" dirty="0">
                <a:solidFill>
                  <a:schemeClr val="tx1"/>
                </a:solidFill>
                <a:latin typeface="Calibri Light"/>
                <a:cs typeface="Calibri Light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A6749B96-85EE-576B-E68B-CB6E1D3A1D49}"/>
                </a:ext>
              </a:extLst>
            </p:cNvPr>
            <p:cNvGrpSpPr/>
            <p:nvPr/>
          </p:nvGrpSpPr>
          <p:grpSpPr>
            <a:xfrm>
              <a:off x="6882507" y="4077077"/>
              <a:ext cx="1543670" cy="246379"/>
              <a:chOff x="6591501" y="4312580"/>
              <a:chExt cx="1543670" cy="246379"/>
            </a:xfrm>
          </p:grpSpPr>
          <p:sp>
            <p:nvSpPr>
              <p:cNvPr id="55" name="object 55"/>
              <p:cNvSpPr/>
              <p:nvPr/>
            </p:nvSpPr>
            <p:spPr>
              <a:xfrm>
                <a:off x="6591501" y="4312580"/>
                <a:ext cx="1532255" cy="246379"/>
              </a:xfrm>
              <a:custGeom>
                <a:avLst/>
                <a:gdLst/>
                <a:ahLst/>
                <a:cxnLst/>
                <a:rect l="l" t="t" r="r" b="b"/>
                <a:pathLst>
                  <a:path w="1532254" h="246379">
                    <a:moveTo>
                      <a:pt x="262559" y="28295"/>
                    </a:moveTo>
                    <a:lnTo>
                      <a:pt x="84772" y="28295"/>
                    </a:lnTo>
                    <a:lnTo>
                      <a:pt x="84772" y="0"/>
                    </a:lnTo>
                    <a:lnTo>
                      <a:pt x="0" y="42430"/>
                    </a:lnTo>
                    <a:lnTo>
                      <a:pt x="84772" y="84874"/>
                    </a:lnTo>
                    <a:lnTo>
                      <a:pt x="84772" y="56578"/>
                    </a:lnTo>
                    <a:lnTo>
                      <a:pt x="262559" y="56578"/>
                    </a:lnTo>
                    <a:lnTo>
                      <a:pt x="262559" y="28295"/>
                    </a:lnTo>
                    <a:close/>
                  </a:path>
                  <a:path w="1532254" h="246379">
                    <a:moveTo>
                      <a:pt x="275513" y="173875"/>
                    </a:moveTo>
                    <a:lnTo>
                      <a:pt x="265430" y="145656"/>
                    </a:lnTo>
                    <a:lnTo>
                      <a:pt x="237921" y="122618"/>
                    </a:lnTo>
                    <a:lnTo>
                      <a:pt x="197129" y="107073"/>
                    </a:lnTo>
                    <a:lnTo>
                      <a:pt x="147180" y="101384"/>
                    </a:lnTo>
                    <a:lnTo>
                      <a:pt x="97218" y="107073"/>
                    </a:lnTo>
                    <a:lnTo>
                      <a:pt x="56426" y="122618"/>
                    </a:lnTo>
                    <a:lnTo>
                      <a:pt x="28930" y="145656"/>
                    </a:lnTo>
                    <a:lnTo>
                      <a:pt x="18846" y="173875"/>
                    </a:lnTo>
                    <a:lnTo>
                      <a:pt x="28930" y="202095"/>
                    </a:lnTo>
                    <a:lnTo>
                      <a:pt x="56426" y="225145"/>
                    </a:lnTo>
                    <a:lnTo>
                      <a:pt x="97218" y="240677"/>
                    </a:lnTo>
                    <a:lnTo>
                      <a:pt x="147180" y="246380"/>
                    </a:lnTo>
                    <a:lnTo>
                      <a:pt x="197129" y="240677"/>
                    </a:lnTo>
                    <a:lnTo>
                      <a:pt x="237921" y="225145"/>
                    </a:lnTo>
                    <a:lnTo>
                      <a:pt x="265430" y="202095"/>
                    </a:lnTo>
                    <a:lnTo>
                      <a:pt x="275513" y="173875"/>
                    </a:lnTo>
                    <a:close/>
                  </a:path>
                  <a:path w="1532254" h="246379">
                    <a:moveTo>
                      <a:pt x="1531797" y="28295"/>
                    </a:moveTo>
                    <a:lnTo>
                      <a:pt x="1352829" y="28295"/>
                    </a:lnTo>
                    <a:lnTo>
                      <a:pt x="1352829" y="0"/>
                    </a:lnTo>
                    <a:lnTo>
                      <a:pt x="1268056" y="42430"/>
                    </a:lnTo>
                    <a:lnTo>
                      <a:pt x="1352829" y="84874"/>
                    </a:lnTo>
                    <a:lnTo>
                      <a:pt x="1352829" y="56578"/>
                    </a:lnTo>
                    <a:lnTo>
                      <a:pt x="1531797" y="56578"/>
                    </a:lnTo>
                    <a:lnTo>
                      <a:pt x="1531797" y="28295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/>
              <a:lstStyle/>
              <a:p>
                <a:endParaRPr sz="11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object 60"/>
              <p:cNvSpPr/>
              <p:nvPr/>
            </p:nvSpPr>
            <p:spPr>
              <a:xfrm>
                <a:off x="7879267" y="4387933"/>
                <a:ext cx="255904" cy="145415"/>
              </a:xfrm>
              <a:custGeom>
                <a:avLst/>
                <a:gdLst/>
                <a:ahLst/>
                <a:cxnLst/>
                <a:rect l="l" t="t" r="r" b="b"/>
                <a:pathLst>
                  <a:path w="255904" h="145414">
                    <a:moveTo>
                      <a:pt x="0" y="72500"/>
                    </a:moveTo>
                    <a:lnTo>
                      <a:pt x="10039" y="44279"/>
                    </a:lnTo>
                    <a:lnTo>
                      <a:pt x="37416" y="21234"/>
                    </a:lnTo>
                    <a:lnTo>
                      <a:pt x="78022" y="5697"/>
                    </a:lnTo>
                    <a:lnTo>
                      <a:pt x="127747" y="0"/>
                    </a:lnTo>
                    <a:lnTo>
                      <a:pt x="177472" y="5697"/>
                    </a:lnTo>
                    <a:lnTo>
                      <a:pt x="218078" y="21234"/>
                    </a:lnTo>
                    <a:lnTo>
                      <a:pt x="245456" y="44279"/>
                    </a:lnTo>
                    <a:lnTo>
                      <a:pt x="255495" y="72500"/>
                    </a:lnTo>
                    <a:lnTo>
                      <a:pt x="245456" y="100720"/>
                    </a:lnTo>
                    <a:lnTo>
                      <a:pt x="218078" y="123765"/>
                    </a:lnTo>
                    <a:lnTo>
                      <a:pt x="177472" y="139303"/>
                    </a:lnTo>
                    <a:lnTo>
                      <a:pt x="127747" y="145000"/>
                    </a:lnTo>
                    <a:lnTo>
                      <a:pt x="78022" y="139303"/>
                    </a:lnTo>
                    <a:lnTo>
                      <a:pt x="37416" y="123765"/>
                    </a:lnTo>
                    <a:lnTo>
                      <a:pt x="10039" y="100720"/>
                    </a:lnTo>
                    <a:lnTo>
                      <a:pt x="0" y="72500"/>
                    </a:lnTo>
                    <a:close/>
                  </a:path>
                </a:pathLst>
              </a:cu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/>
              <a:lstStyle/>
              <a:p>
                <a:endParaRPr sz="1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object 61"/>
              <p:cNvSpPr txBox="1"/>
              <p:nvPr/>
            </p:nvSpPr>
            <p:spPr>
              <a:xfrm>
                <a:off x="7955325" y="4361896"/>
                <a:ext cx="95885" cy="128993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0" tIns="11206" rIns="0" bIns="0" rtlCol="0">
                <a:spAutoFit/>
              </a:bodyPr>
              <a:lstStyle/>
              <a:p>
                <a:pPr marL="11206">
                  <a:spcBef>
                    <a:spcPts val="88"/>
                  </a:spcBef>
                </a:pPr>
                <a:r>
                  <a:rPr sz="1100" b="1" spc="-44" dirty="0">
                    <a:solidFill>
                      <a:schemeClr val="tx1"/>
                    </a:solidFill>
                    <a:latin typeface="Calibri Light"/>
                    <a:cs typeface="Calibri Light"/>
                  </a:rPr>
                  <a:t>F</a:t>
                </a:r>
                <a:endParaRPr sz="1100" b="1" dirty="0">
                  <a:solidFill>
                    <a:schemeClr val="tx1"/>
                  </a:solidFill>
                  <a:latin typeface="Calibri Light"/>
                  <a:cs typeface="Calibri Light"/>
                </a:endParaRPr>
              </a:p>
            </p:txBody>
          </p:sp>
        </p:grpSp>
        <p:sp>
          <p:nvSpPr>
            <p:cNvPr id="67" name="object 61">
              <a:extLst>
                <a:ext uri="{FF2B5EF4-FFF2-40B4-BE49-F238E27FC236}">
                  <a16:creationId xmlns:a16="http://schemas.microsoft.com/office/drawing/2014/main" id="{0B7A3391-EE4D-19B7-35F8-13F10F997F14}"/>
                </a:ext>
              </a:extLst>
            </p:cNvPr>
            <p:cNvSpPr txBox="1"/>
            <p:nvPr/>
          </p:nvSpPr>
          <p:spPr>
            <a:xfrm>
              <a:off x="6973702" y="4171028"/>
              <a:ext cx="95885" cy="139984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200" b="1" spc="-44" dirty="0">
                  <a:solidFill>
                    <a:schemeClr val="tx1"/>
                  </a:solidFill>
                  <a:latin typeface="Calibri Light"/>
                  <a:cs typeface="Calibri Light"/>
                </a:rPr>
                <a:t>F</a:t>
              </a:r>
              <a:endParaRPr sz="1200" b="1" dirty="0">
                <a:solidFill>
                  <a:schemeClr val="tx1"/>
                </a:solidFill>
                <a:latin typeface="Calibri Light"/>
                <a:cs typeface="Calibri Light"/>
              </a:endParaRPr>
            </a:p>
          </p:txBody>
        </p:sp>
        <p:pic>
          <p:nvPicPr>
            <p:cNvPr id="69" name="object 17">
              <a:extLst>
                <a:ext uri="{FF2B5EF4-FFF2-40B4-BE49-F238E27FC236}">
                  <a16:creationId xmlns:a16="http://schemas.microsoft.com/office/drawing/2014/main" id="{B1571423-521C-3BB1-A4B4-A818D323E66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5258" y="3512309"/>
              <a:ext cx="213810" cy="84772"/>
            </a:xfrm>
            <a:prstGeom prst="rect">
              <a:avLst/>
            </a:prstGeom>
            <a:ln w="28575"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</p:grpSp>
      <p:sp>
        <p:nvSpPr>
          <p:cNvPr id="2" name="1 Título">
            <a:extLst>
              <a:ext uri="{FF2B5EF4-FFF2-40B4-BE49-F238E27FC236}">
                <a16:creationId xmlns:a16="http://schemas.microsoft.com/office/drawing/2014/main" id="{CA5C54C6-F160-B9D1-997B-98CD62549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b="1" dirty="0">
                <a:latin typeface="Abadi" panose="020B0604020104020204" pitchFamily="34" charset="0"/>
                <a:ea typeface="Verdana" pitchFamily="34" charset="0"/>
                <a:cs typeface="Verdana" pitchFamily="34" charset="0"/>
              </a:rPr>
              <a:t>El proceso de investigación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Problema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investigación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46A0-EED6-112B-6FBF-3ECD110C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71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effectLst/>
                <a:latin typeface="Abadi" panose="020B0604020104020204" pitchFamily="34" charset="0"/>
              </a:rPr>
              <a:t>El </a:t>
            </a:r>
            <a:r>
              <a:rPr lang="en-US" dirty="0" err="1">
                <a:effectLst/>
                <a:latin typeface="Abadi" panose="020B0604020104020204" pitchFamily="34" charset="0"/>
              </a:rPr>
              <a:t>problema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investigación</a:t>
            </a:r>
            <a:r>
              <a:rPr lang="en-US" dirty="0">
                <a:effectLst/>
                <a:latin typeface="Abadi" panose="020B0604020104020204" pitchFamily="34" charset="0"/>
              </a:rPr>
              <a:t> o </a:t>
            </a:r>
            <a:r>
              <a:rPr lang="en-US" dirty="0" err="1">
                <a:effectLst/>
                <a:latin typeface="Abadi" panose="020B0604020104020204" pitchFamily="34" charset="0"/>
              </a:rPr>
              <a:t>problematización</a:t>
            </a:r>
            <a:r>
              <a:rPr lang="en-US" dirty="0">
                <a:effectLst/>
                <a:latin typeface="Abadi" panose="020B0604020104020204" pitchFamily="34" charset="0"/>
              </a:rPr>
              <a:t> es un </a:t>
            </a:r>
            <a:r>
              <a:rPr lang="en-US" dirty="0" err="1">
                <a:effectLst/>
                <a:latin typeface="Abadi" panose="020B0604020104020204" pitchFamily="34" charset="0"/>
              </a:rPr>
              <a:t>texto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articulado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en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el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cual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el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investigador</a:t>
            </a:r>
            <a:r>
              <a:rPr lang="en-US" dirty="0">
                <a:effectLst/>
                <a:latin typeface="Abadi" panose="020B0604020104020204" pitchFamily="34" charset="0"/>
              </a:rPr>
              <a:t>(a) </a:t>
            </a:r>
            <a:r>
              <a:rPr lang="en-US" dirty="0" err="1">
                <a:effectLst/>
                <a:latin typeface="Abadi" panose="020B0604020104020204" pitchFamily="34" charset="0"/>
              </a:rPr>
              <a:t>logra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fundamentar</a:t>
            </a:r>
            <a:r>
              <a:rPr lang="en-US" dirty="0">
                <a:effectLst/>
                <a:latin typeface="Abadi" panose="020B0604020104020204" pitchFamily="34" charset="0"/>
              </a:rPr>
              <a:t> y </a:t>
            </a:r>
            <a:r>
              <a:rPr lang="en-US" dirty="0" err="1">
                <a:effectLst/>
                <a:latin typeface="Abadi" panose="020B0604020104020204" pitchFamily="34" charset="0"/>
              </a:rPr>
              <a:t>justificar</a:t>
            </a:r>
            <a:r>
              <a:rPr lang="en-US" dirty="0">
                <a:effectLst/>
                <a:latin typeface="Abadi" panose="020B0604020104020204" pitchFamily="34" charset="0"/>
              </a:rPr>
              <a:t> la </a:t>
            </a:r>
            <a:r>
              <a:rPr lang="en-US" dirty="0" err="1">
                <a:effectLst/>
                <a:latin typeface="Abadi" panose="020B0604020104020204" pitchFamily="34" charset="0"/>
              </a:rPr>
              <a:t>relevancia</a:t>
            </a:r>
            <a:r>
              <a:rPr lang="en-US" dirty="0">
                <a:effectLst/>
                <a:latin typeface="Abadi" panose="020B0604020104020204" pitchFamily="34" charset="0"/>
              </a:rPr>
              <a:t>/</a:t>
            </a:r>
            <a:r>
              <a:rPr lang="en-US" dirty="0" err="1">
                <a:effectLst/>
                <a:latin typeface="Abadi" panose="020B0604020104020204" pitchFamily="34" charset="0"/>
              </a:rPr>
              <a:t>necesidad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estudiar</a:t>
            </a:r>
            <a:r>
              <a:rPr lang="en-US" dirty="0">
                <a:effectLst/>
                <a:latin typeface="Abadi" panose="020B0604020104020204" pitchFamily="34" charset="0"/>
              </a:rPr>
              <a:t> un </a:t>
            </a:r>
            <a:r>
              <a:rPr lang="en-US" dirty="0" err="1">
                <a:effectLst/>
                <a:latin typeface="Abadi" panose="020B0604020104020204" pitchFamily="34" charset="0"/>
              </a:rPr>
              <a:t>determinado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en</a:t>
            </a:r>
            <a:r>
              <a:rPr lang="en-US" dirty="0">
                <a:effectLst/>
                <a:latin typeface="Abadi" panose="020B0604020104020204" pitchFamily="34" charset="0"/>
              </a:rPr>
              <a:t> un </a:t>
            </a:r>
            <a:r>
              <a:rPr lang="en-US" dirty="0" err="1">
                <a:effectLst/>
                <a:latin typeface="Abadi" panose="020B0604020104020204" pitchFamily="34" charset="0"/>
              </a:rPr>
              <a:t>determinado</a:t>
            </a:r>
            <a:r>
              <a:rPr lang="en-US" dirty="0">
                <a:effectLst/>
                <a:latin typeface="Abadi" panose="020B0604020104020204" pitchFamily="34" charset="0"/>
              </a:rPr>
              <a:t> campo de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investigación</a:t>
            </a:r>
            <a:r>
              <a:rPr lang="en-US" dirty="0">
                <a:effectLst/>
                <a:latin typeface="Abadi" panose="020B0604020104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dirty="0">
                <a:effectLst/>
                <a:latin typeface="Abadi" panose="020B0604020104020204" pitchFamily="34" charset="0"/>
              </a:rPr>
              <a:t>El </a:t>
            </a:r>
            <a:r>
              <a:rPr lang="en-US" dirty="0" err="1">
                <a:effectLst/>
                <a:latin typeface="Abadi" panose="020B0604020104020204" pitchFamily="34" charset="0"/>
              </a:rPr>
              <a:t>problema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investigación</a:t>
            </a:r>
            <a:r>
              <a:rPr lang="en-US" dirty="0">
                <a:effectLst/>
                <a:latin typeface="Abadi" panose="020B0604020104020204" pitchFamily="34" charset="0"/>
              </a:rPr>
              <a:t> es un </a:t>
            </a:r>
            <a:r>
              <a:rPr lang="en-US" dirty="0" err="1">
                <a:effectLst/>
                <a:latin typeface="Abadi" panose="020B0604020104020204" pitchFamily="34" charset="0"/>
              </a:rPr>
              <a:t>argumento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articulado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en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el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cual</a:t>
            </a:r>
            <a:r>
              <a:rPr lang="en-US" dirty="0">
                <a:effectLst/>
                <a:latin typeface="Abadi" panose="020B0604020104020204" pitchFamily="34" charset="0"/>
              </a:rPr>
              <a:t> se </a:t>
            </a:r>
            <a:r>
              <a:rPr lang="en-US" dirty="0" err="1">
                <a:effectLst/>
                <a:latin typeface="Abadi" panose="020B0604020104020204" pitchFamily="34" charset="0"/>
              </a:rPr>
              <a:t>presenta</a:t>
            </a:r>
            <a:r>
              <a:rPr lang="en-US" dirty="0">
                <a:effectLst/>
                <a:latin typeface="Abadi" panose="020B0604020104020204" pitchFamily="34" charset="0"/>
              </a:rPr>
              <a:t> al lector las </a:t>
            </a:r>
            <a:r>
              <a:rPr lang="en-US" dirty="0" err="1">
                <a:effectLst/>
                <a:latin typeface="Abadi" panose="020B0604020104020204" pitchFamily="34" charset="0"/>
              </a:rPr>
              <a:t>definiciones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conceptuales</a:t>
            </a:r>
            <a:r>
              <a:rPr lang="en-US" dirty="0">
                <a:effectLst/>
                <a:latin typeface="Abadi" panose="020B0604020104020204" pitchFamily="34" charset="0"/>
              </a:rPr>
              <a:t> del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estudios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los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antecedentes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teóricos</a:t>
            </a:r>
            <a:r>
              <a:rPr lang="en-US" dirty="0">
                <a:effectLst/>
                <a:latin typeface="Abadi" panose="020B0604020104020204" pitchFamily="34" charset="0"/>
              </a:rPr>
              <a:t> y </a:t>
            </a:r>
            <a:r>
              <a:rPr lang="en-US" dirty="0" err="1">
                <a:effectLst/>
                <a:latin typeface="Abadi" panose="020B0604020104020204" pitchFamily="34" charset="0"/>
              </a:rPr>
              <a:t>empíricos</a:t>
            </a:r>
            <a:r>
              <a:rPr lang="en-US" dirty="0">
                <a:effectLst/>
                <a:latin typeface="Abadi" panose="020B0604020104020204" pitchFamily="34" charset="0"/>
              </a:rPr>
              <a:t> de ese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su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relevancia</a:t>
            </a:r>
            <a:r>
              <a:rPr lang="en-US" dirty="0">
                <a:effectLst/>
                <a:latin typeface="Abadi" panose="020B0604020104020204" pitchFamily="34" charset="0"/>
              </a:rPr>
              <a:t> y </a:t>
            </a:r>
            <a:r>
              <a:rPr lang="en-US" dirty="0" err="1">
                <a:effectLst/>
                <a:latin typeface="Abadi" panose="020B0604020104020204" pitchFamily="34" charset="0"/>
              </a:rPr>
              <a:t>posibles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aportes</a:t>
            </a:r>
            <a:r>
              <a:rPr lang="en-US" dirty="0">
                <a:effectLst/>
                <a:latin typeface="Abadi" panose="020B0604020104020204" pitchFamily="34" charset="0"/>
              </a:rPr>
              <a:t> a la </a:t>
            </a:r>
            <a:r>
              <a:rPr lang="en-US" dirty="0" err="1">
                <a:effectLst/>
                <a:latin typeface="Abadi" panose="020B0604020104020204" pitchFamily="34" charset="0"/>
              </a:rPr>
              <a:t>disciplina</a:t>
            </a:r>
            <a:r>
              <a:rPr lang="en-US" dirty="0">
                <a:effectLst/>
                <a:latin typeface="Abadi" panose="020B0604020104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Todos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los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estudios</a:t>
            </a:r>
            <a:r>
              <a:rPr lang="en-US" dirty="0">
                <a:effectLst/>
                <a:latin typeface="Abadi" panose="020B0604020104020204" pitchFamily="34" charset="0"/>
              </a:rPr>
              <a:t> – </a:t>
            </a:r>
            <a:r>
              <a:rPr lang="en-US" dirty="0" err="1">
                <a:effectLst/>
                <a:latin typeface="Abadi" panose="020B0604020104020204" pitchFamily="34" charset="0"/>
              </a:rPr>
              <a:t>cualitativos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cuantitativos</a:t>
            </a:r>
            <a:r>
              <a:rPr lang="en-US" dirty="0">
                <a:effectLst/>
                <a:latin typeface="Abadi" panose="020B0604020104020204" pitchFamily="34" charset="0"/>
              </a:rPr>
              <a:t> o </a:t>
            </a:r>
            <a:r>
              <a:rPr lang="en-US" dirty="0" err="1">
                <a:effectLst/>
                <a:latin typeface="Abadi" panose="020B0604020104020204" pitchFamily="34" charset="0"/>
              </a:rPr>
              <a:t>teóricos</a:t>
            </a:r>
            <a:r>
              <a:rPr lang="en-US" dirty="0">
                <a:effectLst/>
                <a:latin typeface="Abadi" panose="020B0604020104020204" pitchFamily="34" charset="0"/>
              </a:rPr>
              <a:t> – </a:t>
            </a:r>
            <a:r>
              <a:rPr lang="en-US" dirty="0" err="1">
                <a:effectLst/>
                <a:latin typeface="Abadi" panose="020B0604020104020204" pitchFamily="34" charset="0"/>
              </a:rPr>
              <a:t>comienzan</a:t>
            </a:r>
            <a:r>
              <a:rPr lang="en-US" dirty="0">
                <a:effectLst/>
                <a:latin typeface="Abadi" panose="020B0604020104020204" pitchFamily="34" charset="0"/>
              </a:rPr>
              <a:t> con un </a:t>
            </a:r>
            <a:r>
              <a:rPr lang="en-US" dirty="0" err="1">
                <a:effectLst/>
                <a:latin typeface="Abadi" panose="020B0604020104020204" pitchFamily="34" charset="0"/>
              </a:rPr>
              <a:t>problema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investigación</a:t>
            </a:r>
            <a:r>
              <a:rPr lang="en-US" dirty="0">
                <a:effectLst/>
                <a:latin typeface="Abadi" panose="020B0604020104020204" pitchFamily="34" charset="0"/>
              </a:rPr>
              <a:t>, y es ese </a:t>
            </a:r>
            <a:r>
              <a:rPr lang="en-US" dirty="0" err="1">
                <a:effectLst/>
                <a:latin typeface="Abadi" panose="020B0604020104020204" pitchFamily="34" charset="0"/>
              </a:rPr>
              <a:t>problema</a:t>
            </a:r>
            <a:r>
              <a:rPr lang="en-US" dirty="0">
                <a:effectLst/>
                <a:latin typeface="Abadi" panose="020B0604020104020204" pitchFamily="34" charset="0"/>
              </a:rPr>
              <a:t> al </a:t>
            </a:r>
            <a:r>
              <a:rPr lang="en-US" dirty="0" err="1">
                <a:effectLst/>
                <a:latin typeface="Abadi" panose="020B0604020104020204" pitchFamily="34" charset="0"/>
              </a:rPr>
              <a:t>cual</a:t>
            </a:r>
            <a:r>
              <a:rPr lang="en-US" dirty="0">
                <a:effectLst/>
                <a:latin typeface="Abadi" panose="020B0604020104020204" pitchFamily="34" charset="0"/>
              </a:rPr>
              <a:t> se </a:t>
            </a:r>
            <a:r>
              <a:rPr lang="en-US" dirty="0" err="1">
                <a:effectLst/>
                <a:latin typeface="Abadi" panose="020B0604020104020204" pitchFamily="34" charset="0"/>
              </a:rPr>
              <a:t>dar</a:t>
            </a:r>
            <a:r>
              <a:rPr lang="en-US" dirty="0" err="1">
                <a:latin typeface="Abadi" panose="020B0604020104020204" pitchFamily="34" charset="0"/>
              </a:rPr>
              <a:t>á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respuesta</a:t>
            </a:r>
            <a:r>
              <a:rPr lang="en-US" dirty="0">
                <a:effectLst/>
                <a:latin typeface="Abadi" panose="020B0604020104020204" pitchFamily="34" charset="0"/>
              </a:rPr>
              <a:t> con </a:t>
            </a:r>
            <a:r>
              <a:rPr lang="en-US" dirty="0" err="1">
                <a:effectLst/>
                <a:latin typeface="Abadi" panose="020B0604020104020204" pitchFamily="34" charset="0"/>
              </a:rPr>
              <a:t>el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proceso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investigación</a:t>
            </a:r>
            <a:r>
              <a:rPr lang="en-US" dirty="0">
                <a:effectLst/>
                <a:latin typeface="Abadi" panose="020B0604020104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245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Problema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investigación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46A0-EED6-112B-6FBF-3ECD110C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7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Definición</a:t>
            </a:r>
            <a:r>
              <a:rPr lang="en-US" dirty="0">
                <a:effectLst/>
                <a:latin typeface="Abadi" panose="020B0604020104020204" pitchFamily="34" charset="0"/>
              </a:rPr>
              <a:t> del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r>
              <a:rPr lang="en-US" dirty="0">
                <a:effectLst/>
                <a:latin typeface="Abadi" panose="020B0604020104020204" pitchFamily="34" charset="0"/>
              </a:rPr>
              <a:t> a </a:t>
            </a:r>
            <a:r>
              <a:rPr lang="en-US" dirty="0" err="1">
                <a:effectLst/>
                <a:latin typeface="Abadi" panose="020B0604020104020204" pitchFamily="34" charset="0"/>
              </a:rPr>
              <a:t>estudiar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Caracterásticas</a:t>
            </a:r>
            <a:r>
              <a:rPr lang="en-US" dirty="0">
                <a:effectLst/>
                <a:latin typeface="Abadi" panose="020B0604020104020204" pitchFamily="34" charset="0"/>
              </a:rPr>
              <a:t> y </a:t>
            </a:r>
            <a:r>
              <a:rPr lang="en-US" dirty="0" err="1">
                <a:effectLst/>
                <a:latin typeface="Abadi" panose="020B0604020104020204" pitchFamily="34" charset="0"/>
              </a:rPr>
              <a:t>componentes</a:t>
            </a:r>
            <a:r>
              <a:rPr lang="en-US" dirty="0">
                <a:effectLst/>
                <a:latin typeface="Abadi" panose="020B0604020104020204" pitchFamily="34" charset="0"/>
              </a:rPr>
              <a:t> del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Caracterásticas</a:t>
            </a:r>
            <a:r>
              <a:rPr lang="en-US" dirty="0">
                <a:effectLst/>
                <a:latin typeface="Abadi" panose="020B0604020104020204" pitchFamily="34" charset="0"/>
              </a:rPr>
              <a:t> del </a:t>
            </a:r>
            <a:r>
              <a:rPr lang="en-US" dirty="0" err="1">
                <a:effectLst/>
                <a:latin typeface="Abadi" panose="020B0604020104020204" pitchFamily="34" charset="0"/>
              </a:rPr>
              <a:t>desarrollo</a:t>
            </a:r>
            <a:r>
              <a:rPr lang="en-US" dirty="0">
                <a:effectLst/>
                <a:latin typeface="Abadi" panose="020B0604020104020204" pitchFamily="34" charset="0"/>
              </a:rPr>
              <a:t> del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Qué</a:t>
            </a:r>
            <a:r>
              <a:rPr lang="en-US" dirty="0">
                <a:effectLst/>
                <a:latin typeface="Abadi" panose="020B0604020104020204" pitchFamily="34" charset="0"/>
              </a:rPr>
              <a:t> se sabe y </a:t>
            </a:r>
            <a:r>
              <a:rPr lang="en-US" dirty="0" err="1">
                <a:effectLst/>
                <a:latin typeface="Abadi" panose="020B0604020104020204" pitchFamily="34" charset="0"/>
              </a:rPr>
              <a:t>qué</a:t>
            </a:r>
            <a:r>
              <a:rPr lang="en-US" dirty="0">
                <a:effectLst/>
                <a:latin typeface="Abadi" panose="020B0604020104020204" pitchFamily="34" charset="0"/>
              </a:rPr>
              <a:t> no se sabe </a:t>
            </a:r>
            <a:r>
              <a:rPr lang="en-US" dirty="0" err="1">
                <a:effectLst/>
                <a:latin typeface="Abadi" panose="020B0604020104020204" pitchFamily="34" charset="0"/>
              </a:rPr>
              <a:t>sobre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el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Qué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evidencia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contradictoria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existe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respecto</a:t>
            </a:r>
            <a:r>
              <a:rPr lang="en-US" dirty="0">
                <a:effectLst/>
                <a:latin typeface="Abadi" panose="020B0604020104020204" pitchFamily="34" charset="0"/>
              </a:rPr>
              <a:t> al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effectLst/>
                <a:latin typeface="Abadi" panose="020B0604020104020204" pitchFamily="34" charset="0"/>
              </a:rPr>
              <a:t>Que </a:t>
            </a:r>
            <a:r>
              <a:rPr lang="en-US" dirty="0" err="1">
                <a:effectLst/>
                <a:latin typeface="Abadi" panose="020B0604020104020204" pitchFamily="34" charset="0"/>
              </a:rPr>
              <a:t>estudios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similares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existen</a:t>
            </a:r>
            <a:r>
              <a:rPr lang="en-US" dirty="0">
                <a:effectLst/>
                <a:latin typeface="Abadi" panose="020B0604020104020204" pitchFamily="34" charset="0"/>
              </a:rPr>
              <a:t> (</a:t>
            </a:r>
            <a:r>
              <a:rPr lang="en-US" dirty="0" err="1">
                <a:effectLst/>
                <a:latin typeface="Abadi" panose="020B0604020104020204" pitchFamily="34" charset="0"/>
              </a:rPr>
              <a:t>nacionales</a:t>
            </a:r>
            <a:r>
              <a:rPr lang="en-US" dirty="0">
                <a:effectLst/>
                <a:latin typeface="Abadi" panose="020B0604020104020204" pitchFamily="34" charset="0"/>
              </a:rPr>
              <a:t> e </a:t>
            </a:r>
            <a:r>
              <a:rPr lang="en-US" dirty="0" err="1">
                <a:effectLst/>
                <a:latin typeface="Abadi" panose="020B0604020104020204" pitchFamily="34" charset="0"/>
              </a:rPr>
              <a:t>internacionales</a:t>
            </a:r>
            <a:r>
              <a:rPr lang="en-US" dirty="0">
                <a:effectLst/>
                <a:latin typeface="Abadi" panose="020B0604020104020204" pitchFamily="34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Qué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hace</a:t>
            </a:r>
            <a:r>
              <a:rPr lang="en-US" dirty="0">
                <a:effectLst/>
                <a:latin typeface="Abadi" panose="020B0604020104020204" pitchFamily="34" charset="0"/>
              </a:rPr>
              <a:t> que </a:t>
            </a:r>
            <a:r>
              <a:rPr lang="en-US" dirty="0" err="1">
                <a:effectLst/>
                <a:latin typeface="Abadi" panose="020B0604020104020204" pitchFamily="34" charset="0"/>
              </a:rPr>
              <a:t>esa</a:t>
            </a:r>
            <a:r>
              <a:rPr lang="en-US" dirty="0">
                <a:effectLst/>
                <a:latin typeface="Abadi" panose="020B0604020104020204" pitchFamily="34" charset="0"/>
              </a:rPr>
              <a:t> población </a:t>
            </a:r>
            <a:r>
              <a:rPr lang="en-US" dirty="0" err="1">
                <a:effectLst/>
                <a:latin typeface="Abadi" panose="020B0604020104020204" pitchFamily="34" charset="0"/>
              </a:rPr>
              <a:t>deba</a:t>
            </a:r>
            <a:r>
              <a:rPr lang="en-US" dirty="0">
                <a:effectLst/>
                <a:latin typeface="Abadi" panose="020B0604020104020204" pitchFamily="34" charset="0"/>
              </a:rPr>
              <a:t> de ser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investigada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Cuál</a:t>
            </a:r>
            <a:r>
              <a:rPr lang="en-US" dirty="0">
                <a:effectLst/>
                <a:latin typeface="Abadi" panose="020B0604020104020204" pitchFamily="34" charset="0"/>
              </a:rPr>
              <a:t> es la </a:t>
            </a:r>
            <a:r>
              <a:rPr lang="en-US" dirty="0" err="1">
                <a:effectLst/>
                <a:latin typeface="Abadi" panose="020B0604020104020204" pitchFamily="34" charset="0"/>
              </a:rPr>
              <a:t>relevancia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estudiar</a:t>
            </a:r>
            <a:r>
              <a:rPr lang="en-US" dirty="0">
                <a:effectLst/>
                <a:latin typeface="Abadi" panose="020B0604020104020204" pitchFamily="34" charset="0"/>
              </a:rPr>
              <a:t> ese </a:t>
            </a:r>
            <a:r>
              <a:rPr lang="en-US" dirty="0" err="1">
                <a:effectLst/>
                <a:latin typeface="Abadi" panose="020B0604020104020204" pitchFamily="34" charset="0"/>
              </a:rPr>
              <a:t>fenómeno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en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esa</a:t>
            </a:r>
            <a:r>
              <a:rPr lang="en-US" dirty="0">
                <a:effectLst/>
                <a:latin typeface="Abadi" panose="020B0604020104020204" pitchFamily="34" charset="0"/>
              </a:rPr>
              <a:t> población (</a:t>
            </a:r>
            <a:r>
              <a:rPr lang="en-US" dirty="0" err="1">
                <a:effectLst/>
                <a:latin typeface="Abadi" panose="020B0604020104020204" pitchFamily="34" charset="0"/>
              </a:rPr>
              <a:t>teórica</a:t>
            </a:r>
            <a:r>
              <a:rPr lang="en-US" dirty="0">
                <a:effectLst/>
                <a:latin typeface="Abadi" panose="020B0604020104020204" pitchFamily="34" charset="0"/>
              </a:rPr>
              <a:t>, social y </a:t>
            </a:r>
            <a:r>
              <a:rPr lang="en-US" dirty="0" err="1">
                <a:effectLst/>
                <a:latin typeface="Abadi" panose="020B0604020104020204" pitchFamily="34" charset="0"/>
              </a:rPr>
              <a:t>práctica</a:t>
            </a:r>
            <a:r>
              <a:rPr lang="en-US" dirty="0">
                <a:effectLst/>
                <a:latin typeface="Abadi" panose="020B0604020104020204" pitchFamily="34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Qué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contribuciones</a:t>
            </a:r>
            <a:r>
              <a:rPr lang="en-US" dirty="0">
                <a:effectLst/>
                <a:latin typeface="Abadi" panose="020B0604020104020204" pitchFamily="34" charset="0"/>
              </a:rPr>
              <a:t> se </a:t>
            </a:r>
            <a:r>
              <a:rPr lang="en-US" dirty="0" err="1">
                <a:effectLst/>
                <a:latin typeface="Abadi" panose="020B0604020104020204" pitchFamily="34" charset="0"/>
              </a:rPr>
              <a:t>desprenden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los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posibles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resultados</a:t>
            </a:r>
            <a:r>
              <a:rPr lang="en-US" dirty="0">
                <a:effectLst/>
                <a:latin typeface="Abadi" panose="020B0604020104020204" pitchFamily="34" charset="0"/>
              </a:rPr>
              <a:t> del </a:t>
            </a:r>
            <a:r>
              <a:rPr lang="en-US" dirty="0" err="1">
                <a:effectLst/>
                <a:latin typeface="Abadi" panose="020B0604020104020204" pitchFamily="34" charset="0"/>
              </a:rPr>
              <a:t>estudio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Pregunta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investigación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>
              <a:lnSpc>
                <a:spcPct val="120000"/>
              </a:lnSpc>
            </a:pPr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65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Pregunta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investigación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46A0-EED6-112B-6FBF-3ECD110C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71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Abadi" panose="020B0604020104020204" pitchFamily="34" charset="0"/>
              </a:rPr>
              <a:t>L</a:t>
            </a:r>
            <a:r>
              <a:rPr lang="en-US" dirty="0">
                <a:effectLst/>
                <a:latin typeface="Abadi" panose="020B0604020104020204" pitchFamily="34" charset="0"/>
              </a:rPr>
              <a:t>a </a:t>
            </a:r>
            <a:r>
              <a:rPr lang="en-US" dirty="0" err="1">
                <a:effectLst/>
                <a:latin typeface="Abadi" panose="020B0604020104020204" pitchFamily="34" charset="0"/>
              </a:rPr>
              <a:t>pregunta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investigación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tiene</a:t>
            </a:r>
            <a:r>
              <a:rPr lang="en-US" dirty="0">
                <a:effectLst/>
                <a:latin typeface="Abadi" panose="020B0604020104020204" pitchFamily="34" charset="0"/>
              </a:rPr>
              <a:t> que ser </a:t>
            </a:r>
            <a:r>
              <a:rPr lang="en-US" dirty="0" err="1">
                <a:effectLst/>
                <a:latin typeface="Abadi" panose="020B0604020104020204" pitchFamily="34" charset="0"/>
              </a:rPr>
              <a:t>clara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concisa</a:t>
            </a:r>
            <a:r>
              <a:rPr lang="en-US" dirty="0">
                <a:effectLst/>
                <a:latin typeface="Abadi" panose="020B0604020104020204" pitchFamily="34" charset="0"/>
              </a:rPr>
              <a:t> y </a:t>
            </a:r>
            <a:r>
              <a:rPr lang="en-US" dirty="0" err="1">
                <a:effectLst/>
                <a:latin typeface="Abadi" panose="020B0604020104020204" pitchFamily="34" charset="0"/>
              </a:rPr>
              <a:t>precisa</a:t>
            </a:r>
            <a:r>
              <a:rPr lang="en-US" dirty="0">
                <a:effectLst/>
                <a:latin typeface="Abadi" panose="020B0604020104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Debe</a:t>
            </a:r>
            <a:r>
              <a:rPr lang="en-US" dirty="0">
                <a:effectLst/>
                <a:latin typeface="Abadi" panose="020B0604020104020204" pitchFamily="34" charset="0"/>
              </a:rPr>
              <a:t> ser susceptible de ser </a:t>
            </a:r>
            <a:r>
              <a:rPr lang="en-US" dirty="0" err="1">
                <a:effectLst/>
                <a:latin typeface="Abadi" panose="020B0604020104020204" pitchFamily="34" charset="0"/>
              </a:rPr>
              <a:t>respondida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mediante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evidencia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emp</a:t>
            </a:r>
            <a:r>
              <a:rPr lang="en-US" dirty="0" err="1">
                <a:latin typeface="Abadi" panose="020B0604020104020204" pitchFamily="34" charset="0"/>
              </a:rPr>
              <a:t>í</a:t>
            </a:r>
            <a:r>
              <a:rPr lang="en-US" dirty="0" err="1">
                <a:effectLst/>
                <a:latin typeface="Abadi" panose="020B0604020104020204" pitchFamily="34" charset="0"/>
              </a:rPr>
              <a:t>rica</a:t>
            </a:r>
            <a:r>
              <a:rPr lang="en-US" dirty="0">
                <a:effectLst/>
                <a:latin typeface="Abadi" panose="020B0604020104020204" pitchFamily="34" charset="0"/>
              </a:rPr>
              <a:t> (</a:t>
            </a:r>
            <a:r>
              <a:rPr lang="en-US" dirty="0" err="1">
                <a:effectLst/>
                <a:latin typeface="Abadi" panose="020B0604020104020204" pitchFamily="34" charset="0"/>
              </a:rPr>
              <a:t>cualitativa</a:t>
            </a:r>
            <a:r>
              <a:rPr lang="en-US" dirty="0">
                <a:effectLst/>
                <a:latin typeface="Abadi" panose="020B0604020104020204" pitchFamily="34" charset="0"/>
              </a:rPr>
              <a:t> o </a:t>
            </a:r>
            <a:r>
              <a:rPr lang="en-US" dirty="0" err="1">
                <a:effectLst/>
                <a:latin typeface="Abadi" panose="020B0604020104020204" pitchFamily="34" charset="0"/>
              </a:rPr>
              <a:t>cuantitativa</a:t>
            </a:r>
            <a:r>
              <a:rPr lang="en-US" dirty="0">
                <a:effectLst/>
                <a:latin typeface="Abadi" panose="020B0604020104020204" pitchFamily="34" charset="0"/>
              </a:rPr>
              <a:t>).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latin typeface="Abadi" panose="020B0604020104020204" pitchFamily="34" charset="0"/>
              </a:rPr>
              <a:t>D</a:t>
            </a:r>
            <a:r>
              <a:rPr lang="en-US" dirty="0" err="1">
                <a:effectLst/>
                <a:latin typeface="Abadi" panose="020B0604020104020204" pitchFamily="34" charset="0"/>
              </a:rPr>
              <a:t>ebe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estar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en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directa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relación</a:t>
            </a:r>
            <a:r>
              <a:rPr lang="en-US" dirty="0">
                <a:effectLst/>
                <a:latin typeface="Abadi" panose="020B0604020104020204" pitchFamily="34" charset="0"/>
              </a:rPr>
              <a:t> con </a:t>
            </a:r>
            <a:r>
              <a:rPr lang="en-US" dirty="0" err="1">
                <a:effectLst/>
                <a:latin typeface="Abadi" panose="020B0604020104020204" pitchFamily="34" charset="0"/>
              </a:rPr>
              <a:t>el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objetivo</a:t>
            </a:r>
            <a:r>
              <a:rPr lang="en-US" dirty="0">
                <a:effectLst/>
                <a:latin typeface="Abadi" panose="020B0604020104020204" pitchFamily="34" charset="0"/>
              </a:rPr>
              <a:t> general.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effectLst/>
                <a:latin typeface="Abadi" panose="020B0604020104020204" pitchFamily="34" charset="0"/>
              </a:rPr>
              <a:t>Debe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englobar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todo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el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problema</a:t>
            </a:r>
            <a:r>
              <a:rPr lang="en-US" dirty="0">
                <a:effectLst/>
                <a:latin typeface="Abadi" panose="020B0604020104020204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dirty="0">
              <a:effectLst/>
              <a:latin typeface="Abadi" panose="020B0604020104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effectLst/>
                <a:latin typeface="Abadi" panose="020B0604020104020204" pitchFamily="34" charset="0"/>
              </a:rPr>
              <a:t>Preguntas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en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estudios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cualitativos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latin typeface="Abadi" panose="020B0604020104020204" pitchFamily="34" charset="0"/>
              </a:rPr>
              <a:t>Preguntas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estudios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cuantitaivos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 err="1">
                <a:effectLst/>
                <a:latin typeface="Abadi" panose="020B0604020104020204" pitchFamily="34" charset="0"/>
              </a:rPr>
              <a:t>Preguntas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en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e</a:t>
            </a:r>
            <a:r>
              <a:rPr lang="en-US" dirty="0" err="1">
                <a:latin typeface="Abadi" panose="020B0604020104020204" pitchFamily="34" charset="0"/>
              </a:rPr>
              <a:t>studios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mixtos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759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Objetivos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investigación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46A0-EED6-112B-6FBF-3ECD110C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71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Abadi" panose="020B0604020104020204" pitchFamily="34" charset="0"/>
              </a:rPr>
              <a:t>Se </a:t>
            </a:r>
            <a:r>
              <a:rPr lang="en-US" dirty="0" err="1">
                <a:latin typeface="Abadi" panose="020B0604020104020204" pitchFamily="34" charset="0"/>
              </a:rPr>
              <a:t>distinguen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objetivos</a:t>
            </a:r>
            <a:r>
              <a:rPr lang="en-US" dirty="0">
                <a:latin typeface="Abadi" panose="020B0604020104020204" pitchFamily="34" charset="0"/>
              </a:rPr>
              <a:t> generals y </a:t>
            </a:r>
            <a:r>
              <a:rPr lang="en-US" dirty="0" err="1">
                <a:latin typeface="Abadi" panose="020B0604020104020204" pitchFamily="34" charset="0"/>
              </a:rPr>
              <a:t>específicos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effectLst/>
                <a:latin typeface="Abadi" panose="020B0604020104020204" pitchFamily="34" charset="0"/>
              </a:rPr>
              <a:t>Objetivos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deben</a:t>
            </a:r>
            <a:r>
              <a:rPr lang="en-US" dirty="0">
                <a:effectLst/>
                <a:latin typeface="Abadi" panose="020B0604020104020204" pitchFamily="34" charset="0"/>
              </a:rPr>
              <a:t> ser claros y </a:t>
            </a:r>
            <a:r>
              <a:rPr lang="en-US" dirty="0" err="1">
                <a:effectLst/>
                <a:latin typeface="Abadi" panose="020B0604020104020204" pitchFamily="34" charset="0"/>
              </a:rPr>
              <a:t>delimitados</a:t>
            </a:r>
            <a:r>
              <a:rPr lang="en-US" dirty="0">
                <a:effectLst/>
                <a:latin typeface="Abadi" panose="020B0604020104020204" pitchFamily="34" charset="0"/>
              </a:rPr>
              <a:t>. </a:t>
            </a:r>
          </a:p>
          <a:p>
            <a:r>
              <a:rPr lang="en-US" dirty="0" err="1">
                <a:effectLst/>
                <a:latin typeface="Abadi" panose="020B0604020104020204" pitchFamily="34" charset="0"/>
              </a:rPr>
              <a:t>Objetivos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deben</a:t>
            </a:r>
            <a:r>
              <a:rPr lang="en-US" dirty="0">
                <a:effectLst/>
                <a:latin typeface="Abadi" panose="020B0604020104020204" pitchFamily="34" charset="0"/>
              </a:rPr>
              <a:t> ser </a:t>
            </a:r>
            <a:r>
              <a:rPr lang="en-US" dirty="0" err="1">
                <a:effectLst/>
                <a:latin typeface="Abadi" panose="020B0604020104020204" pitchFamily="34" charset="0"/>
              </a:rPr>
              <a:t>realistas</a:t>
            </a:r>
            <a:r>
              <a:rPr lang="en-US" dirty="0">
                <a:effectLst/>
                <a:latin typeface="Abadi" panose="020B0604020104020204" pitchFamily="34" charset="0"/>
              </a:rPr>
              <a:t>: ¡son </a:t>
            </a:r>
            <a:r>
              <a:rPr lang="en-US" dirty="0" err="1">
                <a:effectLst/>
                <a:latin typeface="Abadi" panose="020B0604020104020204" pitchFamily="34" charset="0"/>
              </a:rPr>
              <a:t>formulados</a:t>
            </a:r>
            <a:r>
              <a:rPr lang="en-US" dirty="0">
                <a:effectLst/>
                <a:latin typeface="Abadi" panose="020B0604020104020204" pitchFamily="34" charset="0"/>
              </a:rPr>
              <a:t> para ser </a:t>
            </a:r>
            <a:r>
              <a:rPr lang="en-US" dirty="0" err="1">
                <a:effectLst/>
                <a:latin typeface="Abadi" panose="020B0604020104020204" pitchFamily="34" charset="0"/>
              </a:rPr>
              <a:t>cumplidos</a:t>
            </a:r>
            <a:r>
              <a:rPr lang="en-US" dirty="0">
                <a:effectLst/>
                <a:latin typeface="Abadi" panose="020B0604020104020204" pitchFamily="34" charset="0"/>
              </a:rPr>
              <a:t>! </a:t>
            </a: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dirty="0" err="1">
                <a:effectLst/>
                <a:latin typeface="Abadi" panose="020B0604020104020204" pitchFamily="34" charset="0"/>
              </a:rPr>
              <a:t>Verbos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más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usados</a:t>
            </a:r>
            <a:r>
              <a:rPr lang="en-US" dirty="0">
                <a:effectLst/>
                <a:latin typeface="Abadi" panose="020B0604020104020204" pitchFamily="34" charset="0"/>
              </a:rPr>
              <a:t>: </a:t>
            </a:r>
          </a:p>
          <a:p>
            <a:r>
              <a:rPr lang="en-US" dirty="0" err="1">
                <a:effectLst/>
                <a:latin typeface="Abadi" panose="020B0604020104020204" pitchFamily="34" charset="0"/>
              </a:rPr>
              <a:t>Describir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examinar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evaluar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explicar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identificar</a:t>
            </a:r>
            <a:r>
              <a:rPr lang="en-US" dirty="0">
                <a:latin typeface="Abadi" panose="020B0604020104020204" pitchFamily="34" charset="0"/>
              </a:rPr>
              <a:t>…</a:t>
            </a:r>
            <a:endParaRPr lang="en-US" dirty="0">
              <a:effectLst/>
              <a:latin typeface="Abadi" panose="020B0604020104020204" pitchFamily="34" charset="0"/>
            </a:endParaRPr>
          </a:p>
          <a:p>
            <a:r>
              <a:rPr lang="en-US" dirty="0">
                <a:effectLst/>
                <a:latin typeface="Abadi" panose="020B0604020104020204" pitchFamily="34" charset="0"/>
              </a:rPr>
              <a:t>La </a:t>
            </a:r>
            <a:r>
              <a:rPr lang="en-US" dirty="0" err="1">
                <a:effectLst/>
                <a:latin typeface="Abadi" panose="020B0604020104020204" pitchFamily="34" charset="0"/>
              </a:rPr>
              <a:t>formulación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inicial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los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objetivos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probablemente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cambie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después</a:t>
            </a:r>
            <a:r>
              <a:rPr lang="en-US" dirty="0">
                <a:effectLst/>
                <a:latin typeface="Abadi" panose="020B0604020104020204" pitchFamily="34" charset="0"/>
              </a:rPr>
              <a:t> de la </a:t>
            </a:r>
            <a:r>
              <a:rPr lang="en-US" dirty="0" err="1">
                <a:effectLst/>
                <a:latin typeface="Abadi" panose="020B0604020104020204" pitchFamily="34" charset="0"/>
              </a:rPr>
              <a:t>revisión</a:t>
            </a:r>
            <a:r>
              <a:rPr lang="en-US" dirty="0">
                <a:effectLst/>
                <a:latin typeface="Abadi" panose="020B0604020104020204" pitchFamily="34" charset="0"/>
              </a:rPr>
              <a:t> de </a:t>
            </a:r>
            <a:r>
              <a:rPr lang="en-US" dirty="0" err="1">
                <a:effectLst/>
                <a:latin typeface="Abadi" panose="020B0604020104020204" pitchFamily="34" charset="0"/>
              </a:rPr>
              <a:t>literatura</a:t>
            </a:r>
            <a:r>
              <a:rPr lang="en-US" dirty="0">
                <a:effectLst/>
                <a:latin typeface="Abadi" panose="020B0604020104020204" pitchFamily="34" charset="0"/>
              </a:rPr>
              <a:t>, </a:t>
            </a:r>
            <a:r>
              <a:rPr lang="en-US" dirty="0" err="1">
                <a:effectLst/>
                <a:latin typeface="Abadi" panose="020B0604020104020204" pitchFamily="34" charset="0"/>
              </a:rPr>
              <a:t>construcción</a:t>
            </a:r>
            <a:r>
              <a:rPr lang="en-US" dirty="0">
                <a:effectLst/>
                <a:latin typeface="Abadi" panose="020B0604020104020204" pitchFamily="34" charset="0"/>
              </a:rPr>
              <a:t> del </a:t>
            </a:r>
            <a:r>
              <a:rPr lang="en-US" dirty="0" err="1">
                <a:effectLst/>
                <a:latin typeface="Abadi" panose="020B0604020104020204" pitchFamily="34" charset="0"/>
              </a:rPr>
              <a:t>marco</a:t>
            </a:r>
            <a:r>
              <a:rPr lang="en-US" dirty="0">
                <a:effectLst/>
                <a:latin typeface="Abadi" panose="020B0604020104020204" pitchFamily="34" charset="0"/>
              </a:rPr>
              <a:t> </a:t>
            </a:r>
            <a:r>
              <a:rPr lang="en-US" dirty="0" err="1">
                <a:effectLst/>
                <a:latin typeface="Abadi" panose="020B0604020104020204" pitchFamily="34" charset="0"/>
              </a:rPr>
              <a:t>teórico</a:t>
            </a:r>
            <a:r>
              <a:rPr lang="en-US" dirty="0">
                <a:effectLst/>
                <a:latin typeface="Abadi" panose="020B0604020104020204" pitchFamily="34" charset="0"/>
              </a:rPr>
              <a:t> y </a:t>
            </a:r>
            <a:r>
              <a:rPr lang="en-US" dirty="0" err="1">
                <a:effectLst/>
                <a:latin typeface="Abadi" panose="020B0604020104020204" pitchFamily="34" charset="0"/>
              </a:rPr>
              <a:t>definición</a:t>
            </a:r>
            <a:r>
              <a:rPr lang="en-US" dirty="0">
                <a:effectLst/>
                <a:latin typeface="Abadi" panose="020B0604020104020204" pitchFamily="34" charset="0"/>
              </a:rPr>
              <a:t> de las variables y la </a:t>
            </a:r>
            <a:r>
              <a:rPr lang="en-US" dirty="0" err="1">
                <a:effectLst/>
                <a:latin typeface="Abadi" panose="020B0604020104020204" pitchFamily="34" charset="0"/>
              </a:rPr>
              <a:t>metodología</a:t>
            </a:r>
            <a:r>
              <a:rPr lang="en-US" dirty="0">
                <a:effectLst/>
                <a:latin typeface="Abadi" panose="020B0604020104020204" pitchFamily="34" charset="0"/>
              </a:rPr>
              <a:t> </a:t>
            </a: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806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Objetivos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investigación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46A0-EED6-112B-6FBF-3ECD110C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7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badi" panose="020B0604020104020204" pitchFamily="34" charset="0"/>
              </a:rPr>
              <a:t>¿</a:t>
            </a:r>
            <a:r>
              <a:rPr lang="en-US" b="1" dirty="0" err="1">
                <a:latin typeface="Abadi" panose="020B0604020104020204" pitchFamily="34" charset="0"/>
              </a:rPr>
              <a:t>Existe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una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relación</a:t>
            </a:r>
            <a:r>
              <a:rPr lang="en-US" b="1" dirty="0">
                <a:latin typeface="Abadi" panose="020B0604020104020204" pitchFamily="34" charset="0"/>
              </a:rPr>
              <a:t> entre la </a:t>
            </a:r>
            <a:r>
              <a:rPr lang="en-US" b="1" dirty="0" err="1">
                <a:latin typeface="Abadi" panose="020B0604020104020204" pitchFamily="34" charset="0"/>
              </a:rPr>
              <a:t>autoestima</a:t>
            </a:r>
            <a:r>
              <a:rPr lang="en-US" b="1" dirty="0">
                <a:latin typeface="Abadi" panose="020B0604020104020204" pitchFamily="34" charset="0"/>
              </a:rPr>
              <a:t> y </a:t>
            </a:r>
            <a:r>
              <a:rPr lang="en-US" b="1" dirty="0" err="1">
                <a:latin typeface="Abadi" panose="020B0604020104020204" pitchFamily="34" charset="0"/>
              </a:rPr>
              <a:t>los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niveles</a:t>
            </a:r>
            <a:r>
              <a:rPr lang="en-US" b="1" dirty="0">
                <a:latin typeface="Abadi" panose="020B0604020104020204" pitchFamily="34" charset="0"/>
              </a:rPr>
              <a:t> de </a:t>
            </a:r>
            <a:r>
              <a:rPr lang="en-US" b="1" dirty="0" err="1">
                <a:latin typeface="Abadi" panose="020B0604020104020204" pitchFamily="34" charset="0"/>
              </a:rPr>
              <a:t>ansiedad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en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estudiantes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universitarios</a:t>
            </a:r>
            <a:r>
              <a:rPr lang="en-US" b="1" dirty="0">
                <a:latin typeface="Abadi" panose="020B0604020104020204" pitchFamily="34" charset="0"/>
              </a:rPr>
              <a:t>?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badi" panose="020B0604020104020204" pitchFamily="34" charset="0"/>
              </a:rPr>
              <a:t>Objetivo</a:t>
            </a:r>
            <a:r>
              <a:rPr lang="en-US" b="1" dirty="0">
                <a:latin typeface="Abadi" panose="020B0604020104020204" pitchFamily="34" charset="0"/>
              </a:rPr>
              <a:t> general: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Analizar</a:t>
            </a:r>
            <a:r>
              <a:rPr lang="en-US" dirty="0">
                <a:latin typeface="Abadi" panose="020B0604020104020204" pitchFamily="34" charset="0"/>
              </a:rPr>
              <a:t> la </a:t>
            </a:r>
            <a:r>
              <a:rPr lang="en-US" dirty="0" err="1">
                <a:latin typeface="Abadi" panose="020B0604020104020204" pitchFamily="34" charset="0"/>
              </a:rPr>
              <a:t>relación</a:t>
            </a:r>
            <a:r>
              <a:rPr lang="en-US" dirty="0">
                <a:latin typeface="Abadi" panose="020B0604020104020204" pitchFamily="34" charset="0"/>
              </a:rPr>
              <a:t> entre </a:t>
            </a:r>
            <a:r>
              <a:rPr lang="en-US" dirty="0" err="1">
                <a:latin typeface="Abadi" panose="020B0604020104020204" pitchFamily="34" charset="0"/>
              </a:rPr>
              <a:t>los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niveles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autoestima</a:t>
            </a:r>
            <a:r>
              <a:rPr lang="en-US" dirty="0">
                <a:latin typeface="Abadi" panose="020B0604020104020204" pitchFamily="34" charset="0"/>
              </a:rPr>
              <a:t> y </a:t>
            </a:r>
            <a:r>
              <a:rPr lang="en-US" dirty="0" err="1">
                <a:latin typeface="Abadi" panose="020B0604020104020204" pitchFamily="34" charset="0"/>
              </a:rPr>
              <a:t>ansiedad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estudiantes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universitarios</a:t>
            </a:r>
            <a:r>
              <a:rPr lang="en-US" dirty="0">
                <a:latin typeface="Abadi" panose="020B0604020104020204" pitchFamily="34" charset="0"/>
              </a:rPr>
              <a:t>.</a:t>
            </a:r>
          </a:p>
          <a:p>
            <a:pPr marL="0" indent="0">
              <a:buNone/>
            </a:pPr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badi" panose="020B0604020104020204" pitchFamily="34" charset="0"/>
              </a:rPr>
              <a:t>Objetivo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específico</a:t>
            </a:r>
            <a:r>
              <a:rPr lang="en-US" b="1" dirty="0">
                <a:latin typeface="Abadi" panose="020B0604020104020204" pitchFamily="34" charset="0"/>
              </a:rPr>
              <a:t>: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Determinar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si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los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niveles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autoestima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predicen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significativamente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los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niveles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ansiedad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la </a:t>
            </a:r>
            <a:r>
              <a:rPr lang="en-US" dirty="0" err="1">
                <a:latin typeface="Abadi" panose="020B0604020104020204" pitchFamily="34" charset="0"/>
              </a:rPr>
              <a:t>muestra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estudiada</a:t>
            </a:r>
            <a:r>
              <a:rPr lang="en-US" dirty="0">
                <a:latin typeface="Abadi" panose="020B060402010402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995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Objetivos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investigación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46A0-EED6-112B-6FBF-3ECD110C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7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badi" panose="020B0604020104020204" pitchFamily="34" charset="0"/>
              </a:rPr>
              <a:t>¿El </a:t>
            </a:r>
            <a:r>
              <a:rPr lang="en-US" b="1" dirty="0" err="1">
                <a:latin typeface="Abadi" panose="020B0604020104020204" pitchFamily="34" charset="0"/>
              </a:rPr>
              <a:t>entrenamiento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en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técnicas</a:t>
            </a:r>
            <a:r>
              <a:rPr lang="en-US" b="1" dirty="0">
                <a:latin typeface="Abadi" panose="020B0604020104020204" pitchFamily="34" charset="0"/>
              </a:rPr>
              <a:t> de </a:t>
            </a:r>
            <a:r>
              <a:rPr lang="en-US" b="1" dirty="0" err="1">
                <a:latin typeface="Abadi" panose="020B0604020104020204" pitchFamily="34" charset="0"/>
              </a:rPr>
              <a:t>respiración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consciente</a:t>
            </a:r>
            <a:r>
              <a:rPr lang="en-US" b="1" dirty="0">
                <a:latin typeface="Abadi" panose="020B0604020104020204" pitchFamily="34" charset="0"/>
              </a:rPr>
              <a:t> reduce </a:t>
            </a:r>
            <a:r>
              <a:rPr lang="en-US" b="1" dirty="0" err="1">
                <a:latin typeface="Abadi" panose="020B0604020104020204" pitchFamily="34" charset="0"/>
              </a:rPr>
              <a:t>significativamente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los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niveles</a:t>
            </a:r>
            <a:r>
              <a:rPr lang="en-US" b="1" dirty="0">
                <a:latin typeface="Abadi" panose="020B0604020104020204" pitchFamily="34" charset="0"/>
              </a:rPr>
              <a:t> de </a:t>
            </a:r>
            <a:r>
              <a:rPr lang="en-US" b="1" dirty="0" err="1">
                <a:latin typeface="Abadi" panose="020B0604020104020204" pitchFamily="34" charset="0"/>
              </a:rPr>
              <a:t>estrés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en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trabajadores</a:t>
            </a:r>
            <a:r>
              <a:rPr lang="en-US" b="1" dirty="0">
                <a:latin typeface="Abadi" panose="020B0604020104020204" pitchFamily="34" charset="0"/>
              </a:rPr>
              <a:t> de la </a:t>
            </a:r>
            <a:r>
              <a:rPr lang="en-US" b="1" dirty="0" err="1">
                <a:latin typeface="Abadi" panose="020B0604020104020204" pitchFamily="34" charset="0"/>
              </a:rPr>
              <a:t>salud</a:t>
            </a:r>
            <a:r>
              <a:rPr lang="en-US" b="1" dirty="0">
                <a:latin typeface="Abadi" panose="020B0604020104020204" pitchFamily="34" charset="0"/>
              </a:rPr>
              <a:t>?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badi" panose="020B0604020104020204" pitchFamily="34" charset="0"/>
              </a:rPr>
              <a:t>Objetivo</a:t>
            </a:r>
            <a:r>
              <a:rPr lang="en-US" b="1" dirty="0">
                <a:latin typeface="Abadi" panose="020B0604020104020204" pitchFamily="34" charset="0"/>
              </a:rPr>
              <a:t> general: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Evaluar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el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efecto</a:t>
            </a:r>
            <a:r>
              <a:rPr lang="en-US" dirty="0">
                <a:latin typeface="Abadi" panose="020B0604020104020204" pitchFamily="34" charset="0"/>
              </a:rPr>
              <a:t> de un </a:t>
            </a:r>
            <a:r>
              <a:rPr lang="en-US" dirty="0" err="1">
                <a:latin typeface="Abadi" panose="020B0604020104020204" pitchFamily="34" charset="0"/>
              </a:rPr>
              <a:t>programa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entrenamiento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respiración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consciente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sobre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los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niveles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estrés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trabajadores</a:t>
            </a:r>
            <a:r>
              <a:rPr lang="en-US" dirty="0">
                <a:latin typeface="Abadi" panose="020B0604020104020204" pitchFamily="34" charset="0"/>
              </a:rPr>
              <a:t> del </a:t>
            </a:r>
            <a:r>
              <a:rPr lang="en-US" dirty="0" err="1">
                <a:latin typeface="Abadi" panose="020B0604020104020204" pitchFamily="34" charset="0"/>
              </a:rPr>
              <a:t>área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salud</a:t>
            </a:r>
            <a:r>
              <a:rPr lang="en-US" dirty="0">
                <a:latin typeface="Abadi" panose="020B0604020104020204" pitchFamily="34" charset="0"/>
              </a:rPr>
              <a:t>.</a:t>
            </a:r>
          </a:p>
          <a:p>
            <a:pPr marL="0" indent="0">
              <a:buNone/>
            </a:pPr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badi" panose="020B0604020104020204" pitchFamily="34" charset="0"/>
              </a:rPr>
              <a:t>Objetivo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específico</a:t>
            </a:r>
            <a:r>
              <a:rPr lang="en-US" b="1" dirty="0">
                <a:latin typeface="Abadi" panose="020B0604020104020204" pitchFamily="34" charset="0"/>
              </a:rPr>
              <a:t>: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Comparar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los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niveles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estrés</a:t>
            </a:r>
            <a:r>
              <a:rPr lang="en-US" dirty="0">
                <a:latin typeface="Abadi" panose="020B0604020104020204" pitchFamily="34" charset="0"/>
              </a:rPr>
              <a:t> antes y </a:t>
            </a:r>
            <a:r>
              <a:rPr lang="en-US" dirty="0" err="1">
                <a:latin typeface="Abadi" panose="020B0604020104020204" pitchFamily="34" charset="0"/>
              </a:rPr>
              <a:t>después</a:t>
            </a:r>
            <a:r>
              <a:rPr lang="en-US" dirty="0">
                <a:latin typeface="Abadi" panose="020B0604020104020204" pitchFamily="34" charset="0"/>
              </a:rPr>
              <a:t> de la </a:t>
            </a:r>
            <a:r>
              <a:rPr lang="en-US" dirty="0" err="1">
                <a:latin typeface="Abadi" panose="020B0604020104020204" pitchFamily="34" charset="0"/>
              </a:rPr>
              <a:t>intervención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un </a:t>
            </a:r>
            <a:r>
              <a:rPr lang="en-US" dirty="0" err="1">
                <a:latin typeface="Abadi" panose="020B0604020104020204" pitchFamily="34" charset="0"/>
              </a:rPr>
              <a:t>grupo</a:t>
            </a:r>
            <a:r>
              <a:rPr lang="en-US" dirty="0">
                <a:latin typeface="Abadi" panose="020B0604020104020204" pitchFamily="34" charset="0"/>
              </a:rPr>
              <a:t> experimental y un </a:t>
            </a:r>
            <a:r>
              <a:rPr lang="en-US" dirty="0" err="1">
                <a:latin typeface="Abadi" panose="020B0604020104020204" pitchFamily="34" charset="0"/>
              </a:rPr>
              <a:t>grupo</a:t>
            </a:r>
            <a:r>
              <a:rPr lang="en-US" dirty="0">
                <a:latin typeface="Abadi" panose="020B0604020104020204" pitchFamily="34" charset="0"/>
              </a:rPr>
              <a:t> control.</a:t>
            </a:r>
          </a:p>
          <a:p>
            <a:pPr marL="0" indent="0">
              <a:buNone/>
            </a:pPr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953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Objetivos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investigación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46A0-EED6-112B-6FBF-3ECD110C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7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badi" panose="020B0604020104020204" pitchFamily="34" charset="0"/>
              </a:rPr>
              <a:t>¿</a:t>
            </a:r>
            <a:r>
              <a:rPr lang="en-US" b="1" dirty="0" err="1">
                <a:latin typeface="Abadi" panose="020B0604020104020204" pitchFamily="34" charset="0"/>
              </a:rPr>
              <a:t>Cuáles</a:t>
            </a:r>
            <a:r>
              <a:rPr lang="en-US" b="1" dirty="0">
                <a:latin typeface="Abadi" panose="020B0604020104020204" pitchFamily="34" charset="0"/>
              </a:rPr>
              <a:t> son las </a:t>
            </a:r>
            <a:r>
              <a:rPr lang="en-US" b="1" dirty="0" err="1">
                <a:latin typeface="Abadi" panose="020B0604020104020204" pitchFamily="34" charset="0"/>
              </a:rPr>
              <a:t>principales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estrategias</a:t>
            </a:r>
            <a:r>
              <a:rPr lang="en-US" b="1" dirty="0">
                <a:latin typeface="Abadi" panose="020B0604020104020204" pitchFamily="34" charset="0"/>
              </a:rPr>
              <a:t> de </a:t>
            </a:r>
            <a:r>
              <a:rPr lang="en-US" b="1" dirty="0" err="1">
                <a:latin typeface="Abadi" panose="020B0604020104020204" pitchFamily="34" charset="0"/>
              </a:rPr>
              <a:t>afrontamiento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utilizadas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por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adolescentes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frente</a:t>
            </a:r>
            <a:r>
              <a:rPr lang="en-US" b="1" dirty="0">
                <a:latin typeface="Abadi" panose="020B0604020104020204" pitchFamily="34" charset="0"/>
              </a:rPr>
              <a:t> al </a:t>
            </a:r>
            <a:r>
              <a:rPr lang="en-US" b="1" dirty="0" err="1">
                <a:latin typeface="Abadi" panose="020B0604020104020204" pitchFamily="34" charset="0"/>
              </a:rPr>
              <a:t>estrés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académico</a:t>
            </a:r>
            <a:r>
              <a:rPr lang="en-US" b="1" dirty="0">
                <a:latin typeface="Abadi" panose="020B0604020104020204" pitchFamily="34" charset="0"/>
              </a:rPr>
              <a:t>?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badi" panose="020B0604020104020204" pitchFamily="34" charset="0"/>
              </a:rPr>
              <a:t>Objetivo</a:t>
            </a:r>
            <a:r>
              <a:rPr lang="en-US" b="1" dirty="0">
                <a:latin typeface="Abadi" panose="020B0604020104020204" pitchFamily="34" charset="0"/>
              </a:rPr>
              <a:t> general: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Describir</a:t>
            </a:r>
            <a:r>
              <a:rPr lang="en-US" dirty="0">
                <a:latin typeface="Abadi" panose="020B0604020104020204" pitchFamily="34" charset="0"/>
              </a:rPr>
              <a:t> las </a:t>
            </a:r>
            <a:r>
              <a:rPr lang="en-US" dirty="0" err="1">
                <a:latin typeface="Abadi" panose="020B0604020104020204" pitchFamily="34" charset="0"/>
              </a:rPr>
              <a:t>estrategias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afrontamiento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frente</a:t>
            </a:r>
            <a:r>
              <a:rPr lang="en-US" dirty="0">
                <a:latin typeface="Abadi" panose="020B0604020104020204" pitchFamily="34" charset="0"/>
              </a:rPr>
              <a:t> al </a:t>
            </a:r>
            <a:r>
              <a:rPr lang="en-US" dirty="0" err="1">
                <a:latin typeface="Abadi" panose="020B0604020104020204" pitchFamily="34" charset="0"/>
              </a:rPr>
              <a:t>estrés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académico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utilizadas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por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adolescentes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educación</a:t>
            </a:r>
            <a:r>
              <a:rPr lang="en-US" dirty="0">
                <a:latin typeface="Abadi" panose="020B0604020104020204" pitchFamily="34" charset="0"/>
              </a:rPr>
              <a:t> media.</a:t>
            </a:r>
          </a:p>
          <a:p>
            <a:pPr marL="0" indent="0">
              <a:buNone/>
            </a:pPr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badi" panose="020B0604020104020204" pitchFamily="34" charset="0"/>
              </a:rPr>
              <a:t>Objetivo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específico</a:t>
            </a:r>
            <a:r>
              <a:rPr lang="en-US" b="1" dirty="0">
                <a:latin typeface="Abadi" panose="020B0604020104020204" pitchFamily="34" charset="0"/>
              </a:rPr>
              <a:t>: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Identificar</a:t>
            </a:r>
            <a:r>
              <a:rPr lang="en-US" dirty="0">
                <a:latin typeface="Abadi" panose="020B0604020104020204" pitchFamily="34" charset="0"/>
              </a:rPr>
              <a:t> las </a:t>
            </a:r>
            <a:r>
              <a:rPr lang="en-US" dirty="0" err="1">
                <a:latin typeface="Abadi" panose="020B0604020104020204" pitchFamily="34" charset="0"/>
              </a:rPr>
              <a:t>estrategias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más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frecuentes</a:t>
            </a:r>
            <a:r>
              <a:rPr lang="en-US" dirty="0">
                <a:latin typeface="Abadi" panose="020B0604020104020204" pitchFamily="34" charset="0"/>
              </a:rPr>
              <a:t> y </a:t>
            </a:r>
            <a:r>
              <a:rPr lang="en-US" dirty="0" err="1">
                <a:latin typeface="Abadi" panose="020B0604020104020204" pitchFamily="34" charset="0"/>
              </a:rPr>
              <a:t>explorar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diferencias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según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género</a:t>
            </a:r>
            <a:r>
              <a:rPr lang="en-US" dirty="0">
                <a:latin typeface="Abadi" panose="020B0604020104020204" pitchFamily="34" charset="0"/>
              </a:rPr>
              <a:t> y </a:t>
            </a:r>
            <a:r>
              <a:rPr lang="en-US" dirty="0" err="1">
                <a:latin typeface="Abadi" panose="020B0604020104020204" pitchFamily="34" charset="0"/>
              </a:rPr>
              <a:t>curso</a:t>
            </a:r>
            <a:r>
              <a:rPr lang="en-US" dirty="0">
                <a:latin typeface="Abadi" panose="020B060402010402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71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Objetivos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investigación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446A0-EED6-112B-6FBF-3ECD110CD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7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badi" panose="020B0604020104020204" pitchFamily="34" charset="0"/>
              </a:rPr>
              <a:t>¿</a:t>
            </a:r>
            <a:r>
              <a:rPr lang="en-US" b="1" dirty="0" err="1">
                <a:latin typeface="Abadi" panose="020B0604020104020204" pitchFamily="34" charset="0"/>
              </a:rPr>
              <a:t>Cómo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experimentan</a:t>
            </a:r>
            <a:r>
              <a:rPr lang="en-US" b="1" dirty="0">
                <a:latin typeface="Abadi" panose="020B0604020104020204" pitchFamily="34" charset="0"/>
              </a:rPr>
              <a:t> las </a:t>
            </a:r>
            <a:r>
              <a:rPr lang="en-US" b="1" dirty="0" err="1">
                <a:latin typeface="Abadi" panose="020B0604020104020204" pitchFamily="34" charset="0"/>
              </a:rPr>
              <a:t>madres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primerizas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los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cambios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en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su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identidad</a:t>
            </a:r>
            <a:r>
              <a:rPr lang="en-US" b="1" dirty="0">
                <a:latin typeface="Abadi" panose="020B0604020104020204" pitchFamily="34" charset="0"/>
              </a:rPr>
              <a:t> personal </a:t>
            </a:r>
            <a:r>
              <a:rPr lang="en-US" b="1" dirty="0" err="1">
                <a:latin typeface="Abadi" panose="020B0604020104020204" pitchFamily="34" charset="0"/>
              </a:rPr>
              <a:t>durante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el</a:t>
            </a:r>
            <a:r>
              <a:rPr lang="en-US" b="1" dirty="0">
                <a:latin typeface="Abadi" panose="020B0604020104020204" pitchFamily="34" charset="0"/>
              </a:rPr>
              <a:t> primer </a:t>
            </a:r>
            <a:r>
              <a:rPr lang="en-US" b="1" dirty="0" err="1">
                <a:latin typeface="Abadi" panose="020B0604020104020204" pitchFamily="34" charset="0"/>
              </a:rPr>
              <a:t>año</a:t>
            </a:r>
            <a:r>
              <a:rPr lang="en-US" b="1" dirty="0">
                <a:latin typeface="Abadi" panose="020B0604020104020204" pitchFamily="34" charset="0"/>
              </a:rPr>
              <a:t> de </a:t>
            </a:r>
            <a:r>
              <a:rPr lang="en-US" b="1" dirty="0" err="1">
                <a:latin typeface="Abadi" panose="020B0604020104020204" pitchFamily="34" charset="0"/>
              </a:rPr>
              <a:t>maternidad</a:t>
            </a:r>
            <a:r>
              <a:rPr lang="en-US" b="1" dirty="0">
                <a:latin typeface="Abadi" panose="020B0604020104020204" pitchFamily="34" charset="0"/>
              </a:rPr>
              <a:t>?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badi" panose="020B0604020104020204" pitchFamily="34" charset="0"/>
              </a:rPr>
              <a:t>Objetivo</a:t>
            </a:r>
            <a:r>
              <a:rPr lang="en-US" b="1" dirty="0">
                <a:latin typeface="Abadi" panose="020B0604020104020204" pitchFamily="34" charset="0"/>
              </a:rPr>
              <a:t> general: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Explorar</a:t>
            </a:r>
            <a:r>
              <a:rPr lang="en-US" dirty="0">
                <a:latin typeface="Abadi" panose="020B0604020104020204" pitchFamily="34" charset="0"/>
              </a:rPr>
              <a:t> la </a:t>
            </a:r>
            <a:r>
              <a:rPr lang="en-US" dirty="0" err="1">
                <a:latin typeface="Abadi" panose="020B0604020104020204" pitchFamily="34" charset="0"/>
              </a:rPr>
              <a:t>vivencia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subjetiva</a:t>
            </a:r>
            <a:r>
              <a:rPr lang="en-US" dirty="0">
                <a:latin typeface="Abadi" panose="020B0604020104020204" pitchFamily="34" charset="0"/>
              </a:rPr>
              <a:t> de </a:t>
            </a:r>
            <a:r>
              <a:rPr lang="en-US" dirty="0" err="1">
                <a:latin typeface="Abadi" panose="020B0604020104020204" pitchFamily="34" charset="0"/>
              </a:rPr>
              <a:t>los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cambios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la </a:t>
            </a:r>
            <a:r>
              <a:rPr lang="en-US" dirty="0" err="1">
                <a:latin typeface="Abadi" panose="020B0604020104020204" pitchFamily="34" charset="0"/>
              </a:rPr>
              <a:t>identidad</a:t>
            </a:r>
            <a:r>
              <a:rPr lang="en-US" dirty="0">
                <a:latin typeface="Abadi" panose="020B0604020104020204" pitchFamily="34" charset="0"/>
              </a:rPr>
              <a:t> personal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madres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primerizas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durante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el</a:t>
            </a:r>
            <a:r>
              <a:rPr lang="en-US" dirty="0">
                <a:latin typeface="Abadi" panose="020B0604020104020204" pitchFamily="34" charset="0"/>
              </a:rPr>
              <a:t> primer </a:t>
            </a:r>
            <a:r>
              <a:rPr lang="en-US" dirty="0" err="1">
                <a:latin typeface="Abadi" panose="020B0604020104020204" pitchFamily="34" charset="0"/>
              </a:rPr>
              <a:t>año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postparto</a:t>
            </a:r>
            <a:r>
              <a:rPr lang="en-US" dirty="0">
                <a:latin typeface="Abadi" panose="020B0604020104020204" pitchFamily="34" charset="0"/>
              </a:rPr>
              <a:t>.</a:t>
            </a:r>
          </a:p>
          <a:p>
            <a:pPr marL="0" indent="0">
              <a:buNone/>
            </a:pPr>
            <a:endParaRPr lang="en-US" b="1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badi" panose="020B0604020104020204" pitchFamily="34" charset="0"/>
              </a:rPr>
              <a:t>Objetivo</a:t>
            </a:r>
            <a:r>
              <a:rPr lang="en-US" b="1" dirty="0">
                <a:latin typeface="Abadi" panose="020B0604020104020204" pitchFamily="34" charset="0"/>
              </a:rPr>
              <a:t> </a:t>
            </a:r>
            <a:r>
              <a:rPr lang="en-US" b="1" dirty="0" err="1">
                <a:latin typeface="Abadi" panose="020B0604020104020204" pitchFamily="34" charset="0"/>
              </a:rPr>
              <a:t>específico</a:t>
            </a:r>
            <a:r>
              <a:rPr lang="en-US" b="1" dirty="0">
                <a:latin typeface="Abadi" panose="020B0604020104020204" pitchFamily="34" charset="0"/>
              </a:rPr>
              <a:t>:</a:t>
            </a:r>
            <a:endParaRPr lang="en-US" dirty="0">
              <a:latin typeface="Abadi" panose="020B06040201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badi" panose="020B0604020104020204" pitchFamily="34" charset="0"/>
              </a:rPr>
              <a:t>Identificar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los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significados</a:t>
            </a:r>
            <a:r>
              <a:rPr lang="en-US" dirty="0">
                <a:latin typeface="Abadi" panose="020B0604020104020204" pitchFamily="34" charset="0"/>
              </a:rPr>
              <a:t> que las </a:t>
            </a:r>
            <a:r>
              <a:rPr lang="en-US" dirty="0" err="1">
                <a:latin typeface="Abadi" panose="020B0604020104020204" pitchFamily="34" charset="0"/>
              </a:rPr>
              <a:t>madres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atribuyen</a:t>
            </a:r>
            <a:r>
              <a:rPr lang="en-US" dirty="0">
                <a:latin typeface="Abadi" panose="020B0604020104020204" pitchFamily="34" charset="0"/>
              </a:rPr>
              <a:t> a </a:t>
            </a:r>
            <a:r>
              <a:rPr lang="en-US" dirty="0" err="1">
                <a:latin typeface="Abadi" panose="020B0604020104020204" pitchFamily="34" charset="0"/>
              </a:rPr>
              <a:t>los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cambios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personales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experimentados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este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periodo</a:t>
            </a:r>
            <a:r>
              <a:rPr lang="en-US" dirty="0">
                <a:latin typeface="Abadi" panose="020B060402010402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effectLst/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07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44A4-73EF-F2BD-49E9-9E2FDB93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Distintos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diseños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posibles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92ADD2-64CA-4FD0-8E2B-52B15BC0A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Abadi" panose="020B0604020104020204" pitchFamily="34" charset="0"/>
              </a:rPr>
              <a:t>Diseños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cuantitativos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Descriptivos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Correlacionales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Experimental: </a:t>
            </a:r>
            <a:r>
              <a:rPr lang="en-US" dirty="0" err="1">
                <a:latin typeface="Abadi" panose="020B0604020104020204" pitchFamily="34" charset="0"/>
              </a:rPr>
              <a:t>Experimentos</a:t>
            </a:r>
            <a:r>
              <a:rPr lang="en-US" dirty="0">
                <a:latin typeface="Abadi" panose="020B0604020104020204" pitchFamily="34" charset="0"/>
              </a:rPr>
              <a:t> y </a:t>
            </a:r>
            <a:r>
              <a:rPr lang="en-US" dirty="0" err="1">
                <a:latin typeface="Abadi" panose="020B0604020104020204" pitchFamily="34" charset="0"/>
              </a:rPr>
              <a:t>cuasi-experimentos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dirty="0" err="1">
                <a:latin typeface="Abadi" panose="020B0604020104020204" pitchFamily="34" charset="0"/>
              </a:rPr>
              <a:t>Diseños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Cualitativos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Fenomenológicos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Etnográficos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Narrativos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IAP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dirty="0" err="1">
                <a:latin typeface="Abadi" panose="020B0604020104020204" pitchFamily="34" charset="0"/>
              </a:rPr>
              <a:t>También</a:t>
            </a:r>
            <a:r>
              <a:rPr lang="en-US" dirty="0">
                <a:latin typeface="Abadi" panose="020B0604020104020204" pitchFamily="34" charset="0"/>
              </a:rPr>
              <a:t> se </a:t>
            </a:r>
            <a:r>
              <a:rPr lang="en-US" dirty="0" err="1">
                <a:latin typeface="Abadi" panose="020B0604020104020204" pitchFamily="34" charset="0"/>
              </a:rPr>
              <a:t>pueden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clasificar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según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su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 dirty="0" err="1">
                <a:latin typeface="Abadi" panose="020B0604020104020204" pitchFamily="34" charset="0"/>
              </a:rPr>
              <a:t>alcance</a:t>
            </a:r>
            <a:r>
              <a:rPr lang="en-US" dirty="0">
                <a:latin typeface="Abadi" panose="020B0604020104020204" pitchFamily="34" charset="0"/>
              </a:rPr>
              <a:t>: </a:t>
            </a:r>
            <a:r>
              <a:rPr lang="en-US" dirty="0" err="1">
                <a:latin typeface="Abadi" panose="020B0604020104020204" pitchFamily="34" charset="0"/>
              </a:rPr>
              <a:t>tranversales</a:t>
            </a:r>
            <a:r>
              <a:rPr lang="en-US" dirty="0">
                <a:latin typeface="Abadi" panose="020B0604020104020204" pitchFamily="34" charset="0"/>
              </a:rPr>
              <a:t>, </a:t>
            </a:r>
            <a:r>
              <a:rPr lang="en-US" dirty="0" err="1">
                <a:latin typeface="Abadi" panose="020B0604020104020204" pitchFamily="34" charset="0"/>
              </a:rPr>
              <a:t>longitudinales</a:t>
            </a:r>
            <a:r>
              <a:rPr lang="en-US" dirty="0">
                <a:latin typeface="Abadi" panose="020B0604020104020204" pitchFamily="34" charset="0"/>
              </a:rPr>
              <a:t>.</a:t>
            </a:r>
          </a:p>
          <a:p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461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10012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7B8596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22834" y="2387267"/>
            <a:ext cx="8232681" cy="1390351"/>
          </a:xfrm>
          <a:prstGeom prst="rect">
            <a:avLst/>
          </a:prstGeom>
        </p:spPr>
        <p:txBody>
          <a:bodyPr vert="horz" wrap="square" lIns="0" tIns="9242" rIns="0" bIns="0" rtlCol="0" anchor="ctr">
            <a:spAutoFit/>
          </a:bodyPr>
          <a:lstStyle/>
          <a:p>
            <a:pPr marL="7701">
              <a:lnSpc>
                <a:spcPct val="100000"/>
              </a:lnSpc>
              <a:spcBef>
                <a:spcPts val="73"/>
              </a:spcBef>
            </a:pPr>
            <a:r>
              <a:rPr lang="es-ES" sz="4487" b="1" spc="3" dirty="0">
                <a:solidFill>
                  <a:srgbClr val="FFFF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Producción de datos y análisis cualitativo</a:t>
            </a:r>
            <a:endParaRPr sz="4487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51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¿</a:t>
            </a:r>
            <a:r>
              <a:rPr b="1" dirty="0" err="1"/>
              <a:t>Qué</a:t>
            </a:r>
            <a:r>
              <a:rPr b="1" dirty="0"/>
              <a:t> es la </a:t>
            </a:r>
            <a:r>
              <a:rPr b="1" dirty="0" err="1"/>
              <a:t>investigación</a:t>
            </a:r>
            <a:r>
              <a:rPr b="1" dirty="0"/>
              <a:t> </a:t>
            </a:r>
            <a:r>
              <a:rPr b="1" dirty="0" err="1"/>
              <a:t>cualitativa</a:t>
            </a:r>
            <a:r>
              <a:rPr b="1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Estudia fenómenos en su contexto natural</a:t>
            </a:r>
          </a:p>
          <a:p>
            <a:r>
              <a:t>Busca comprender significados</a:t>
            </a:r>
          </a:p>
          <a:p>
            <a:r>
              <a:t>Se basa en datos no numéricos</a:t>
            </a:r>
          </a:p>
          <a:p>
            <a:r>
              <a:t>Ejemplos: entrevistas, observaciones, relatos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Características</a:t>
            </a:r>
            <a:r>
              <a:rPr b="1" dirty="0"/>
              <a:t> </a:t>
            </a:r>
            <a:r>
              <a:rPr b="1" dirty="0" err="1"/>
              <a:t>centrales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Diseño emergente</a:t>
            </a:r>
          </a:p>
          <a:p>
            <a:r>
              <a:t>Investigador como instrumento clave</a:t>
            </a:r>
          </a:p>
          <a:p>
            <a:r>
              <a:t>Enfoque interpretativo</a:t>
            </a:r>
          </a:p>
          <a:p>
            <a:r>
              <a:t>Análisis inductivo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Rol</a:t>
            </a:r>
            <a:r>
              <a:rPr b="1" dirty="0"/>
              <a:t> del </a:t>
            </a:r>
            <a:r>
              <a:rPr b="1" dirty="0" err="1"/>
              <a:t>investigador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Recoge datos directamente</a:t>
            </a:r>
          </a:p>
          <a:p>
            <a:r>
              <a:t>Interpreta significados</a:t>
            </a:r>
          </a:p>
          <a:p>
            <a:r>
              <a:t>Toma decisiones durante el proceso</a:t>
            </a:r>
          </a:p>
          <a:p>
            <a:r>
              <a:t>No es completamente neutral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Diseño</a:t>
            </a:r>
            <a:r>
              <a:rPr b="1" dirty="0"/>
              <a:t> </a:t>
            </a:r>
            <a:r>
              <a:rPr b="1" dirty="0" err="1"/>
              <a:t>cualitativo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Incluye decisiones sobre estrategia, participantes y datos</a:t>
            </a:r>
          </a:p>
          <a:p>
            <a:r>
              <a:t>Proceso flexible</a:t>
            </a:r>
          </a:p>
          <a:p>
            <a:r>
              <a:t>Se ajusta durante el estudio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Estrategias</a:t>
            </a:r>
            <a:r>
              <a:rPr b="1" dirty="0"/>
              <a:t> </a:t>
            </a:r>
            <a:r>
              <a:rPr b="1" dirty="0" err="1"/>
              <a:t>cualitativas</a:t>
            </a:r>
            <a:r>
              <a:rPr b="1" dirty="0"/>
              <a:t> </a:t>
            </a:r>
            <a:r>
              <a:rPr b="1" dirty="0" err="1"/>
              <a:t>principales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Etnografía</a:t>
            </a:r>
          </a:p>
          <a:p>
            <a:r>
              <a:t>Fenomenología</a:t>
            </a:r>
          </a:p>
          <a:p>
            <a:r>
              <a:t>Teoría fundamentada</a:t>
            </a:r>
          </a:p>
          <a:p>
            <a:r>
              <a:t>Estudio de caso</a:t>
            </a:r>
          </a:p>
          <a:p>
            <a:r>
              <a:t>Narrativa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Selección</a:t>
            </a:r>
            <a:r>
              <a:rPr b="1" dirty="0"/>
              <a:t> de </a:t>
            </a:r>
            <a:r>
              <a:rPr b="1" dirty="0" err="1"/>
              <a:t>participantes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Muestreo intencional</a:t>
            </a:r>
          </a:p>
          <a:p>
            <a:r>
              <a:t>No busca representatividad estadística</a:t>
            </a:r>
          </a:p>
          <a:p>
            <a:r>
              <a:t>Selecciona casos relevantes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00D46-A343-4A58-8688-72D2728F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sz="1600" dirty="0">
              <a:latin typeface="+mn-lt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B4B7F65-5E1F-4971-A55A-17CCD987D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ctr">
              <a:buFontTx/>
              <a:buChar char="-"/>
            </a:pPr>
            <a:endParaRPr lang="es-ES" sz="1600" dirty="0">
              <a:latin typeface="+mn-lt"/>
            </a:endParaRPr>
          </a:p>
          <a:p>
            <a:pPr marL="342900" indent="-342900">
              <a:buFontTx/>
              <a:buChar char="-"/>
            </a:pPr>
            <a:endParaRPr lang="es-ES" sz="1600" dirty="0">
              <a:latin typeface="+mn-lt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3E17FC6-BF0E-4A8C-A820-E0DCDF11EAF2}"/>
              </a:ext>
            </a:extLst>
          </p:cNvPr>
          <p:cNvSpPr/>
          <p:nvPr/>
        </p:nvSpPr>
        <p:spPr>
          <a:xfrm>
            <a:off x="1011237" y="3825874"/>
            <a:ext cx="10776858" cy="131823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¿Cómo levantamos datos?</a:t>
            </a:r>
          </a:p>
        </p:txBody>
      </p:sp>
    </p:spTree>
    <p:extLst>
      <p:ext uri="{BB962C8B-B14F-4D97-AF65-F5344CB8AC3E}">
        <p14:creationId xmlns:p14="http://schemas.microsoft.com/office/powerpoint/2010/main" val="3897475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ítulo 5">
            <a:extLst>
              <a:ext uri="{FF2B5EF4-FFF2-40B4-BE49-F238E27FC236}">
                <a16:creationId xmlns:a16="http://schemas.microsoft.com/office/drawing/2014/main" id="{E0655BD1-871E-4C6E-95D4-77D671221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543" y="741781"/>
            <a:ext cx="11125200" cy="912848"/>
          </a:xfrm>
        </p:spPr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+mn-lt"/>
              </a:rPr>
              <a:t>Existen multitud de métodos para conseguir la información que nos interesa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E924B3-F5D1-40BA-8FF8-A4AC30CC6D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22" y="2057716"/>
            <a:ext cx="1817915" cy="13634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148E43C-633C-4835-B2F6-3A12E63CA1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464" y="1848343"/>
            <a:ext cx="1669935" cy="166251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FFB7504-E92B-4864-9BBF-615B481D63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448" y="2110132"/>
            <a:ext cx="2341108" cy="131102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C6CA548-F2C8-484A-A3C8-7D4DB78CC2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625" y="2057716"/>
            <a:ext cx="2765651" cy="137128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C24DE88-4153-4D85-9555-8751B31651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605" y="2121354"/>
            <a:ext cx="2615292" cy="130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8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B9BD254-2FE6-4D80-8ED0-04AD873EA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s-ES" sz="3600" dirty="0">
                <a:solidFill>
                  <a:srgbClr val="FFFFFF"/>
                </a:solidFill>
                <a:latin typeface="+mn-lt"/>
              </a:rPr>
              <a:t>1. Observación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6" name="2 Marcador de contenido">
            <a:extLst>
              <a:ext uri="{FF2B5EF4-FFF2-40B4-BE49-F238E27FC236}">
                <a16:creationId xmlns:a16="http://schemas.microsoft.com/office/drawing/2014/main" id="{3EA9671E-A49E-4835-8FEF-5C3AC0C833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138042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01642" y="490382"/>
            <a:ext cx="9144000" cy="1143000"/>
          </a:xfrm>
        </p:spPr>
        <p:txBody>
          <a:bodyPr>
            <a:normAutofit/>
          </a:bodyPr>
          <a:lstStyle/>
          <a:p>
            <a:r>
              <a:rPr lang="es-ES" sz="1600" dirty="0" err="1">
                <a:latin typeface="+mn-lt"/>
              </a:rPr>
              <a:t>Hagenzieker</a:t>
            </a:r>
            <a:r>
              <a:rPr lang="es-ES" sz="1600" dirty="0">
                <a:latin typeface="+mn-lt"/>
              </a:rPr>
              <a:t>, 1991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600" dirty="0">
                <a:latin typeface="+mn-lt"/>
              </a:rPr>
              <a:t>No es cualquier tipo de observación:</a:t>
            </a:r>
          </a:p>
          <a:p>
            <a:endParaRPr lang="es-ES" sz="1600" dirty="0">
              <a:latin typeface="+mn-lt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39966" y="2260453"/>
            <a:ext cx="1966452" cy="8554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OBSERVACION PREVIA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139966" y="3704701"/>
            <a:ext cx="1966452" cy="8554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CAMPAÑA PUBLICITARIA</a:t>
            </a:r>
          </a:p>
        </p:txBody>
      </p:sp>
      <p:sp>
        <p:nvSpPr>
          <p:cNvPr id="7" name="6 Rectángulo"/>
          <p:cNvSpPr/>
          <p:nvPr/>
        </p:nvSpPr>
        <p:spPr>
          <a:xfrm>
            <a:off x="1036320" y="5226039"/>
            <a:ext cx="1966452" cy="8554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OBSERVACION POSTERIOR</a:t>
            </a:r>
          </a:p>
        </p:txBody>
      </p:sp>
      <p:cxnSp>
        <p:nvCxnSpPr>
          <p:cNvPr id="10" name="9 Conector recto de flecha"/>
          <p:cNvCxnSpPr>
            <a:cxnSpLocks/>
          </p:cNvCxnSpPr>
          <p:nvPr/>
        </p:nvCxnSpPr>
        <p:spPr>
          <a:xfrm>
            <a:off x="2123192" y="3254877"/>
            <a:ext cx="0" cy="37151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7DEA95E2-A261-459E-8613-28694CD381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577" y="1845734"/>
            <a:ext cx="5000189" cy="4122862"/>
          </a:xfrm>
          <a:prstGeom prst="rect">
            <a:avLst/>
          </a:prstGeom>
        </p:spPr>
      </p:pic>
      <p:cxnSp>
        <p:nvCxnSpPr>
          <p:cNvPr id="12" name="9 Conector recto de flecha">
            <a:extLst>
              <a:ext uri="{FF2B5EF4-FFF2-40B4-BE49-F238E27FC236}">
                <a16:creationId xmlns:a16="http://schemas.microsoft.com/office/drawing/2014/main" id="{B3C72C98-9522-4E71-B891-333A2B277312}"/>
              </a:ext>
            </a:extLst>
          </p:cNvPr>
          <p:cNvCxnSpPr>
            <a:cxnSpLocks/>
          </p:cNvCxnSpPr>
          <p:nvPr/>
        </p:nvCxnSpPr>
        <p:spPr>
          <a:xfrm>
            <a:off x="2092164" y="4686138"/>
            <a:ext cx="0" cy="37151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7DD65A-C728-4ED8-9402-8FF7F574A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025" y="0"/>
            <a:ext cx="10515600" cy="1534886"/>
          </a:xfrm>
        </p:spPr>
        <p:txBody>
          <a:bodyPr>
            <a:normAutofit/>
          </a:bodyPr>
          <a:lstStyle/>
          <a:p>
            <a:r>
              <a:rPr lang="es-ES" sz="1600" dirty="0">
                <a:latin typeface="+mn-lt"/>
              </a:rPr>
              <a:t> Tres tipos de procedimientos de observación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77C9FD-CDCF-49E3-BDA8-3EF0A788E1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9941" y="2666999"/>
            <a:ext cx="6223453" cy="3069772"/>
          </a:xfrm>
        </p:spPr>
        <p:txBody>
          <a:bodyPr>
            <a:normAutofit/>
          </a:bodyPr>
          <a:lstStyle/>
          <a:p>
            <a:pPr algn="l"/>
            <a:r>
              <a:rPr lang="es-ES" sz="1600" dirty="0">
                <a:latin typeface="+mn-lt"/>
              </a:rPr>
              <a:t>- Observación casual</a:t>
            </a:r>
          </a:p>
          <a:p>
            <a:pPr marL="285750" indent="-285750" algn="l">
              <a:buFontTx/>
              <a:buChar char="-"/>
            </a:pPr>
            <a:endParaRPr lang="es-ES" sz="1600" dirty="0">
              <a:latin typeface="+mn-lt"/>
            </a:endParaRPr>
          </a:p>
          <a:p>
            <a:pPr algn="l"/>
            <a:r>
              <a:rPr lang="es-ES" sz="1600" dirty="0">
                <a:latin typeface="+mn-lt"/>
              </a:rPr>
              <a:t>                                                                          </a:t>
            </a:r>
          </a:p>
          <a:p>
            <a:pPr algn="l"/>
            <a:r>
              <a:rPr lang="es-ES" sz="1600" dirty="0">
                <a:latin typeface="+mn-lt"/>
              </a:rPr>
              <a:t>- Observación sistemática</a:t>
            </a:r>
          </a:p>
          <a:p>
            <a:pPr algn="l"/>
            <a:endParaRPr lang="es-ES" sz="1600" dirty="0"/>
          </a:p>
          <a:p>
            <a:pPr algn="l"/>
            <a:endParaRPr lang="es-ES" sz="1600" dirty="0">
              <a:latin typeface="+mn-lt"/>
            </a:endParaRPr>
          </a:p>
          <a:p>
            <a:pPr algn="l"/>
            <a:r>
              <a:rPr lang="es-ES" sz="1600" dirty="0">
                <a:latin typeface="+mn-lt"/>
              </a:rPr>
              <a:t>- Observación participante </a:t>
            </a:r>
          </a:p>
          <a:p>
            <a:pPr marL="342900" indent="-342900" algn="l">
              <a:buFontTx/>
              <a:buChar char="-"/>
            </a:pPr>
            <a:endParaRPr lang="es-ES" sz="1600" dirty="0">
              <a:latin typeface="+mn-lt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41815C-89CB-4470-AFC3-80B411A8E89E}"/>
              </a:ext>
            </a:extLst>
          </p:cNvPr>
          <p:cNvSpPr/>
          <p:nvPr/>
        </p:nvSpPr>
        <p:spPr>
          <a:xfrm>
            <a:off x="6707867" y="2307770"/>
            <a:ext cx="3037114" cy="16437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Observador externo que observa por lapsos cortos de tiempo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3C9EE82-6685-4889-8715-E014FC94473C}"/>
              </a:ext>
            </a:extLst>
          </p:cNvPr>
          <p:cNvSpPr/>
          <p:nvPr/>
        </p:nvSpPr>
        <p:spPr>
          <a:xfrm>
            <a:off x="6707867" y="4484915"/>
            <a:ext cx="3037114" cy="10014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Periodos largos de observación, conociendo a los participantes</a:t>
            </a:r>
          </a:p>
        </p:txBody>
      </p:sp>
    </p:spTree>
    <p:extLst>
      <p:ext uri="{BB962C8B-B14F-4D97-AF65-F5344CB8AC3E}">
        <p14:creationId xmlns:p14="http://schemas.microsoft.com/office/powerpoint/2010/main" val="60788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F5EC31-65EA-423C-BFA8-8DF6B2E2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 err="1">
                <a:solidFill>
                  <a:srgbClr val="FFFFFF"/>
                </a:solidFill>
              </a:rPr>
              <a:t>Observación</a:t>
            </a:r>
            <a:r>
              <a:rPr lang="en-US" sz="3600" dirty="0">
                <a:solidFill>
                  <a:srgbClr val="FFFFFF"/>
                </a:solidFill>
              </a:rPr>
              <a:t> casual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5F02A3-5416-49E0-9594-773E89765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  Observación, a simple vista, de lo que sucede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Calibri" panose="020F0502020204030204" pitchFamily="34" charset="0"/>
              <a:buChar char="-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No hay categorías preestablecidas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Sin sistemas de registro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Ideal para las primeras fases o como complemento de otra técnica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08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F5EC31-65EA-423C-BFA8-8DF6B2E2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Observación sistemática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5F02A3-5416-49E0-9594-773E89765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</a:p>
          <a:p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Con técnica de registro y categorías preestablecidas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Calibri" panose="020F0502020204030204" pitchFamily="34" charset="0"/>
              <a:buChar char="-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La lista de categorías incluyen las conductas que suceden de forma natural en dicha situación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6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F5EC31-65EA-423C-BFA8-8DF6B2E2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Observación sistemática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5F02A3-5416-49E0-9594-773E89765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¿Los/as alumnos/as prestan atención en clase?</a:t>
            </a: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Numero de veces que hacen preguntas</a:t>
            </a: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Numero de veces que consultan su celular</a:t>
            </a: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Numero de veces que asienten con la cabeza</a:t>
            </a: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Tiempo que pasan conversando con sus compañeros/as</a:t>
            </a: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</a:p>
        </p:txBody>
      </p:sp>
      <p:sp>
        <p:nvSpPr>
          <p:cNvPr id="5" name="4 Rectángulo">
            <a:extLst>
              <a:ext uri="{FF2B5EF4-FFF2-40B4-BE49-F238E27FC236}">
                <a16:creationId xmlns:a16="http://schemas.microsoft.com/office/drawing/2014/main" id="{5C7F3CA7-F821-46B1-85EF-1ACDD44F2D7E}"/>
              </a:ext>
            </a:extLst>
          </p:cNvPr>
          <p:cNvSpPr/>
          <p:nvPr/>
        </p:nvSpPr>
        <p:spPr>
          <a:xfrm>
            <a:off x="1748463" y="4791558"/>
            <a:ext cx="5305480" cy="13153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s-ES" sz="2400" dirty="0"/>
              <a:t>Importancia de la CONFIABILIDAD</a:t>
            </a:r>
            <a:endParaRPr lang="es-ES" sz="2400"/>
          </a:p>
          <a:p>
            <a:pPr algn="ctr">
              <a:spcAft>
                <a:spcPts val="600"/>
              </a:spcAft>
            </a:pPr>
            <a:r>
              <a:rPr lang="es-ES" dirty="0"/>
              <a:t>(al menos dos observadores independientes)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7391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905BC8-E683-45B6-A681-3C11AAA4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latin typeface="+mn-lt"/>
              </a:rPr>
              <a:t>Aspectos importantes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A1CBE36-1418-4745-B98F-9776DE0E20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425029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3154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14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F5EC31-65EA-423C-BFA8-8DF6B2E2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Observación participante</a:t>
            </a:r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5F02A3-5416-49E0-9594-773E89765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  El/la investigador/a no es un mero espectador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Calibri" panose="020F0502020204030204" pitchFamily="34" charset="0"/>
              <a:buChar char="-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El/la investigador/a participa en los eventos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Tiene un papel activo en la situación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Importancia del “aprendizaje emocional”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5EC31-65EA-423C-BFA8-8DF6B2E2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2812" y="392180"/>
            <a:ext cx="3125787" cy="2877260"/>
          </a:xfrm>
        </p:spPr>
        <p:txBody>
          <a:bodyPr>
            <a:normAutofit/>
          </a:bodyPr>
          <a:lstStyle/>
          <a:p>
            <a:r>
              <a:rPr lang="es-ES" sz="3600" dirty="0">
                <a:latin typeface="+mn-lt"/>
              </a:rPr>
              <a:t>Etnografía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5F02A3-5416-49E0-9594-773E89765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5066" y="1058635"/>
            <a:ext cx="7047334" cy="5140068"/>
          </a:xfrm>
        </p:spPr>
        <p:txBody>
          <a:bodyPr/>
          <a:lstStyle/>
          <a:p>
            <a:pPr marL="285750" indent="-285750">
              <a:buFontTx/>
              <a:buChar char="-"/>
            </a:pPr>
            <a:endParaRPr lang="es-ES" sz="1600" dirty="0">
              <a:solidFill>
                <a:schemeClr val="tx1"/>
              </a:solidFill>
              <a:latin typeface="+mn-lt"/>
            </a:endParaRPr>
          </a:p>
          <a:p>
            <a:pPr algn="ctr"/>
            <a:r>
              <a:rPr lang="es-ES" sz="1600" b="1" dirty="0">
                <a:solidFill>
                  <a:schemeClr val="tx1"/>
                </a:solidFill>
                <a:latin typeface="+mn-lt"/>
              </a:rPr>
              <a:t>  Descripción y estudio detallado de poblaciones y lugares específicos</a:t>
            </a:r>
            <a:endParaRPr lang="es-ES" sz="1600" dirty="0">
              <a:solidFill>
                <a:schemeClr val="tx1"/>
              </a:solidFill>
              <a:latin typeface="+mn-lt"/>
            </a:endParaRPr>
          </a:p>
          <a:p>
            <a:endParaRPr lang="es-ES" sz="1600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buFontTx/>
              <a:buChar char="-"/>
            </a:pPr>
            <a:r>
              <a:rPr lang="es-ES" sz="1600" dirty="0">
                <a:solidFill>
                  <a:schemeClr val="tx1"/>
                </a:solidFill>
                <a:latin typeface="+mn-lt"/>
              </a:rPr>
              <a:t>Se analizan los puntos de vista de los diversos actores</a:t>
            </a:r>
          </a:p>
          <a:p>
            <a:pPr marL="285750" indent="-285750">
              <a:buFontTx/>
              <a:buChar char="-"/>
            </a:pPr>
            <a:r>
              <a:rPr lang="es-ES" sz="1600" dirty="0">
                <a:solidFill>
                  <a:schemeClr val="tx1"/>
                </a:solidFill>
                <a:latin typeface="+mn-lt"/>
              </a:rPr>
              <a:t>Incluye observación, entrevistas, etc.</a:t>
            </a:r>
          </a:p>
          <a:p>
            <a:pPr marL="285750" indent="-285750">
              <a:buFontTx/>
              <a:buChar char="-"/>
            </a:pPr>
            <a:r>
              <a:rPr lang="es-ES" sz="1600" dirty="0">
                <a:solidFill>
                  <a:schemeClr val="tx1"/>
                </a:solidFill>
                <a:latin typeface="+mn-lt"/>
              </a:rPr>
              <a:t>Útil en las primeras etapas de investigación</a:t>
            </a:r>
          </a:p>
          <a:p>
            <a:pPr marL="285750" indent="-285750">
              <a:buFontTx/>
              <a:buChar char="-"/>
            </a:pPr>
            <a:endParaRPr lang="es-E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69E2854-FF56-431B-9AE5-A4647F1E3358}"/>
              </a:ext>
            </a:extLst>
          </p:cNvPr>
          <p:cNvSpPr/>
          <p:nvPr/>
        </p:nvSpPr>
        <p:spPr>
          <a:xfrm>
            <a:off x="330818" y="171743"/>
            <a:ext cx="4480667" cy="4408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Relacionada con la observación participante: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04ADD00-51F7-47D1-A8C6-52363E0EED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745" y="4493740"/>
            <a:ext cx="3047173" cy="189791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5D580B5-333E-4BB6-90D4-E7AC64051D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68" y="4493740"/>
            <a:ext cx="3351867" cy="189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90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155A8-07E6-4679-8385-E9F8B1F81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1034143"/>
            <a:ext cx="10815864" cy="4582885"/>
          </a:xfrm>
        </p:spPr>
        <p:txBody>
          <a:bodyPr>
            <a:normAutofit/>
          </a:bodyPr>
          <a:lstStyle/>
          <a:p>
            <a:r>
              <a:rPr lang="es-ES" sz="2000" dirty="0">
                <a:latin typeface="+mn-lt"/>
              </a:rPr>
              <a:t>- Ambigüedad legal sobre las notas de los/as investigadores/as</a:t>
            </a: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r>
              <a:rPr lang="es-ES" sz="2000" dirty="0">
                <a:latin typeface="+mn-lt"/>
              </a:rPr>
              <a:t>- ¿Existe el riesgo de “volverse local”?</a:t>
            </a: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r>
              <a:rPr lang="es-ES" sz="2000" dirty="0">
                <a:latin typeface="+mn-lt"/>
              </a:rPr>
              <a:t>- ¿En qué medida pueden generalizarse estos resultados?</a:t>
            </a: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r>
              <a:rPr lang="es-ES" sz="2000" dirty="0">
                <a:latin typeface="+mn-lt"/>
              </a:rPr>
              <a:t>- ¿El comportamiento observado es indicador de las actitudes de las personas?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18F614-60AC-4CC6-8D9F-21B053A1BB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750" y="576943"/>
            <a:ext cx="10515600" cy="914400"/>
          </a:xfrm>
        </p:spPr>
        <p:txBody>
          <a:bodyPr>
            <a:normAutofit/>
          </a:bodyPr>
          <a:lstStyle/>
          <a:p>
            <a:r>
              <a:rPr lang="es-ES" sz="1600">
                <a:latin typeface="+mn-lt"/>
              </a:rPr>
              <a:t>Aspectos a tener en cuenta:</a:t>
            </a:r>
            <a:endParaRPr lang="es-E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798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B9BD254-2FE6-4D80-8ED0-04AD873EA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s-ES" sz="3600">
                <a:solidFill>
                  <a:srgbClr val="FFFFFF"/>
                </a:solidFill>
                <a:latin typeface="+mn-lt"/>
              </a:rPr>
              <a:t>2. Entrevista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6" name="2 Marcador de contenido">
            <a:extLst>
              <a:ext uri="{FF2B5EF4-FFF2-40B4-BE49-F238E27FC236}">
                <a16:creationId xmlns:a16="http://schemas.microsoft.com/office/drawing/2014/main" id="{49CE692A-F55A-4B5B-83FE-6492A9492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5100863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220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51CA29-3BE5-41C0-95F9-6B36F25B2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352" y="1003663"/>
            <a:ext cx="4214949" cy="4023360"/>
          </a:xfrm>
        </p:spPr>
        <p:txBody>
          <a:bodyPr>
            <a:normAutofit/>
          </a:bodyPr>
          <a:lstStyle/>
          <a:p>
            <a:pPr algn="ctr"/>
            <a:r>
              <a:rPr lang="es-ES" sz="16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 Contenido Manifiesto</a:t>
            </a:r>
          </a:p>
          <a:p>
            <a:pPr algn="ctr"/>
            <a:endParaRPr lang="es-ES" sz="1600" dirty="0">
              <a:latin typeface="+mn-lt"/>
            </a:endParaRPr>
          </a:p>
          <a:p>
            <a:pPr algn="ctr"/>
            <a:r>
              <a:rPr lang="es-ES" sz="1600" dirty="0">
                <a:latin typeface="+mn-lt"/>
              </a:rPr>
              <a:t>Información que se desprende de lo que se ha hablado durante la entrevista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B6726F4-307A-4BDA-BE5B-5FA887E61907}"/>
              </a:ext>
            </a:extLst>
          </p:cNvPr>
          <p:cNvSpPr txBox="1">
            <a:spLocks/>
          </p:cNvSpPr>
          <p:nvPr/>
        </p:nvSpPr>
        <p:spPr>
          <a:xfrm>
            <a:off x="6248400" y="1003663"/>
            <a:ext cx="4214949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/>
              <a:t> </a:t>
            </a:r>
            <a:r>
              <a:rPr lang="es-ES" sz="1600" dirty="0">
                <a:solidFill>
                  <a:schemeClr val="accent2">
                    <a:lumMod val="50000"/>
                  </a:schemeClr>
                </a:solidFill>
              </a:rPr>
              <a:t>Contenido Latente</a:t>
            </a:r>
          </a:p>
          <a:p>
            <a:pPr algn="ctr"/>
            <a:endParaRPr lang="es-ES" sz="1600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Información más oculta, respuestas no verbales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3B5D2B2-F47C-4C51-B761-61E95C85DDC0}"/>
              </a:ext>
            </a:extLst>
          </p:cNvPr>
          <p:cNvSpPr/>
          <p:nvPr/>
        </p:nvSpPr>
        <p:spPr>
          <a:xfrm>
            <a:off x="5600700" y="831185"/>
            <a:ext cx="990600" cy="71240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VS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D806EE1-991D-4FC1-87A4-A7873E4CD9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158" y="3127467"/>
            <a:ext cx="2726870" cy="272687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28913C5-C2F7-45E6-863D-17ADD0E738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842" y="3127467"/>
            <a:ext cx="2726870" cy="272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044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9A3203-6D3E-4C38-B12F-569264E6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pPr defTabSz="457200"/>
            <a:r>
              <a:rPr lang="es-ES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Entrevistas Libres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F235CC-83CB-4652-A7E7-484180CB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s-ES">
                <a:latin typeface="+mn-lt"/>
              </a:rPr>
              <a:t>- No tiene estructura</a:t>
            </a:r>
          </a:p>
          <a:p>
            <a:r>
              <a:rPr lang="es-ES">
                <a:latin typeface="+mn-lt"/>
              </a:rPr>
              <a:t>- Busca explorar distintas opciones para conseguir información</a:t>
            </a:r>
          </a:p>
          <a:p>
            <a:r>
              <a:rPr lang="es-ES">
                <a:latin typeface="+mn-lt"/>
              </a:rPr>
              <a:t>- Por parte del/a investigador/a:</a:t>
            </a:r>
          </a:p>
          <a:p>
            <a:pPr marL="384048" lvl="2" indent="0">
              <a:buNone/>
            </a:pPr>
            <a:endParaRPr lang="es-ES">
              <a:latin typeface="+mn-lt"/>
            </a:endParaRPr>
          </a:p>
          <a:p>
            <a:pPr marL="384048" lvl="2" indent="0">
              <a:buNone/>
            </a:pPr>
            <a:r>
              <a:rPr lang="es-ES">
                <a:latin typeface="+mn-lt"/>
              </a:rPr>
              <a:t>		- Improvisación</a:t>
            </a:r>
          </a:p>
          <a:p>
            <a:pPr marL="384048" lvl="2" indent="0">
              <a:buNone/>
            </a:pPr>
            <a:r>
              <a:rPr lang="es-ES">
                <a:latin typeface="+mn-lt"/>
              </a:rPr>
              <a:t>		- Originalidad</a:t>
            </a:r>
          </a:p>
          <a:p>
            <a:pPr marL="384048" lvl="2" indent="0">
              <a:buNone/>
            </a:pPr>
            <a:r>
              <a:rPr lang="es-ES">
                <a:latin typeface="+mn-lt"/>
              </a:rPr>
              <a:t>		- Sensibilidad (para saber cuándo hay que cambiar de tema)</a:t>
            </a:r>
          </a:p>
        </p:txBody>
      </p:sp>
    </p:spTree>
    <p:extLst>
      <p:ext uri="{BB962C8B-B14F-4D97-AF65-F5344CB8AC3E}">
        <p14:creationId xmlns:p14="http://schemas.microsoft.com/office/powerpoint/2010/main" val="37217202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9A3203-6D3E-4C38-B12F-569264E6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pPr defTabSz="457200"/>
            <a:r>
              <a:rPr lang="es-ES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Entrevistas Estructuradas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F235CC-83CB-4652-A7E7-484180CB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s-ES">
                <a:latin typeface="+mn-lt"/>
              </a:rPr>
              <a:t>- Son necesarias cuando se quiere combinar información de distintas personas</a:t>
            </a:r>
          </a:p>
          <a:p>
            <a:endParaRPr lang="es-ES">
              <a:latin typeface="+mn-lt"/>
            </a:endParaRPr>
          </a:p>
          <a:p>
            <a:r>
              <a:rPr lang="es-ES">
                <a:latin typeface="+mn-lt"/>
              </a:rPr>
              <a:t>- Las preguntas se redactan con antelación</a:t>
            </a:r>
          </a:p>
          <a:p>
            <a:endParaRPr lang="es-ES">
              <a:latin typeface="+mn-lt"/>
            </a:endParaRPr>
          </a:p>
          <a:p>
            <a:r>
              <a:rPr lang="es-ES">
                <a:latin typeface="+mn-lt"/>
              </a:rPr>
              <a:t>- Se sigue el mismo orden para todos los participantes</a:t>
            </a:r>
          </a:p>
          <a:p>
            <a:pPr marL="384048" lvl="2" indent="0">
              <a:buNone/>
            </a:pPr>
            <a:endParaRPr lang="es-ES">
              <a:latin typeface="+mn-lt"/>
            </a:endParaRPr>
          </a:p>
          <a:p>
            <a:pPr marL="384048" lvl="2" indent="0">
              <a:buNone/>
            </a:pPr>
            <a:r>
              <a:rPr lang="es-ES">
                <a:latin typeface="+mn-lt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858285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9A3203-6D3E-4C38-B12F-569264E6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pPr defTabSz="457200"/>
            <a:r>
              <a:rPr lang="es-E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Entrevistas Semiestructuradas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F235CC-83CB-4652-A7E7-484180CB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s-ES" dirty="0">
                <a:latin typeface="+mn-lt"/>
              </a:rPr>
              <a:t>- Todos/as los/as participantes reciben las mismas preguntas</a:t>
            </a:r>
          </a:p>
          <a:p>
            <a:endParaRPr lang="es-ES" dirty="0">
              <a:latin typeface="+mn-lt"/>
            </a:endParaRPr>
          </a:p>
          <a:p>
            <a:r>
              <a:rPr lang="es-ES" dirty="0">
                <a:latin typeface="+mn-lt"/>
              </a:rPr>
              <a:t>- Pero pueden cambiar algunos aspectos, para adaptarse a los/as entrevistado/as:</a:t>
            </a:r>
          </a:p>
          <a:p>
            <a:pPr marL="384048" lvl="2" indent="0">
              <a:buNone/>
            </a:pPr>
            <a:endParaRPr lang="es-ES" dirty="0">
              <a:latin typeface="+mn-lt"/>
            </a:endParaRPr>
          </a:p>
          <a:p>
            <a:pPr marL="384048" lvl="2" indent="0">
              <a:buNone/>
            </a:pPr>
            <a:r>
              <a:rPr lang="es-ES" dirty="0">
                <a:latin typeface="+mn-lt"/>
              </a:rPr>
              <a:t>		- Orden de las preguntas</a:t>
            </a:r>
          </a:p>
          <a:p>
            <a:pPr marL="384048" lvl="2" indent="0">
              <a:buNone/>
            </a:pPr>
            <a:r>
              <a:rPr lang="es-ES" dirty="0">
                <a:latin typeface="+mn-lt"/>
              </a:rPr>
              <a:t>		- Cómo es preguntada la información</a:t>
            </a:r>
          </a:p>
          <a:p>
            <a:pPr marL="384048" lvl="2" indent="0">
              <a:buNone/>
            </a:pPr>
            <a:r>
              <a:rPr lang="es-ES" dirty="0">
                <a:latin typeface="+mn-lt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2549770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9A3203-6D3E-4C38-B12F-569264E6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pPr defTabSz="457200"/>
            <a:r>
              <a:rPr lang="es-ES" sz="3600" b="1" i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latin typeface="+mn-lt"/>
                <a:ea typeface="+mn-ea"/>
                <a:cs typeface="+mn-cs"/>
              </a:rPr>
              <a:t>Focus Groups </a:t>
            </a:r>
            <a:r>
              <a:rPr lang="es-ES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latin typeface="+mn-lt"/>
                <a:ea typeface="+mn-ea"/>
                <a:cs typeface="+mn-cs"/>
              </a:rPr>
              <a:t>o Grupos de Enfoque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F235CC-83CB-4652-A7E7-484180CB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s-ES">
                <a:latin typeface="+mn-lt"/>
              </a:rPr>
              <a:t>- Entrevista grupal para conocer la opinión de un conjunto de personas</a:t>
            </a:r>
          </a:p>
          <a:p>
            <a:endParaRPr lang="es-ES">
              <a:latin typeface="+mn-lt"/>
            </a:endParaRPr>
          </a:p>
          <a:p>
            <a:r>
              <a:rPr lang="es-ES">
                <a:latin typeface="+mn-lt"/>
              </a:rPr>
              <a:t>- Un moderador formula preguntas y facilita el diálogo</a:t>
            </a:r>
          </a:p>
          <a:p>
            <a:endParaRPr lang="es-ES">
              <a:latin typeface="+mn-lt"/>
            </a:endParaRPr>
          </a:p>
          <a:p>
            <a:r>
              <a:rPr lang="es-ES">
                <a:latin typeface="+mn-lt"/>
              </a:rPr>
              <a:t>- Un observador registra las respuestas y lo que sucede</a:t>
            </a:r>
          </a:p>
          <a:p>
            <a:pPr marL="384048" lvl="2" indent="0">
              <a:buNone/>
            </a:pPr>
            <a:r>
              <a:rPr lang="es-ES">
                <a:latin typeface="+mn-lt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4545739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9A3203-6D3E-4C38-B12F-569264E6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pPr defTabSz="457200"/>
            <a:r>
              <a:rPr lang="es-ES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latin typeface="+mn-lt"/>
                <a:ea typeface="+mn-ea"/>
                <a:cs typeface="+mn-cs"/>
              </a:rPr>
              <a:t>Otras Modalidades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F235CC-83CB-4652-A7E7-484180CB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s-ES">
                <a:latin typeface="+mn-lt"/>
              </a:rPr>
              <a:t>- Entrevistas por teléfono</a:t>
            </a:r>
          </a:p>
          <a:p>
            <a:endParaRPr lang="es-ES">
              <a:latin typeface="+mn-lt"/>
            </a:endParaRPr>
          </a:p>
          <a:p>
            <a:r>
              <a:rPr lang="es-ES">
                <a:latin typeface="+mn-lt"/>
              </a:rPr>
              <a:t>- Entrevistas en la calle</a:t>
            </a:r>
          </a:p>
          <a:p>
            <a:endParaRPr lang="es-ES">
              <a:latin typeface="+mn-lt"/>
            </a:endParaRPr>
          </a:p>
          <a:p>
            <a:r>
              <a:rPr lang="es-ES">
                <a:latin typeface="+mn-lt"/>
              </a:rPr>
              <a:t>- … </a:t>
            </a:r>
          </a:p>
          <a:p>
            <a:pPr marL="384048" lvl="2" indent="0">
              <a:buNone/>
            </a:pPr>
            <a:r>
              <a:rPr lang="es-ES">
                <a:latin typeface="+mn-lt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2523874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155A8-07E6-4679-8385-E9F8B1F81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68" y="1534886"/>
            <a:ext cx="10815864" cy="3581400"/>
          </a:xfrm>
        </p:spPr>
        <p:txBody>
          <a:bodyPr>
            <a:normAutofit/>
          </a:bodyPr>
          <a:lstStyle/>
          <a:p>
            <a:r>
              <a:rPr lang="es-ES" sz="2000" dirty="0">
                <a:latin typeface="+mn-lt"/>
              </a:rPr>
              <a:t>- ¿El/la entrevistado contesta lo que el/la entrevistador/a quiere escuchar?</a:t>
            </a: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r>
              <a:rPr lang="es-ES" sz="2000" dirty="0">
                <a:latin typeface="+mn-lt"/>
              </a:rPr>
              <a:t>- Temas más complicados al inicio de la entrevista</a:t>
            </a: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r>
              <a:rPr lang="es-ES" sz="2000" dirty="0">
                <a:latin typeface="+mn-lt"/>
              </a:rPr>
              <a:t>- Utilizar “sondas” cuando sea necesario</a:t>
            </a: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r>
              <a:rPr lang="es-ES" sz="2000" dirty="0">
                <a:latin typeface="+mn-lt"/>
              </a:rPr>
              <a:t>- ¿Cómo afectan los aspectos no verbales?</a:t>
            </a: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r>
              <a:rPr lang="es-ES" sz="2000" dirty="0">
                <a:latin typeface="+mn-lt"/>
              </a:rPr>
              <a:t>- ¿Qué pasa con temas “sensibles”?</a:t>
            </a:r>
            <a:br>
              <a:rPr lang="es-ES" sz="2000" dirty="0">
                <a:latin typeface="+mn-lt"/>
              </a:rPr>
            </a:br>
            <a:endParaRPr lang="es-ES" sz="2000" dirty="0">
              <a:latin typeface="+mn-lt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18F614-60AC-4CC6-8D9F-21B053A1BB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750" y="783772"/>
            <a:ext cx="10515600" cy="914400"/>
          </a:xfrm>
        </p:spPr>
        <p:txBody>
          <a:bodyPr>
            <a:normAutofit/>
          </a:bodyPr>
          <a:lstStyle/>
          <a:p>
            <a:r>
              <a:rPr lang="es-ES" sz="1600" dirty="0">
                <a:latin typeface="+mn-lt"/>
              </a:rPr>
              <a:t>¿cómo preguntar?</a:t>
            </a:r>
          </a:p>
        </p:txBody>
      </p:sp>
    </p:spTree>
    <p:extLst>
      <p:ext uri="{BB962C8B-B14F-4D97-AF65-F5344CB8AC3E}">
        <p14:creationId xmlns:p14="http://schemas.microsoft.com/office/powerpoint/2010/main" val="209698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E016A9D-9FCD-4461-A2C9-A3A079D51F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518" y="780627"/>
            <a:ext cx="6666964" cy="505022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F5354442-09B6-47B3-8456-D0F65945A0D2}"/>
              </a:ext>
            </a:extLst>
          </p:cNvPr>
          <p:cNvSpPr/>
          <p:nvPr/>
        </p:nvSpPr>
        <p:spPr>
          <a:xfrm>
            <a:off x="259080" y="-286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es-ES" dirty="0"/>
            </a:br>
            <a:r>
              <a:rPr lang="es-ES" dirty="0"/>
              <a:t> ¿Qué pasa con temas “sensibles”?</a:t>
            </a:r>
          </a:p>
        </p:txBody>
      </p:sp>
    </p:spTree>
    <p:extLst>
      <p:ext uri="{BB962C8B-B14F-4D97-AF65-F5344CB8AC3E}">
        <p14:creationId xmlns:p14="http://schemas.microsoft.com/office/powerpoint/2010/main" val="108050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CEF691-ED54-4257-AAFC-977641F81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r>
              <a:rPr lang="es-ES" sz="1500">
                <a:solidFill>
                  <a:srgbClr val="FFFFFF"/>
                </a:solidFill>
                <a:latin typeface="+mn-lt"/>
              </a:rPr>
              <a:t>Para registrar, codificar y analizar los resultados, deben diseñarse estrategias sistemáticas y organizadas</a:t>
            </a:r>
          </a:p>
          <a:p>
            <a:endParaRPr lang="es-ES" sz="1500">
              <a:solidFill>
                <a:srgbClr val="FFFFFF"/>
              </a:solidFill>
              <a:latin typeface="+mn-lt"/>
            </a:endParaRPr>
          </a:p>
          <a:p>
            <a:endParaRPr lang="es-ES" sz="1500">
              <a:solidFill>
                <a:srgbClr val="FFFFFF"/>
              </a:solidFill>
              <a:latin typeface="+mn-lt"/>
            </a:endParaRPr>
          </a:p>
          <a:p>
            <a:endParaRPr lang="es-ES" sz="15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69E1755-6C47-453A-A288-91D1A8CF5E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017" y="1559528"/>
            <a:ext cx="6798082" cy="373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507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Registro</a:t>
            </a:r>
            <a:r>
              <a:rPr b="1" dirty="0"/>
              <a:t> de </a:t>
            </a:r>
            <a:r>
              <a:rPr b="1" dirty="0" err="1"/>
              <a:t>datos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Grabaciones</a:t>
            </a:r>
          </a:p>
          <a:p>
            <a:r>
              <a:t>Notas de campo</a:t>
            </a:r>
          </a:p>
          <a:p>
            <a:r>
              <a:t>Transcripciones</a:t>
            </a:r>
          </a:p>
          <a:p>
            <a:r>
              <a:t>Registrar contexto y reflexiones</a:t>
            </a:r>
          </a:p>
        </p:txBody>
      </p:sp>
    </p:spTree>
    <p:extLst>
      <p:ext uri="{BB962C8B-B14F-4D97-AF65-F5344CB8AC3E}">
        <p14:creationId xmlns:p14="http://schemas.microsoft.com/office/powerpoint/2010/main" val="34130066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Análisis</a:t>
            </a:r>
            <a:r>
              <a:rPr b="1" dirty="0"/>
              <a:t> de </a:t>
            </a:r>
            <a:r>
              <a:rPr b="1" dirty="0" err="1"/>
              <a:t>datos</a:t>
            </a:r>
            <a:r>
              <a:rPr b="1" dirty="0"/>
              <a:t> </a:t>
            </a:r>
            <a:r>
              <a:rPr b="1" dirty="0" err="1"/>
              <a:t>cualitativos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Organizar datos</a:t>
            </a:r>
          </a:p>
          <a:p>
            <a:r>
              <a:t>Leer y familiarizarse</a:t>
            </a:r>
          </a:p>
          <a:p>
            <a:r>
              <a:t>Codificar</a:t>
            </a:r>
          </a:p>
          <a:p>
            <a:r>
              <a:t>Generar categorías</a:t>
            </a:r>
          </a:p>
          <a:p>
            <a:r>
              <a:t>Construir temas</a:t>
            </a:r>
          </a:p>
        </p:txBody>
      </p:sp>
    </p:spTree>
    <p:extLst>
      <p:ext uri="{BB962C8B-B14F-4D97-AF65-F5344CB8AC3E}">
        <p14:creationId xmlns:p14="http://schemas.microsoft.com/office/powerpoint/2010/main" val="29968344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Codificación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Asignar etiquetas a fragmentos de texto</a:t>
            </a:r>
          </a:p>
          <a:p>
            <a:r>
              <a:t>Ejemplo: estrés académico, apoyo social</a:t>
            </a:r>
          </a:p>
        </p:txBody>
      </p:sp>
    </p:spTree>
    <p:extLst>
      <p:ext uri="{BB962C8B-B14F-4D97-AF65-F5344CB8AC3E}">
        <p14:creationId xmlns:p14="http://schemas.microsoft.com/office/powerpoint/2010/main" val="30306594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title"/>
          </p:nvPr>
        </p:nvSpPr>
        <p:spPr>
          <a:xfrm>
            <a:off x="1480675" y="1125048"/>
            <a:ext cx="9230650" cy="766350"/>
          </a:xfrm>
          <a:prstGeom prst="rect">
            <a:avLst/>
          </a:prstGeom>
        </p:spPr>
        <p:txBody>
          <a:bodyPr spcFirstLastPara="1" vert="horz" wrap="square" lIns="99044" tIns="99044" rIns="99044" bIns="99044" rtlCol="0" anchor="t" anchorCtr="0">
            <a:normAutofit fontScale="90000"/>
          </a:bodyPr>
          <a:lstStyle/>
          <a:p>
            <a:r>
              <a:rPr lang="es" b="1" dirty="0"/>
              <a:t>Análisis de datos cualitativos</a:t>
            </a:r>
            <a:endParaRPr b="1" dirty="0"/>
          </a:p>
        </p:txBody>
      </p:sp>
      <p:sp>
        <p:nvSpPr>
          <p:cNvPr id="207" name="Google Shape;207;p27"/>
          <p:cNvSpPr/>
          <p:nvPr/>
        </p:nvSpPr>
        <p:spPr>
          <a:xfrm>
            <a:off x="5033089" y="2214692"/>
            <a:ext cx="2213250" cy="7065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algn="ctr" defTabSz="990570">
              <a:buClr>
                <a:srgbClr val="000000"/>
              </a:buClr>
            </a:pPr>
            <a:r>
              <a:rPr lang="es" sz="1083" ker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Codificación Teórica</a:t>
            </a:r>
            <a:endParaRPr sz="1517" kern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7620985" y="4539582"/>
            <a:ext cx="2213250" cy="706550"/>
          </a:xfrm>
          <a:prstGeom prst="roundRect">
            <a:avLst>
              <a:gd name="adj" fmla="val 50000"/>
            </a:avLst>
          </a:prstGeom>
          <a:solidFill>
            <a:srgbClr val="1D7E74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algn="ctr" defTabSz="990570">
              <a:buClr>
                <a:srgbClr val="000000"/>
              </a:buClr>
            </a:pPr>
            <a:r>
              <a:rPr lang="es" sz="1083" ker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Codificación Selectiva</a:t>
            </a:r>
            <a:endParaRPr sz="1517" kern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2445194" y="4539582"/>
            <a:ext cx="2213250" cy="706550"/>
          </a:xfrm>
          <a:prstGeom prst="roundRect">
            <a:avLst>
              <a:gd name="adj" fmla="val 50000"/>
            </a:avLst>
          </a:prstGeom>
          <a:solidFill>
            <a:srgbClr val="1D7E74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algn="ctr" defTabSz="990570">
              <a:buClr>
                <a:srgbClr val="000000"/>
              </a:buClr>
            </a:pPr>
            <a:r>
              <a:rPr lang="es" sz="1083" ker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Codificación Abierta</a:t>
            </a:r>
            <a:endParaRPr sz="1517" kern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210" name="Google Shape;210;p27"/>
          <p:cNvCxnSpPr>
            <a:stCxn id="207" idx="2"/>
            <a:endCxn id="208" idx="0"/>
          </p:cNvCxnSpPr>
          <p:nvPr/>
        </p:nvCxnSpPr>
        <p:spPr>
          <a:xfrm rot="-5400000" flipH="1">
            <a:off x="6624451" y="2436505"/>
            <a:ext cx="1618500" cy="2587975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1" name="Google Shape;211;p27"/>
          <p:cNvCxnSpPr>
            <a:stCxn id="209" idx="0"/>
            <a:endCxn id="207" idx="2"/>
          </p:cNvCxnSpPr>
          <p:nvPr/>
        </p:nvCxnSpPr>
        <p:spPr>
          <a:xfrm rot="-5400000">
            <a:off x="4036556" y="2436346"/>
            <a:ext cx="1618500" cy="2587975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2" name="Google Shape;212;p27"/>
          <p:cNvCxnSpPr/>
          <p:nvPr/>
        </p:nvCxnSpPr>
        <p:spPr>
          <a:xfrm rot="-5400000">
            <a:off x="5440998" y="3840505"/>
            <a:ext cx="1397500" cy="65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7"/>
          <p:cNvSpPr/>
          <p:nvPr/>
        </p:nvSpPr>
        <p:spPr>
          <a:xfrm>
            <a:off x="5144975" y="4539582"/>
            <a:ext cx="2213250" cy="706550"/>
          </a:xfrm>
          <a:prstGeom prst="roundRect">
            <a:avLst>
              <a:gd name="adj" fmla="val 50000"/>
            </a:avLst>
          </a:prstGeom>
          <a:solidFill>
            <a:srgbClr val="1D7E74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algn="ctr" defTabSz="990570">
              <a:buClr>
                <a:srgbClr val="000000"/>
              </a:buClr>
            </a:pPr>
            <a:r>
              <a:rPr lang="es" sz="1083" ker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Codificación Axial</a:t>
            </a:r>
            <a:endParaRPr sz="1083" kern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459855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31"/>
          <p:cNvGrpSpPr/>
          <p:nvPr/>
        </p:nvGrpSpPr>
        <p:grpSpPr>
          <a:xfrm>
            <a:off x="1480648" y="4482807"/>
            <a:ext cx="9230542" cy="1414337"/>
            <a:chOff x="1593000" y="2322563"/>
            <a:chExt cx="5957975" cy="643504"/>
          </a:xfrm>
          <a:noFill/>
        </p:grpSpPr>
        <p:sp>
          <p:nvSpPr>
            <p:cNvPr id="244" name="Google Shape;244;p31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45" name="Google Shape;245;p31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46" name="Google Shape;246;p31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2370980" y="2396371"/>
              <a:ext cx="1940700" cy="495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lnSpc>
                  <a:spcPct val="115000"/>
                </a:lnSpc>
                <a:buClr>
                  <a:srgbClr val="000000"/>
                </a:buClr>
              </a:pPr>
              <a:r>
                <a:rPr lang="es" kern="0">
                  <a:solidFill>
                    <a:srgbClr val="000000"/>
                  </a:solidFill>
                  <a:latin typeface="+mj-lt"/>
                  <a:ea typeface="Roboto Medium"/>
                  <a:cs typeface="Roboto Medium"/>
                  <a:sym typeface="Roboto Medium"/>
                </a:rPr>
                <a:t>Análisis Global</a:t>
              </a:r>
              <a:endParaRPr kern="0">
                <a:solidFill>
                  <a:srgbClr val="000000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grpFill/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algn="ctr" defTabSz="990570">
                <a:buClr>
                  <a:srgbClr val="000000"/>
                </a:buClr>
              </a:pPr>
              <a:r>
                <a:rPr lang="es" sz="3600" kern="0">
                  <a:solidFill>
                    <a:srgbClr val="FFFFFF"/>
                  </a:solidFill>
                  <a:latin typeface="+mj-lt"/>
                  <a:ea typeface="Roboto Thin"/>
                  <a:cs typeface="Roboto Thin"/>
                  <a:sym typeface="Roboto Thin"/>
                </a:rPr>
                <a:t>03</a:t>
              </a:r>
              <a:endParaRPr sz="3600" kern="0">
                <a:solidFill>
                  <a:srgbClr val="FFFFFF"/>
                </a:solidFill>
                <a:latin typeface="+mj-lt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4484093" y="2322563"/>
              <a:ext cx="2971200" cy="642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marL="495285" indent="-323311" defTabSz="990570">
                <a:lnSpc>
                  <a:spcPct val="115000"/>
                </a:lnSpc>
                <a:buClr>
                  <a:srgbClr val="1B786E"/>
                </a:buClr>
                <a:buSzPts val="1100"/>
                <a:buFont typeface="Roboto"/>
                <a:buChar char="●"/>
              </a:pPr>
              <a:r>
                <a:rPr lang="es" sz="14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Panorámica general de la amplitud temática de la información que debe analizarse.</a:t>
              </a:r>
              <a:endParaRPr sz="14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495285" indent="-323311" defTabSz="990570">
                <a:lnSpc>
                  <a:spcPct val="115000"/>
                </a:lnSpc>
                <a:buClr>
                  <a:srgbClr val="1B786E"/>
                </a:buClr>
                <a:buSzPts val="1100"/>
                <a:buFont typeface="Roboto"/>
                <a:buChar char="●"/>
              </a:pPr>
              <a:r>
                <a:rPr lang="es" sz="14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La pregunta de investigación se  introduce al texto.</a:t>
              </a:r>
              <a:endParaRPr sz="14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495285" indent="-323311" defTabSz="990570">
                <a:lnSpc>
                  <a:spcPct val="115000"/>
                </a:lnSpc>
                <a:buClr>
                  <a:srgbClr val="1B786E"/>
                </a:buClr>
                <a:buSzPts val="1100"/>
                <a:buFont typeface="Roboto"/>
                <a:buChar char="●"/>
              </a:pPr>
              <a:r>
                <a:rPr lang="es" sz="14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Limitaciones: Aplicar un sistema de categorías que trasciende el caso individual.</a:t>
              </a:r>
              <a:endParaRPr sz="14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1" name="Google Shape;251;p31"/>
          <p:cNvGrpSpPr/>
          <p:nvPr/>
        </p:nvGrpSpPr>
        <p:grpSpPr>
          <a:xfrm>
            <a:off x="1480648" y="930654"/>
            <a:ext cx="9230542" cy="3551994"/>
            <a:chOff x="1593000" y="1741232"/>
            <a:chExt cx="5957975" cy="1224836"/>
          </a:xfrm>
          <a:noFill/>
        </p:grpSpPr>
        <p:sp>
          <p:nvSpPr>
            <p:cNvPr id="252" name="Google Shape;252;p31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3515428" y="1741232"/>
              <a:ext cx="1940700" cy="495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lnSpc>
                  <a:spcPct val="115000"/>
                </a:lnSpc>
                <a:buClr>
                  <a:srgbClr val="000000"/>
                </a:buClr>
              </a:pPr>
              <a:r>
                <a:rPr lang="es" kern="0">
                  <a:solidFill>
                    <a:srgbClr val="FFFFFF"/>
                  </a:solidFill>
                  <a:latin typeface="+mj-lt"/>
                  <a:ea typeface="Roboto Medium"/>
                  <a:cs typeface="Roboto Medium"/>
                  <a:sym typeface="Roboto Medium"/>
                </a:rPr>
                <a:t>Análisis Cualitativo del contenido</a:t>
              </a:r>
              <a:endParaRPr kern="0">
                <a:solidFill>
                  <a:srgbClr val="FFFFFF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grpFill/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algn="ctr" defTabSz="990570">
                <a:buClr>
                  <a:srgbClr val="000000"/>
                </a:buClr>
              </a:pPr>
              <a:r>
                <a:rPr lang="es" sz="3600" kern="0">
                  <a:solidFill>
                    <a:srgbClr val="FFFFFF"/>
                  </a:solidFill>
                  <a:latin typeface="+mj-lt"/>
                  <a:ea typeface="Roboto Thin"/>
                  <a:cs typeface="Roboto Thin"/>
                  <a:sym typeface="Roboto Thin"/>
                </a:rPr>
                <a:t>02</a:t>
              </a:r>
              <a:endParaRPr sz="3600" kern="0">
                <a:solidFill>
                  <a:srgbClr val="FFFFFF"/>
                </a:solidFill>
                <a:latin typeface="+mj-lt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4424358" y="2316467"/>
              <a:ext cx="3126600" cy="642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marL="495285" indent="-316432" defTabSz="990570">
                <a:lnSpc>
                  <a:spcPct val="115000"/>
                </a:lnSpc>
                <a:buClr>
                  <a:srgbClr val="1B786E"/>
                </a:buClr>
                <a:buSzPts val="1000"/>
                <a:buFont typeface="Roboto"/>
                <a:buChar char="●"/>
              </a:pPr>
              <a:r>
                <a:rPr lang="es" sz="12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Uso esencial de categorías.</a:t>
              </a:r>
              <a:endParaRPr sz="12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495285" indent="-316432" defTabSz="990570">
                <a:lnSpc>
                  <a:spcPct val="115000"/>
                </a:lnSpc>
                <a:buClr>
                  <a:srgbClr val="1B786E"/>
                </a:buClr>
                <a:buSzPts val="1000"/>
                <a:buFont typeface="Roboto"/>
                <a:buChar char="●"/>
              </a:pPr>
              <a:r>
                <a:rPr lang="es" sz="12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Técnicas</a:t>
              </a:r>
              <a:endParaRPr sz="12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990570" lvl="1" indent="-316432" defTabSz="990570">
                <a:lnSpc>
                  <a:spcPct val="115000"/>
                </a:lnSpc>
                <a:buClr>
                  <a:srgbClr val="1B786E"/>
                </a:buClr>
                <a:buSzPts val="1000"/>
                <a:buFont typeface="Roboto"/>
                <a:buChar char="○"/>
              </a:pPr>
              <a:r>
                <a:rPr lang="es" sz="12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Resumir el análisis del contenido</a:t>
              </a:r>
              <a:endParaRPr sz="12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990570" lvl="1" indent="-316432" defTabSz="990570">
                <a:lnSpc>
                  <a:spcPct val="115000"/>
                </a:lnSpc>
                <a:buClr>
                  <a:srgbClr val="1B786E"/>
                </a:buClr>
                <a:buSzPts val="1000"/>
                <a:buFont typeface="Roboto"/>
                <a:buChar char="○"/>
              </a:pPr>
              <a:r>
                <a:rPr lang="es" sz="12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Análisis explicativo del contenido</a:t>
              </a:r>
              <a:endParaRPr sz="12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990570" lvl="1" indent="-316432" defTabSz="990570">
                <a:lnSpc>
                  <a:spcPct val="115000"/>
                </a:lnSpc>
                <a:buClr>
                  <a:srgbClr val="1B786E"/>
                </a:buClr>
                <a:buSzPts val="1000"/>
                <a:buFont typeface="Roboto"/>
                <a:buChar char="○"/>
              </a:pPr>
              <a:r>
                <a:rPr lang="es" sz="12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Análisis estructura del contenido</a:t>
              </a:r>
              <a:endParaRPr sz="12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495285" indent="-316432" defTabSz="990570">
                <a:lnSpc>
                  <a:spcPct val="115000"/>
                </a:lnSpc>
                <a:buClr>
                  <a:srgbClr val="1B786E"/>
                </a:buClr>
                <a:buSzPts val="1000"/>
                <a:buFont typeface="Roboto"/>
                <a:buChar char="●"/>
              </a:pPr>
              <a:r>
                <a:rPr lang="es" sz="1200" kern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Limitaciones: El exceso de estructuración del proceso puede ser costoso. Además el uso de paráfrasis puede desviar el significado que se busca transmitir en la información recolectada. </a:t>
              </a:r>
              <a:endParaRPr sz="1200" kern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9" name="Google Shape;259;p31"/>
          <p:cNvGrpSpPr/>
          <p:nvPr/>
        </p:nvGrpSpPr>
        <p:grpSpPr>
          <a:xfrm>
            <a:off x="1480648" y="930737"/>
            <a:ext cx="9230542" cy="1719808"/>
            <a:chOff x="1593000" y="2322568"/>
            <a:chExt cx="5957975" cy="643500"/>
          </a:xfrm>
          <a:noFill/>
        </p:grpSpPr>
        <p:sp>
          <p:nvSpPr>
            <p:cNvPr id="260" name="Google Shape;260;p31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lnSpc>
                  <a:spcPct val="115000"/>
                </a:lnSpc>
                <a:buClr>
                  <a:srgbClr val="000000"/>
                </a:buClr>
              </a:pPr>
              <a:r>
                <a:rPr lang="es" kern="0" dirty="0">
                  <a:solidFill>
                    <a:srgbClr val="000000"/>
                  </a:solidFill>
                  <a:latin typeface="+mj-lt"/>
                  <a:ea typeface="Roboto Medium"/>
                  <a:cs typeface="Roboto Medium"/>
                  <a:sym typeface="Roboto Medium"/>
                </a:rPr>
                <a:t>Codificación Temática</a:t>
              </a:r>
              <a:endParaRPr kern="0" dirty="0">
                <a:solidFill>
                  <a:srgbClr val="000000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grpFill/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defTabSz="990570">
                <a:buClr>
                  <a:srgbClr val="000000"/>
                </a:buClr>
              </a:pPr>
              <a:endParaRPr kern="0">
                <a:solidFill>
                  <a:srgbClr val="000000"/>
                </a:solidFill>
                <a:latin typeface="+mj-lt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algn="ctr" defTabSz="990570">
                <a:buClr>
                  <a:srgbClr val="000000"/>
                </a:buClr>
              </a:pPr>
              <a:r>
                <a:rPr lang="es" sz="3600" kern="0">
                  <a:solidFill>
                    <a:srgbClr val="FFFFFF"/>
                  </a:solidFill>
                  <a:latin typeface="+mj-lt"/>
                  <a:ea typeface="Roboto Thin"/>
                  <a:cs typeface="Roboto Thin"/>
                  <a:sym typeface="Roboto Thin"/>
                </a:rPr>
                <a:t>01</a:t>
              </a:r>
              <a:endParaRPr sz="3600" kern="0">
                <a:solidFill>
                  <a:srgbClr val="FFFFFF"/>
                </a:solidFill>
                <a:latin typeface="+mj-lt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9044" tIns="99044" rIns="99044" bIns="99044" anchor="ctr" anchorCtr="0">
              <a:noAutofit/>
            </a:bodyPr>
            <a:lstStyle/>
            <a:p>
              <a:pPr marL="495285" indent="-323311" defTabSz="990570">
                <a:lnSpc>
                  <a:spcPct val="115000"/>
                </a:lnSpc>
                <a:buClr>
                  <a:srgbClr val="1B786E"/>
                </a:buClr>
                <a:buSzPts val="1100"/>
                <a:buFont typeface="Roboto"/>
                <a:buChar char="●"/>
              </a:pPr>
              <a:r>
                <a:rPr lang="es" sz="1400" kern="0" dirty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Uso en estudios comparativos, de grupos elegidos </a:t>
              </a:r>
              <a:r>
                <a:rPr lang="es" sz="1400" i="1" kern="0" dirty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a priori</a:t>
              </a:r>
              <a:r>
                <a:rPr lang="es" sz="1400" kern="0" dirty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 del tema de investigación. </a:t>
              </a:r>
              <a:endParaRPr sz="1400" kern="0" dirty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495285" indent="-323311" defTabSz="990570">
                <a:lnSpc>
                  <a:spcPct val="115000"/>
                </a:lnSpc>
                <a:buClr>
                  <a:srgbClr val="1B786E"/>
                </a:buClr>
                <a:buSzPts val="1100"/>
                <a:buFont typeface="Roboto"/>
                <a:buChar char="●"/>
              </a:pPr>
              <a:r>
                <a:rPr lang="es" sz="1400" kern="0" dirty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El análisis se lleva de manera individual a cada caso</a:t>
              </a:r>
              <a:endParaRPr sz="1400" kern="0" dirty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  <a:p>
              <a:pPr marL="495285" indent="-323311" defTabSz="990570">
                <a:lnSpc>
                  <a:spcPct val="115000"/>
                </a:lnSpc>
                <a:buClr>
                  <a:srgbClr val="1B786E"/>
                </a:buClr>
                <a:buSzPts val="1100"/>
                <a:buFont typeface="Roboto"/>
                <a:buChar char="●"/>
              </a:pPr>
              <a:r>
                <a:rPr lang="es" sz="1400" kern="0" dirty="0">
                  <a:solidFill>
                    <a:srgbClr val="1B786E"/>
                  </a:solidFill>
                  <a:latin typeface="+mj-lt"/>
                  <a:ea typeface="Roboto"/>
                  <a:cs typeface="Roboto"/>
                  <a:sym typeface="Roboto"/>
                </a:rPr>
                <a:t>Limitaciones: Restricción del desarrollo de teoría.</a:t>
              </a:r>
              <a:endParaRPr sz="1400" kern="0" dirty="0">
                <a:solidFill>
                  <a:srgbClr val="1B786E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7" name="Google Shape;267;p31"/>
          <p:cNvSpPr/>
          <p:nvPr/>
        </p:nvSpPr>
        <p:spPr>
          <a:xfrm>
            <a:off x="2595143" y="2779385"/>
            <a:ext cx="3006575" cy="126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defTabSz="990570">
              <a:lnSpc>
                <a:spcPct val="115000"/>
              </a:lnSpc>
              <a:buClr>
                <a:srgbClr val="000000"/>
              </a:buClr>
            </a:pPr>
            <a:r>
              <a:rPr lang="es" kern="0">
                <a:solidFill>
                  <a:srgbClr val="000000"/>
                </a:solidFill>
                <a:latin typeface="+mj-lt"/>
                <a:ea typeface="Roboto Medium"/>
                <a:cs typeface="Roboto Medium"/>
                <a:sym typeface="Roboto Medium"/>
              </a:rPr>
              <a:t>Análisis Cualitativo de Contenido</a:t>
            </a:r>
            <a:endParaRPr kern="0">
              <a:solidFill>
                <a:srgbClr val="000000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10288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Interpretación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Identificar patrones</a:t>
            </a:r>
          </a:p>
          <a:p>
            <a:r>
              <a:t>Construir significados</a:t>
            </a:r>
          </a:p>
          <a:p>
            <a:r>
              <a:t>Desarrollar explicaciones</a:t>
            </a:r>
          </a:p>
        </p:txBody>
      </p:sp>
    </p:spTree>
    <p:extLst>
      <p:ext uri="{BB962C8B-B14F-4D97-AF65-F5344CB8AC3E}">
        <p14:creationId xmlns:p14="http://schemas.microsoft.com/office/powerpoint/2010/main" val="22287604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Validez</a:t>
            </a:r>
            <a:r>
              <a:rPr b="1" dirty="0"/>
              <a:t> </a:t>
            </a:r>
            <a:r>
              <a:rPr b="1" dirty="0" err="1"/>
              <a:t>en</a:t>
            </a:r>
            <a:r>
              <a:rPr b="1" dirty="0"/>
              <a:t> </a:t>
            </a:r>
            <a:r>
              <a:rPr b="1" dirty="0" err="1"/>
              <a:t>cualitativo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Triangulación</a:t>
            </a:r>
          </a:p>
          <a:p>
            <a:r>
              <a:t>Revisión por participantes</a:t>
            </a:r>
          </a:p>
          <a:p>
            <a:r>
              <a:t>Descripción detallada</a:t>
            </a:r>
          </a:p>
          <a:p>
            <a:r>
              <a:t>Reflexividad</a:t>
            </a:r>
          </a:p>
        </p:txBody>
      </p:sp>
    </p:spTree>
    <p:extLst>
      <p:ext uri="{BB962C8B-B14F-4D97-AF65-F5344CB8AC3E}">
        <p14:creationId xmlns:p14="http://schemas.microsoft.com/office/powerpoint/2010/main" val="354383709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etrospecció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e Office">
  <a:themeElements>
    <a:clrScheme name="HealthFitness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87A91B"/>
      </a:accent1>
      <a:accent2>
        <a:srgbClr val="FBCE11"/>
      </a:accent2>
      <a:accent3>
        <a:srgbClr val="446ED8"/>
      </a:accent3>
      <a:accent4>
        <a:srgbClr val="9D22E2"/>
      </a:accent4>
      <a:accent5>
        <a:srgbClr val="FE9E00"/>
      </a:accent5>
      <a:accent6>
        <a:srgbClr val="DF5327"/>
      </a:accent6>
      <a:hlink>
        <a:srgbClr val="446ED8"/>
      </a:hlink>
      <a:folHlink>
        <a:srgbClr val="828282"/>
      </a:folHlink>
    </a:clrScheme>
    <a:fontScheme name="Calibri Light">
      <a:majorFont>
        <a:latin typeface="Calibri Light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HealthFitness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87A91B"/>
      </a:accent1>
      <a:accent2>
        <a:srgbClr val="FBCE11"/>
      </a:accent2>
      <a:accent3>
        <a:srgbClr val="446ED8"/>
      </a:accent3>
      <a:accent4>
        <a:srgbClr val="9D22E2"/>
      </a:accent4>
      <a:accent5>
        <a:srgbClr val="FE9E00"/>
      </a:accent5>
      <a:accent6>
        <a:srgbClr val="DF5327"/>
      </a:accent6>
      <a:hlink>
        <a:srgbClr val="446ED8"/>
      </a:hlink>
      <a:folHlink>
        <a:srgbClr val="828282"/>
      </a:folHlink>
    </a:clrScheme>
    <a:fontScheme name="Calibri Light">
      <a:majorFont>
        <a:latin typeface="Calibri Light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3795</TotalTime>
  <Words>1752</Words>
  <Application>Microsoft Macintosh PowerPoint</Application>
  <PresentationFormat>Widescreen</PresentationFormat>
  <Paragraphs>325</Paragraphs>
  <Slides>47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Abadi</vt:lpstr>
      <vt:lpstr>Arial</vt:lpstr>
      <vt:lpstr>Calibri</vt:lpstr>
      <vt:lpstr>Calibri Light</vt:lpstr>
      <vt:lpstr>Roboto</vt:lpstr>
      <vt:lpstr>Times New Roman</vt:lpstr>
      <vt:lpstr>Retrospección</vt:lpstr>
      <vt:lpstr>Investigación en Psicología Comunitaria</vt:lpstr>
      <vt:lpstr>El proceso de investigación</vt:lpstr>
      <vt:lpstr>Problema de investigación</vt:lpstr>
      <vt:lpstr>Problema de investigación</vt:lpstr>
      <vt:lpstr>Pregunta de investigación</vt:lpstr>
      <vt:lpstr>Objetivos de investigación</vt:lpstr>
      <vt:lpstr>Objetivos de investigación</vt:lpstr>
      <vt:lpstr>Objetivos de investigación</vt:lpstr>
      <vt:lpstr>Objetivos de investigación</vt:lpstr>
      <vt:lpstr>Objetivos de investigación</vt:lpstr>
      <vt:lpstr>Distintos diseños posibles</vt:lpstr>
      <vt:lpstr>Producción de datos y análisis cualitativo</vt:lpstr>
      <vt:lpstr>¿Qué es la investigación cualitativa?</vt:lpstr>
      <vt:lpstr>Características centrales</vt:lpstr>
      <vt:lpstr>Rol del investigador</vt:lpstr>
      <vt:lpstr>Diseño cualitativo</vt:lpstr>
      <vt:lpstr>Estrategias cualitativas principales</vt:lpstr>
      <vt:lpstr>Selección de participantes</vt:lpstr>
      <vt:lpstr>PowerPoint Presentation</vt:lpstr>
      <vt:lpstr>PowerPoint Presentation</vt:lpstr>
      <vt:lpstr>1. Observación </vt:lpstr>
      <vt:lpstr>Hagenzieker, 1991</vt:lpstr>
      <vt:lpstr> Tres tipos de procedimientos de observación </vt:lpstr>
      <vt:lpstr>Observación casual</vt:lpstr>
      <vt:lpstr>Observación sistemática</vt:lpstr>
      <vt:lpstr>Observación sistemática</vt:lpstr>
      <vt:lpstr>Aspectos importantes</vt:lpstr>
      <vt:lpstr>Observación participante</vt:lpstr>
      <vt:lpstr>Etnografía</vt:lpstr>
      <vt:lpstr>- Ambigüedad legal sobre las notas de los/as investigadores/as   - ¿Existe el riesgo de “volverse local”?   - ¿En qué medida pueden generalizarse estos resultados?   - ¿El comportamiento observado es indicador de las actitudes de las personas?</vt:lpstr>
      <vt:lpstr>2. Entrevista </vt:lpstr>
      <vt:lpstr>PowerPoint Presentation</vt:lpstr>
      <vt:lpstr>Entrevistas Libres</vt:lpstr>
      <vt:lpstr>Entrevistas Estructuradas</vt:lpstr>
      <vt:lpstr>Entrevistas Semiestructuradas</vt:lpstr>
      <vt:lpstr>Focus Groups o Grupos de Enfoque</vt:lpstr>
      <vt:lpstr>Otras Modalidades</vt:lpstr>
      <vt:lpstr>- ¿El/la entrevistado contesta lo que el/la entrevistador/a quiere escuchar?  - Temas más complicados al inicio de la entrevista  - Utilizar “sondas” cuando sea necesario  - ¿Cómo afectan los aspectos no verbales?  - ¿Qué pasa con temas “sensibles”? </vt:lpstr>
      <vt:lpstr>PowerPoint Presentation</vt:lpstr>
      <vt:lpstr>PowerPoint Presentation</vt:lpstr>
      <vt:lpstr>Registro de datos</vt:lpstr>
      <vt:lpstr>Análisis de datos cualitativos</vt:lpstr>
      <vt:lpstr>Codificación</vt:lpstr>
      <vt:lpstr>Análisis de datos cualitativos</vt:lpstr>
      <vt:lpstr>PowerPoint Presentation</vt:lpstr>
      <vt:lpstr>Interpretación</vt:lpstr>
      <vt:lpstr>Validez en cualitativo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Metodología de la Investigación en Psicología 2020 </dc:title>
  <dc:creator>Daniel Miranda</dc:creator>
  <cp:lastModifiedBy>Daniel Andrés Miranda Fuenzalida</cp:lastModifiedBy>
  <cp:revision>11</cp:revision>
  <dcterms:created xsi:type="dcterms:W3CDTF">2020-08-26T15:23:59Z</dcterms:created>
  <dcterms:modified xsi:type="dcterms:W3CDTF">2026-05-05T04:09:19Z</dcterms:modified>
</cp:coreProperties>
</file>