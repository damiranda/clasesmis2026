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1"/>
  </p:notesMasterIdLst>
  <p:handoutMasterIdLst>
    <p:handoutMasterId r:id="rId82"/>
  </p:handoutMasterIdLst>
  <p:sldIdLst>
    <p:sldId id="390" r:id="rId2"/>
    <p:sldId id="259" r:id="rId3"/>
    <p:sldId id="632" r:id="rId4"/>
    <p:sldId id="633" r:id="rId5"/>
    <p:sldId id="619" r:id="rId6"/>
    <p:sldId id="634" r:id="rId7"/>
    <p:sldId id="609" r:id="rId8"/>
    <p:sldId id="622" r:id="rId9"/>
    <p:sldId id="624" r:id="rId10"/>
    <p:sldId id="635" r:id="rId11"/>
    <p:sldId id="620" r:id="rId12"/>
    <p:sldId id="625" r:id="rId13"/>
    <p:sldId id="605" r:id="rId14"/>
    <p:sldId id="606" r:id="rId15"/>
    <p:sldId id="610" r:id="rId16"/>
    <p:sldId id="608" r:id="rId17"/>
    <p:sldId id="626" r:id="rId18"/>
    <p:sldId id="627" r:id="rId19"/>
    <p:sldId id="629" r:id="rId20"/>
    <p:sldId id="577" r:id="rId21"/>
    <p:sldId id="578" r:id="rId22"/>
    <p:sldId id="579" r:id="rId23"/>
    <p:sldId id="580" r:id="rId24"/>
    <p:sldId id="648" r:id="rId25"/>
    <p:sldId id="679" r:id="rId26"/>
    <p:sldId id="680" r:id="rId27"/>
    <p:sldId id="681" r:id="rId28"/>
    <p:sldId id="682" r:id="rId29"/>
    <p:sldId id="683" r:id="rId30"/>
    <p:sldId id="399" r:id="rId31"/>
    <p:sldId id="684" r:id="rId32"/>
    <p:sldId id="401" r:id="rId33"/>
    <p:sldId id="637" r:id="rId34"/>
    <p:sldId id="642" r:id="rId35"/>
    <p:sldId id="643" r:id="rId36"/>
    <p:sldId id="612" r:id="rId37"/>
    <p:sldId id="631" r:id="rId38"/>
    <p:sldId id="611" r:id="rId39"/>
    <p:sldId id="616" r:id="rId40"/>
    <p:sldId id="614" r:id="rId41"/>
    <p:sldId id="613" r:id="rId42"/>
    <p:sldId id="644" r:id="rId43"/>
    <p:sldId id="264" r:id="rId44"/>
    <p:sldId id="265" r:id="rId45"/>
    <p:sldId id="267" r:id="rId46"/>
    <p:sldId id="269" r:id="rId47"/>
    <p:sldId id="273" r:id="rId48"/>
    <p:sldId id="268" r:id="rId49"/>
    <p:sldId id="272" r:id="rId50"/>
    <p:sldId id="274" r:id="rId51"/>
    <p:sldId id="275" r:id="rId52"/>
    <p:sldId id="276" r:id="rId53"/>
    <p:sldId id="277" r:id="rId54"/>
    <p:sldId id="279" r:id="rId55"/>
    <p:sldId id="280" r:id="rId56"/>
    <p:sldId id="278" r:id="rId57"/>
    <p:sldId id="266" r:id="rId58"/>
    <p:sldId id="406" r:id="rId59"/>
    <p:sldId id="282" r:id="rId60"/>
    <p:sldId id="396" r:id="rId61"/>
    <p:sldId id="403" r:id="rId62"/>
    <p:sldId id="404" r:id="rId63"/>
    <p:sldId id="405" r:id="rId64"/>
    <p:sldId id="415" r:id="rId65"/>
    <p:sldId id="423" r:id="rId66"/>
    <p:sldId id="424" r:id="rId67"/>
    <p:sldId id="407" r:id="rId68"/>
    <p:sldId id="408" r:id="rId69"/>
    <p:sldId id="409" r:id="rId70"/>
    <p:sldId id="410" r:id="rId71"/>
    <p:sldId id="411" r:id="rId72"/>
    <p:sldId id="412" r:id="rId73"/>
    <p:sldId id="418" r:id="rId74"/>
    <p:sldId id="413" r:id="rId75"/>
    <p:sldId id="645" r:id="rId76"/>
    <p:sldId id="646" r:id="rId77"/>
    <p:sldId id="414" r:id="rId78"/>
    <p:sldId id="421" r:id="rId79"/>
    <p:sldId id="422" r:id="rId80"/>
  </p:sldIdLst>
  <p:sldSz cx="12192000" cy="6858000"/>
  <p:notesSz cx="6858000" cy="9144000"/>
  <p:defaultTextStyle>
    <a:defPPr rtl="0">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rof" initials="PLK" lastIdx="0" clrIdx="0">
    <p:extLst>
      <p:ext uri="{19B8F6BF-5375-455C-9EA6-DF929625EA0E}">
        <p15:presenceInfo xmlns:p15="http://schemas.microsoft.com/office/powerpoint/2012/main" userId="Prof"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99"/>
    <a:srgbClr val="FFE691"/>
    <a:srgbClr val="C8B29D"/>
    <a:srgbClr val="B4907A"/>
    <a:srgbClr val="374D8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9CF1AB2-1976-4502-BF36-3FF5EA218861}">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286" autoAdjust="0"/>
    <p:restoredTop sz="93635" autoAdjust="0"/>
  </p:normalViewPr>
  <p:slideViewPr>
    <p:cSldViewPr snapToGrid="0">
      <p:cViewPr varScale="1">
        <p:scale>
          <a:sx n="48" d="100"/>
          <a:sy n="48" d="100"/>
        </p:scale>
        <p:origin x="224" y="1328"/>
      </p:cViewPr>
      <p:guideLst>
        <p:guide pos="3840"/>
        <p:guide orient="horz" pos="2160"/>
      </p:guideLst>
    </p:cSldViewPr>
  </p:slideViewPr>
  <p:notesTextViewPr>
    <p:cViewPr>
      <p:scale>
        <a:sx n="1" d="1"/>
        <a:sy n="1" d="1"/>
      </p:scale>
      <p:origin x="0" y="0"/>
    </p:cViewPr>
  </p:notesTextViewPr>
  <p:sorterViewPr>
    <p:cViewPr>
      <p:scale>
        <a:sx n="180" d="100"/>
        <a:sy n="180" d="100"/>
      </p:scale>
      <p:origin x="0" y="0"/>
    </p:cViewPr>
  </p:sorterViewPr>
  <p:notesViewPr>
    <p:cSldViewPr snapToGrid="0" showGuides="1">
      <p:cViewPr varScale="1">
        <p:scale>
          <a:sx n="85" d="100"/>
          <a:sy n="85" d="100"/>
        </p:scale>
        <p:origin x="2874" y="84"/>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notesMaster" Target="notesMasters/notesMaster1.xml"/><Relationship Id="rId8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handoutMaster" Target="handoutMasters/handoutMaster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a:defRPr sz="1900" b="1" i="0" u="none" strike="noStrike" kern="1200" spc="0" baseline="0">
                <a:solidFill>
                  <a:srgbClr val="0070C0"/>
                </a:solidFill>
                <a:latin typeface="+mn-lt"/>
                <a:ea typeface="+mn-ea"/>
                <a:cs typeface="+mn-cs"/>
              </a:defRPr>
            </a:pPr>
            <a:r>
              <a:rPr lang="es-CL" sz="1900" b="1" baseline="0" dirty="0">
                <a:solidFill>
                  <a:srgbClr val="0070C0"/>
                </a:solidFill>
              </a:rPr>
              <a:t>Confianza social generalizada 2023</a:t>
            </a:r>
          </a:p>
          <a:p>
            <a:pPr algn="ctr">
              <a:defRPr sz="1900" b="1">
                <a:solidFill>
                  <a:srgbClr val="0070C0"/>
                </a:solidFill>
              </a:defRPr>
            </a:pPr>
            <a:endParaRPr lang="es-CL" sz="1900" b="1" baseline="0" dirty="0">
              <a:solidFill>
                <a:srgbClr val="0070C0"/>
              </a:solidFill>
            </a:endParaRPr>
          </a:p>
          <a:p>
            <a:pPr algn="ctr">
              <a:defRPr sz="1900" b="1">
                <a:solidFill>
                  <a:srgbClr val="0070C0"/>
                </a:solidFill>
              </a:defRPr>
            </a:pPr>
            <a:r>
              <a:rPr lang="es-CL" sz="1400" b="0" baseline="0" dirty="0">
                <a:solidFill>
                  <a:schemeClr val="tx1">
                    <a:lumMod val="95000"/>
                    <a:lumOff val="5000"/>
                  </a:schemeClr>
                </a:solidFill>
              </a:rPr>
              <a:t>Porcentaje que responde…</a:t>
            </a:r>
            <a:endParaRPr lang="es-CL" sz="1400" b="0" dirty="0">
              <a:solidFill>
                <a:schemeClr val="tx1">
                  <a:lumMod val="95000"/>
                  <a:lumOff val="5000"/>
                </a:schemeClr>
              </a:solidFill>
            </a:endParaRPr>
          </a:p>
        </c:rich>
      </c:tx>
      <c:layout>
        <c:manualLayout>
          <c:xMode val="edge"/>
          <c:yMode val="edge"/>
          <c:x val="0.25651467473341122"/>
          <c:y val="2.0523921973591295E-2"/>
        </c:manualLayout>
      </c:layout>
      <c:overlay val="0"/>
      <c:spPr>
        <a:noFill/>
        <a:ln>
          <a:noFill/>
        </a:ln>
        <a:effectLst/>
      </c:spPr>
      <c:txPr>
        <a:bodyPr rot="0" spcFirstLastPara="1" vertOverflow="ellipsis" vert="horz" wrap="square" anchor="ctr" anchorCtr="1"/>
        <a:lstStyle/>
        <a:p>
          <a:pPr algn="ctr">
            <a:defRPr sz="1900" b="1" i="0" u="none" strike="noStrike" kern="1200" spc="0" baseline="0">
              <a:solidFill>
                <a:srgbClr val="0070C0"/>
              </a:solidFill>
              <a:latin typeface="+mn-lt"/>
              <a:ea typeface="+mn-ea"/>
              <a:cs typeface="+mn-cs"/>
            </a:defRPr>
          </a:pPr>
          <a:endParaRPr lang="en-CL"/>
        </a:p>
      </c:txPr>
    </c:title>
    <c:autoTitleDeleted val="0"/>
    <c:plotArea>
      <c:layout>
        <c:manualLayout>
          <c:layoutTarget val="inner"/>
          <c:xMode val="edge"/>
          <c:yMode val="edge"/>
          <c:x val="3.2037885633148314E-2"/>
          <c:y val="0.20209265066553278"/>
          <c:w val="0.9529347919624801"/>
          <c:h val="0.69698205757067255"/>
        </c:manualLayout>
      </c:layout>
      <c:barChart>
        <c:barDir val="col"/>
        <c:grouping val="clustered"/>
        <c:varyColors val="0"/>
        <c:ser>
          <c:idx val="0"/>
          <c:order val="0"/>
          <c:tx>
            <c:strRef>
              <c:f>Sheet1!$B$1</c:f>
              <c:strCache>
                <c:ptCount val="1"/>
                <c:pt idx="0">
                  <c:v>De acuerdo o totalmente de acuerdo </c:v>
                </c:pt>
              </c:strCache>
            </c:strRef>
          </c:tx>
          <c:spPr>
            <a:solidFill>
              <a:srgbClr val="7030A0"/>
            </a:solidFill>
            <a:ln>
              <a:noFill/>
            </a:ln>
            <a:effectLst/>
          </c:spPr>
          <c:invertIfNegative val="0"/>
          <c:dPt>
            <c:idx val="0"/>
            <c:invertIfNegative val="0"/>
            <c:bubble3D val="0"/>
            <c:spPr>
              <a:solidFill>
                <a:srgbClr val="92D050"/>
              </a:solidFill>
              <a:ln>
                <a:noFill/>
              </a:ln>
              <a:effectLst/>
            </c:spPr>
            <c:extLst>
              <c:ext xmlns:c16="http://schemas.microsoft.com/office/drawing/2014/chart" uri="{C3380CC4-5D6E-409C-BE32-E72D297353CC}">
                <c16:uniqueId val="{0000000C-29B9-4085-B137-5EC9D9CC957A}"/>
              </c:ext>
            </c:extLst>
          </c:dPt>
          <c:dPt>
            <c:idx val="2"/>
            <c:invertIfNegative val="0"/>
            <c:bubble3D val="0"/>
            <c:spPr>
              <a:solidFill>
                <a:schemeClr val="accent1"/>
              </a:solidFill>
              <a:ln>
                <a:noFill/>
              </a:ln>
              <a:effectLst/>
            </c:spPr>
            <c:extLst>
              <c:ext xmlns:c16="http://schemas.microsoft.com/office/drawing/2014/chart" uri="{C3380CC4-5D6E-409C-BE32-E72D297353CC}">
                <c16:uniqueId val="{0000000D-29B9-4085-B137-5EC9D9CC957A}"/>
              </c:ext>
            </c:extLst>
          </c:dPt>
          <c:dLbls>
            <c:spPr>
              <a:no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tx1">
                        <a:lumMod val="75000"/>
                        <a:lumOff val="25000"/>
                      </a:schemeClr>
                    </a:solidFill>
                    <a:latin typeface="+mn-lt"/>
                    <a:ea typeface="+mn-ea"/>
                    <a:cs typeface="+mn-cs"/>
                  </a:defRPr>
                </a:pPr>
                <a:endParaRPr lang="en-CL"/>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Sheet1!$A$5:$A$7</c:f>
              <c:strCache>
                <c:ptCount val="3"/>
                <c:pt idx="0">
                  <c:v>Depende</c:v>
                </c:pt>
                <c:pt idx="1">
                  <c:v>Casi siempre se puede confiar en las personas</c:v>
                </c:pt>
                <c:pt idx="2">
                  <c:v>Casi siempre hay que tener cuidado al tratar con las personas</c:v>
                </c:pt>
              </c:strCache>
            </c:strRef>
          </c:cat>
          <c:val>
            <c:numRef>
              <c:f>Sheet1!$B$5:$B$7</c:f>
              <c:numCache>
                <c:formatCode>0%</c:formatCode>
                <c:ptCount val="3"/>
                <c:pt idx="0">
                  <c:v>0.06</c:v>
                </c:pt>
                <c:pt idx="1">
                  <c:v>0.08</c:v>
                </c:pt>
                <c:pt idx="2">
                  <c:v>0.86</c:v>
                </c:pt>
              </c:numCache>
            </c:numRef>
          </c:val>
          <c:extLst>
            <c:ext xmlns:c16="http://schemas.microsoft.com/office/drawing/2014/chart" uri="{C3380CC4-5D6E-409C-BE32-E72D297353CC}">
              <c16:uniqueId val="{00000000-29B9-4085-B137-5EC9D9CC957A}"/>
            </c:ext>
          </c:extLst>
        </c:ser>
        <c:dLbls>
          <c:showLegendKey val="0"/>
          <c:showVal val="0"/>
          <c:showCatName val="0"/>
          <c:showSerName val="0"/>
          <c:showPercent val="0"/>
          <c:showBubbleSize val="0"/>
        </c:dLbls>
        <c:gapWidth val="219"/>
        <c:overlap val="-27"/>
        <c:axId val="1950675152"/>
        <c:axId val="1950672272"/>
      </c:barChart>
      <c:catAx>
        <c:axId val="1950675152"/>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250" b="0" i="0" u="none" strike="noStrike" kern="1200" baseline="0">
                <a:solidFill>
                  <a:schemeClr val="tx1"/>
                </a:solidFill>
                <a:latin typeface="+mn-lt"/>
                <a:ea typeface="+mn-ea"/>
                <a:cs typeface="+mn-cs"/>
              </a:defRPr>
            </a:pPr>
            <a:endParaRPr lang="en-CL"/>
          </a:p>
        </c:txPr>
        <c:crossAx val="1950672272"/>
        <c:crosses val="autoZero"/>
        <c:auto val="1"/>
        <c:lblAlgn val="ctr"/>
        <c:lblOffset val="100"/>
        <c:noMultiLvlLbl val="0"/>
      </c:catAx>
      <c:valAx>
        <c:axId val="1950672272"/>
        <c:scaling>
          <c:orientation val="minMax"/>
          <c:max val="1"/>
          <c:min val="0"/>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solidFill>
              <a:schemeClr val="bg1"/>
            </a:solidFill>
          </a:ln>
          <a:effectLst/>
        </c:spPr>
        <c:txPr>
          <a:bodyPr rot="-60000000" spcFirstLastPara="1" vertOverflow="ellipsis" vert="horz" wrap="square" anchor="ctr" anchorCtr="1"/>
          <a:lstStyle/>
          <a:p>
            <a:pPr>
              <a:defRPr sz="1100" b="0" i="0" u="none" strike="noStrike" kern="1200" baseline="0">
                <a:solidFill>
                  <a:schemeClr val="tx1"/>
                </a:solidFill>
                <a:latin typeface="+mn-lt"/>
                <a:ea typeface="+mn-ea"/>
                <a:cs typeface="+mn-cs"/>
              </a:defRPr>
            </a:pPr>
            <a:endParaRPr lang="en-CL"/>
          </a:p>
        </c:txPr>
        <c:crossAx val="195067515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CL"/>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a:defRPr sz="1900" b="1" i="0" u="none" strike="noStrike" kern="1200" spc="0" baseline="0">
                <a:solidFill>
                  <a:srgbClr val="0070C0"/>
                </a:solidFill>
                <a:latin typeface="+mn-lt"/>
                <a:ea typeface="+mn-ea"/>
                <a:cs typeface="+mn-cs"/>
              </a:defRPr>
            </a:pPr>
            <a:r>
              <a:rPr lang="es-CL" sz="1900" b="1" baseline="0" dirty="0">
                <a:solidFill>
                  <a:srgbClr val="0070C0"/>
                </a:solidFill>
              </a:rPr>
              <a:t>Confianza en vecinos  2023</a:t>
            </a:r>
          </a:p>
          <a:p>
            <a:pPr algn="ctr">
              <a:defRPr sz="1900" b="1">
                <a:solidFill>
                  <a:srgbClr val="0070C0"/>
                </a:solidFill>
              </a:defRPr>
            </a:pPr>
            <a:endParaRPr lang="es-CL" sz="1900" b="1" baseline="0" dirty="0">
              <a:solidFill>
                <a:srgbClr val="0070C0"/>
              </a:solidFill>
            </a:endParaRPr>
          </a:p>
          <a:p>
            <a:pPr algn="ctr">
              <a:defRPr sz="1900" b="1">
                <a:solidFill>
                  <a:srgbClr val="0070C0"/>
                </a:solidFill>
              </a:defRPr>
            </a:pPr>
            <a:r>
              <a:rPr lang="es-CL" sz="1400" b="0" baseline="0" dirty="0">
                <a:solidFill>
                  <a:schemeClr val="tx1">
                    <a:lumMod val="95000"/>
                    <a:lumOff val="5000"/>
                  </a:schemeClr>
                </a:solidFill>
              </a:rPr>
              <a:t>Porcentaje que responde…</a:t>
            </a:r>
            <a:endParaRPr lang="es-CL" sz="1400" b="0" dirty="0">
              <a:solidFill>
                <a:schemeClr val="tx1">
                  <a:lumMod val="95000"/>
                  <a:lumOff val="5000"/>
                </a:schemeClr>
              </a:solidFill>
            </a:endParaRPr>
          </a:p>
        </c:rich>
      </c:tx>
      <c:layout>
        <c:manualLayout>
          <c:xMode val="edge"/>
          <c:yMode val="edge"/>
          <c:x val="0.30389567779724069"/>
          <c:y val="3.9810325059415792E-2"/>
        </c:manualLayout>
      </c:layout>
      <c:overlay val="0"/>
      <c:spPr>
        <a:noFill/>
        <a:ln>
          <a:noFill/>
        </a:ln>
        <a:effectLst/>
      </c:spPr>
      <c:txPr>
        <a:bodyPr rot="0" spcFirstLastPara="1" vertOverflow="ellipsis" vert="horz" wrap="square" anchor="ctr" anchorCtr="1"/>
        <a:lstStyle/>
        <a:p>
          <a:pPr algn="ctr">
            <a:defRPr sz="1900" b="1" i="0" u="none" strike="noStrike" kern="1200" spc="0" baseline="0">
              <a:solidFill>
                <a:srgbClr val="0070C0"/>
              </a:solidFill>
              <a:latin typeface="+mn-lt"/>
              <a:ea typeface="+mn-ea"/>
              <a:cs typeface="+mn-cs"/>
            </a:defRPr>
          </a:pPr>
          <a:endParaRPr lang="en-CL"/>
        </a:p>
      </c:txPr>
    </c:title>
    <c:autoTitleDeleted val="0"/>
    <c:plotArea>
      <c:layout>
        <c:manualLayout>
          <c:layoutTarget val="inner"/>
          <c:xMode val="edge"/>
          <c:yMode val="edge"/>
          <c:x val="3.2037885633148314E-2"/>
          <c:y val="0.20209265066553278"/>
          <c:w val="0.9529347919624801"/>
          <c:h val="0.69698205757067255"/>
        </c:manualLayout>
      </c:layout>
      <c:barChart>
        <c:barDir val="col"/>
        <c:grouping val="clustered"/>
        <c:varyColors val="0"/>
        <c:ser>
          <c:idx val="0"/>
          <c:order val="0"/>
          <c:tx>
            <c:strRef>
              <c:f>Sheet1!$B$1</c:f>
              <c:strCache>
                <c:ptCount val="1"/>
                <c:pt idx="0">
                  <c:v>De acuerdo o totalmente de acuerdo </c:v>
                </c:pt>
              </c:strCache>
            </c:strRef>
          </c:tx>
          <c:spPr>
            <a:solidFill>
              <a:srgbClr val="7030A0"/>
            </a:solidFill>
            <a:ln>
              <a:noFill/>
            </a:ln>
            <a:effectLst/>
          </c:spPr>
          <c:invertIfNegative val="0"/>
          <c:dPt>
            <c:idx val="0"/>
            <c:invertIfNegative val="0"/>
            <c:bubble3D val="0"/>
            <c:spPr>
              <a:solidFill>
                <a:srgbClr val="92D050"/>
              </a:solidFill>
              <a:ln>
                <a:noFill/>
              </a:ln>
              <a:effectLst/>
            </c:spPr>
            <c:extLst>
              <c:ext xmlns:c16="http://schemas.microsoft.com/office/drawing/2014/chart" uri="{C3380CC4-5D6E-409C-BE32-E72D297353CC}">
                <c16:uniqueId val="{0000000C-29B9-4085-B137-5EC9D9CC957A}"/>
              </c:ext>
            </c:extLst>
          </c:dPt>
          <c:dPt>
            <c:idx val="1"/>
            <c:invertIfNegative val="0"/>
            <c:bubble3D val="0"/>
            <c:spPr>
              <a:solidFill>
                <a:schemeClr val="accent1"/>
              </a:solidFill>
              <a:ln>
                <a:noFill/>
              </a:ln>
              <a:effectLst/>
            </c:spPr>
            <c:extLst>
              <c:ext xmlns:c16="http://schemas.microsoft.com/office/drawing/2014/chart" uri="{C3380CC4-5D6E-409C-BE32-E72D297353CC}">
                <c16:uniqueId val="{00000000-3698-427B-8A7E-90DD7797B171}"/>
              </c:ext>
            </c:extLst>
          </c:dPt>
          <c:dPt>
            <c:idx val="2"/>
            <c:invertIfNegative val="0"/>
            <c:bubble3D val="0"/>
            <c:spPr>
              <a:solidFill>
                <a:schemeClr val="accent2"/>
              </a:solidFill>
              <a:ln>
                <a:noFill/>
              </a:ln>
              <a:effectLst/>
            </c:spPr>
            <c:extLst>
              <c:ext xmlns:c16="http://schemas.microsoft.com/office/drawing/2014/chart" uri="{C3380CC4-5D6E-409C-BE32-E72D297353CC}">
                <c16:uniqueId val="{0000000D-29B9-4085-B137-5EC9D9CC957A}"/>
              </c:ext>
            </c:extLst>
          </c:dPt>
          <c:dLbls>
            <c:spPr>
              <a:no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tx1">
                        <a:lumMod val="75000"/>
                        <a:lumOff val="25000"/>
                      </a:schemeClr>
                    </a:solidFill>
                    <a:latin typeface="+mn-lt"/>
                    <a:ea typeface="+mn-ea"/>
                    <a:cs typeface="+mn-cs"/>
                  </a:defRPr>
                </a:pPr>
                <a:endParaRPr lang="en-CL"/>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Sheet1!$A$5:$A$7</c:f>
              <c:strCache>
                <c:ptCount val="3"/>
                <c:pt idx="0">
                  <c:v>Muy poco</c:v>
                </c:pt>
                <c:pt idx="1">
                  <c:v>Poco o algo</c:v>
                </c:pt>
                <c:pt idx="2">
                  <c:v>Bastante o mucho</c:v>
                </c:pt>
              </c:strCache>
            </c:strRef>
          </c:cat>
          <c:val>
            <c:numRef>
              <c:f>Sheet1!$B$5:$B$7</c:f>
              <c:numCache>
                <c:formatCode>0%</c:formatCode>
                <c:ptCount val="3"/>
                <c:pt idx="0">
                  <c:v>0.1</c:v>
                </c:pt>
                <c:pt idx="1">
                  <c:v>0.42</c:v>
                </c:pt>
                <c:pt idx="2">
                  <c:v>0.48</c:v>
                </c:pt>
              </c:numCache>
            </c:numRef>
          </c:val>
          <c:extLst>
            <c:ext xmlns:c16="http://schemas.microsoft.com/office/drawing/2014/chart" uri="{C3380CC4-5D6E-409C-BE32-E72D297353CC}">
              <c16:uniqueId val="{00000000-29B9-4085-B137-5EC9D9CC957A}"/>
            </c:ext>
          </c:extLst>
        </c:ser>
        <c:dLbls>
          <c:showLegendKey val="0"/>
          <c:showVal val="0"/>
          <c:showCatName val="0"/>
          <c:showSerName val="0"/>
          <c:showPercent val="0"/>
          <c:showBubbleSize val="0"/>
        </c:dLbls>
        <c:gapWidth val="219"/>
        <c:overlap val="-27"/>
        <c:axId val="1950675152"/>
        <c:axId val="1950672272"/>
      </c:barChart>
      <c:catAx>
        <c:axId val="1950675152"/>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250" b="0" i="0" u="none" strike="noStrike" kern="1200" baseline="0">
                <a:solidFill>
                  <a:schemeClr val="tx1"/>
                </a:solidFill>
                <a:latin typeface="+mn-lt"/>
                <a:ea typeface="+mn-ea"/>
                <a:cs typeface="+mn-cs"/>
              </a:defRPr>
            </a:pPr>
            <a:endParaRPr lang="en-CL"/>
          </a:p>
        </c:txPr>
        <c:crossAx val="1950672272"/>
        <c:crosses val="autoZero"/>
        <c:auto val="1"/>
        <c:lblAlgn val="ctr"/>
        <c:lblOffset val="100"/>
        <c:noMultiLvlLbl val="0"/>
      </c:catAx>
      <c:valAx>
        <c:axId val="1950672272"/>
        <c:scaling>
          <c:orientation val="minMax"/>
          <c:max val="1"/>
          <c:min val="0"/>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solidFill>
              <a:schemeClr val="bg1"/>
            </a:solidFill>
          </a:ln>
          <a:effectLst/>
        </c:spPr>
        <c:txPr>
          <a:bodyPr rot="-60000000" spcFirstLastPara="1" vertOverflow="ellipsis" vert="horz" wrap="square" anchor="ctr" anchorCtr="1"/>
          <a:lstStyle/>
          <a:p>
            <a:pPr>
              <a:defRPr sz="1100" b="0" i="0" u="none" strike="noStrike" kern="1200" baseline="0">
                <a:solidFill>
                  <a:schemeClr val="tx1"/>
                </a:solidFill>
                <a:latin typeface="+mn-lt"/>
                <a:ea typeface="+mn-ea"/>
                <a:cs typeface="+mn-cs"/>
              </a:defRPr>
            </a:pPr>
            <a:endParaRPr lang="en-CL"/>
          </a:p>
        </c:txPr>
        <c:crossAx val="195067515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CL"/>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a:defRPr sz="1900" b="1" i="0" u="none" strike="noStrike" kern="1200" spc="0" baseline="0">
                <a:solidFill>
                  <a:srgbClr val="0070C0"/>
                </a:solidFill>
                <a:latin typeface="+mn-lt"/>
                <a:ea typeface="+mn-ea"/>
                <a:cs typeface="+mn-cs"/>
              </a:defRPr>
            </a:pPr>
            <a:r>
              <a:rPr lang="es-CL" sz="1900" b="1" baseline="0" dirty="0">
                <a:solidFill>
                  <a:srgbClr val="0070C0"/>
                </a:solidFill>
              </a:rPr>
              <a:t>Confianza social generalizada y educación  2023</a:t>
            </a:r>
          </a:p>
          <a:p>
            <a:pPr algn="ctr">
              <a:defRPr sz="1900" b="1">
                <a:solidFill>
                  <a:srgbClr val="0070C0"/>
                </a:solidFill>
              </a:defRPr>
            </a:pPr>
            <a:endParaRPr lang="es-CL" sz="1400" b="0" baseline="0" dirty="0">
              <a:solidFill>
                <a:schemeClr val="tx1">
                  <a:lumMod val="95000"/>
                  <a:lumOff val="5000"/>
                </a:schemeClr>
              </a:solidFill>
            </a:endParaRPr>
          </a:p>
          <a:p>
            <a:pPr algn="ctr">
              <a:defRPr sz="1900" b="1">
                <a:solidFill>
                  <a:srgbClr val="0070C0"/>
                </a:solidFill>
              </a:defRPr>
            </a:pPr>
            <a:r>
              <a:rPr lang="es-CL" sz="1400" b="0" baseline="0" dirty="0">
                <a:solidFill>
                  <a:schemeClr val="tx1">
                    <a:lumMod val="95000"/>
                    <a:lumOff val="5000"/>
                  </a:schemeClr>
                </a:solidFill>
              </a:rPr>
              <a:t>Porcentaje que responde “Casi siempre se puede confiar en las personas”</a:t>
            </a:r>
            <a:endParaRPr lang="es-CL" sz="1400" b="0" dirty="0">
              <a:solidFill>
                <a:schemeClr val="tx1">
                  <a:lumMod val="95000"/>
                  <a:lumOff val="5000"/>
                </a:schemeClr>
              </a:solidFill>
            </a:endParaRPr>
          </a:p>
        </c:rich>
      </c:tx>
      <c:layout>
        <c:manualLayout>
          <c:xMode val="edge"/>
          <c:yMode val="edge"/>
          <c:x val="0.15904518271639076"/>
          <c:y val="3.9810325059415792E-2"/>
        </c:manualLayout>
      </c:layout>
      <c:overlay val="0"/>
      <c:spPr>
        <a:noFill/>
        <a:ln>
          <a:noFill/>
        </a:ln>
        <a:effectLst/>
      </c:spPr>
      <c:txPr>
        <a:bodyPr rot="0" spcFirstLastPara="1" vertOverflow="ellipsis" vert="horz" wrap="square" anchor="ctr" anchorCtr="1"/>
        <a:lstStyle/>
        <a:p>
          <a:pPr algn="ctr">
            <a:defRPr sz="1900" b="1" i="0" u="none" strike="noStrike" kern="1200" spc="0" baseline="0">
              <a:solidFill>
                <a:srgbClr val="0070C0"/>
              </a:solidFill>
              <a:latin typeface="+mn-lt"/>
              <a:ea typeface="+mn-ea"/>
              <a:cs typeface="+mn-cs"/>
            </a:defRPr>
          </a:pPr>
          <a:endParaRPr lang="en-CL"/>
        </a:p>
      </c:txPr>
    </c:title>
    <c:autoTitleDeleted val="0"/>
    <c:plotArea>
      <c:layout>
        <c:manualLayout>
          <c:layoutTarget val="inner"/>
          <c:xMode val="edge"/>
          <c:yMode val="edge"/>
          <c:x val="3.2037885633148314E-2"/>
          <c:y val="0.20209265066553278"/>
          <c:w val="0.9529347919624801"/>
          <c:h val="0.69698205757067255"/>
        </c:manualLayout>
      </c:layout>
      <c:barChart>
        <c:barDir val="col"/>
        <c:grouping val="clustered"/>
        <c:varyColors val="0"/>
        <c:ser>
          <c:idx val="0"/>
          <c:order val="0"/>
          <c:tx>
            <c:strRef>
              <c:f>Sheet1!$B$1</c:f>
              <c:strCache>
                <c:ptCount val="1"/>
                <c:pt idx="0">
                  <c:v>De acuerdo o totalmente de acuerdo </c:v>
                </c:pt>
              </c:strCache>
            </c:strRef>
          </c:tx>
          <c:spPr>
            <a:solidFill>
              <a:srgbClr val="7030A0"/>
            </a:solidFill>
            <a:ln>
              <a:noFill/>
            </a:ln>
            <a:effectLst/>
          </c:spPr>
          <c:invertIfNegative val="0"/>
          <c:dPt>
            <c:idx val="0"/>
            <c:invertIfNegative val="0"/>
            <c:bubble3D val="0"/>
            <c:spPr>
              <a:solidFill>
                <a:srgbClr val="92D050"/>
              </a:solidFill>
              <a:ln>
                <a:noFill/>
              </a:ln>
              <a:effectLst/>
            </c:spPr>
            <c:extLst>
              <c:ext xmlns:c16="http://schemas.microsoft.com/office/drawing/2014/chart" uri="{C3380CC4-5D6E-409C-BE32-E72D297353CC}">
                <c16:uniqueId val="{0000000C-29B9-4085-B137-5EC9D9CC957A}"/>
              </c:ext>
            </c:extLst>
          </c:dPt>
          <c:dPt>
            <c:idx val="2"/>
            <c:invertIfNegative val="0"/>
            <c:bubble3D val="0"/>
            <c:spPr>
              <a:solidFill>
                <a:schemeClr val="accent1"/>
              </a:solidFill>
              <a:ln>
                <a:noFill/>
              </a:ln>
              <a:effectLst/>
            </c:spPr>
            <c:extLst>
              <c:ext xmlns:c16="http://schemas.microsoft.com/office/drawing/2014/chart" uri="{C3380CC4-5D6E-409C-BE32-E72D297353CC}">
                <c16:uniqueId val="{0000000D-29B9-4085-B137-5EC9D9CC957A}"/>
              </c:ext>
            </c:extLst>
          </c:dPt>
          <c:dPt>
            <c:idx val="3"/>
            <c:invertIfNegative val="0"/>
            <c:bubble3D val="0"/>
            <c:spPr>
              <a:solidFill>
                <a:schemeClr val="accent4"/>
              </a:solidFill>
              <a:ln>
                <a:noFill/>
              </a:ln>
              <a:effectLst/>
            </c:spPr>
            <c:extLst>
              <c:ext xmlns:c16="http://schemas.microsoft.com/office/drawing/2014/chart" uri="{C3380CC4-5D6E-409C-BE32-E72D297353CC}">
                <c16:uniqueId val="{00000000-76AA-436C-85BB-516179FD0F3B}"/>
              </c:ext>
            </c:extLst>
          </c:dPt>
          <c:dLbls>
            <c:spPr>
              <a:no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tx1">
                        <a:lumMod val="75000"/>
                        <a:lumOff val="25000"/>
                      </a:schemeClr>
                    </a:solidFill>
                    <a:latin typeface="+mn-lt"/>
                    <a:ea typeface="+mn-ea"/>
                    <a:cs typeface="+mn-cs"/>
                  </a:defRPr>
                </a:pPr>
                <a:endParaRPr lang="en-CL"/>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Sheet1!$A$5:$A$8</c:f>
              <c:strCache>
                <c:ptCount val="4"/>
                <c:pt idx="0">
                  <c:v>Básica</c:v>
                </c:pt>
                <c:pt idx="1">
                  <c:v>Media</c:v>
                </c:pt>
                <c:pt idx="2">
                  <c:v>Técnica</c:v>
                </c:pt>
                <c:pt idx="3">
                  <c:v>Universitaria</c:v>
                </c:pt>
              </c:strCache>
            </c:strRef>
          </c:cat>
          <c:val>
            <c:numRef>
              <c:f>Sheet1!$B$5:$B$8</c:f>
              <c:numCache>
                <c:formatCode>0%</c:formatCode>
                <c:ptCount val="4"/>
                <c:pt idx="0">
                  <c:v>0.03</c:v>
                </c:pt>
                <c:pt idx="1">
                  <c:v>0.03</c:v>
                </c:pt>
                <c:pt idx="2">
                  <c:v>7.0000000000000007E-2</c:v>
                </c:pt>
                <c:pt idx="3">
                  <c:v>0.19</c:v>
                </c:pt>
              </c:numCache>
            </c:numRef>
          </c:val>
          <c:extLst>
            <c:ext xmlns:c16="http://schemas.microsoft.com/office/drawing/2014/chart" uri="{C3380CC4-5D6E-409C-BE32-E72D297353CC}">
              <c16:uniqueId val="{00000000-29B9-4085-B137-5EC9D9CC957A}"/>
            </c:ext>
          </c:extLst>
        </c:ser>
        <c:dLbls>
          <c:showLegendKey val="0"/>
          <c:showVal val="0"/>
          <c:showCatName val="0"/>
          <c:showSerName val="0"/>
          <c:showPercent val="0"/>
          <c:showBubbleSize val="0"/>
        </c:dLbls>
        <c:gapWidth val="219"/>
        <c:overlap val="-27"/>
        <c:axId val="1950675152"/>
        <c:axId val="1950672272"/>
      </c:barChart>
      <c:catAx>
        <c:axId val="1950675152"/>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250" b="0" i="0" u="none" strike="noStrike" kern="1200" baseline="0">
                <a:solidFill>
                  <a:schemeClr val="tx1"/>
                </a:solidFill>
                <a:latin typeface="+mn-lt"/>
                <a:ea typeface="+mn-ea"/>
                <a:cs typeface="+mn-cs"/>
              </a:defRPr>
            </a:pPr>
            <a:endParaRPr lang="en-CL"/>
          </a:p>
        </c:txPr>
        <c:crossAx val="1950672272"/>
        <c:crosses val="autoZero"/>
        <c:auto val="1"/>
        <c:lblAlgn val="ctr"/>
        <c:lblOffset val="100"/>
        <c:noMultiLvlLbl val="0"/>
      </c:catAx>
      <c:valAx>
        <c:axId val="1950672272"/>
        <c:scaling>
          <c:orientation val="minMax"/>
          <c:max val="1"/>
          <c:min val="0"/>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solidFill>
              <a:schemeClr val="bg1"/>
            </a:solidFill>
          </a:ln>
          <a:effectLst/>
        </c:spPr>
        <c:txPr>
          <a:bodyPr rot="-60000000" spcFirstLastPara="1" vertOverflow="ellipsis" vert="horz" wrap="square" anchor="ctr" anchorCtr="1"/>
          <a:lstStyle/>
          <a:p>
            <a:pPr>
              <a:defRPr sz="1100" b="0" i="0" u="none" strike="noStrike" kern="1200" baseline="0">
                <a:solidFill>
                  <a:schemeClr val="tx1"/>
                </a:solidFill>
                <a:latin typeface="+mn-lt"/>
                <a:ea typeface="+mn-ea"/>
                <a:cs typeface="+mn-cs"/>
              </a:defRPr>
            </a:pPr>
            <a:endParaRPr lang="en-CL"/>
          </a:p>
        </c:txPr>
        <c:crossAx val="195067515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CL"/>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a:defRPr sz="1900" b="1" i="0" u="none" strike="noStrike" kern="1200" spc="0" baseline="0">
                <a:solidFill>
                  <a:srgbClr val="0070C0"/>
                </a:solidFill>
                <a:latin typeface="+mn-lt"/>
                <a:ea typeface="+mn-ea"/>
                <a:cs typeface="+mn-cs"/>
              </a:defRPr>
            </a:pPr>
            <a:r>
              <a:rPr lang="es-CL" sz="1900" b="1" baseline="0" dirty="0">
                <a:solidFill>
                  <a:srgbClr val="0070C0"/>
                </a:solidFill>
              </a:rPr>
              <a:t>Confianza en vecinos y educación  2023</a:t>
            </a:r>
          </a:p>
          <a:p>
            <a:pPr algn="ctr">
              <a:defRPr sz="1900" b="1">
                <a:solidFill>
                  <a:srgbClr val="0070C0"/>
                </a:solidFill>
              </a:defRPr>
            </a:pPr>
            <a:endParaRPr lang="es-CL" sz="1900" b="1" baseline="0" dirty="0">
              <a:solidFill>
                <a:srgbClr val="0070C0"/>
              </a:solidFill>
            </a:endParaRPr>
          </a:p>
          <a:p>
            <a:pPr algn="ctr">
              <a:defRPr sz="1900" b="1">
                <a:solidFill>
                  <a:srgbClr val="0070C0"/>
                </a:solidFill>
              </a:defRPr>
            </a:pPr>
            <a:r>
              <a:rPr lang="es-CL" sz="1400" b="0" baseline="0" dirty="0">
                <a:solidFill>
                  <a:schemeClr val="tx1">
                    <a:lumMod val="95000"/>
                    <a:lumOff val="5000"/>
                  </a:schemeClr>
                </a:solidFill>
              </a:rPr>
              <a:t>Porcentaje que responde “Bastante o mucha”</a:t>
            </a:r>
            <a:endParaRPr lang="es-CL" sz="1400" b="0" dirty="0">
              <a:solidFill>
                <a:schemeClr val="tx1">
                  <a:lumMod val="95000"/>
                  <a:lumOff val="5000"/>
                </a:schemeClr>
              </a:solidFill>
            </a:endParaRPr>
          </a:p>
        </c:rich>
      </c:tx>
      <c:layout>
        <c:manualLayout>
          <c:xMode val="edge"/>
          <c:yMode val="edge"/>
          <c:x val="0.22673232995043274"/>
          <c:y val="3.5953044442250892E-2"/>
        </c:manualLayout>
      </c:layout>
      <c:overlay val="0"/>
      <c:spPr>
        <a:noFill/>
        <a:ln>
          <a:noFill/>
        </a:ln>
        <a:effectLst/>
      </c:spPr>
      <c:txPr>
        <a:bodyPr rot="0" spcFirstLastPara="1" vertOverflow="ellipsis" vert="horz" wrap="square" anchor="ctr" anchorCtr="1"/>
        <a:lstStyle/>
        <a:p>
          <a:pPr algn="ctr">
            <a:defRPr sz="1900" b="1" i="0" u="none" strike="noStrike" kern="1200" spc="0" baseline="0">
              <a:solidFill>
                <a:srgbClr val="0070C0"/>
              </a:solidFill>
              <a:latin typeface="+mn-lt"/>
              <a:ea typeface="+mn-ea"/>
              <a:cs typeface="+mn-cs"/>
            </a:defRPr>
          </a:pPr>
          <a:endParaRPr lang="en-CL"/>
        </a:p>
      </c:txPr>
    </c:title>
    <c:autoTitleDeleted val="0"/>
    <c:plotArea>
      <c:layout>
        <c:manualLayout>
          <c:layoutTarget val="inner"/>
          <c:xMode val="edge"/>
          <c:yMode val="edge"/>
          <c:x val="3.2037885633148314E-2"/>
          <c:y val="0.20209265066553278"/>
          <c:w val="0.9529347919624801"/>
          <c:h val="0.69698205757067255"/>
        </c:manualLayout>
      </c:layout>
      <c:barChart>
        <c:barDir val="col"/>
        <c:grouping val="clustered"/>
        <c:varyColors val="0"/>
        <c:ser>
          <c:idx val="0"/>
          <c:order val="0"/>
          <c:tx>
            <c:strRef>
              <c:f>Sheet1!$B$1</c:f>
              <c:strCache>
                <c:ptCount val="1"/>
                <c:pt idx="0">
                  <c:v>De acuerdo o totalmente de acuerdo </c:v>
                </c:pt>
              </c:strCache>
            </c:strRef>
          </c:tx>
          <c:spPr>
            <a:solidFill>
              <a:srgbClr val="7030A0"/>
            </a:solidFill>
            <a:ln>
              <a:noFill/>
            </a:ln>
            <a:effectLst/>
          </c:spPr>
          <c:invertIfNegative val="0"/>
          <c:dPt>
            <c:idx val="0"/>
            <c:invertIfNegative val="0"/>
            <c:bubble3D val="0"/>
            <c:spPr>
              <a:solidFill>
                <a:srgbClr val="92D050"/>
              </a:solidFill>
              <a:ln>
                <a:noFill/>
              </a:ln>
              <a:effectLst/>
            </c:spPr>
            <c:extLst>
              <c:ext xmlns:c16="http://schemas.microsoft.com/office/drawing/2014/chart" uri="{C3380CC4-5D6E-409C-BE32-E72D297353CC}">
                <c16:uniqueId val="{0000000C-29B9-4085-B137-5EC9D9CC957A}"/>
              </c:ext>
            </c:extLst>
          </c:dPt>
          <c:dPt>
            <c:idx val="2"/>
            <c:invertIfNegative val="0"/>
            <c:bubble3D val="0"/>
            <c:spPr>
              <a:solidFill>
                <a:schemeClr val="accent1"/>
              </a:solidFill>
              <a:ln>
                <a:noFill/>
              </a:ln>
              <a:effectLst/>
            </c:spPr>
            <c:extLst>
              <c:ext xmlns:c16="http://schemas.microsoft.com/office/drawing/2014/chart" uri="{C3380CC4-5D6E-409C-BE32-E72D297353CC}">
                <c16:uniqueId val="{0000000D-29B9-4085-B137-5EC9D9CC957A}"/>
              </c:ext>
            </c:extLst>
          </c:dPt>
          <c:dPt>
            <c:idx val="3"/>
            <c:invertIfNegative val="0"/>
            <c:bubble3D val="0"/>
            <c:spPr>
              <a:solidFill>
                <a:schemeClr val="accent4"/>
              </a:solidFill>
              <a:ln>
                <a:noFill/>
              </a:ln>
              <a:effectLst/>
            </c:spPr>
            <c:extLst>
              <c:ext xmlns:c16="http://schemas.microsoft.com/office/drawing/2014/chart" uri="{C3380CC4-5D6E-409C-BE32-E72D297353CC}">
                <c16:uniqueId val="{00000000-76AA-436C-85BB-516179FD0F3B}"/>
              </c:ext>
            </c:extLst>
          </c:dPt>
          <c:dLbls>
            <c:spPr>
              <a:no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tx1">
                        <a:lumMod val="75000"/>
                        <a:lumOff val="25000"/>
                      </a:schemeClr>
                    </a:solidFill>
                    <a:latin typeface="+mn-lt"/>
                    <a:ea typeface="+mn-ea"/>
                    <a:cs typeface="+mn-cs"/>
                  </a:defRPr>
                </a:pPr>
                <a:endParaRPr lang="en-CL"/>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Sheet1!$A$5:$A$8</c:f>
              <c:strCache>
                <c:ptCount val="4"/>
                <c:pt idx="0">
                  <c:v>Básica</c:v>
                </c:pt>
                <c:pt idx="1">
                  <c:v>Media</c:v>
                </c:pt>
                <c:pt idx="2">
                  <c:v>Técnica</c:v>
                </c:pt>
                <c:pt idx="3">
                  <c:v>Universitaria</c:v>
                </c:pt>
              </c:strCache>
            </c:strRef>
          </c:cat>
          <c:val>
            <c:numRef>
              <c:f>Sheet1!$B$5:$B$8</c:f>
              <c:numCache>
                <c:formatCode>0%</c:formatCode>
                <c:ptCount val="4"/>
                <c:pt idx="0">
                  <c:v>0.36</c:v>
                </c:pt>
                <c:pt idx="1">
                  <c:v>0.48</c:v>
                </c:pt>
                <c:pt idx="2">
                  <c:v>0.46</c:v>
                </c:pt>
                <c:pt idx="3">
                  <c:v>0.68</c:v>
                </c:pt>
              </c:numCache>
            </c:numRef>
          </c:val>
          <c:extLst>
            <c:ext xmlns:c16="http://schemas.microsoft.com/office/drawing/2014/chart" uri="{C3380CC4-5D6E-409C-BE32-E72D297353CC}">
              <c16:uniqueId val="{00000000-29B9-4085-B137-5EC9D9CC957A}"/>
            </c:ext>
          </c:extLst>
        </c:ser>
        <c:dLbls>
          <c:showLegendKey val="0"/>
          <c:showVal val="0"/>
          <c:showCatName val="0"/>
          <c:showSerName val="0"/>
          <c:showPercent val="0"/>
          <c:showBubbleSize val="0"/>
        </c:dLbls>
        <c:gapWidth val="219"/>
        <c:overlap val="-27"/>
        <c:axId val="1950675152"/>
        <c:axId val="1950672272"/>
      </c:barChart>
      <c:catAx>
        <c:axId val="1950675152"/>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250" b="0" i="0" u="none" strike="noStrike" kern="1200" baseline="0">
                <a:solidFill>
                  <a:schemeClr val="tx1"/>
                </a:solidFill>
                <a:latin typeface="+mn-lt"/>
                <a:ea typeface="+mn-ea"/>
                <a:cs typeface="+mn-cs"/>
              </a:defRPr>
            </a:pPr>
            <a:endParaRPr lang="en-CL"/>
          </a:p>
        </c:txPr>
        <c:crossAx val="1950672272"/>
        <c:crosses val="autoZero"/>
        <c:auto val="1"/>
        <c:lblAlgn val="ctr"/>
        <c:lblOffset val="100"/>
        <c:noMultiLvlLbl val="0"/>
      </c:catAx>
      <c:valAx>
        <c:axId val="1950672272"/>
        <c:scaling>
          <c:orientation val="minMax"/>
          <c:max val="1"/>
          <c:min val="0"/>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solidFill>
              <a:schemeClr val="bg1"/>
            </a:solidFill>
          </a:ln>
          <a:effectLst/>
        </c:spPr>
        <c:txPr>
          <a:bodyPr rot="-60000000" spcFirstLastPara="1" vertOverflow="ellipsis" vert="horz" wrap="square" anchor="ctr" anchorCtr="1"/>
          <a:lstStyle/>
          <a:p>
            <a:pPr>
              <a:defRPr sz="1100" b="0" i="0" u="none" strike="noStrike" kern="1200" baseline="0">
                <a:solidFill>
                  <a:schemeClr val="tx1"/>
                </a:solidFill>
                <a:latin typeface="+mn-lt"/>
                <a:ea typeface="+mn-ea"/>
                <a:cs typeface="+mn-cs"/>
              </a:defRPr>
            </a:pPr>
            <a:endParaRPr lang="en-CL"/>
          </a:p>
        </c:txPr>
        <c:crossAx val="195067515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CL"/>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dirty="0"/>
          </a:p>
        </p:txBody>
      </p:sp>
      <p:sp>
        <p:nvSpPr>
          <p:cNvPr id="3" name="Marcador de posición de fecha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36733433-91C9-4F25-89C5-2049FA2AC72A}" type="datetime1">
              <a:rPr lang="es-ES" smtClean="0"/>
              <a:t>9/6/26</a:t>
            </a:fld>
            <a:endParaRPr lang="es-ES" dirty="0"/>
          </a:p>
        </p:txBody>
      </p:sp>
      <p:sp>
        <p:nvSpPr>
          <p:cNvPr id="4" name="Marcador de posición de pie de página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dirty="0"/>
          </a:p>
        </p:txBody>
      </p:sp>
      <p:sp>
        <p:nvSpPr>
          <p:cNvPr id="5" name="Marcador de posición de número de diapositiva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7798501B-77B5-4365-9881-C6E19A3C1E42}" type="slidenum">
              <a:rPr lang="es-ES" smtClean="0"/>
              <a:t>‹#›</a:t>
            </a:fld>
            <a:endParaRPr lang="es-ES" dirty="0"/>
          </a:p>
        </p:txBody>
      </p:sp>
    </p:spTree>
    <p:extLst>
      <p:ext uri="{BB962C8B-B14F-4D97-AF65-F5344CB8AC3E}">
        <p14:creationId xmlns:p14="http://schemas.microsoft.com/office/powerpoint/2010/main" val="285145615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noProof="0" dirty="0"/>
          </a:p>
        </p:txBody>
      </p:sp>
      <p:sp>
        <p:nvSpPr>
          <p:cNvPr id="3" name="Marcador de posición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0F42799A-0270-465F-BFBB-B1E8788AA761}" type="datetime1">
              <a:rPr lang="es-ES" noProof="0" smtClean="0"/>
              <a:t>9/6/26</a:t>
            </a:fld>
            <a:endParaRPr lang="es-ES" noProof="0" dirty="0"/>
          </a:p>
        </p:txBody>
      </p:sp>
      <p:sp>
        <p:nvSpPr>
          <p:cNvPr id="4" name="Marcador de posición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s-ES" noProof="0" dirty="0"/>
          </a:p>
        </p:txBody>
      </p:sp>
      <p:sp>
        <p:nvSpPr>
          <p:cNvPr id="5" name="Marcador de posición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s-ES" noProof="0" dirty="0"/>
              <a:t>Haga clic para modificar los estilos de texto del patrón</a:t>
            </a:r>
          </a:p>
          <a:p>
            <a:pPr lvl="1" rtl="0"/>
            <a:r>
              <a:rPr lang="es-ES" noProof="0" dirty="0"/>
              <a:t>Segundo nivel</a:t>
            </a:r>
          </a:p>
          <a:p>
            <a:pPr lvl="2" rtl="0"/>
            <a:r>
              <a:rPr lang="es-ES" noProof="0" dirty="0"/>
              <a:t>Tercer nivel</a:t>
            </a:r>
          </a:p>
          <a:p>
            <a:pPr lvl="3" rtl="0"/>
            <a:r>
              <a:rPr lang="es-ES" noProof="0" dirty="0"/>
              <a:t>Cuarto nivel</a:t>
            </a:r>
          </a:p>
          <a:p>
            <a:pPr lvl="4" rtl="0"/>
            <a:r>
              <a:rPr lang="es-ES" noProof="0" dirty="0"/>
              <a:t>Quinto nivel</a:t>
            </a:r>
          </a:p>
        </p:txBody>
      </p:sp>
      <p:sp>
        <p:nvSpPr>
          <p:cNvPr id="6" name="Marcador de posición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noProof="0" dirty="0"/>
          </a:p>
        </p:txBody>
      </p:sp>
      <p:sp>
        <p:nvSpPr>
          <p:cNvPr id="7" name="Marcador de posición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FC8BD8E7-1312-41F3-99C4-6DA5AF891969}" type="slidenum">
              <a:rPr lang="es-ES" noProof="0" smtClean="0"/>
              <a:t>‹#›</a:t>
            </a:fld>
            <a:endParaRPr lang="es-ES" noProof="0" dirty="0"/>
          </a:p>
        </p:txBody>
      </p:sp>
    </p:spTree>
    <p:extLst>
      <p:ext uri="{BB962C8B-B14F-4D97-AF65-F5344CB8AC3E}">
        <p14:creationId xmlns:p14="http://schemas.microsoft.com/office/powerpoint/2010/main" val="289208429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pPr rtl="0"/>
            <a:fld id="{FC8BD8E7-1312-41F3-99C4-6DA5AF891969}" type="slidenum">
              <a:rPr lang="es-ES" smtClean="0"/>
              <a:pPr rtl="0"/>
              <a:t>1</a:t>
            </a:fld>
            <a:endParaRPr lang="es-ES" dirty="0"/>
          </a:p>
        </p:txBody>
      </p:sp>
    </p:spTree>
    <p:extLst>
      <p:ext uri="{BB962C8B-B14F-4D97-AF65-F5344CB8AC3E}">
        <p14:creationId xmlns:p14="http://schemas.microsoft.com/office/powerpoint/2010/main" val="13095554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pPr rtl="0"/>
            <a:fld id="{FC8BD8E7-1312-41F3-99C4-6DA5AF891969}" type="slidenum">
              <a:rPr lang="es-ES" smtClean="0"/>
              <a:t>5</a:t>
            </a:fld>
            <a:endParaRPr lang="es-ES" dirty="0"/>
          </a:p>
        </p:txBody>
      </p:sp>
    </p:spTree>
    <p:extLst>
      <p:ext uri="{BB962C8B-B14F-4D97-AF65-F5344CB8AC3E}">
        <p14:creationId xmlns:p14="http://schemas.microsoft.com/office/powerpoint/2010/main" val="40513436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CL" dirty="0"/>
              <a:t>NOS HACEMOS ESTA PREGUNTA PARA COMENZAR </a:t>
            </a:r>
          </a:p>
        </p:txBody>
      </p:sp>
      <p:sp>
        <p:nvSpPr>
          <p:cNvPr id="4" name="Marcador de número de diapositiva 3"/>
          <p:cNvSpPr>
            <a:spLocks noGrp="1"/>
          </p:cNvSpPr>
          <p:nvPr>
            <p:ph type="sldNum" sz="quarter" idx="10"/>
          </p:nvPr>
        </p:nvSpPr>
        <p:spPr/>
        <p:txBody>
          <a:bodyPr/>
          <a:lstStyle/>
          <a:p>
            <a:pPr rtl="0"/>
            <a:fld id="{FC8BD8E7-1312-41F3-99C4-6DA5AF891969}" type="slidenum">
              <a:rPr lang="es-ES" noProof="0" smtClean="0"/>
              <a:t>7</a:t>
            </a:fld>
            <a:endParaRPr lang="es-ES" noProof="0" dirty="0"/>
          </a:p>
        </p:txBody>
      </p:sp>
    </p:spTree>
    <p:extLst>
      <p:ext uri="{BB962C8B-B14F-4D97-AF65-F5344CB8AC3E}">
        <p14:creationId xmlns:p14="http://schemas.microsoft.com/office/powerpoint/2010/main" val="26809859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pPr rtl="0"/>
            <a:fld id="{FC8BD8E7-1312-41F3-99C4-6DA5AF891969}" type="slidenum">
              <a:rPr lang="es-ES" smtClean="0"/>
              <a:t>8</a:t>
            </a:fld>
            <a:endParaRPr lang="es-ES" dirty="0"/>
          </a:p>
        </p:txBody>
      </p:sp>
    </p:spTree>
    <p:extLst>
      <p:ext uri="{BB962C8B-B14F-4D97-AF65-F5344CB8AC3E}">
        <p14:creationId xmlns:p14="http://schemas.microsoft.com/office/powerpoint/2010/main" val="34216918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pPr rtl="0"/>
            <a:fld id="{FC8BD8E7-1312-41F3-99C4-6DA5AF891969}" type="slidenum">
              <a:rPr lang="es-ES" smtClean="0"/>
              <a:t>9</a:t>
            </a:fld>
            <a:endParaRPr lang="es-ES" dirty="0"/>
          </a:p>
        </p:txBody>
      </p:sp>
    </p:spTree>
    <p:extLst>
      <p:ext uri="{BB962C8B-B14F-4D97-AF65-F5344CB8AC3E}">
        <p14:creationId xmlns:p14="http://schemas.microsoft.com/office/powerpoint/2010/main" val="7664512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pPr rtl="0"/>
            <a:fld id="{FC8BD8E7-1312-41F3-99C4-6DA5AF891969}" type="slidenum">
              <a:rPr lang="es-ES" smtClean="0"/>
              <a:t>11</a:t>
            </a:fld>
            <a:endParaRPr lang="es-ES" dirty="0"/>
          </a:p>
        </p:txBody>
      </p:sp>
    </p:spTree>
    <p:extLst>
      <p:ext uri="{BB962C8B-B14F-4D97-AF65-F5344CB8AC3E}">
        <p14:creationId xmlns:p14="http://schemas.microsoft.com/office/powerpoint/2010/main" val="32254949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pPr rtl="0"/>
            <a:fld id="{FC8BD8E7-1312-41F3-99C4-6DA5AF891969}" type="slidenum">
              <a:rPr lang="es-ES" smtClean="0"/>
              <a:t>13</a:t>
            </a:fld>
            <a:endParaRPr lang="es-ES" dirty="0"/>
          </a:p>
        </p:txBody>
      </p:sp>
    </p:spTree>
    <p:extLst>
      <p:ext uri="{BB962C8B-B14F-4D97-AF65-F5344CB8AC3E}">
        <p14:creationId xmlns:p14="http://schemas.microsoft.com/office/powerpoint/2010/main" val="17545945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pPr rtl="0"/>
            <a:fld id="{FC8BD8E7-1312-41F3-99C4-6DA5AF891969}" type="slidenum">
              <a:rPr lang="es-ES" smtClean="0"/>
              <a:t>14</a:t>
            </a:fld>
            <a:endParaRPr lang="es-ES" dirty="0"/>
          </a:p>
        </p:txBody>
      </p:sp>
    </p:spTree>
    <p:extLst>
      <p:ext uri="{BB962C8B-B14F-4D97-AF65-F5344CB8AC3E}">
        <p14:creationId xmlns:p14="http://schemas.microsoft.com/office/powerpoint/2010/main" val="15656481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CL" dirty="0"/>
              <a:t>NOS HACEMOS ESTA PREGUNTA PARA COMENZAR </a:t>
            </a:r>
          </a:p>
        </p:txBody>
      </p:sp>
      <p:sp>
        <p:nvSpPr>
          <p:cNvPr id="4" name="Marcador de número de diapositiva 3"/>
          <p:cNvSpPr>
            <a:spLocks noGrp="1"/>
          </p:cNvSpPr>
          <p:nvPr>
            <p:ph type="sldNum" sz="quarter" idx="10"/>
          </p:nvPr>
        </p:nvSpPr>
        <p:spPr/>
        <p:txBody>
          <a:bodyPr/>
          <a:lstStyle/>
          <a:p>
            <a:pPr rtl="0"/>
            <a:fld id="{FC8BD8E7-1312-41F3-99C4-6DA5AF891969}" type="slidenum">
              <a:rPr lang="es-ES" noProof="0" smtClean="0"/>
              <a:t>15</a:t>
            </a:fld>
            <a:endParaRPr lang="es-ES" noProof="0" dirty="0"/>
          </a:p>
        </p:txBody>
      </p:sp>
    </p:spTree>
    <p:extLst>
      <p:ext uri="{BB962C8B-B14F-4D97-AF65-F5344CB8AC3E}">
        <p14:creationId xmlns:p14="http://schemas.microsoft.com/office/powerpoint/2010/main" val="33063955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pPr rtl="0"/>
            <a:fld id="{FC8BD8E7-1312-41F3-99C4-6DA5AF891969}" type="slidenum">
              <a:rPr lang="es-ES" smtClean="0"/>
              <a:t>16</a:t>
            </a:fld>
            <a:endParaRPr lang="es-ES" dirty="0"/>
          </a:p>
        </p:txBody>
      </p:sp>
    </p:spTree>
    <p:extLst>
      <p:ext uri="{BB962C8B-B14F-4D97-AF65-F5344CB8AC3E}">
        <p14:creationId xmlns:p14="http://schemas.microsoft.com/office/powerpoint/2010/main" val="13617815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pPr rtl="0"/>
            <a:fld id="{FC8BD8E7-1312-41F3-99C4-6DA5AF891969}" type="slidenum">
              <a:rPr lang="es-ES" smtClean="0"/>
              <a:t>17</a:t>
            </a:fld>
            <a:endParaRPr lang="es-ES" dirty="0"/>
          </a:p>
        </p:txBody>
      </p:sp>
    </p:spTree>
    <p:extLst>
      <p:ext uri="{BB962C8B-B14F-4D97-AF65-F5344CB8AC3E}">
        <p14:creationId xmlns:p14="http://schemas.microsoft.com/office/powerpoint/2010/main" val="13836543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pPr rtl="0"/>
            <a:fld id="{FC8BD8E7-1312-41F3-99C4-6DA5AF891969}" type="slidenum">
              <a:rPr lang="es-ES" smtClean="0"/>
              <a:t>18</a:t>
            </a:fld>
            <a:endParaRPr lang="es-ES" dirty="0"/>
          </a:p>
        </p:txBody>
      </p:sp>
    </p:spTree>
    <p:extLst>
      <p:ext uri="{BB962C8B-B14F-4D97-AF65-F5344CB8AC3E}">
        <p14:creationId xmlns:p14="http://schemas.microsoft.com/office/powerpoint/2010/main" val="32651830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CL" dirty="0"/>
              <a:t>NOS HACEMOS ESTA PREGUNTA PARA COMENZAR </a:t>
            </a:r>
          </a:p>
        </p:txBody>
      </p:sp>
      <p:sp>
        <p:nvSpPr>
          <p:cNvPr id="4" name="Marcador de número de diapositiva 3"/>
          <p:cNvSpPr>
            <a:spLocks noGrp="1"/>
          </p:cNvSpPr>
          <p:nvPr>
            <p:ph type="sldNum" sz="quarter" idx="10"/>
          </p:nvPr>
        </p:nvSpPr>
        <p:spPr/>
        <p:txBody>
          <a:bodyPr/>
          <a:lstStyle/>
          <a:p>
            <a:pPr rtl="0"/>
            <a:fld id="{FC8BD8E7-1312-41F3-99C4-6DA5AF891969}" type="slidenum">
              <a:rPr lang="es-ES" noProof="0" smtClean="0"/>
              <a:t>19</a:t>
            </a:fld>
            <a:endParaRPr lang="es-ES" noProof="0" dirty="0"/>
          </a:p>
        </p:txBody>
      </p:sp>
    </p:spTree>
    <p:extLst>
      <p:ext uri="{BB962C8B-B14F-4D97-AF65-F5344CB8AC3E}">
        <p14:creationId xmlns:p14="http://schemas.microsoft.com/office/powerpoint/2010/main" val="31906602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 name="Google Shape;82;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3" name="Google Shape;83;p4:notes"/>
          <p:cNvSpPr txBox="1">
            <a:spLocks noGrp="1"/>
          </p:cNvSpPr>
          <p:nvPr>
            <p:ph type="hdr" idx="3"/>
          </p:nvPr>
        </p:nvSpPr>
        <p:spPr>
          <a:xfrm>
            <a:off x="0" y="0"/>
            <a:ext cx="2971800" cy="458788"/>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s-ES" sz="1200" b="0" i="0" u="none" strike="noStrike" kern="0" cap="none" spc="0" normalizeH="0" baseline="0" noProof="0">
                <a:ln>
                  <a:noFill/>
                </a:ln>
                <a:solidFill>
                  <a:srgbClr val="000000"/>
                </a:solidFill>
                <a:effectLst/>
                <a:uLnTx/>
                <a:uFillTx/>
                <a:latin typeface="Calibri"/>
                <a:ea typeface="Calibri"/>
                <a:cs typeface="Calibri"/>
                <a:sym typeface="Calibri"/>
              </a:rPr>
              <a:t>Nombre evento 2</a:t>
            </a:r>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1"/>
        <p:cNvGrpSpPr/>
        <p:nvPr/>
      </p:nvGrpSpPr>
      <p:grpSpPr>
        <a:xfrm>
          <a:off x="0" y="0"/>
          <a:ext cx="0" cy="0"/>
          <a:chOff x="0" y="0"/>
          <a:chExt cx="0" cy="0"/>
        </a:xfrm>
      </p:grpSpPr>
      <p:sp>
        <p:nvSpPr>
          <p:cNvPr id="1752" name="Google Shape;1752;p29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53" name="Google Shape;1753;p29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51574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9" name="Google Shape;199;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1"/>
        <p:cNvGrpSpPr/>
        <p:nvPr/>
      </p:nvGrpSpPr>
      <p:grpSpPr>
        <a:xfrm>
          <a:off x="0" y="0"/>
          <a:ext cx="0" cy="0"/>
          <a:chOff x="0" y="0"/>
          <a:chExt cx="0" cy="0"/>
        </a:xfrm>
      </p:grpSpPr>
      <p:sp>
        <p:nvSpPr>
          <p:cNvPr id="1752" name="Google Shape;1752;p29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53" name="Google Shape;1753;p29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247904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4" name="Google Shape;204;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1"/>
        <p:cNvGrpSpPr/>
        <p:nvPr/>
      </p:nvGrpSpPr>
      <p:grpSpPr>
        <a:xfrm>
          <a:off x="0" y="0"/>
          <a:ext cx="0" cy="0"/>
          <a:chOff x="0" y="0"/>
          <a:chExt cx="0" cy="0"/>
        </a:xfrm>
      </p:grpSpPr>
      <p:sp>
        <p:nvSpPr>
          <p:cNvPr id="1752" name="Google Shape;1752;p29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53" name="Google Shape;1753;p29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6330161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4"/>
        <p:cNvGrpSpPr/>
        <p:nvPr/>
      </p:nvGrpSpPr>
      <p:grpSpPr>
        <a:xfrm>
          <a:off x="0" y="0"/>
          <a:ext cx="0" cy="0"/>
          <a:chOff x="0" y="0"/>
          <a:chExt cx="0" cy="0"/>
        </a:xfrm>
      </p:grpSpPr>
      <p:sp>
        <p:nvSpPr>
          <p:cNvPr id="895" name="Google Shape;895;p14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96" name="Google Shape;896;p1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1"/>
        <p:cNvGrpSpPr/>
        <p:nvPr/>
      </p:nvGrpSpPr>
      <p:grpSpPr>
        <a:xfrm>
          <a:off x="0" y="0"/>
          <a:ext cx="0" cy="0"/>
          <a:chOff x="0" y="0"/>
          <a:chExt cx="0" cy="0"/>
        </a:xfrm>
      </p:grpSpPr>
      <p:sp>
        <p:nvSpPr>
          <p:cNvPr id="1752" name="Google Shape;1752;p29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53" name="Google Shape;1753;p29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036819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6"/>
        <p:cNvGrpSpPr/>
        <p:nvPr/>
      </p:nvGrpSpPr>
      <p:grpSpPr>
        <a:xfrm>
          <a:off x="0" y="0"/>
          <a:ext cx="0" cy="0"/>
          <a:chOff x="0" y="0"/>
          <a:chExt cx="0" cy="0"/>
        </a:xfrm>
      </p:grpSpPr>
      <p:sp>
        <p:nvSpPr>
          <p:cNvPr id="907" name="Google Shape;907;p14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08" name="Google Shape;908;p1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pPr rtl="0"/>
            <a:fld id="{FC8BD8E7-1312-41F3-99C4-6DA5AF891969}" type="slidenum">
              <a:rPr lang="es-ES" smtClean="0"/>
              <a:t>36</a:t>
            </a:fld>
            <a:endParaRPr lang="es-ES" dirty="0"/>
          </a:p>
        </p:txBody>
      </p:sp>
    </p:spTree>
    <p:extLst>
      <p:ext uri="{BB962C8B-B14F-4D97-AF65-F5344CB8AC3E}">
        <p14:creationId xmlns:p14="http://schemas.microsoft.com/office/powerpoint/2010/main" val="416555356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pPr rtl="0"/>
            <a:fld id="{FC8BD8E7-1312-41F3-99C4-6DA5AF891969}" type="slidenum">
              <a:rPr lang="es-ES" smtClean="0"/>
              <a:t>37</a:t>
            </a:fld>
            <a:endParaRPr lang="es-ES" dirty="0"/>
          </a:p>
        </p:txBody>
      </p:sp>
    </p:spTree>
    <p:extLst>
      <p:ext uri="{BB962C8B-B14F-4D97-AF65-F5344CB8AC3E}">
        <p14:creationId xmlns:p14="http://schemas.microsoft.com/office/powerpoint/2010/main" val="321727488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pPr rtl="0"/>
            <a:fld id="{FC8BD8E7-1312-41F3-99C4-6DA5AF891969}" type="slidenum">
              <a:rPr lang="es-ES" smtClean="0"/>
              <a:t>38</a:t>
            </a:fld>
            <a:endParaRPr lang="es-ES" dirty="0"/>
          </a:p>
        </p:txBody>
      </p:sp>
    </p:spTree>
    <p:extLst>
      <p:ext uri="{BB962C8B-B14F-4D97-AF65-F5344CB8AC3E}">
        <p14:creationId xmlns:p14="http://schemas.microsoft.com/office/powerpoint/2010/main" val="97439904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CL" dirty="0"/>
              <a:t>NOS HACEMOS ESTA PREGUNTA PARA COMENZAR </a:t>
            </a:r>
          </a:p>
        </p:txBody>
      </p:sp>
      <p:sp>
        <p:nvSpPr>
          <p:cNvPr id="4" name="Marcador de número de diapositiva 3"/>
          <p:cNvSpPr>
            <a:spLocks noGrp="1"/>
          </p:cNvSpPr>
          <p:nvPr>
            <p:ph type="sldNum" sz="quarter" idx="10"/>
          </p:nvPr>
        </p:nvSpPr>
        <p:spPr/>
        <p:txBody>
          <a:bodyPr/>
          <a:lstStyle/>
          <a:p>
            <a:pPr rtl="0"/>
            <a:fld id="{FC8BD8E7-1312-41F3-99C4-6DA5AF891969}" type="slidenum">
              <a:rPr lang="es-ES" noProof="0" smtClean="0"/>
              <a:t>39</a:t>
            </a:fld>
            <a:endParaRPr lang="es-ES" noProof="0" dirty="0"/>
          </a:p>
        </p:txBody>
      </p:sp>
    </p:spTree>
    <p:extLst>
      <p:ext uri="{BB962C8B-B14F-4D97-AF65-F5344CB8AC3E}">
        <p14:creationId xmlns:p14="http://schemas.microsoft.com/office/powerpoint/2010/main" val="259355126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pPr rtl="0"/>
            <a:fld id="{FC8BD8E7-1312-41F3-99C4-6DA5AF891969}" type="slidenum">
              <a:rPr lang="es-ES" smtClean="0"/>
              <a:pPr rtl="0"/>
              <a:t>42</a:t>
            </a:fld>
            <a:endParaRPr lang="es-ES" dirty="0"/>
          </a:p>
        </p:txBody>
      </p:sp>
    </p:spTree>
    <p:extLst>
      <p:ext uri="{BB962C8B-B14F-4D97-AF65-F5344CB8AC3E}">
        <p14:creationId xmlns:p14="http://schemas.microsoft.com/office/powerpoint/2010/main" val="130955542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4F925F8-B494-462A-96BD-E4E9022FDF57}" type="slidenum">
              <a:rPr lang="en-US" smtClean="0"/>
              <a:pPr/>
              <a:t>46</a:t>
            </a:fld>
            <a:endParaRPr lang="en-US"/>
          </a:p>
        </p:txBody>
      </p:sp>
    </p:spTree>
    <p:extLst>
      <p:ext uri="{BB962C8B-B14F-4D97-AF65-F5344CB8AC3E}">
        <p14:creationId xmlns:p14="http://schemas.microsoft.com/office/powerpoint/2010/main" val="370101936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ES"/>
          </a:p>
        </p:txBody>
      </p:sp>
      <p:sp>
        <p:nvSpPr>
          <p:cNvPr id="4" name="3 Marcador de número de diapositiva"/>
          <p:cNvSpPr>
            <a:spLocks noGrp="1"/>
          </p:cNvSpPr>
          <p:nvPr>
            <p:ph type="sldNum" sz="quarter" idx="10"/>
          </p:nvPr>
        </p:nvSpPr>
        <p:spPr/>
        <p:txBody>
          <a:bodyPr/>
          <a:lstStyle/>
          <a:p>
            <a:fld id="{D2EE7521-C076-441B-91EA-64786DDAC563}" type="slidenum">
              <a:rPr lang="es-ES" smtClean="0"/>
              <a:pPr/>
              <a:t>49</a:t>
            </a:fld>
            <a:endParaRPr lang="es-E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a:xfrm>
            <a:off x="381000" y="685800"/>
            <a:ext cx="6096000" cy="3429000"/>
          </a:xfrm>
          <a:ln/>
        </p:spPr>
      </p:sp>
      <p:sp>
        <p:nvSpPr>
          <p:cNvPr id="3" name="Notes Placeholder 2"/>
          <p:cNvSpPr>
            <a:spLocks noGrp="1"/>
          </p:cNvSpPr>
          <p:nvPr>
            <p:ph type="body" idx="1"/>
          </p:nvPr>
        </p:nvSpPr>
        <p:spPr/>
        <p:txBody>
          <a:bodyPr/>
          <a:lstStyle/>
          <a:p>
            <a:pPr>
              <a:defRPr/>
            </a:pPr>
            <a:r>
              <a:rPr lang="nl-NL" dirty="0">
                <a:solidFill>
                  <a:schemeClr val="accent3">
                    <a:lumMod val="75000"/>
                  </a:schemeClr>
                </a:solidFill>
                <a:ea typeface="+mn-ea"/>
              </a:rPr>
              <a:t>In Study 3 we created artifical groups in the lab, in order to find a way of manipulating group identiciation. Participants </a:t>
            </a:r>
            <a:r>
              <a:rPr lang="en-US" dirty="0"/>
              <a:t>were told that the study required to assess their style of thinking,  thus they would be categorize as inductive or deductive thinkers. With this aim, they completed a bogus test and were informed to which group they belonged</a:t>
            </a:r>
            <a:r>
              <a:rPr lang="nl-NL" dirty="0">
                <a:solidFill>
                  <a:schemeClr val="accent3">
                    <a:lumMod val="75000"/>
                  </a:schemeClr>
                </a:solidFill>
                <a:ea typeface="+mn-ea"/>
              </a:rPr>
              <a:t>.</a:t>
            </a:r>
          </a:p>
          <a:p>
            <a:pPr>
              <a:defRPr/>
            </a:pPr>
            <a:r>
              <a:rPr lang="en-US" dirty="0"/>
              <a:t>According to the aim of the study, we told participants that it was also necessary to measure to what extent each participant identified with their group. To achieve this, participants were asked to answer a bogus personality inventory composed by ten items designed for this study. Furthermore, using a bogus pipeline procedure: participants were told that the level of a certain hormone, </a:t>
            </a:r>
            <a:r>
              <a:rPr lang="en-US" dirty="0" err="1"/>
              <a:t>cortisol</a:t>
            </a:r>
            <a:r>
              <a:rPr lang="en-US" dirty="0"/>
              <a:t>, had been related to the degree in which individuals identify with their group, and specifically that high levels of </a:t>
            </a:r>
            <a:r>
              <a:rPr lang="en-US" dirty="0" err="1"/>
              <a:t>cortisol</a:t>
            </a:r>
            <a:r>
              <a:rPr lang="en-US" dirty="0"/>
              <a:t> reflected high levels of identification. </a:t>
            </a:r>
            <a:r>
              <a:rPr lang="en-US" dirty="0" err="1"/>
              <a:t>Thereofre</a:t>
            </a:r>
            <a:r>
              <a:rPr lang="en-US" dirty="0"/>
              <a:t>, after answering the inventory, the experimenter took a saliva sample from each participant, ostensibly to check the levels of </a:t>
            </a:r>
            <a:r>
              <a:rPr lang="en-US" dirty="0" err="1"/>
              <a:t>cortisol</a:t>
            </a:r>
            <a:r>
              <a:rPr lang="en-US" dirty="0"/>
              <a:t>. </a:t>
            </a:r>
            <a:endParaRPr lang="nl-NL" dirty="0">
              <a:solidFill>
                <a:schemeClr val="accent3">
                  <a:lumMod val="75000"/>
                </a:schemeClr>
              </a:solidFill>
              <a:ea typeface="+mn-ea"/>
            </a:endParaRPr>
          </a:p>
          <a:p>
            <a:pPr>
              <a:defRPr/>
            </a:pPr>
            <a:endParaRPr lang="nl-NL" b="1" dirty="0">
              <a:solidFill>
                <a:schemeClr val="accent3">
                  <a:lumMod val="75000"/>
                </a:schemeClr>
              </a:solidFill>
              <a:ea typeface="+mn-ea"/>
            </a:endParaRPr>
          </a:p>
          <a:p>
            <a:pPr>
              <a:defRPr/>
            </a:pPr>
            <a:endParaRPr lang="nl-NL" b="1" dirty="0">
              <a:solidFill>
                <a:schemeClr val="accent3">
                  <a:lumMod val="75000"/>
                </a:schemeClr>
              </a:solidFill>
              <a:ea typeface="+mn-ea"/>
            </a:endParaRPr>
          </a:p>
        </p:txBody>
      </p:sp>
      <p:sp>
        <p:nvSpPr>
          <p:cNvPr id="32772" name="Slide Number Placeholder 3"/>
          <p:cNvSpPr>
            <a:spLocks noGrp="1"/>
          </p:cNvSpPr>
          <p:nvPr>
            <p:ph type="sldNum" sz="quarter" idx="5"/>
          </p:nvPr>
        </p:nvSpPr>
        <p:spPr>
          <a:noFill/>
          <a:ln>
            <a:miter lim="800000"/>
            <a:headEnd/>
            <a:tailEnd/>
          </a:ln>
        </p:spPr>
        <p:txBody>
          <a:bodyPr/>
          <a:lstStyle/>
          <a:p>
            <a:fld id="{0A6FD5FF-BD7A-4998-8897-24BEBE933024}" type="slidenum">
              <a:rPr lang="es-ES" smtClean="0">
                <a:ea typeface="ＭＳ Ｐゴシック" pitchFamily="34" charset="-128"/>
              </a:rPr>
              <a:pPr/>
              <a:t>55</a:t>
            </a:fld>
            <a:endParaRPr lang="es-ES">
              <a:ea typeface="ＭＳ Ｐゴシック" pitchFamily="34" charset="-128"/>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n-GB"/>
          </a:p>
        </p:txBody>
      </p:sp>
      <p:sp>
        <p:nvSpPr>
          <p:cNvPr id="4" name="3 Marcador de número de diapositiva"/>
          <p:cNvSpPr>
            <a:spLocks noGrp="1"/>
          </p:cNvSpPr>
          <p:nvPr>
            <p:ph type="sldNum" sz="quarter" idx="10"/>
          </p:nvPr>
        </p:nvSpPr>
        <p:spPr/>
        <p:txBody>
          <a:bodyPr/>
          <a:lstStyle/>
          <a:p>
            <a:pPr>
              <a:defRPr/>
            </a:pPr>
            <a:fld id="{EF817B36-E42F-407E-8DD7-79EB53380913}" type="slidenum">
              <a:rPr lang="en-US" smtClean="0"/>
              <a:pPr>
                <a:defRPr/>
              </a:pPr>
              <a:t>60</a:t>
            </a:fld>
            <a:endParaRPr lang="en-US" dirty="0"/>
          </a:p>
        </p:txBody>
      </p:sp>
    </p:spTree>
    <p:extLst>
      <p:ext uri="{BB962C8B-B14F-4D97-AF65-F5344CB8AC3E}">
        <p14:creationId xmlns:p14="http://schemas.microsoft.com/office/powerpoint/2010/main" val="214299936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n-GB"/>
          </a:p>
        </p:txBody>
      </p:sp>
      <p:sp>
        <p:nvSpPr>
          <p:cNvPr id="4" name="3 Marcador de número de diapositiva"/>
          <p:cNvSpPr>
            <a:spLocks noGrp="1"/>
          </p:cNvSpPr>
          <p:nvPr>
            <p:ph type="sldNum" sz="quarter" idx="10"/>
          </p:nvPr>
        </p:nvSpPr>
        <p:spPr/>
        <p:txBody>
          <a:bodyPr/>
          <a:lstStyle/>
          <a:p>
            <a:pPr>
              <a:defRPr/>
            </a:pPr>
            <a:fld id="{EF817B36-E42F-407E-8DD7-79EB53380913}" type="slidenum">
              <a:rPr lang="en-US" smtClean="0"/>
              <a:pPr>
                <a:defRPr/>
              </a:pPr>
              <a:t>61</a:t>
            </a:fld>
            <a:endParaRPr lang="en-US" dirty="0"/>
          </a:p>
        </p:txBody>
      </p:sp>
    </p:spTree>
    <p:extLst>
      <p:ext uri="{BB962C8B-B14F-4D97-AF65-F5344CB8AC3E}">
        <p14:creationId xmlns:p14="http://schemas.microsoft.com/office/powerpoint/2010/main" val="159413701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n-GB"/>
          </a:p>
        </p:txBody>
      </p:sp>
      <p:sp>
        <p:nvSpPr>
          <p:cNvPr id="4" name="3 Marcador de número de diapositiva"/>
          <p:cNvSpPr>
            <a:spLocks noGrp="1"/>
          </p:cNvSpPr>
          <p:nvPr>
            <p:ph type="sldNum" sz="quarter" idx="10"/>
          </p:nvPr>
        </p:nvSpPr>
        <p:spPr/>
        <p:txBody>
          <a:bodyPr/>
          <a:lstStyle/>
          <a:p>
            <a:pPr>
              <a:defRPr/>
            </a:pPr>
            <a:fld id="{EF817B36-E42F-407E-8DD7-79EB53380913}" type="slidenum">
              <a:rPr lang="en-US" smtClean="0"/>
              <a:pPr>
                <a:defRPr/>
              </a:pPr>
              <a:t>62</a:t>
            </a:fld>
            <a:endParaRPr lang="en-US" dirty="0"/>
          </a:p>
        </p:txBody>
      </p:sp>
    </p:spTree>
    <p:extLst>
      <p:ext uri="{BB962C8B-B14F-4D97-AF65-F5344CB8AC3E}">
        <p14:creationId xmlns:p14="http://schemas.microsoft.com/office/powerpoint/2010/main" val="363438840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n-GB"/>
          </a:p>
        </p:txBody>
      </p:sp>
      <p:sp>
        <p:nvSpPr>
          <p:cNvPr id="4" name="3 Marcador de número de diapositiva"/>
          <p:cNvSpPr>
            <a:spLocks noGrp="1"/>
          </p:cNvSpPr>
          <p:nvPr>
            <p:ph type="sldNum" sz="quarter" idx="10"/>
          </p:nvPr>
        </p:nvSpPr>
        <p:spPr/>
        <p:txBody>
          <a:bodyPr/>
          <a:lstStyle/>
          <a:p>
            <a:pPr>
              <a:defRPr/>
            </a:pPr>
            <a:fld id="{EF817B36-E42F-407E-8DD7-79EB53380913}" type="slidenum">
              <a:rPr lang="en-US" smtClean="0"/>
              <a:pPr>
                <a:defRPr/>
              </a:pPr>
              <a:t>63</a:t>
            </a:fld>
            <a:endParaRPr lang="en-US" dirty="0"/>
          </a:p>
        </p:txBody>
      </p:sp>
    </p:spTree>
    <p:extLst>
      <p:ext uri="{BB962C8B-B14F-4D97-AF65-F5344CB8AC3E}">
        <p14:creationId xmlns:p14="http://schemas.microsoft.com/office/powerpoint/2010/main" val="3113497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bg>
      <p:bgPr>
        <a:solidFill>
          <a:schemeClr val="accent1">
            <a:lumMod val="75000"/>
          </a:schemeClr>
        </a:solidFill>
        <a:effectLst/>
      </p:bgPr>
    </p:bg>
    <p:spTree>
      <p:nvGrpSpPr>
        <p:cNvPr id="1" name=""/>
        <p:cNvGrpSpPr/>
        <p:nvPr/>
      </p:nvGrpSpPr>
      <p:grpSpPr>
        <a:xfrm>
          <a:off x="0" y="0"/>
          <a:ext cx="0" cy="0"/>
          <a:chOff x="0" y="0"/>
          <a:chExt cx="0" cy="0"/>
        </a:xfrm>
      </p:grpSpPr>
      <p:sp>
        <p:nvSpPr>
          <p:cNvPr id="7" name="Rectángulo 6"/>
          <p:cNvSpPr/>
          <p:nvPr userDrawn="1"/>
        </p:nvSpPr>
        <p:spPr>
          <a:xfrm>
            <a:off x="304800" y="304800"/>
            <a:ext cx="11582400" cy="6248400"/>
          </a:xfrm>
          <a:prstGeom prst="rect">
            <a:avLst/>
          </a:prstGeom>
          <a:noFill/>
          <a:ln w="5080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dirty="0"/>
          </a:p>
        </p:txBody>
      </p:sp>
      <p:sp>
        <p:nvSpPr>
          <p:cNvPr id="2" name="Título 1"/>
          <p:cNvSpPr>
            <a:spLocks noGrp="1"/>
          </p:cNvSpPr>
          <p:nvPr>
            <p:ph type="ctrTitle"/>
          </p:nvPr>
        </p:nvSpPr>
        <p:spPr>
          <a:xfrm>
            <a:off x="838200" y="1548245"/>
            <a:ext cx="10515600" cy="2240280"/>
          </a:xfrm>
        </p:spPr>
        <p:txBody>
          <a:bodyPr rtlCol="0" anchor="b">
            <a:normAutofit/>
          </a:bodyPr>
          <a:lstStyle>
            <a:lvl1pPr algn="ctr">
              <a:defRPr sz="4400">
                <a:solidFill>
                  <a:schemeClr val="bg1"/>
                </a:solidFill>
              </a:defRPr>
            </a:lvl1pPr>
          </a:lstStyle>
          <a:p>
            <a:pPr rtl="0"/>
            <a:r>
              <a:rPr lang="es-ES" noProof="0"/>
              <a:t>Haga clic para modificar el estilo de título del patrón</a:t>
            </a:r>
            <a:endParaRPr lang="es-ES" noProof="0" dirty="0"/>
          </a:p>
        </p:txBody>
      </p:sp>
      <p:sp>
        <p:nvSpPr>
          <p:cNvPr id="3" name="Subtítulo 2"/>
          <p:cNvSpPr>
            <a:spLocks noGrp="1"/>
          </p:cNvSpPr>
          <p:nvPr>
            <p:ph type="subTitle" idx="1"/>
          </p:nvPr>
        </p:nvSpPr>
        <p:spPr>
          <a:xfrm>
            <a:off x="838200" y="3854659"/>
            <a:ext cx="10515600" cy="1143000"/>
          </a:xfrm>
        </p:spPr>
        <p:txBody>
          <a:bodyPr rtlCol="0">
            <a:normAutofit/>
          </a:bodyPr>
          <a:lstStyle>
            <a:lvl1pPr marL="0" indent="0" algn="ctr">
              <a:buNone/>
              <a:defRPr sz="2000" cap="all" spc="5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ES" noProof="0"/>
              <a:t>Haga clic para modificar el estilo de subtítulo del patrón</a:t>
            </a:r>
            <a:endParaRPr lang="es-ES" noProof="0" dirty="0"/>
          </a:p>
        </p:txBody>
      </p:sp>
    </p:spTree>
    <p:extLst>
      <p:ext uri="{BB962C8B-B14F-4D97-AF65-F5344CB8AC3E}">
        <p14:creationId xmlns:p14="http://schemas.microsoft.com/office/powerpoint/2010/main" val="79886275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Diapositiva de título con imágenes">
    <p:bg>
      <p:bgRef idx="1001">
        <a:schemeClr val="bg1"/>
      </p:bgRef>
    </p:bg>
    <p:spTree>
      <p:nvGrpSpPr>
        <p:cNvPr id="1" name=""/>
        <p:cNvGrpSpPr/>
        <p:nvPr/>
      </p:nvGrpSpPr>
      <p:grpSpPr>
        <a:xfrm>
          <a:off x="0" y="0"/>
          <a:ext cx="0" cy="0"/>
          <a:chOff x="0" y="0"/>
          <a:chExt cx="0" cy="0"/>
        </a:xfrm>
      </p:grpSpPr>
      <p:sp>
        <p:nvSpPr>
          <p:cNvPr id="8" name="Rectángulo 7"/>
          <p:cNvSpPr/>
          <p:nvPr userDrawn="1"/>
        </p:nvSpPr>
        <p:spPr>
          <a:xfrm>
            <a:off x="0" y="4800600"/>
            <a:ext cx="12192000" cy="20574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dirty="0"/>
          </a:p>
        </p:txBody>
      </p:sp>
      <p:sp>
        <p:nvSpPr>
          <p:cNvPr id="2" name="Título 1"/>
          <p:cNvSpPr>
            <a:spLocks noGrp="1"/>
          </p:cNvSpPr>
          <p:nvPr>
            <p:ph type="ctrTitle"/>
          </p:nvPr>
        </p:nvSpPr>
        <p:spPr>
          <a:xfrm>
            <a:off x="533400" y="5084483"/>
            <a:ext cx="11125200" cy="914400"/>
          </a:xfrm>
        </p:spPr>
        <p:txBody>
          <a:bodyPr rtlCol="0" anchor="b">
            <a:normAutofit/>
          </a:bodyPr>
          <a:lstStyle>
            <a:lvl1pPr algn="ctr">
              <a:defRPr sz="4400" spc="-50" baseline="0">
                <a:solidFill>
                  <a:schemeClr val="bg1"/>
                </a:solidFill>
              </a:defRPr>
            </a:lvl1pPr>
          </a:lstStyle>
          <a:p>
            <a:pPr rtl="0"/>
            <a:r>
              <a:rPr lang="es-ES" noProof="0"/>
              <a:t>Haga clic para modificar el estilo de título del patrón</a:t>
            </a:r>
            <a:endParaRPr lang="es-ES" noProof="0" dirty="0"/>
          </a:p>
        </p:txBody>
      </p:sp>
      <p:sp>
        <p:nvSpPr>
          <p:cNvPr id="9" name="Marcador de posición de imagen 2" descr="Marcador de posición vacío para agregar una imagen. Haga clic en el marcador de posición y seleccione la imagen que desee agregar"/>
          <p:cNvSpPr>
            <a:spLocks noGrp="1"/>
          </p:cNvSpPr>
          <p:nvPr>
            <p:ph type="pic" idx="10"/>
          </p:nvPr>
        </p:nvSpPr>
        <p:spPr>
          <a:xfrm>
            <a:off x="1" y="1"/>
            <a:ext cx="4023360" cy="4745736"/>
          </a:xfrm>
        </p:spPr>
        <p:txBody>
          <a:bodyPr tIns="457200" rtlCol="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es-ES" noProof="0"/>
              <a:t>Haga clic en el icono para agregar una imagen</a:t>
            </a:r>
            <a:endParaRPr lang="es-ES" noProof="0" dirty="0"/>
          </a:p>
        </p:txBody>
      </p:sp>
      <p:sp>
        <p:nvSpPr>
          <p:cNvPr id="13" name="Marcador de posición de imagen 2" descr="Marcador de posición vacío para agregar una imagen. Haga clic en el marcador de posición y seleccione la imagen que desee agregar"/>
          <p:cNvSpPr>
            <a:spLocks noGrp="1"/>
          </p:cNvSpPr>
          <p:nvPr>
            <p:ph type="pic" idx="11"/>
          </p:nvPr>
        </p:nvSpPr>
        <p:spPr>
          <a:xfrm>
            <a:off x="4084320" y="1"/>
            <a:ext cx="4023360" cy="4745736"/>
          </a:xfrm>
        </p:spPr>
        <p:txBody>
          <a:bodyPr tIns="457200" rtlCol="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es-ES" noProof="0"/>
              <a:t>Haga clic en el icono para agregar una imagen</a:t>
            </a:r>
            <a:endParaRPr lang="es-ES" noProof="0" dirty="0"/>
          </a:p>
        </p:txBody>
      </p:sp>
      <p:sp>
        <p:nvSpPr>
          <p:cNvPr id="14" name="Marcador de posición de imagen 2" descr="Marcador de posición vacío para agregar una imagen. Haga clic en el marcador de posición y seleccione la imagen que desee agregar"/>
          <p:cNvSpPr>
            <a:spLocks noGrp="1"/>
          </p:cNvSpPr>
          <p:nvPr>
            <p:ph type="pic" idx="12"/>
          </p:nvPr>
        </p:nvSpPr>
        <p:spPr>
          <a:xfrm>
            <a:off x="8168640" y="1"/>
            <a:ext cx="4023360" cy="4745736"/>
          </a:xfrm>
        </p:spPr>
        <p:txBody>
          <a:bodyPr tIns="457200" rtlCol="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es-ES" noProof="0"/>
              <a:t>Haga clic en el icono para agregar una imagen</a:t>
            </a:r>
            <a:endParaRPr lang="es-ES" noProof="0" dirty="0"/>
          </a:p>
        </p:txBody>
      </p:sp>
      <p:sp>
        <p:nvSpPr>
          <p:cNvPr id="3" name="Subtítulo 2"/>
          <p:cNvSpPr>
            <a:spLocks noGrp="1"/>
          </p:cNvSpPr>
          <p:nvPr>
            <p:ph type="subTitle" idx="1"/>
          </p:nvPr>
        </p:nvSpPr>
        <p:spPr>
          <a:xfrm>
            <a:off x="533400" y="6043123"/>
            <a:ext cx="11125200" cy="571500"/>
          </a:xfrm>
        </p:spPr>
        <p:txBody>
          <a:bodyPr rtlCol="0">
            <a:normAutofit/>
          </a:bodyPr>
          <a:lstStyle>
            <a:lvl1pPr marL="0" indent="0" algn="ctr">
              <a:spcBef>
                <a:spcPts val="0"/>
              </a:spcBef>
              <a:buNone/>
              <a:defRPr sz="2000" cap="all" spc="5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ES" noProof="0"/>
              <a:t>Haga clic para modificar el estilo de subtítulo del patrón</a:t>
            </a:r>
            <a:endParaRPr lang="es-ES" noProof="0" dirty="0"/>
          </a:p>
        </p:txBody>
      </p:sp>
    </p:spTree>
    <p:extLst>
      <p:ext uri="{BB962C8B-B14F-4D97-AF65-F5344CB8AC3E}">
        <p14:creationId xmlns:p14="http://schemas.microsoft.com/office/powerpoint/2010/main" val="146374543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ítulo y contenido">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p>
            <a:pPr rtl="0"/>
            <a:r>
              <a:rPr lang="es-ES" noProof="0"/>
              <a:t>Haga clic para modificar el estilo de título del patrón</a:t>
            </a:r>
            <a:endParaRPr lang="es-ES" noProof="0" dirty="0"/>
          </a:p>
        </p:txBody>
      </p:sp>
      <p:sp>
        <p:nvSpPr>
          <p:cNvPr id="3" name="Marcador de posición de contenido 2"/>
          <p:cNvSpPr>
            <a:spLocks noGrp="1"/>
          </p:cNvSpPr>
          <p:nvPr>
            <p:ph idx="1"/>
          </p:nvPr>
        </p:nvSpPr>
        <p:spPr/>
        <p:txBody>
          <a:bodyPr rtlCol="0"/>
          <a:lstStyle>
            <a:lvl1pPr>
              <a:defRPr/>
            </a:lvl1pPr>
            <a:lvl5pPr>
              <a:defRPr/>
            </a:lvl5pPr>
          </a:lstStyle>
          <a:p>
            <a:pPr lvl="0" rtl="0"/>
            <a:r>
              <a:rPr lang="es-ES" noProof="0"/>
              <a:t>Haga clic para modificar el estilo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5" name="Marcador de posición de pie de página 4"/>
          <p:cNvSpPr>
            <a:spLocks noGrp="1"/>
          </p:cNvSpPr>
          <p:nvPr>
            <p:ph type="ftr" sz="quarter" idx="11"/>
          </p:nvPr>
        </p:nvSpPr>
        <p:spPr/>
        <p:txBody>
          <a:bodyPr rtlCol="0"/>
          <a:lstStyle/>
          <a:p>
            <a:pPr rtl="0"/>
            <a:r>
              <a:rPr lang="es-ES" noProof="0" dirty="0"/>
              <a:t>Agregar un pie de página</a:t>
            </a:r>
          </a:p>
        </p:txBody>
      </p:sp>
      <p:sp>
        <p:nvSpPr>
          <p:cNvPr id="4" name="Marcador de posición de fecha 3"/>
          <p:cNvSpPr>
            <a:spLocks noGrp="1"/>
          </p:cNvSpPr>
          <p:nvPr>
            <p:ph type="dt" sz="half" idx="10"/>
          </p:nvPr>
        </p:nvSpPr>
        <p:spPr/>
        <p:txBody>
          <a:bodyPr rtlCol="0"/>
          <a:lstStyle/>
          <a:p>
            <a:pPr rtl="0"/>
            <a:fld id="{930C7336-B85B-4E7E-BC21-81D785E9499B}" type="datetime1">
              <a:rPr lang="es-ES" noProof="0" smtClean="0"/>
              <a:t>9/6/26</a:t>
            </a:fld>
            <a:endParaRPr lang="es-ES" noProof="0" dirty="0"/>
          </a:p>
        </p:txBody>
      </p:sp>
      <p:sp>
        <p:nvSpPr>
          <p:cNvPr id="6" name="Marcador de posición de número de diapositiva 5"/>
          <p:cNvSpPr>
            <a:spLocks noGrp="1"/>
          </p:cNvSpPr>
          <p:nvPr>
            <p:ph type="sldNum" sz="quarter" idx="12"/>
          </p:nvPr>
        </p:nvSpPr>
        <p:spPr/>
        <p:txBody>
          <a:bodyPr rtlCol="0"/>
          <a:lstStyle/>
          <a:p>
            <a:pPr rtl="0"/>
            <a:fld id="{E31375A4-56A4-47D6-9801-1991572033F7}" type="slidenum">
              <a:rPr lang="es-ES" noProof="0" smtClean="0"/>
              <a:t>‹#›</a:t>
            </a:fld>
            <a:endParaRPr lang="es-ES" noProof="0" dirty="0"/>
          </a:p>
        </p:txBody>
      </p:sp>
    </p:spTree>
    <p:extLst>
      <p:ext uri="{BB962C8B-B14F-4D97-AF65-F5344CB8AC3E}">
        <p14:creationId xmlns:p14="http://schemas.microsoft.com/office/powerpoint/2010/main" val="3112444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Encabezado de sección">
    <p:bg>
      <p:bgPr>
        <a:solidFill>
          <a:schemeClr val="accent1">
            <a:lumMod val="75000"/>
          </a:schemeClr>
        </a:solidFill>
        <a:effectLst/>
      </p:bgPr>
    </p:bg>
    <p:spTree>
      <p:nvGrpSpPr>
        <p:cNvPr id="1" name=""/>
        <p:cNvGrpSpPr/>
        <p:nvPr/>
      </p:nvGrpSpPr>
      <p:grpSpPr>
        <a:xfrm>
          <a:off x="0" y="0"/>
          <a:ext cx="0" cy="0"/>
          <a:chOff x="0" y="0"/>
          <a:chExt cx="0" cy="0"/>
        </a:xfrm>
      </p:grpSpPr>
      <p:sp>
        <p:nvSpPr>
          <p:cNvPr id="7" name="Rectángulo 6"/>
          <p:cNvSpPr/>
          <p:nvPr userDrawn="1"/>
        </p:nvSpPr>
        <p:spPr>
          <a:xfrm>
            <a:off x="304800" y="304800"/>
            <a:ext cx="11582400" cy="6248400"/>
          </a:xfrm>
          <a:prstGeom prst="rect">
            <a:avLst/>
          </a:prstGeom>
          <a:noFill/>
          <a:ln w="5080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dirty="0"/>
          </a:p>
        </p:txBody>
      </p:sp>
      <p:sp>
        <p:nvSpPr>
          <p:cNvPr id="2" name="Título 1"/>
          <p:cNvSpPr>
            <a:spLocks noGrp="1"/>
          </p:cNvSpPr>
          <p:nvPr>
            <p:ph type="title"/>
          </p:nvPr>
        </p:nvSpPr>
        <p:spPr>
          <a:xfrm>
            <a:off x="831850" y="2483427"/>
            <a:ext cx="10515600" cy="2743200"/>
          </a:xfrm>
        </p:spPr>
        <p:txBody>
          <a:bodyPr rtlCol="0" anchor="b">
            <a:normAutofit/>
          </a:bodyPr>
          <a:lstStyle>
            <a:lvl1pPr algn="ctr">
              <a:defRPr sz="4400" spc="-50" baseline="0">
                <a:solidFill>
                  <a:schemeClr val="bg1"/>
                </a:solidFill>
              </a:defRPr>
            </a:lvl1pPr>
          </a:lstStyle>
          <a:p>
            <a:pPr rtl="0"/>
            <a:r>
              <a:rPr lang="es-ES" noProof="0"/>
              <a:t>Haga clic para modificar el estilo de título del patrón</a:t>
            </a:r>
            <a:endParaRPr lang="es-ES" noProof="0" dirty="0"/>
          </a:p>
        </p:txBody>
      </p:sp>
      <p:sp>
        <p:nvSpPr>
          <p:cNvPr id="5" name="Marcador de posición de texto 4"/>
          <p:cNvSpPr>
            <a:spLocks noGrp="1"/>
          </p:cNvSpPr>
          <p:nvPr>
            <p:ph type="body" sz="quarter" idx="10"/>
          </p:nvPr>
        </p:nvSpPr>
        <p:spPr>
          <a:xfrm>
            <a:off x="835025" y="5257800"/>
            <a:ext cx="10515600" cy="914400"/>
          </a:xfrm>
        </p:spPr>
        <p:txBody>
          <a:bodyPr rtlCol="0">
            <a:normAutofit/>
          </a:bodyPr>
          <a:lstStyle>
            <a:lvl1pPr marL="0" indent="0" algn="ctr">
              <a:spcBef>
                <a:spcPts val="0"/>
              </a:spcBef>
              <a:buFontTx/>
              <a:buNone/>
              <a:defRPr sz="2000" cap="all" spc="50" baseline="0">
                <a:solidFill>
                  <a:schemeClr val="bg1"/>
                </a:solidFill>
              </a:defRPr>
            </a:lvl1pPr>
            <a:lvl2pPr marL="365760" indent="0" algn="ctr">
              <a:buNone/>
              <a:defRPr sz="2000" cap="all" spc="50" baseline="0">
                <a:solidFill>
                  <a:schemeClr val="bg1"/>
                </a:solidFill>
              </a:defRPr>
            </a:lvl2pPr>
            <a:lvl3pPr algn="ctr">
              <a:defRPr sz="2000" cap="all" spc="50" baseline="0">
                <a:solidFill>
                  <a:schemeClr val="bg1"/>
                </a:solidFill>
              </a:defRPr>
            </a:lvl3pPr>
            <a:lvl4pPr algn="ctr">
              <a:defRPr sz="2000" cap="all" spc="50" baseline="0">
                <a:solidFill>
                  <a:schemeClr val="bg1"/>
                </a:solidFill>
              </a:defRPr>
            </a:lvl4pPr>
            <a:lvl5pPr algn="ctr">
              <a:defRPr sz="2000" cap="all" spc="50" baseline="0">
                <a:solidFill>
                  <a:schemeClr val="bg1"/>
                </a:solidFill>
              </a:defRPr>
            </a:lvl5pPr>
          </a:lstStyle>
          <a:p>
            <a:pPr lvl="0" rtl="0"/>
            <a:r>
              <a:rPr lang="es-ES" noProof="0"/>
              <a:t>Haga clic para modificar el estilo de texto del patrón</a:t>
            </a:r>
          </a:p>
        </p:txBody>
      </p:sp>
    </p:spTree>
    <p:extLst>
      <p:ext uri="{BB962C8B-B14F-4D97-AF65-F5344CB8AC3E}">
        <p14:creationId xmlns:p14="http://schemas.microsoft.com/office/powerpoint/2010/main" val="350677804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p>
            <a:pPr rtl="0"/>
            <a:r>
              <a:rPr lang="es-ES" noProof="0"/>
              <a:t>Haga clic para modificar el estilo de título del patrón</a:t>
            </a:r>
            <a:endParaRPr lang="es-ES" noProof="0" dirty="0"/>
          </a:p>
        </p:txBody>
      </p:sp>
      <p:sp>
        <p:nvSpPr>
          <p:cNvPr id="3" name="Marcador de posición de contenido 2"/>
          <p:cNvSpPr>
            <a:spLocks noGrp="1"/>
          </p:cNvSpPr>
          <p:nvPr>
            <p:ph sz="half" idx="1"/>
          </p:nvPr>
        </p:nvSpPr>
        <p:spPr>
          <a:xfrm>
            <a:off x="1524000" y="1714500"/>
            <a:ext cx="4495800" cy="4462272"/>
          </a:xfrm>
        </p:spPr>
        <p:txBody>
          <a:bodyPr rtlCol="0">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rtl="0"/>
            <a:r>
              <a:rPr lang="es-ES" noProof="0"/>
              <a:t>Haga clic para modificar el estilo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4" name="Marcador de posición de contenido 3"/>
          <p:cNvSpPr>
            <a:spLocks noGrp="1"/>
          </p:cNvSpPr>
          <p:nvPr>
            <p:ph sz="half" idx="2"/>
          </p:nvPr>
        </p:nvSpPr>
        <p:spPr>
          <a:xfrm>
            <a:off x="6172200" y="1714500"/>
            <a:ext cx="4495800" cy="4462272"/>
          </a:xfrm>
        </p:spPr>
        <p:txBody>
          <a:bodyPr rtlCol="0">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rtl="0"/>
            <a:r>
              <a:rPr lang="es-ES" noProof="0"/>
              <a:t>Haga clic para modificar el estilo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6" name="Marcador de posición de pie de página 5"/>
          <p:cNvSpPr>
            <a:spLocks noGrp="1"/>
          </p:cNvSpPr>
          <p:nvPr>
            <p:ph type="ftr" sz="quarter" idx="11"/>
          </p:nvPr>
        </p:nvSpPr>
        <p:spPr/>
        <p:txBody>
          <a:bodyPr rtlCol="0"/>
          <a:lstStyle/>
          <a:p>
            <a:pPr rtl="0"/>
            <a:r>
              <a:rPr lang="es-ES" noProof="0" dirty="0"/>
              <a:t>Agregar un pie de página</a:t>
            </a:r>
          </a:p>
        </p:txBody>
      </p:sp>
      <p:sp>
        <p:nvSpPr>
          <p:cNvPr id="5" name="Marcador de posición de fecha 4"/>
          <p:cNvSpPr>
            <a:spLocks noGrp="1"/>
          </p:cNvSpPr>
          <p:nvPr>
            <p:ph type="dt" sz="half" idx="10"/>
          </p:nvPr>
        </p:nvSpPr>
        <p:spPr/>
        <p:txBody>
          <a:bodyPr rtlCol="0"/>
          <a:lstStyle/>
          <a:p>
            <a:pPr rtl="0"/>
            <a:fld id="{28D2FC1E-83DA-4E03-9666-93C59D8ACCEA}" type="datetime1">
              <a:rPr lang="es-ES" noProof="0" smtClean="0"/>
              <a:t>9/6/26</a:t>
            </a:fld>
            <a:endParaRPr lang="es-ES" noProof="0" dirty="0"/>
          </a:p>
        </p:txBody>
      </p:sp>
      <p:sp>
        <p:nvSpPr>
          <p:cNvPr id="7" name="Marcador de posición de número de diapositiva 6"/>
          <p:cNvSpPr>
            <a:spLocks noGrp="1"/>
          </p:cNvSpPr>
          <p:nvPr>
            <p:ph type="sldNum" sz="quarter" idx="12"/>
          </p:nvPr>
        </p:nvSpPr>
        <p:spPr/>
        <p:txBody>
          <a:bodyPr rtlCol="0"/>
          <a:lstStyle/>
          <a:p>
            <a:pPr rtl="0"/>
            <a:fld id="{E31375A4-56A4-47D6-9801-1991572033F7}" type="slidenum">
              <a:rPr lang="es-ES" noProof="0" smtClean="0"/>
              <a:t>‹#›</a:t>
            </a:fld>
            <a:endParaRPr lang="es-ES" noProof="0" dirty="0"/>
          </a:p>
        </p:txBody>
      </p:sp>
    </p:spTree>
    <p:extLst>
      <p:ext uri="{BB962C8B-B14F-4D97-AF65-F5344CB8AC3E}">
        <p14:creationId xmlns:p14="http://schemas.microsoft.com/office/powerpoint/2010/main" val="4044567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p>
            <a:pPr rtl="0"/>
            <a:r>
              <a:rPr lang="es-ES" noProof="0"/>
              <a:t>Haga clic para modificar el estilo de título del patrón</a:t>
            </a:r>
            <a:endParaRPr lang="es-ES" noProof="0" dirty="0"/>
          </a:p>
        </p:txBody>
      </p:sp>
      <p:sp>
        <p:nvSpPr>
          <p:cNvPr id="3" name="Marcador de posición de texto 2"/>
          <p:cNvSpPr>
            <a:spLocks noGrp="1"/>
          </p:cNvSpPr>
          <p:nvPr>
            <p:ph type="body" idx="1"/>
          </p:nvPr>
        </p:nvSpPr>
        <p:spPr>
          <a:xfrm>
            <a:off x="1527048" y="1733162"/>
            <a:ext cx="4498848" cy="685800"/>
          </a:xfrm>
        </p:spPr>
        <p:txBody>
          <a:bodyPr rtlCol="0" anchor="b">
            <a:normAutofit/>
          </a:bodyPr>
          <a:lstStyle>
            <a:lvl1pPr marL="0" indent="0">
              <a:spcBef>
                <a:spcPts val="0"/>
              </a:spcBef>
              <a:buNone/>
              <a:defRPr sz="1800" b="1" cap="all"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el estilo de texto del patrón</a:t>
            </a:r>
          </a:p>
        </p:txBody>
      </p:sp>
      <p:sp>
        <p:nvSpPr>
          <p:cNvPr id="4" name="Marcador de posición de contenido 3"/>
          <p:cNvSpPr>
            <a:spLocks noGrp="1"/>
          </p:cNvSpPr>
          <p:nvPr>
            <p:ph sz="half" idx="2"/>
          </p:nvPr>
        </p:nvSpPr>
        <p:spPr>
          <a:xfrm>
            <a:off x="1527048" y="2481943"/>
            <a:ext cx="4498848" cy="3690257"/>
          </a:xfrm>
        </p:spPr>
        <p:txBody>
          <a:bodyPr rtlCol="0">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rtl="0"/>
            <a:r>
              <a:rPr lang="es-ES" noProof="0"/>
              <a:t>Haga clic para modificar el estilo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5" name="Marcador de posición de texto 4"/>
          <p:cNvSpPr>
            <a:spLocks noGrp="1"/>
          </p:cNvSpPr>
          <p:nvPr>
            <p:ph type="body" sz="quarter" idx="3"/>
          </p:nvPr>
        </p:nvSpPr>
        <p:spPr>
          <a:xfrm>
            <a:off x="6172200" y="1733162"/>
            <a:ext cx="4498848" cy="685800"/>
          </a:xfrm>
        </p:spPr>
        <p:txBody>
          <a:bodyPr rtlCol="0" anchor="b">
            <a:normAutofit/>
          </a:bodyPr>
          <a:lstStyle>
            <a:lvl1pPr marL="0" indent="0">
              <a:spcBef>
                <a:spcPts val="0"/>
              </a:spcBef>
              <a:buNone/>
              <a:defRPr sz="1800" b="1" cap="all"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el estilo de texto del patrón</a:t>
            </a:r>
          </a:p>
        </p:txBody>
      </p:sp>
      <p:sp>
        <p:nvSpPr>
          <p:cNvPr id="6" name="Marcador de posición de contenido 5"/>
          <p:cNvSpPr>
            <a:spLocks noGrp="1"/>
          </p:cNvSpPr>
          <p:nvPr>
            <p:ph sz="quarter" idx="4"/>
          </p:nvPr>
        </p:nvSpPr>
        <p:spPr>
          <a:xfrm>
            <a:off x="6172200" y="2481943"/>
            <a:ext cx="4498848" cy="3690257"/>
          </a:xfrm>
        </p:spPr>
        <p:txBody>
          <a:bodyPr rtlCol="0">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rtl="0"/>
            <a:r>
              <a:rPr lang="es-ES" noProof="0"/>
              <a:t>Haga clic para modificar el estilo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8" name="Marcador de posición de pie de página 7"/>
          <p:cNvSpPr>
            <a:spLocks noGrp="1"/>
          </p:cNvSpPr>
          <p:nvPr>
            <p:ph type="ftr" sz="quarter" idx="11"/>
          </p:nvPr>
        </p:nvSpPr>
        <p:spPr/>
        <p:txBody>
          <a:bodyPr rtlCol="0"/>
          <a:lstStyle/>
          <a:p>
            <a:pPr rtl="0"/>
            <a:r>
              <a:rPr lang="es-ES" noProof="0" dirty="0"/>
              <a:t>Agregar un pie de página</a:t>
            </a:r>
          </a:p>
        </p:txBody>
      </p:sp>
      <p:sp>
        <p:nvSpPr>
          <p:cNvPr id="7" name="Marcador de posición de fecha 6"/>
          <p:cNvSpPr>
            <a:spLocks noGrp="1"/>
          </p:cNvSpPr>
          <p:nvPr>
            <p:ph type="dt" sz="half" idx="10"/>
          </p:nvPr>
        </p:nvSpPr>
        <p:spPr/>
        <p:txBody>
          <a:bodyPr rtlCol="0"/>
          <a:lstStyle/>
          <a:p>
            <a:pPr rtl="0"/>
            <a:fld id="{CA1153A9-469E-4B41-9F8D-6E09C4AFB7F0}" type="datetime1">
              <a:rPr lang="es-ES" noProof="0" smtClean="0"/>
              <a:t>9/6/26</a:t>
            </a:fld>
            <a:endParaRPr lang="es-ES" noProof="0" dirty="0"/>
          </a:p>
        </p:txBody>
      </p:sp>
      <p:sp>
        <p:nvSpPr>
          <p:cNvPr id="9" name="Marcador de posición de número de diapositiva 8"/>
          <p:cNvSpPr>
            <a:spLocks noGrp="1"/>
          </p:cNvSpPr>
          <p:nvPr>
            <p:ph type="sldNum" sz="quarter" idx="12"/>
          </p:nvPr>
        </p:nvSpPr>
        <p:spPr/>
        <p:txBody>
          <a:bodyPr rtlCol="0"/>
          <a:lstStyle/>
          <a:p>
            <a:pPr rtl="0"/>
            <a:fld id="{E31375A4-56A4-47D6-9801-1991572033F7}" type="slidenum">
              <a:rPr lang="es-ES" noProof="0" smtClean="0"/>
              <a:t>‹#›</a:t>
            </a:fld>
            <a:endParaRPr lang="es-ES" noProof="0" dirty="0"/>
          </a:p>
        </p:txBody>
      </p:sp>
    </p:spTree>
    <p:extLst>
      <p:ext uri="{BB962C8B-B14F-4D97-AF65-F5344CB8AC3E}">
        <p14:creationId xmlns:p14="http://schemas.microsoft.com/office/powerpoint/2010/main" val="3397906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p>
            <a:pPr rtl="0"/>
            <a:r>
              <a:rPr lang="es-ES" noProof="0"/>
              <a:t>Haga clic para modificar el estilo de título del patrón</a:t>
            </a:r>
            <a:endParaRPr lang="es-ES" noProof="0" dirty="0"/>
          </a:p>
        </p:txBody>
      </p:sp>
      <p:sp>
        <p:nvSpPr>
          <p:cNvPr id="4" name="Marcador de posición de pie de página 3"/>
          <p:cNvSpPr>
            <a:spLocks noGrp="1"/>
          </p:cNvSpPr>
          <p:nvPr>
            <p:ph type="ftr" sz="quarter" idx="11"/>
          </p:nvPr>
        </p:nvSpPr>
        <p:spPr/>
        <p:txBody>
          <a:bodyPr rtlCol="0"/>
          <a:lstStyle/>
          <a:p>
            <a:pPr rtl="0"/>
            <a:r>
              <a:rPr lang="es-ES" noProof="0" dirty="0"/>
              <a:t>Agregar un pie de página</a:t>
            </a:r>
          </a:p>
        </p:txBody>
      </p:sp>
      <p:sp>
        <p:nvSpPr>
          <p:cNvPr id="3" name="Marcador de posición de fecha 2"/>
          <p:cNvSpPr>
            <a:spLocks noGrp="1"/>
          </p:cNvSpPr>
          <p:nvPr>
            <p:ph type="dt" sz="half" idx="10"/>
          </p:nvPr>
        </p:nvSpPr>
        <p:spPr/>
        <p:txBody>
          <a:bodyPr rtlCol="0"/>
          <a:lstStyle/>
          <a:p>
            <a:pPr rtl="0"/>
            <a:fld id="{C9ADA510-67ED-4878-A088-E9242C8AA6FD}" type="datetime1">
              <a:rPr lang="es-ES" noProof="0" smtClean="0"/>
              <a:t>9/6/26</a:t>
            </a:fld>
            <a:endParaRPr lang="es-ES" noProof="0" dirty="0"/>
          </a:p>
        </p:txBody>
      </p:sp>
      <p:sp>
        <p:nvSpPr>
          <p:cNvPr id="5" name="Marcador de posición de número de diapositiva 4"/>
          <p:cNvSpPr>
            <a:spLocks noGrp="1"/>
          </p:cNvSpPr>
          <p:nvPr>
            <p:ph type="sldNum" sz="quarter" idx="12"/>
          </p:nvPr>
        </p:nvSpPr>
        <p:spPr/>
        <p:txBody>
          <a:bodyPr rtlCol="0"/>
          <a:lstStyle/>
          <a:p>
            <a:pPr rtl="0"/>
            <a:fld id="{E31375A4-56A4-47D6-9801-1991572033F7}" type="slidenum">
              <a:rPr lang="es-ES" noProof="0" smtClean="0"/>
              <a:t>‹#›</a:t>
            </a:fld>
            <a:endParaRPr lang="es-ES" noProof="0" dirty="0"/>
          </a:p>
        </p:txBody>
      </p:sp>
    </p:spTree>
    <p:extLst>
      <p:ext uri="{BB962C8B-B14F-4D97-AF65-F5344CB8AC3E}">
        <p14:creationId xmlns:p14="http://schemas.microsoft.com/office/powerpoint/2010/main" val="3238976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2146817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ido con leyenda">
    <p:spTree>
      <p:nvGrpSpPr>
        <p:cNvPr id="1" name=""/>
        <p:cNvGrpSpPr/>
        <p:nvPr/>
      </p:nvGrpSpPr>
      <p:grpSpPr>
        <a:xfrm>
          <a:off x="0" y="0"/>
          <a:ext cx="0" cy="0"/>
          <a:chOff x="0" y="0"/>
          <a:chExt cx="0" cy="0"/>
        </a:xfrm>
      </p:grpSpPr>
      <p:sp>
        <p:nvSpPr>
          <p:cNvPr id="2" name="Título 1"/>
          <p:cNvSpPr>
            <a:spLocks noGrp="1"/>
          </p:cNvSpPr>
          <p:nvPr>
            <p:ph type="title"/>
          </p:nvPr>
        </p:nvSpPr>
        <p:spPr>
          <a:xfrm>
            <a:off x="8151812" y="1672934"/>
            <a:ext cx="3506788" cy="2880360"/>
          </a:xfrm>
        </p:spPr>
        <p:txBody>
          <a:bodyPr rtlCol="0" anchor="b">
            <a:normAutofit/>
          </a:bodyPr>
          <a:lstStyle>
            <a:lvl1pPr>
              <a:defRPr sz="3000"/>
            </a:lvl1pPr>
          </a:lstStyle>
          <a:p>
            <a:pPr rtl="0"/>
            <a:r>
              <a:rPr lang="es-ES" noProof="0"/>
              <a:t>Haga clic para modificar el estilo de título del patrón</a:t>
            </a:r>
            <a:endParaRPr lang="es-ES" noProof="0" dirty="0"/>
          </a:p>
        </p:txBody>
      </p:sp>
      <p:sp>
        <p:nvSpPr>
          <p:cNvPr id="3" name="Marcador de posición de contenido 2"/>
          <p:cNvSpPr>
            <a:spLocks noGrp="1"/>
          </p:cNvSpPr>
          <p:nvPr>
            <p:ph idx="1"/>
          </p:nvPr>
        </p:nvSpPr>
        <p:spPr>
          <a:xfrm>
            <a:off x="530352" y="457200"/>
            <a:ext cx="7242111" cy="5715000"/>
          </a:xfrm>
        </p:spPr>
        <p:txBody>
          <a:bodyPr rtlCol="0">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rtl="0"/>
            <a:r>
              <a:rPr lang="es-ES" noProof="0"/>
              <a:t>Haga clic para modificar el estilo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4" name="Marcador de posición de texto 3"/>
          <p:cNvSpPr>
            <a:spLocks noGrp="1"/>
          </p:cNvSpPr>
          <p:nvPr>
            <p:ph type="body" sz="half" idx="2"/>
          </p:nvPr>
        </p:nvSpPr>
        <p:spPr>
          <a:xfrm>
            <a:off x="8151812" y="4590288"/>
            <a:ext cx="3514564" cy="1581912"/>
          </a:xfrm>
        </p:spPr>
        <p:txBody>
          <a:bodyPr rtlCol="0"/>
          <a:lstStyle>
            <a:lvl1pPr marL="0" indent="0">
              <a:spcBef>
                <a:spcPts val="80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s-ES" noProof="0"/>
              <a:t>Haga clic para modificar el estilo de texto del patrón</a:t>
            </a:r>
          </a:p>
        </p:txBody>
      </p:sp>
      <p:sp>
        <p:nvSpPr>
          <p:cNvPr id="6" name="Marcador de posición de pie de página 5"/>
          <p:cNvSpPr>
            <a:spLocks noGrp="1"/>
          </p:cNvSpPr>
          <p:nvPr>
            <p:ph type="ftr" sz="quarter" idx="11"/>
          </p:nvPr>
        </p:nvSpPr>
        <p:spPr/>
        <p:txBody>
          <a:bodyPr rtlCol="0"/>
          <a:lstStyle/>
          <a:p>
            <a:pPr rtl="0"/>
            <a:r>
              <a:rPr lang="es-ES" noProof="0" dirty="0"/>
              <a:t>Agregar un pie de página</a:t>
            </a:r>
          </a:p>
        </p:txBody>
      </p:sp>
      <p:sp>
        <p:nvSpPr>
          <p:cNvPr id="5" name="Marcador de posición de fecha 4"/>
          <p:cNvSpPr>
            <a:spLocks noGrp="1"/>
          </p:cNvSpPr>
          <p:nvPr>
            <p:ph type="dt" sz="half" idx="10"/>
          </p:nvPr>
        </p:nvSpPr>
        <p:spPr/>
        <p:txBody>
          <a:bodyPr rtlCol="0"/>
          <a:lstStyle/>
          <a:p>
            <a:pPr rtl="0"/>
            <a:fld id="{097FFF32-C91A-4880-A5BC-2E29719B4A91}" type="datetime1">
              <a:rPr lang="es-ES" noProof="0" smtClean="0"/>
              <a:t>9/6/26</a:t>
            </a:fld>
            <a:endParaRPr lang="es-ES" noProof="0" dirty="0"/>
          </a:p>
        </p:txBody>
      </p:sp>
      <p:sp>
        <p:nvSpPr>
          <p:cNvPr id="7" name="Marcador de posición de número de diapositiva 6"/>
          <p:cNvSpPr>
            <a:spLocks noGrp="1"/>
          </p:cNvSpPr>
          <p:nvPr>
            <p:ph type="sldNum" sz="quarter" idx="12"/>
          </p:nvPr>
        </p:nvSpPr>
        <p:spPr/>
        <p:txBody>
          <a:bodyPr rtlCol="0"/>
          <a:lstStyle/>
          <a:p>
            <a:pPr rtl="0"/>
            <a:fld id="{E31375A4-56A4-47D6-9801-1991572033F7}" type="slidenum">
              <a:rPr lang="es-ES" noProof="0" smtClean="0"/>
              <a:t>‹#›</a:t>
            </a:fld>
            <a:endParaRPr lang="es-ES" noProof="0" dirty="0"/>
          </a:p>
        </p:txBody>
      </p:sp>
    </p:spTree>
    <p:extLst>
      <p:ext uri="{BB962C8B-B14F-4D97-AF65-F5344CB8AC3E}">
        <p14:creationId xmlns:p14="http://schemas.microsoft.com/office/powerpoint/2010/main" val="1667374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Imagen con leyenda">
    <p:spTree>
      <p:nvGrpSpPr>
        <p:cNvPr id="1" name=""/>
        <p:cNvGrpSpPr/>
        <p:nvPr/>
      </p:nvGrpSpPr>
      <p:grpSpPr>
        <a:xfrm>
          <a:off x="0" y="0"/>
          <a:ext cx="0" cy="0"/>
          <a:chOff x="0" y="0"/>
          <a:chExt cx="0" cy="0"/>
        </a:xfrm>
      </p:grpSpPr>
      <p:sp>
        <p:nvSpPr>
          <p:cNvPr id="8" name="Rectángulo 7"/>
          <p:cNvSpPr/>
          <p:nvPr userDrawn="1"/>
        </p:nvSpPr>
        <p:spPr>
          <a:xfrm>
            <a:off x="8153400" y="0"/>
            <a:ext cx="4038600" cy="6858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dirty="0"/>
          </a:p>
        </p:txBody>
      </p:sp>
      <p:sp>
        <p:nvSpPr>
          <p:cNvPr id="2" name="Título 1"/>
          <p:cNvSpPr>
            <a:spLocks noGrp="1"/>
          </p:cNvSpPr>
          <p:nvPr>
            <p:ph type="title"/>
          </p:nvPr>
        </p:nvSpPr>
        <p:spPr>
          <a:xfrm>
            <a:off x="8532813" y="1683327"/>
            <a:ext cx="3125787" cy="2877260"/>
          </a:xfrm>
        </p:spPr>
        <p:txBody>
          <a:bodyPr rtlCol="0" anchor="b">
            <a:normAutofit/>
          </a:bodyPr>
          <a:lstStyle>
            <a:lvl1pPr>
              <a:defRPr sz="3000">
                <a:solidFill>
                  <a:schemeClr val="bg1"/>
                </a:solidFill>
              </a:defRPr>
            </a:lvl1pPr>
          </a:lstStyle>
          <a:p>
            <a:pPr rtl="0"/>
            <a:r>
              <a:rPr lang="es-ES" noProof="0"/>
              <a:t>Haga clic para modificar el estilo de título del patrón</a:t>
            </a:r>
            <a:endParaRPr lang="es-ES" noProof="0" dirty="0"/>
          </a:p>
        </p:txBody>
      </p:sp>
      <p:sp>
        <p:nvSpPr>
          <p:cNvPr id="6" name="Marcador de posición de imagen 2" descr="Marcador de posición vacío para agregar una imagen. Haga clic en el marcador de posición y seleccione la imagen que desee agregar"/>
          <p:cNvSpPr>
            <a:spLocks noGrp="1"/>
          </p:cNvSpPr>
          <p:nvPr>
            <p:ph type="pic" idx="1"/>
          </p:nvPr>
        </p:nvSpPr>
        <p:spPr>
          <a:xfrm>
            <a:off x="0" y="0"/>
            <a:ext cx="8101584" cy="6857999"/>
          </a:xfrm>
        </p:spPr>
        <p:txBody>
          <a:bodyPr tIns="457200" rtlCol="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es-ES" noProof="0"/>
              <a:t>Haga clic en el icono para agregar una imagen</a:t>
            </a:r>
            <a:endParaRPr lang="es-ES" noProof="0" dirty="0"/>
          </a:p>
        </p:txBody>
      </p:sp>
      <p:sp>
        <p:nvSpPr>
          <p:cNvPr id="4" name="Marcador de posición de texto 3"/>
          <p:cNvSpPr>
            <a:spLocks noGrp="1"/>
          </p:cNvSpPr>
          <p:nvPr>
            <p:ph type="body" sz="half" idx="2"/>
          </p:nvPr>
        </p:nvSpPr>
        <p:spPr>
          <a:xfrm>
            <a:off x="8532813" y="4591761"/>
            <a:ext cx="3125787" cy="1580440"/>
          </a:xfrm>
        </p:spPr>
        <p:txBody>
          <a:bodyPr rtlCol="0"/>
          <a:lstStyle>
            <a:lvl1pPr marL="0" indent="0">
              <a:spcBef>
                <a:spcPts val="800"/>
              </a:spcBef>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s-ES" noProof="0"/>
              <a:t>Haga clic para modificar el estilo de texto del patrón</a:t>
            </a:r>
          </a:p>
        </p:txBody>
      </p:sp>
    </p:spTree>
    <p:extLst>
      <p:ext uri="{BB962C8B-B14F-4D97-AF65-F5344CB8AC3E}">
        <p14:creationId xmlns:p14="http://schemas.microsoft.com/office/powerpoint/2010/main" val="29772497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p>
            <a:pPr rtl="0"/>
            <a:r>
              <a:rPr lang="es-ES" noProof="0"/>
              <a:t>Haga clic para modificar el estilo de título del patrón</a:t>
            </a:r>
            <a:endParaRPr lang="es-ES" noProof="0" dirty="0"/>
          </a:p>
        </p:txBody>
      </p:sp>
      <p:sp>
        <p:nvSpPr>
          <p:cNvPr id="3" name="Marcador de posición de texto vertical 2"/>
          <p:cNvSpPr>
            <a:spLocks noGrp="1"/>
          </p:cNvSpPr>
          <p:nvPr>
            <p:ph type="body" orient="vert" idx="1"/>
          </p:nvPr>
        </p:nvSpPr>
        <p:spPr/>
        <p:txBody>
          <a:bodyPr vert="eaVert" rtlCol="0"/>
          <a:lstStyle>
            <a:lvl1pPr>
              <a:defRPr/>
            </a:lvl1pPr>
            <a:lvl5pPr>
              <a:defRPr/>
            </a:lvl5pPr>
          </a:lstStyle>
          <a:p>
            <a:pPr lvl="0" rtl="0"/>
            <a:r>
              <a:rPr lang="es-ES" noProof="0"/>
              <a:t>Haga clic para modificar el estilo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5" name="Marcador de posición de pie de página 4"/>
          <p:cNvSpPr>
            <a:spLocks noGrp="1"/>
          </p:cNvSpPr>
          <p:nvPr>
            <p:ph type="ftr" sz="quarter" idx="11"/>
          </p:nvPr>
        </p:nvSpPr>
        <p:spPr/>
        <p:txBody>
          <a:bodyPr rtlCol="0"/>
          <a:lstStyle/>
          <a:p>
            <a:pPr rtl="0"/>
            <a:r>
              <a:rPr lang="es-ES" noProof="0" dirty="0"/>
              <a:t>Agregar un pie de página</a:t>
            </a:r>
          </a:p>
        </p:txBody>
      </p:sp>
      <p:sp>
        <p:nvSpPr>
          <p:cNvPr id="4" name="Marcador de posición de fecha 3"/>
          <p:cNvSpPr>
            <a:spLocks noGrp="1"/>
          </p:cNvSpPr>
          <p:nvPr>
            <p:ph type="dt" sz="half" idx="10"/>
          </p:nvPr>
        </p:nvSpPr>
        <p:spPr/>
        <p:txBody>
          <a:bodyPr rtlCol="0"/>
          <a:lstStyle/>
          <a:p>
            <a:pPr rtl="0"/>
            <a:fld id="{A49C5101-B6E1-4C2F-96CC-D4D7C5FEAAF7}" type="datetime1">
              <a:rPr lang="es-ES" noProof="0" smtClean="0"/>
              <a:t>9/6/26</a:t>
            </a:fld>
            <a:endParaRPr lang="es-ES" noProof="0" dirty="0"/>
          </a:p>
        </p:txBody>
      </p:sp>
      <p:sp>
        <p:nvSpPr>
          <p:cNvPr id="6" name="Marcador de posición de número de diapositiva 5"/>
          <p:cNvSpPr>
            <a:spLocks noGrp="1"/>
          </p:cNvSpPr>
          <p:nvPr>
            <p:ph type="sldNum" sz="quarter" idx="12"/>
          </p:nvPr>
        </p:nvSpPr>
        <p:spPr/>
        <p:txBody>
          <a:bodyPr rtlCol="0"/>
          <a:lstStyle/>
          <a:p>
            <a:pPr rtl="0"/>
            <a:fld id="{E31375A4-56A4-47D6-9801-1991572033F7}" type="slidenum">
              <a:rPr lang="es-ES" noProof="0" smtClean="0"/>
              <a:t>‹#›</a:t>
            </a:fld>
            <a:endParaRPr lang="es-ES" noProof="0" dirty="0"/>
          </a:p>
        </p:txBody>
      </p:sp>
    </p:spTree>
    <p:extLst>
      <p:ext uri="{BB962C8B-B14F-4D97-AF65-F5344CB8AC3E}">
        <p14:creationId xmlns:p14="http://schemas.microsoft.com/office/powerpoint/2010/main" val="2477154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457200"/>
            <a:ext cx="1943100" cy="5719762"/>
          </a:xfrm>
        </p:spPr>
        <p:txBody>
          <a:bodyPr vert="eaVert" rtlCol="0"/>
          <a:lstStyle/>
          <a:p>
            <a:pPr rtl="0"/>
            <a:r>
              <a:rPr lang="es-ES" noProof="0"/>
              <a:t>Haga clic para modificar el estilo de título del patrón</a:t>
            </a:r>
            <a:endParaRPr lang="es-ES" noProof="0" dirty="0"/>
          </a:p>
        </p:txBody>
      </p:sp>
      <p:sp>
        <p:nvSpPr>
          <p:cNvPr id="3" name="Marcador de posición de texto vertical 2"/>
          <p:cNvSpPr>
            <a:spLocks noGrp="1"/>
          </p:cNvSpPr>
          <p:nvPr>
            <p:ph type="body" orient="vert" idx="1"/>
          </p:nvPr>
        </p:nvSpPr>
        <p:spPr>
          <a:xfrm>
            <a:off x="1524000" y="457200"/>
            <a:ext cx="7048500" cy="5719762"/>
          </a:xfrm>
        </p:spPr>
        <p:txBody>
          <a:bodyPr vert="eaVert" rtlCol="0"/>
          <a:lstStyle>
            <a:lvl1pPr>
              <a:defRPr/>
            </a:lvl1pPr>
            <a:lvl5pPr>
              <a:defRPr/>
            </a:lvl5pPr>
          </a:lstStyle>
          <a:p>
            <a:pPr lvl="0" rtl="0"/>
            <a:r>
              <a:rPr lang="es-ES" noProof="0"/>
              <a:t>Haga clic para modificar el estilo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5" name="Marcador de posición de pie de página 4"/>
          <p:cNvSpPr>
            <a:spLocks noGrp="1"/>
          </p:cNvSpPr>
          <p:nvPr>
            <p:ph type="ftr" sz="quarter" idx="11"/>
          </p:nvPr>
        </p:nvSpPr>
        <p:spPr/>
        <p:txBody>
          <a:bodyPr rtlCol="0"/>
          <a:lstStyle/>
          <a:p>
            <a:pPr rtl="0"/>
            <a:r>
              <a:rPr lang="es-ES" noProof="0" dirty="0"/>
              <a:t>Agregar un pie de página</a:t>
            </a:r>
          </a:p>
        </p:txBody>
      </p:sp>
      <p:sp>
        <p:nvSpPr>
          <p:cNvPr id="4" name="Marcador de posición de fecha 3"/>
          <p:cNvSpPr>
            <a:spLocks noGrp="1"/>
          </p:cNvSpPr>
          <p:nvPr>
            <p:ph type="dt" sz="half" idx="10"/>
          </p:nvPr>
        </p:nvSpPr>
        <p:spPr/>
        <p:txBody>
          <a:bodyPr rtlCol="0"/>
          <a:lstStyle/>
          <a:p>
            <a:pPr rtl="0"/>
            <a:fld id="{AE3F2578-7180-4CCB-9A96-7D1B03AD95AA}" type="datetime1">
              <a:rPr lang="es-ES" noProof="0" smtClean="0"/>
              <a:t>9/6/26</a:t>
            </a:fld>
            <a:endParaRPr lang="es-ES" noProof="0" dirty="0"/>
          </a:p>
        </p:txBody>
      </p:sp>
      <p:sp>
        <p:nvSpPr>
          <p:cNvPr id="6" name="Marcador de posición de número de diapositiva 5"/>
          <p:cNvSpPr>
            <a:spLocks noGrp="1"/>
          </p:cNvSpPr>
          <p:nvPr>
            <p:ph type="sldNum" sz="quarter" idx="12"/>
          </p:nvPr>
        </p:nvSpPr>
        <p:spPr/>
        <p:txBody>
          <a:bodyPr rtlCol="0"/>
          <a:lstStyle/>
          <a:p>
            <a:pPr rtl="0"/>
            <a:fld id="{E31375A4-56A4-47D6-9801-1991572033F7}" type="slidenum">
              <a:rPr lang="es-ES" noProof="0" smtClean="0"/>
              <a:t>‹#›</a:t>
            </a:fld>
            <a:endParaRPr lang="es-ES" noProof="0" dirty="0"/>
          </a:p>
        </p:txBody>
      </p:sp>
    </p:spTree>
    <p:extLst>
      <p:ext uri="{BB962C8B-B14F-4D97-AF65-F5344CB8AC3E}">
        <p14:creationId xmlns:p14="http://schemas.microsoft.com/office/powerpoint/2010/main" val="2524635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6/9/26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3935259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0" i="0">
                <a:solidFill>
                  <a:schemeClr val="tx1"/>
                </a:solidFill>
                <a:latin typeface="Calibri Light"/>
                <a:cs typeface="Calibri Light"/>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6/9/26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7793196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título 1"/>
          <p:cNvSpPr>
            <a:spLocks noGrp="1"/>
          </p:cNvSpPr>
          <p:nvPr>
            <p:ph type="title"/>
          </p:nvPr>
        </p:nvSpPr>
        <p:spPr>
          <a:xfrm>
            <a:off x="1524000" y="457200"/>
            <a:ext cx="9144000" cy="1143000"/>
          </a:xfrm>
          <a:prstGeom prst="rect">
            <a:avLst/>
          </a:prstGeom>
        </p:spPr>
        <p:txBody>
          <a:bodyPr vert="horz" lIns="91440" tIns="45720" rIns="91440" bIns="45720" rtlCol="0" anchor="b">
            <a:normAutofit/>
          </a:bodyPr>
          <a:lstStyle/>
          <a:p>
            <a:pPr rtl="0"/>
            <a:r>
              <a:rPr lang="es-ES" noProof="0" dirty="0"/>
              <a:t>Haga clic para modificar el estilo de título del patrón</a:t>
            </a:r>
          </a:p>
        </p:txBody>
      </p:sp>
      <p:sp>
        <p:nvSpPr>
          <p:cNvPr id="3" name="Marcador de posición de texto 2"/>
          <p:cNvSpPr>
            <a:spLocks noGrp="1"/>
          </p:cNvSpPr>
          <p:nvPr>
            <p:ph type="body" idx="1"/>
          </p:nvPr>
        </p:nvSpPr>
        <p:spPr>
          <a:xfrm>
            <a:off x="1524000" y="1714500"/>
            <a:ext cx="9144000" cy="4457700"/>
          </a:xfrm>
          <a:prstGeom prst="rect">
            <a:avLst/>
          </a:prstGeom>
        </p:spPr>
        <p:txBody>
          <a:bodyPr vert="horz" lIns="91440" tIns="45720" rIns="91440" bIns="45720" rtlCol="0">
            <a:normAutofit/>
          </a:bodyPr>
          <a:lstStyle/>
          <a:p>
            <a:pPr lvl="0" rtl="0"/>
            <a:r>
              <a:rPr lang="es-ES" noProof="0" dirty="0"/>
              <a:t>Editar estilos de texto del patrón</a:t>
            </a:r>
          </a:p>
          <a:p>
            <a:pPr lvl="1" rtl="0"/>
            <a:r>
              <a:rPr lang="es-ES" noProof="0" dirty="0"/>
              <a:t>Segundo nivel</a:t>
            </a:r>
          </a:p>
          <a:p>
            <a:pPr lvl="2" rtl="0"/>
            <a:r>
              <a:rPr lang="es-ES" noProof="0" dirty="0"/>
              <a:t>Tercer nivel</a:t>
            </a:r>
          </a:p>
          <a:p>
            <a:pPr lvl="3" rtl="0"/>
            <a:r>
              <a:rPr lang="es-ES" noProof="0" dirty="0"/>
              <a:t>Cuarto nivel</a:t>
            </a:r>
          </a:p>
          <a:p>
            <a:pPr lvl="4" rtl="0"/>
            <a:r>
              <a:rPr lang="es-ES" noProof="0" dirty="0"/>
              <a:t>Quinto nivel</a:t>
            </a:r>
          </a:p>
        </p:txBody>
      </p:sp>
      <p:sp>
        <p:nvSpPr>
          <p:cNvPr id="7" name="Rectángulo 6"/>
          <p:cNvSpPr/>
          <p:nvPr userDrawn="1"/>
        </p:nvSpPr>
        <p:spPr>
          <a:xfrm>
            <a:off x="0" y="6583680"/>
            <a:ext cx="12192000" cy="27432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dirty="0"/>
          </a:p>
        </p:txBody>
      </p:sp>
      <p:sp>
        <p:nvSpPr>
          <p:cNvPr id="5" name="Marcador de posición de pie de página 4"/>
          <p:cNvSpPr>
            <a:spLocks noGrp="1"/>
          </p:cNvSpPr>
          <p:nvPr>
            <p:ph type="ftr" sz="quarter" idx="3"/>
          </p:nvPr>
        </p:nvSpPr>
        <p:spPr>
          <a:xfrm>
            <a:off x="1523999" y="6601556"/>
            <a:ext cx="6491381" cy="228600"/>
          </a:xfrm>
          <a:prstGeom prst="rect">
            <a:avLst/>
          </a:prstGeom>
        </p:spPr>
        <p:txBody>
          <a:bodyPr vert="horz" lIns="91440" tIns="45720" rIns="91440" bIns="45720" rtlCol="0" anchor="ctr"/>
          <a:lstStyle>
            <a:lvl1pPr algn="l">
              <a:defRPr sz="1100">
                <a:solidFill>
                  <a:schemeClr val="bg1"/>
                </a:solidFill>
              </a:defRPr>
            </a:lvl1pPr>
          </a:lstStyle>
          <a:p>
            <a:pPr rtl="0"/>
            <a:r>
              <a:rPr lang="es-ES" noProof="0" dirty="0"/>
              <a:t>Agregar un pie de página</a:t>
            </a:r>
          </a:p>
        </p:txBody>
      </p:sp>
      <p:sp>
        <p:nvSpPr>
          <p:cNvPr id="4" name="Marcador de posición de fecha 3"/>
          <p:cNvSpPr>
            <a:spLocks noGrp="1"/>
          </p:cNvSpPr>
          <p:nvPr>
            <p:ph type="dt" sz="half" idx="2"/>
          </p:nvPr>
        </p:nvSpPr>
        <p:spPr>
          <a:xfrm>
            <a:off x="8187908" y="6601556"/>
            <a:ext cx="1534064" cy="228600"/>
          </a:xfrm>
          <a:prstGeom prst="rect">
            <a:avLst/>
          </a:prstGeom>
        </p:spPr>
        <p:txBody>
          <a:bodyPr vert="horz" lIns="91440" tIns="45720" rIns="91440" bIns="45720" rtlCol="0" anchor="ctr"/>
          <a:lstStyle>
            <a:lvl1pPr algn="r">
              <a:defRPr sz="1100">
                <a:solidFill>
                  <a:schemeClr val="bg1"/>
                </a:solidFill>
              </a:defRPr>
            </a:lvl1pPr>
          </a:lstStyle>
          <a:p>
            <a:pPr rtl="0"/>
            <a:fld id="{5E879E85-5BBE-4DC3-949C-B551255CCB64}" type="datetime1">
              <a:rPr lang="es-ES" noProof="0" smtClean="0"/>
              <a:t>9/6/26</a:t>
            </a:fld>
            <a:endParaRPr lang="es-ES" noProof="0" dirty="0"/>
          </a:p>
        </p:txBody>
      </p:sp>
      <p:sp>
        <p:nvSpPr>
          <p:cNvPr id="6" name="Marcador de posición de número de diapositiva 5"/>
          <p:cNvSpPr>
            <a:spLocks noGrp="1"/>
          </p:cNvSpPr>
          <p:nvPr>
            <p:ph type="sldNum" sz="quarter" idx="4"/>
          </p:nvPr>
        </p:nvSpPr>
        <p:spPr>
          <a:xfrm>
            <a:off x="9894499" y="6601556"/>
            <a:ext cx="773502" cy="228600"/>
          </a:xfrm>
          <a:prstGeom prst="rect">
            <a:avLst/>
          </a:prstGeom>
        </p:spPr>
        <p:txBody>
          <a:bodyPr vert="horz" lIns="91440" tIns="45720" rIns="91440" bIns="45720" rtlCol="0" anchor="ctr"/>
          <a:lstStyle>
            <a:lvl1pPr algn="r">
              <a:defRPr sz="1100">
                <a:solidFill>
                  <a:schemeClr val="bg1"/>
                </a:solidFill>
              </a:defRPr>
            </a:lvl1pPr>
          </a:lstStyle>
          <a:p>
            <a:pPr rtl="0"/>
            <a:fld id="{E31375A4-56A4-47D6-9801-1991572033F7}" type="slidenum">
              <a:rPr lang="es-ES" noProof="0" smtClean="0"/>
              <a:pPr rtl="0"/>
              <a:t>‹#›</a:t>
            </a:fld>
            <a:endParaRPr lang="es-ES" noProof="0" dirty="0"/>
          </a:p>
        </p:txBody>
      </p:sp>
    </p:spTree>
    <p:extLst>
      <p:ext uri="{BB962C8B-B14F-4D97-AF65-F5344CB8AC3E}">
        <p14:creationId xmlns:p14="http://schemas.microsoft.com/office/powerpoint/2010/main" val="1943259863"/>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1" r:id="rId13"/>
    <p:sldLayoutId id="2147483662" r:id="rId1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400" rtl="0" eaLnBrk="1" latinLnBrk="0" hangingPunct="1">
        <a:lnSpc>
          <a:spcPct val="90000"/>
        </a:lnSpc>
        <a:spcBef>
          <a:spcPct val="0"/>
        </a:spcBef>
        <a:buNone/>
        <a:defRPr sz="3400" kern="1200" cap="all" baseline="0">
          <a:solidFill>
            <a:schemeClr val="accent1">
              <a:lumMod val="75000"/>
            </a:schemeClr>
          </a:solidFill>
          <a:latin typeface="+mj-lt"/>
          <a:ea typeface="+mj-ea"/>
          <a:cs typeface="+mj-cs"/>
        </a:defRPr>
      </a:lvl1pPr>
    </p:titleStyle>
    <p:bodyStyle>
      <a:lvl1pPr marL="274320" indent="-228600" algn="l" defTabSz="914400" rtl="0" eaLnBrk="1" latinLnBrk="0" hangingPunct="1">
        <a:lnSpc>
          <a:spcPct val="90000"/>
        </a:lnSpc>
        <a:spcBef>
          <a:spcPts val="1800"/>
        </a:spcBef>
        <a:buClr>
          <a:schemeClr val="accent1">
            <a:lumMod val="50000"/>
          </a:schemeClr>
        </a:buClr>
        <a:buSzPct val="100000"/>
        <a:buFont typeface="Arial" pitchFamily="34" charset="0"/>
        <a:buChar char="▪"/>
        <a:defRPr sz="2000" kern="1200">
          <a:solidFill>
            <a:schemeClr val="tx1"/>
          </a:solidFill>
          <a:latin typeface="+mn-lt"/>
          <a:ea typeface="+mn-ea"/>
          <a:cs typeface="+mn-cs"/>
        </a:defRPr>
      </a:lvl1pPr>
      <a:lvl2pPr marL="594360" indent="-228600" algn="l" defTabSz="914400" rtl="0" eaLnBrk="1" latinLnBrk="0" hangingPunct="1">
        <a:lnSpc>
          <a:spcPct val="90000"/>
        </a:lnSpc>
        <a:spcBef>
          <a:spcPts val="800"/>
        </a:spcBef>
        <a:buClr>
          <a:schemeClr val="accent1">
            <a:lumMod val="50000"/>
          </a:schemeClr>
        </a:buClr>
        <a:buSzPct val="100000"/>
        <a:buFont typeface="Arial" pitchFamily="34" charset="0"/>
        <a:buChar char="▪"/>
        <a:defRPr sz="1800" kern="1200">
          <a:solidFill>
            <a:schemeClr val="tx1"/>
          </a:solidFill>
          <a:latin typeface="+mn-lt"/>
          <a:ea typeface="+mn-ea"/>
          <a:cs typeface="+mn-cs"/>
        </a:defRPr>
      </a:lvl2pPr>
      <a:lvl3pPr marL="914400" indent="-228600" algn="l" defTabSz="914400" rtl="0" eaLnBrk="1" latinLnBrk="0" hangingPunct="1">
        <a:lnSpc>
          <a:spcPct val="90000"/>
        </a:lnSpc>
        <a:spcBef>
          <a:spcPts val="800"/>
        </a:spcBef>
        <a:buClr>
          <a:schemeClr val="accent1">
            <a:lumMod val="50000"/>
          </a:schemeClr>
        </a:buClr>
        <a:buSzPct val="100000"/>
        <a:buFont typeface="Arial" pitchFamily="34" charset="0"/>
        <a:buChar char="▪"/>
        <a:defRPr sz="1600" kern="1200">
          <a:solidFill>
            <a:schemeClr val="tx1"/>
          </a:solidFill>
          <a:latin typeface="+mn-lt"/>
          <a:ea typeface="+mn-ea"/>
          <a:cs typeface="+mn-cs"/>
        </a:defRPr>
      </a:lvl3pPr>
      <a:lvl4pPr marL="1188720" indent="-182880" algn="l" defTabSz="914400" rtl="0" eaLnBrk="1" latinLnBrk="0" hangingPunct="1">
        <a:lnSpc>
          <a:spcPct val="90000"/>
        </a:lnSpc>
        <a:spcBef>
          <a:spcPts val="800"/>
        </a:spcBef>
        <a:buClr>
          <a:schemeClr val="accent1">
            <a:lumMod val="50000"/>
          </a:schemeClr>
        </a:buClr>
        <a:buSzPct val="100000"/>
        <a:buFont typeface="Arial" pitchFamily="34" charset="0"/>
        <a:buChar char="▪"/>
        <a:defRPr sz="1400" kern="1200">
          <a:solidFill>
            <a:schemeClr val="tx1"/>
          </a:solidFill>
          <a:latin typeface="+mn-lt"/>
          <a:ea typeface="+mn-ea"/>
          <a:cs typeface="+mn-cs"/>
        </a:defRPr>
      </a:lvl4pPr>
      <a:lvl5pPr marL="1463040" indent="-182880" algn="l" defTabSz="914400" rtl="0" eaLnBrk="1" latinLnBrk="0" hangingPunct="1">
        <a:lnSpc>
          <a:spcPct val="90000"/>
        </a:lnSpc>
        <a:spcBef>
          <a:spcPts val="800"/>
        </a:spcBef>
        <a:buClr>
          <a:schemeClr val="accent1">
            <a:lumMod val="50000"/>
          </a:schemeClr>
        </a:buClr>
        <a:buSzPct val="100000"/>
        <a:buFont typeface="Arial" pitchFamily="34" charset="0"/>
        <a:buChar char="▪"/>
        <a:defRPr sz="1400" kern="1200">
          <a:solidFill>
            <a:schemeClr val="tx1"/>
          </a:solidFill>
          <a:latin typeface="+mn-lt"/>
          <a:ea typeface="+mn-ea"/>
          <a:cs typeface="+mn-cs"/>
        </a:defRPr>
      </a:lvl5pPr>
      <a:lvl6pPr marL="1691640" indent="-182880" algn="l" defTabSz="914400" rtl="0" eaLnBrk="1" latinLnBrk="0" hangingPunct="1">
        <a:lnSpc>
          <a:spcPct val="90000"/>
        </a:lnSpc>
        <a:spcBef>
          <a:spcPts val="800"/>
        </a:spcBef>
        <a:buClr>
          <a:schemeClr val="accent1">
            <a:lumMod val="50000"/>
          </a:schemeClr>
        </a:buClr>
        <a:buSzPct val="100000"/>
        <a:buFont typeface="Arial" pitchFamily="34" charset="0"/>
        <a:buChar char="▪"/>
        <a:defRPr sz="1400" kern="1200">
          <a:solidFill>
            <a:schemeClr val="tx1"/>
          </a:solidFill>
          <a:latin typeface="+mn-lt"/>
          <a:ea typeface="+mn-ea"/>
          <a:cs typeface="+mn-cs"/>
        </a:defRPr>
      </a:lvl6pPr>
      <a:lvl7pPr marL="1920240" indent="-182880" algn="l" defTabSz="914400" rtl="0" eaLnBrk="1" latinLnBrk="0" hangingPunct="1">
        <a:lnSpc>
          <a:spcPct val="90000"/>
        </a:lnSpc>
        <a:spcBef>
          <a:spcPts val="800"/>
        </a:spcBef>
        <a:buClr>
          <a:schemeClr val="accent1">
            <a:lumMod val="50000"/>
          </a:schemeClr>
        </a:buClr>
        <a:buSzPct val="100000"/>
        <a:buFont typeface="Arial" pitchFamily="34" charset="0"/>
        <a:buChar char="▪"/>
        <a:defRPr sz="1400" kern="1200">
          <a:solidFill>
            <a:schemeClr val="tx1"/>
          </a:solidFill>
          <a:latin typeface="+mn-lt"/>
          <a:ea typeface="+mn-ea"/>
          <a:cs typeface="+mn-cs"/>
        </a:defRPr>
      </a:lvl7pPr>
      <a:lvl8pPr marL="2148840" indent="-182880" algn="l" defTabSz="914400" rtl="0" eaLnBrk="1" latinLnBrk="0" hangingPunct="1">
        <a:lnSpc>
          <a:spcPct val="90000"/>
        </a:lnSpc>
        <a:spcBef>
          <a:spcPts val="800"/>
        </a:spcBef>
        <a:buClr>
          <a:schemeClr val="accent1">
            <a:lumMod val="50000"/>
          </a:schemeClr>
        </a:buClr>
        <a:buSzPct val="100000"/>
        <a:buFont typeface="Arial" pitchFamily="34" charset="0"/>
        <a:buChar char="▪"/>
        <a:defRPr sz="1400" kern="1200">
          <a:solidFill>
            <a:schemeClr val="tx1"/>
          </a:solidFill>
          <a:latin typeface="+mn-lt"/>
          <a:ea typeface="+mn-ea"/>
          <a:cs typeface="+mn-cs"/>
        </a:defRPr>
      </a:lvl8pPr>
      <a:lvl9pPr marL="2377440" indent="-182880" algn="l" defTabSz="914400" rtl="0" eaLnBrk="1" latinLnBrk="0" hangingPunct="1">
        <a:lnSpc>
          <a:spcPct val="90000"/>
        </a:lnSpc>
        <a:spcBef>
          <a:spcPts val="800"/>
        </a:spcBef>
        <a:buClr>
          <a:schemeClr val="accent1">
            <a:lumMod val="50000"/>
          </a:schemeClr>
        </a:buClr>
        <a:buSzPct val="100000"/>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4" orient="horz" pos="216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hyperlink" Target="https://youtu.be/8KkKuTCFvzI" TargetMode="External"/><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Layout" Target="../slideLayouts/slideLayout3.xml"/><Relationship Id="rId4" Type="http://schemas.openxmlformats.org/officeDocument/2006/relationships/image" Target="../media/image19.jpe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3.xml"/><Relationship Id="rId4" Type="http://schemas.openxmlformats.org/officeDocument/2006/relationships/image" Target="../media/image26.jpe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8.png"/><Relationship Id="rId7" Type="http://schemas.microsoft.com/office/2007/relationships/hdphoto" Target="../media/hdphoto1.wdp"/><Relationship Id="rId2" Type="http://schemas.openxmlformats.org/officeDocument/2006/relationships/image" Target="../media/image27.png"/><Relationship Id="rId1" Type="http://schemas.openxmlformats.org/officeDocument/2006/relationships/slideLayout" Target="../slideLayouts/slideLayout3.xml"/><Relationship Id="rId6" Type="http://schemas.openxmlformats.org/officeDocument/2006/relationships/image" Target="../media/image31.png"/><Relationship Id="rId11" Type="http://schemas.microsoft.com/office/2007/relationships/hdphoto" Target="../media/hdphoto3.wdp"/><Relationship Id="rId5" Type="http://schemas.openxmlformats.org/officeDocument/2006/relationships/image" Target="../media/image30.png"/><Relationship Id="rId10" Type="http://schemas.openxmlformats.org/officeDocument/2006/relationships/image" Target="../media/image33.png"/><Relationship Id="rId4" Type="http://schemas.openxmlformats.org/officeDocument/2006/relationships/image" Target="../media/image29.png"/><Relationship Id="rId9" Type="http://schemas.microsoft.com/office/2007/relationships/hdphoto" Target="../media/hdphoto2.wdp"/></Relationships>
</file>

<file path=ppt/slides/_rels/slide60.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7.png"/><Relationship Id="rId7" Type="http://schemas.openxmlformats.org/officeDocument/2006/relationships/image" Target="../media/image31.png"/><Relationship Id="rId12" Type="http://schemas.microsoft.com/office/2007/relationships/hdphoto" Target="../media/hdphoto3.wdp"/><Relationship Id="rId2" Type="http://schemas.openxmlformats.org/officeDocument/2006/relationships/notesSlide" Target="../notesSlides/notesSlide31.xml"/><Relationship Id="rId1" Type="http://schemas.openxmlformats.org/officeDocument/2006/relationships/slideLayout" Target="../slideLayouts/slideLayout3.xml"/><Relationship Id="rId6" Type="http://schemas.openxmlformats.org/officeDocument/2006/relationships/image" Target="../media/image30.png"/><Relationship Id="rId11" Type="http://schemas.openxmlformats.org/officeDocument/2006/relationships/image" Target="../media/image33.png"/><Relationship Id="rId5" Type="http://schemas.openxmlformats.org/officeDocument/2006/relationships/image" Target="../media/image29.png"/><Relationship Id="rId10" Type="http://schemas.microsoft.com/office/2007/relationships/hdphoto" Target="../media/hdphoto2.wdp"/><Relationship Id="rId4" Type="http://schemas.openxmlformats.org/officeDocument/2006/relationships/image" Target="../media/image28.png"/><Relationship Id="rId9" Type="http://schemas.openxmlformats.org/officeDocument/2006/relationships/image" Target="../media/image32.png"/></Relationships>
</file>

<file path=ppt/slides/_rels/slide6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3.xml"/><Relationship Id="rId1" Type="http://schemas.openxmlformats.org/officeDocument/2006/relationships/slideLayout" Target="../slideLayouts/slideLayout3.xml"/><Relationship Id="rId4" Type="http://schemas.openxmlformats.org/officeDocument/2006/relationships/image" Target="../media/image36.jpeg"/></Relationships>
</file>

<file path=ppt/slides/_rels/slide6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3.xml"/><Relationship Id="rId4" Type="http://schemas.microsoft.com/office/2007/relationships/hdphoto" Target="../media/hdphoto4.wdp"/></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image" Target="../media/image41.emf"/><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2" Type="http://schemas.openxmlformats.org/officeDocument/2006/relationships/image" Target="../media/image42.emf"/><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2" Type="http://schemas.openxmlformats.org/officeDocument/2006/relationships/image" Target="../media/image43.emf"/><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3" Type="http://schemas.openxmlformats.org/officeDocument/2006/relationships/image" Target="../media/image45.emf"/><Relationship Id="rId2" Type="http://schemas.openxmlformats.org/officeDocument/2006/relationships/image" Target="../media/image44.emf"/><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2" Type="http://schemas.openxmlformats.org/officeDocument/2006/relationships/image" Target="../media/image48.emf"/><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2" Type="http://schemas.openxmlformats.org/officeDocument/2006/relationships/image" Target="../media/image49.emf"/><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924050" y="3664201"/>
            <a:ext cx="8343900" cy="685800"/>
          </a:xfrm>
        </p:spPr>
        <p:txBody>
          <a:bodyPr rtlCol="0">
            <a:normAutofit fontScale="90000"/>
          </a:bodyPr>
          <a:lstStyle/>
          <a:p>
            <a:pPr rtl="0"/>
            <a:r>
              <a:rPr lang="es-ES" sz="5500" b="1" spc="167" dirty="0" err="1">
                <a:solidFill>
                  <a:schemeClr val="tx1"/>
                </a:solidFill>
                <a:latin typeface="+mn-lt"/>
              </a:rPr>
              <a:t>MÉtodos</a:t>
            </a:r>
            <a:r>
              <a:rPr lang="es-ES" sz="5500" b="1" spc="167" dirty="0">
                <a:solidFill>
                  <a:schemeClr val="tx1"/>
                </a:solidFill>
                <a:latin typeface="+mn-lt"/>
              </a:rPr>
              <a:t> de la Investigación SOCIAL</a:t>
            </a:r>
            <a:br>
              <a:rPr lang="es-ES" sz="5500" b="1" spc="167" dirty="0">
                <a:solidFill>
                  <a:schemeClr val="tx1"/>
                </a:solidFill>
                <a:latin typeface="+mn-lt"/>
              </a:rPr>
            </a:br>
            <a:br>
              <a:rPr lang="es-ES" sz="5500" b="1" spc="167" dirty="0">
                <a:solidFill>
                  <a:schemeClr val="tx1"/>
                </a:solidFill>
                <a:latin typeface="+mn-lt"/>
              </a:rPr>
            </a:br>
            <a:r>
              <a:rPr lang="es-ES" sz="3600" b="1" spc="167" dirty="0">
                <a:solidFill>
                  <a:schemeClr val="tx1"/>
                </a:solidFill>
                <a:latin typeface="+mn-lt"/>
              </a:rPr>
              <a:t> </a:t>
            </a:r>
            <a:endParaRPr lang="es-ES" sz="5500" b="1" spc="167" dirty="0">
              <a:solidFill>
                <a:schemeClr val="tx1"/>
              </a:solidFill>
              <a:latin typeface="+mn-lt"/>
            </a:endParaRPr>
          </a:p>
        </p:txBody>
      </p:sp>
      <p:sp>
        <p:nvSpPr>
          <p:cNvPr id="3" name="Subtítulo 2"/>
          <p:cNvSpPr>
            <a:spLocks noGrp="1"/>
          </p:cNvSpPr>
          <p:nvPr>
            <p:ph type="subTitle" idx="1"/>
          </p:nvPr>
        </p:nvSpPr>
        <p:spPr>
          <a:xfrm>
            <a:off x="1382810" y="2643468"/>
            <a:ext cx="9073008" cy="1706533"/>
          </a:xfrm>
        </p:spPr>
        <p:txBody>
          <a:bodyPr rtlCol="0">
            <a:normAutofit/>
          </a:bodyPr>
          <a:lstStyle/>
          <a:p>
            <a:pPr rtl="0"/>
            <a:endParaRPr lang="es-ES" b="1" dirty="0">
              <a:solidFill>
                <a:srgbClr val="0070C0"/>
              </a:solidFill>
              <a:latin typeface="Segoe UI Light" panose="020B0502040204020203" pitchFamily="34" charset="0"/>
              <a:cs typeface="Segoe UI Light" panose="020B0502040204020203" pitchFamily="34" charset="0"/>
            </a:endParaRPr>
          </a:p>
          <a:p>
            <a:pPr rtl="0"/>
            <a:endParaRPr lang="es-ES" b="1" dirty="0">
              <a:solidFill>
                <a:srgbClr val="0070C0"/>
              </a:solidFill>
              <a:latin typeface="Segoe UI Light" panose="020B0502040204020203" pitchFamily="34" charset="0"/>
              <a:cs typeface="Segoe UI Light" panose="020B0502040204020203" pitchFamily="34" charset="0"/>
            </a:endParaRPr>
          </a:p>
          <a:p>
            <a:endParaRPr lang="es-ES" sz="1800" b="1" dirty="0">
              <a:solidFill>
                <a:srgbClr val="0070C0"/>
              </a:solidFill>
              <a:latin typeface="Segoe UI Light" panose="020B0502040204020203" pitchFamily="34" charset="0"/>
              <a:cs typeface="Segoe UI Light" panose="020B0502040204020203" pitchFamily="34" charset="0"/>
            </a:endParaRPr>
          </a:p>
          <a:p>
            <a:pPr marL="7701">
              <a:lnSpc>
                <a:spcPct val="100000"/>
              </a:lnSpc>
              <a:spcBef>
                <a:spcPts val="6"/>
              </a:spcBef>
            </a:pPr>
            <a:endParaRPr lang="es-MX" sz="1800" b="1" dirty="0">
              <a:solidFill>
                <a:srgbClr val="0070C0"/>
              </a:solidFill>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9113278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0" name="Group 69">
            <a:extLst>
              <a:ext uri="{FF2B5EF4-FFF2-40B4-BE49-F238E27FC236}">
                <a16:creationId xmlns:a16="http://schemas.microsoft.com/office/drawing/2014/main" id="{84B7E250-1C88-090C-DD01-02D9E52A7780}"/>
              </a:ext>
            </a:extLst>
          </p:cNvPr>
          <p:cNvGrpSpPr/>
          <p:nvPr/>
        </p:nvGrpSpPr>
        <p:grpSpPr>
          <a:xfrm>
            <a:off x="838200" y="1795522"/>
            <a:ext cx="10515600" cy="4826951"/>
            <a:chOff x="703447" y="2034925"/>
            <a:chExt cx="8750935" cy="3447771"/>
          </a:xfrm>
        </p:grpSpPr>
        <p:sp>
          <p:nvSpPr>
            <p:cNvPr id="4" name="object 4"/>
            <p:cNvSpPr/>
            <p:nvPr/>
          </p:nvSpPr>
          <p:spPr>
            <a:xfrm>
              <a:off x="1279194" y="2273687"/>
              <a:ext cx="7799070" cy="2867604"/>
            </a:xfrm>
            <a:custGeom>
              <a:avLst/>
              <a:gdLst/>
              <a:ahLst/>
              <a:cxnLst/>
              <a:rect l="l" t="t" r="r" b="b"/>
              <a:pathLst>
                <a:path w="7799070" h="3261995">
                  <a:moveTo>
                    <a:pt x="0" y="543661"/>
                  </a:moveTo>
                  <a:lnTo>
                    <a:pt x="1993" y="496752"/>
                  </a:lnTo>
                  <a:lnTo>
                    <a:pt x="7863" y="450951"/>
                  </a:lnTo>
                  <a:lnTo>
                    <a:pt x="17448" y="406421"/>
                  </a:lnTo>
                  <a:lnTo>
                    <a:pt x="30585" y="363326"/>
                  </a:lnTo>
                  <a:lnTo>
                    <a:pt x="47110" y="321828"/>
                  </a:lnTo>
                  <a:lnTo>
                    <a:pt x="66861" y="282091"/>
                  </a:lnTo>
                  <a:lnTo>
                    <a:pt x="89674" y="244278"/>
                  </a:lnTo>
                  <a:lnTo>
                    <a:pt x="115387" y="208552"/>
                  </a:lnTo>
                  <a:lnTo>
                    <a:pt x="143836" y="175077"/>
                  </a:lnTo>
                  <a:lnTo>
                    <a:pt x="174859" y="144015"/>
                  </a:lnTo>
                  <a:lnTo>
                    <a:pt x="208292" y="115531"/>
                  </a:lnTo>
                  <a:lnTo>
                    <a:pt x="243973" y="89786"/>
                  </a:lnTo>
                  <a:lnTo>
                    <a:pt x="281739" y="66944"/>
                  </a:lnTo>
                  <a:lnTo>
                    <a:pt x="321427" y="47169"/>
                  </a:lnTo>
                  <a:lnTo>
                    <a:pt x="362873" y="30623"/>
                  </a:lnTo>
                  <a:lnTo>
                    <a:pt x="405914" y="17470"/>
                  </a:lnTo>
                  <a:lnTo>
                    <a:pt x="450389" y="7873"/>
                  </a:lnTo>
                  <a:lnTo>
                    <a:pt x="496133" y="1995"/>
                  </a:lnTo>
                  <a:lnTo>
                    <a:pt x="542983" y="0"/>
                  </a:lnTo>
                  <a:lnTo>
                    <a:pt x="7256086" y="0"/>
                  </a:lnTo>
                  <a:lnTo>
                    <a:pt x="7302936" y="1995"/>
                  </a:lnTo>
                  <a:lnTo>
                    <a:pt x="7348680" y="7873"/>
                  </a:lnTo>
                  <a:lnTo>
                    <a:pt x="7393155" y="17470"/>
                  </a:lnTo>
                  <a:lnTo>
                    <a:pt x="7436196" y="30623"/>
                  </a:lnTo>
                  <a:lnTo>
                    <a:pt x="7477642" y="47169"/>
                  </a:lnTo>
                  <a:lnTo>
                    <a:pt x="7517330" y="66944"/>
                  </a:lnTo>
                  <a:lnTo>
                    <a:pt x="7555096" y="89786"/>
                  </a:lnTo>
                  <a:lnTo>
                    <a:pt x="7590777" y="115531"/>
                  </a:lnTo>
                  <a:lnTo>
                    <a:pt x="7624210" y="144015"/>
                  </a:lnTo>
                  <a:lnTo>
                    <a:pt x="7655233" y="175077"/>
                  </a:lnTo>
                  <a:lnTo>
                    <a:pt x="7683682" y="208552"/>
                  </a:lnTo>
                  <a:lnTo>
                    <a:pt x="7709395" y="244278"/>
                  </a:lnTo>
                  <a:lnTo>
                    <a:pt x="7732208" y="282091"/>
                  </a:lnTo>
                  <a:lnTo>
                    <a:pt x="7751959" y="321828"/>
                  </a:lnTo>
                  <a:lnTo>
                    <a:pt x="7768484" y="363326"/>
                  </a:lnTo>
                  <a:lnTo>
                    <a:pt x="7781621" y="406421"/>
                  </a:lnTo>
                  <a:lnTo>
                    <a:pt x="7791206" y="450951"/>
                  </a:lnTo>
                  <a:lnTo>
                    <a:pt x="7797076" y="496752"/>
                  </a:lnTo>
                  <a:lnTo>
                    <a:pt x="7799069" y="543661"/>
                  </a:lnTo>
                  <a:lnTo>
                    <a:pt x="7799069" y="2718258"/>
                  </a:lnTo>
                  <a:lnTo>
                    <a:pt x="7797076" y="2765167"/>
                  </a:lnTo>
                  <a:lnTo>
                    <a:pt x="7791206" y="2810968"/>
                  </a:lnTo>
                  <a:lnTo>
                    <a:pt x="7781621" y="2855498"/>
                  </a:lnTo>
                  <a:lnTo>
                    <a:pt x="7768484" y="2898594"/>
                  </a:lnTo>
                  <a:lnTo>
                    <a:pt x="7751959" y="2940092"/>
                  </a:lnTo>
                  <a:lnTo>
                    <a:pt x="7732208" y="2979829"/>
                  </a:lnTo>
                  <a:lnTo>
                    <a:pt x="7709395" y="3017642"/>
                  </a:lnTo>
                  <a:lnTo>
                    <a:pt x="7683682" y="3053367"/>
                  </a:lnTo>
                  <a:lnTo>
                    <a:pt x="7655233" y="3086843"/>
                  </a:lnTo>
                  <a:lnTo>
                    <a:pt x="7624210" y="3117904"/>
                  </a:lnTo>
                  <a:lnTo>
                    <a:pt x="7590777" y="3146389"/>
                  </a:lnTo>
                  <a:lnTo>
                    <a:pt x="7555096" y="3172134"/>
                  </a:lnTo>
                  <a:lnTo>
                    <a:pt x="7517330" y="3194976"/>
                  </a:lnTo>
                  <a:lnTo>
                    <a:pt x="7477642" y="3214751"/>
                  </a:lnTo>
                  <a:lnTo>
                    <a:pt x="7436196" y="3231297"/>
                  </a:lnTo>
                  <a:lnTo>
                    <a:pt x="7393155" y="3244450"/>
                  </a:lnTo>
                  <a:lnTo>
                    <a:pt x="7348680" y="3254047"/>
                  </a:lnTo>
                  <a:lnTo>
                    <a:pt x="7302936" y="3259925"/>
                  </a:lnTo>
                  <a:lnTo>
                    <a:pt x="7256086" y="3261920"/>
                  </a:lnTo>
                  <a:lnTo>
                    <a:pt x="542983" y="3261920"/>
                  </a:lnTo>
                  <a:lnTo>
                    <a:pt x="496133" y="3259925"/>
                  </a:lnTo>
                  <a:lnTo>
                    <a:pt x="450389" y="3254047"/>
                  </a:lnTo>
                  <a:lnTo>
                    <a:pt x="405914" y="3244450"/>
                  </a:lnTo>
                  <a:lnTo>
                    <a:pt x="362873" y="3231297"/>
                  </a:lnTo>
                  <a:lnTo>
                    <a:pt x="321427" y="3214751"/>
                  </a:lnTo>
                  <a:lnTo>
                    <a:pt x="281739" y="3194976"/>
                  </a:lnTo>
                  <a:lnTo>
                    <a:pt x="243973" y="3172134"/>
                  </a:lnTo>
                  <a:lnTo>
                    <a:pt x="208292" y="3146389"/>
                  </a:lnTo>
                  <a:lnTo>
                    <a:pt x="174859" y="3117904"/>
                  </a:lnTo>
                  <a:lnTo>
                    <a:pt x="143836" y="3086843"/>
                  </a:lnTo>
                  <a:lnTo>
                    <a:pt x="115387" y="3053367"/>
                  </a:lnTo>
                  <a:lnTo>
                    <a:pt x="89674" y="3017642"/>
                  </a:lnTo>
                  <a:lnTo>
                    <a:pt x="66861" y="2979829"/>
                  </a:lnTo>
                  <a:lnTo>
                    <a:pt x="47110" y="2940092"/>
                  </a:lnTo>
                  <a:lnTo>
                    <a:pt x="30585" y="2898594"/>
                  </a:lnTo>
                  <a:lnTo>
                    <a:pt x="17448" y="2855498"/>
                  </a:lnTo>
                  <a:lnTo>
                    <a:pt x="7863" y="2810968"/>
                  </a:lnTo>
                  <a:lnTo>
                    <a:pt x="1993" y="2765167"/>
                  </a:lnTo>
                  <a:lnTo>
                    <a:pt x="0" y="2718258"/>
                  </a:lnTo>
                  <a:lnTo>
                    <a:pt x="0" y="543661"/>
                  </a:lnTo>
                  <a:close/>
                </a:path>
              </a:pathLst>
            </a:custGeom>
            <a:ln w="28575">
              <a:solidFill>
                <a:schemeClr val="tx1"/>
              </a:solidFill>
            </a:ln>
          </p:spPr>
          <p:style>
            <a:lnRef idx="2">
              <a:schemeClr val="accent2"/>
            </a:lnRef>
            <a:fillRef idx="1">
              <a:schemeClr val="lt1"/>
            </a:fillRef>
            <a:effectRef idx="0">
              <a:schemeClr val="accent2"/>
            </a:effectRef>
            <a:fontRef idx="minor">
              <a:schemeClr val="dk1"/>
            </a:fontRef>
          </p:style>
          <p:txBody>
            <a:bodyPr wrap="square" lIns="0" tIns="0" rIns="0" bIns="0" rtlCol="0"/>
            <a:lstStyle/>
            <a:p>
              <a:endParaRPr sz="1100" b="1" dirty="0">
                <a:solidFill>
                  <a:schemeClr val="tx1"/>
                </a:solidFill>
              </a:endParaRPr>
            </a:p>
          </p:txBody>
        </p:sp>
        <p:sp>
          <p:nvSpPr>
            <p:cNvPr id="5" name="object 5"/>
            <p:cNvSpPr/>
            <p:nvPr/>
          </p:nvSpPr>
          <p:spPr>
            <a:xfrm>
              <a:off x="1923229" y="2795998"/>
              <a:ext cx="1442720" cy="1775999"/>
            </a:xfrm>
            <a:custGeom>
              <a:avLst/>
              <a:gdLst/>
              <a:ahLst/>
              <a:cxnLst/>
              <a:rect l="l" t="t" r="r" b="b"/>
              <a:pathLst>
                <a:path w="1442720" h="1550670">
                  <a:moveTo>
                    <a:pt x="1442311" y="0"/>
                  </a:moveTo>
                  <a:lnTo>
                    <a:pt x="0" y="0"/>
                  </a:lnTo>
                  <a:lnTo>
                    <a:pt x="0" y="1550207"/>
                  </a:lnTo>
                  <a:lnTo>
                    <a:pt x="1442311" y="1550207"/>
                  </a:lnTo>
                  <a:lnTo>
                    <a:pt x="1442311" y="0"/>
                  </a:lnTo>
                  <a:close/>
                </a:path>
              </a:pathLst>
            </a:custGeom>
            <a:ln w="28575">
              <a:solidFill>
                <a:schemeClr val="tx1"/>
              </a:solidFill>
            </a:ln>
          </p:spPr>
          <p:style>
            <a:lnRef idx="2">
              <a:schemeClr val="accent2"/>
            </a:lnRef>
            <a:fillRef idx="1">
              <a:schemeClr val="lt1"/>
            </a:fillRef>
            <a:effectRef idx="0">
              <a:schemeClr val="accent2"/>
            </a:effectRef>
            <a:fontRef idx="minor">
              <a:schemeClr val="dk1"/>
            </a:fontRef>
          </p:style>
          <p:txBody>
            <a:bodyPr wrap="square" lIns="0" tIns="0" rIns="0" bIns="0" rtlCol="0"/>
            <a:lstStyle/>
            <a:p>
              <a:endParaRPr sz="1100" b="1">
                <a:solidFill>
                  <a:schemeClr val="tx1"/>
                </a:solidFill>
              </a:endParaRPr>
            </a:p>
          </p:txBody>
        </p:sp>
        <p:sp>
          <p:nvSpPr>
            <p:cNvPr id="6" name="object 6"/>
            <p:cNvSpPr/>
            <p:nvPr/>
          </p:nvSpPr>
          <p:spPr>
            <a:xfrm>
              <a:off x="1923229" y="2819400"/>
              <a:ext cx="1442720" cy="1752600"/>
            </a:xfrm>
            <a:custGeom>
              <a:avLst/>
              <a:gdLst/>
              <a:ahLst/>
              <a:cxnLst/>
              <a:rect l="l" t="t" r="r" b="b"/>
              <a:pathLst>
                <a:path w="1442720" h="1550670">
                  <a:moveTo>
                    <a:pt x="0" y="0"/>
                  </a:moveTo>
                  <a:lnTo>
                    <a:pt x="1442310" y="0"/>
                  </a:lnTo>
                  <a:lnTo>
                    <a:pt x="1442310" y="1550207"/>
                  </a:lnTo>
                  <a:lnTo>
                    <a:pt x="0" y="1550207"/>
                  </a:lnTo>
                  <a:lnTo>
                    <a:pt x="0" y="0"/>
                  </a:lnTo>
                  <a:close/>
                </a:path>
              </a:pathLst>
            </a:custGeom>
            <a:ln w="28575">
              <a:solidFill>
                <a:schemeClr val="tx1"/>
              </a:solidFill>
            </a:ln>
          </p:spPr>
          <p:style>
            <a:lnRef idx="2">
              <a:schemeClr val="dk1"/>
            </a:lnRef>
            <a:fillRef idx="1">
              <a:schemeClr val="lt1"/>
            </a:fillRef>
            <a:effectRef idx="0">
              <a:schemeClr val="dk1"/>
            </a:effectRef>
            <a:fontRef idx="minor">
              <a:schemeClr val="dk1"/>
            </a:fontRef>
          </p:style>
          <p:txBody>
            <a:bodyPr wrap="square" lIns="0" tIns="0" rIns="0" bIns="0" rtlCol="0"/>
            <a:lstStyle/>
            <a:p>
              <a:endParaRPr sz="1100" b="1">
                <a:solidFill>
                  <a:schemeClr val="tx1"/>
                </a:solidFill>
              </a:endParaRPr>
            </a:p>
          </p:txBody>
        </p:sp>
        <p:sp>
          <p:nvSpPr>
            <p:cNvPr id="8" name="object 8"/>
            <p:cNvSpPr txBox="1"/>
            <p:nvPr/>
          </p:nvSpPr>
          <p:spPr>
            <a:xfrm>
              <a:off x="703447" y="3240904"/>
              <a:ext cx="1066165" cy="502230"/>
            </a:xfrm>
            <a:prstGeom prst="rect">
              <a:avLst/>
            </a:prstGeom>
            <a:ln w="28575">
              <a:solidFill>
                <a:schemeClr val="tx1"/>
              </a:solidFill>
            </a:ln>
          </p:spPr>
          <p:style>
            <a:lnRef idx="2">
              <a:schemeClr val="dk1"/>
            </a:lnRef>
            <a:fillRef idx="1">
              <a:schemeClr val="lt1"/>
            </a:fillRef>
            <a:effectRef idx="0">
              <a:schemeClr val="dk1"/>
            </a:effectRef>
            <a:fontRef idx="minor">
              <a:schemeClr val="dk1"/>
            </a:fontRef>
          </p:style>
          <p:txBody>
            <a:bodyPr vert="horz" wrap="square" lIns="0" tIns="25773" rIns="0" bIns="0" rtlCol="0">
              <a:spAutoFit/>
            </a:bodyPr>
            <a:lstStyle/>
            <a:p>
              <a:pPr>
                <a:spcBef>
                  <a:spcPts val="202"/>
                </a:spcBef>
              </a:pPr>
              <a:endParaRPr sz="1100" b="1" dirty="0">
                <a:solidFill>
                  <a:schemeClr val="tx1"/>
                </a:solidFill>
                <a:latin typeface="Times New Roman"/>
                <a:cs typeface="Times New Roman"/>
              </a:endParaRPr>
            </a:p>
            <a:p>
              <a:pPr marL="163615" marR="146245" indent="-10086" algn="just"/>
              <a:r>
                <a:rPr sz="1100" b="1" dirty="0">
                  <a:solidFill>
                    <a:schemeClr val="tx1"/>
                  </a:solidFill>
                  <a:latin typeface="Calibri"/>
                  <a:cs typeface="Calibri"/>
                </a:rPr>
                <a:t>Definiendo</a:t>
              </a:r>
              <a:r>
                <a:rPr sz="1100" b="1" spc="141" dirty="0">
                  <a:solidFill>
                    <a:schemeClr val="tx1"/>
                  </a:solidFill>
                  <a:latin typeface="Calibri"/>
                  <a:cs typeface="Calibri"/>
                </a:rPr>
                <a:t> </a:t>
              </a:r>
              <a:r>
                <a:rPr sz="1100" b="1" spc="-22" dirty="0">
                  <a:solidFill>
                    <a:schemeClr val="tx1"/>
                  </a:solidFill>
                  <a:latin typeface="Calibri"/>
                  <a:cs typeface="Calibri"/>
                </a:rPr>
                <a:t>el</a:t>
              </a:r>
              <a:r>
                <a:rPr sz="1100" b="1" dirty="0">
                  <a:solidFill>
                    <a:schemeClr val="tx1"/>
                  </a:solidFill>
                  <a:latin typeface="Calibri"/>
                  <a:cs typeface="Calibri"/>
                </a:rPr>
                <a:t> problema</a:t>
              </a:r>
              <a:r>
                <a:rPr sz="1100" b="1" spc="88" dirty="0">
                  <a:solidFill>
                    <a:schemeClr val="tx1"/>
                  </a:solidFill>
                  <a:latin typeface="Calibri"/>
                  <a:cs typeface="Calibri"/>
                </a:rPr>
                <a:t> </a:t>
              </a:r>
              <a:r>
                <a:rPr sz="1100" b="1" spc="-22" dirty="0">
                  <a:solidFill>
                    <a:schemeClr val="tx1"/>
                  </a:solidFill>
                  <a:latin typeface="Calibri"/>
                  <a:cs typeface="Calibri"/>
                </a:rPr>
                <a:t>de</a:t>
              </a:r>
              <a:r>
                <a:rPr sz="1100" b="1" spc="-9" dirty="0">
                  <a:solidFill>
                    <a:schemeClr val="tx1"/>
                  </a:solidFill>
                  <a:latin typeface="Calibri"/>
                  <a:cs typeface="Calibri"/>
                </a:rPr>
                <a:t> investigación</a:t>
              </a:r>
              <a:endParaRPr sz="1100" b="1" dirty="0">
                <a:solidFill>
                  <a:schemeClr val="tx1"/>
                </a:solidFill>
                <a:latin typeface="Calibri"/>
                <a:cs typeface="Calibri"/>
              </a:endParaRPr>
            </a:p>
          </p:txBody>
        </p:sp>
        <p:sp>
          <p:nvSpPr>
            <p:cNvPr id="9" name="object 9"/>
            <p:cNvSpPr txBox="1"/>
            <p:nvPr/>
          </p:nvSpPr>
          <p:spPr>
            <a:xfrm>
              <a:off x="2144580" y="3736091"/>
              <a:ext cx="1068070" cy="488555"/>
            </a:xfrm>
            <a:prstGeom prst="rect">
              <a:avLst/>
            </a:prstGeom>
            <a:ln w="28575">
              <a:noFill/>
            </a:ln>
          </p:spPr>
          <p:style>
            <a:lnRef idx="2">
              <a:schemeClr val="accent2"/>
            </a:lnRef>
            <a:fillRef idx="1">
              <a:schemeClr val="lt1"/>
            </a:fillRef>
            <a:effectRef idx="0">
              <a:schemeClr val="accent2"/>
            </a:effectRef>
            <a:fontRef idx="minor">
              <a:schemeClr val="dk1"/>
            </a:fontRef>
          </p:style>
          <p:txBody>
            <a:bodyPr vert="horz" wrap="square" lIns="0" tIns="40340" rIns="0" bIns="0" rtlCol="0">
              <a:spAutoFit/>
            </a:bodyPr>
            <a:lstStyle/>
            <a:p>
              <a:pPr marL="111504" marR="106462" indent="-560" algn="ctr">
                <a:lnSpc>
                  <a:spcPct val="94700"/>
                </a:lnSpc>
                <a:spcBef>
                  <a:spcPts val="317"/>
                </a:spcBef>
              </a:pPr>
              <a:r>
                <a:rPr sz="1100" b="1" dirty="0">
                  <a:solidFill>
                    <a:schemeClr val="tx1"/>
                  </a:solidFill>
                  <a:latin typeface="Calibri"/>
                  <a:cs typeface="Calibri"/>
                </a:rPr>
                <a:t>Revision</a:t>
              </a:r>
              <a:r>
                <a:rPr sz="1100" b="1" spc="101" dirty="0">
                  <a:solidFill>
                    <a:schemeClr val="tx1"/>
                  </a:solidFill>
                  <a:latin typeface="Calibri"/>
                  <a:cs typeface="Calibri"/>
                </a:rPr>
                <a:t> </a:t>
              </a:r>
              <a:r>
                <a:rPr sz="1100" b="1" spc="-22" dirty="0">
                  <a:solidFill>
                    <a:schemeClr val="tx1"/>
                  </a:solidFill>
                  <a:latin typeface="Calibri"/>
                  <a:cs typeface="Calibri"/>
                </a:rPr>
                <a:t>de</a:t>
              </a:r>
              <a:r>
                <a:rPr sz="1100" b="1" spc="-9" dirty="0">
                  <a:solidFill>
                    <a:schemeClr val="tx1"/>
                  </a:solidFill>
                  <a:latin typeface="Calibri"/>
                  <a:cs typeface="Calibri"/>
                </a:rPr>
                <a:t> investigaciones </a:t>
              </a:r>
              <a:r>
                <a:rPr sz="1100" b="1" dirty="0">
                  <a:solidFill>
                    <a:schemeClr val="tx1"/>
                  </a:solidFill>
                  <a:latin typeface="Calibri"/>
                  <a:cs typeface="Calibri"/>
                </a:rPr>
                <a:t>previas</a:t>
              </a:r>
              <a:r>
                <a:rPr sz="1100" b="1" spc="75" dirty="0">
                  <a:solidFill>
                    <a:schemeClr val="tx1"/>
                  </a:solidFill>
                  <a:latin typeface="Calibri"/>
                  <a:cs typeface="Calibri"/>
                </a:rPr>
                <a:t> </a:t>
              </a:r>
              <a:r>
                <a:rPr sz="1100" b="1" spc="-44" dirty="0">
                  <a:solidFill>
                    <a:schemeClr val="tx1"/>
                  </a:solidFill>
                  <a:latin typeface="Calibri"/>
                  <a:cs typeface="Calibri"/>
                </a:rPr>
                <a:t>y</a:t>
              </a:r>
              <a:r>
                <a:rPr sz="1100" b="1" spc="-9" dirty="0">
                  <a:solidFill>
                    <a:schemeClr val="tx1"/>
                  </a:solidFill>
                  <a:latin typeface="Calibri"/>
                  <a:cs typeface="Calibri"/>
                </a:rPr>
                <a:t> hallazgos</a:t>
              </a:r>
              <a:endParaRPr sz="1100" b="1" dirty="0">
                <a:solidFill>
                  <a:schemeClr val="tx1"/>
                </a:solidFill>
                <a:latin typeface="Calibri"/>
                <a:cs typeface="Calibri"/>
              </a:endParaRPr>
            </a:p>
          </p:txBody>
        </p:sp>
        <p:sp>
          <p:nvSpPr>
            <p:cNvPr id="10" name="object 10"/>
            <p:cNvSpPr txBox="1"/>
            <p:nvPr/>
          </p:nvSpPr>
          <p:spPr>
            <a:xfrm>
              <a:off x="2135257" y="2932679"/>
              <a:ext cx="1068070" cy="415266"/>
            </a:xfrm>
            <a:prstGeom prst="rect">
              <a:avLst/>
            </a:prstGeom>
            <a:ln w="28575">
              <a:noFill/>
            </a:ln>
          </p:spPr>
          <p:style>
            <a:lnRef idx="2">
              <a:schemeClr val="accent2"/>
            </a:lnRef>
            <a:fillRef idx="1">
              <a:schemeClr val="lt1"/>
            </a:fillRef>
            <a:effectRef idx="0">
              <a:schemeClr val="accent2"/>
            </a:effectRef>
            <a:fontRef idx="minor">
              <a:schemeClr val="dk1"/>
            </a:fontRef>
          </p:style>
          <p:txBody>
            <a:bodyPr vert="horz" wrap="square" lIns="0" tIns="72838" rIns="0" bIns="0" rtlCol="0">
              <a:spAutoFit/>
            </a:bodyPr>
            <a:lstStyle/>
            <a:p>
              <a:pPr marL="121030" marR="116547" algn="ctr">
                <a:spcBef>
                  <a:spcPts val="574"/>
                </a:spcBef>
              </a:pPr>
              <a:r>
                <a:rPr sz="1100" b="1" dirty="0">
                  <a:solidFill>
                    <a:schemeClr val="tx1"/>
                  </a:solidFill>
                  <a:latin typeface="Calibri"/>
                  <a:cs typeface="Calibri"/>
                </a:rPr>
                <a:t>Revision</a:t>
              </a:r>
              <a:r>
                <a:rPr sz="1100" b="1" spc="62" dirty="0">
                  <a:solidFill>
                    <a:schemeClr val="tx1"/>
                  </a:solidFill>
                  <a:latin typeface="Calibri"/>
                  <a:cs typeface="Calibri"/>
                </a:rPr>
                <a:t> </a:t>
              </a:r>
              <a:r>
                <a:rPr sz="1100" b="1" dirty="0">
                  <a:solidFill>
                    <a:schemeClr val="tx1"/>
                  </a:solidFill>
                  <a:latin typeface="Calibri"/>
                  <a:cs typeface="Calibri"/>
                </a:rPr>
                <a:t>de</a:t>
              </a:r>
              <a:r>
                <a:rPr sz="1100" b="1" spc="66" dirty="0">
                  <a:solidFill>
                    <a:schemeClr val="tx1"/>
                  </a:solidFill>
                  <a:latin typeface="Calibri"/>
                  <a:cs typeface="Calibri"/>
                </a:rPr>
                <a:t> </a:t>
              </a:r>
              <a:r>
                <a:rPr sz="1100" b="1" spc="-22" dirty="0">
                  <a:solidFill>
                    <a:schemeClr val="tx1"/>
                  </a:solidFill>
                  <a:latin typeface="Calibri"/>
                  <a:cs typeface="Calibri"/>
                </a:rPr>
                <a:t>los</a:t>
              </a:r>
              <a:r>
                <a:rPr sz="1100" b="1" dirty="0">
                  <a:solidFill>
                    <a:schemeClr val="tx1"/>
                  </a:solidFill>
                  <a:latin typeface="Calibri"/>
                  <a:cs typeface="Calibri"/>
                </a:rPr>
                <a:t> conceptos</a:t>
              </a:r>
              <a:r>
                <a:rPr sz="1100" b="1" spc="88" dirty="0">
                  <a:solidFill>
                    <a:schemeClr val="tx1"/>
                  </a:solidFill>
                  <a:latin typeface="Calibri"/>
                  <a:cs typeface="Calibri"/>
                </a:rPr>
                <a:t> </a:t>
              </a:r>
              <a:r>
                <a:rPr sz="1100" b="1" spc="-44" dirty="0">
                  <a:solidFill>
                    <a:schemeClr val="tx1"/>
                  </a:solidFill>
                  <a:latin typeface="Calibri"/>
                  <a:cs typeface="Calibri"/>
                </a:rPr>
                <a:t>y</a:t>
              </a:r>
              <a:r>
                <a:rPr sz="1100" b="1" spc="-9" dirty="0">
                  <a:solidFill>
                    <a:schemeClr val="tx1"/>
                  </a:solidFill>
                  <a:latin typeface="Calibri"/>
                  <a:cs typeface="Calibri"/>
                </a:rPr>
                <a:t> teorias</a:t>
              </a:r>
              <a:endParaRPr sz="1100" b="1" dirty="0">
                <a:solidFill>
                  <a:schemeClr val="tx1"/>
                </a:solidFill>
                <a:latin typeface="Calibri"/>
                <a:cs typeface="Calibri"/>
              </a:endParaRPr>
            </a:p>
          </p:txBody>
        </p:sp>
        <p:sp>
          <p:nvSpPr>
            <p:cNvPr id="11" name="object 11"/>
            <p:cNvSpPr txBox="1"/>
            <p:nvPr/>
          </p:nvSpPr>
          <p:spPr>
            <a:xfrm>
              <a:off x="1888865" y="2616759"/>
              <a:ext cx="1486504" cy="127315"/>
            </a:xfrm>
            <a:prstGeom prst="rect">
              <a:avLst/>
            </a:prstGeom>
            <a:ln w="28575">
              <a:noFill/>
            </a:ln>
          </p:spPr>
          <p:style>
            <a:lnRef idx="2">
              <a:schemeClr val="accent2"/>
            </a:lnRef>
            <a:fillRef idx="1">
              <a:schemeClr val="lt1"/>
            </a:fillRef>
            <a:effectRef idx="0">
              <a:schemeClr val="accent2"/>
            </a:effectRef>
            <a:fontRef idx="minor">
              <a:schemeClr val="dk1"/>
            </a:fontRef>
          </p:style>
          <p:txBody>
            <a:bodyPr vert="horz" wrap="square" lIns="0" tIns="10085" rIns="0" bIns="0" rtlCol="0">
              <a:spAutoFit/>
            </a:bodyPr>
            <a:lstStyle/>
            <a:p>
              <a:pPr marL="11206" marR="4483">
                <a:lnSpc>
                  <a:spcPct val="102600"/>
                </a:lnSpc>
                <a:spcBef>
                  <a:spcPts val="79"/>
                </a:spcBef>
              </a:pPr>
              <a:r>
                <a:rPr sz="1100" b="1" dirty="0">
                  <a:solidFill>
                    <a:schemeClr val="tx1"/>
                  </a:solidFill>
                  <a:latin typeface="Calibri Light"/>
                  <a:cs typeface="Calibri Light"/>
                </a:rPr>
                <a:t>Revision</a:t>
              </a:r>
              <a:r>
                <a:rPr sz="1100" b="1" spc="53" dirty="0">
                  <a:solidFill>
                    <a:schemeClr val="tx1"/>
                  </a:solidFill>
                  <a:latin typeface="Calibri Light"/>
                  <a:cs typeface="Calibri Light"/>
                </a:rPr>
                <a:t> </a:t>
              </a:r>
              <a:r>
                <a:rPr sz="1100" b="1" dirty="0">
                  <a:solidFill>
                    <a:schemeClr val="tx1"/>
                  </a:solidFill>
                  <a:latin typeface="Calibri Light"/>
                  <a:cs typeface="Calibri Light"/>
                </a:rPr>
                <a:t>de</a:t>
              </a:r>
              <a:r>
                <a:rPr sz="1100" b="1" spc="49" dirty="0">
                  <a:solidFill>
                    <a:schemeClr val="tx1"/>
                  </a:solidFill>
                  <a:latin typeface="Calibri Light"/>
                  <a:cs typeface="Calibri Light"/>
                </a:rPr>
                <a:t> </a:t>
              </a:r>
              <a:r>
                <a:rPr sz="1100" b="1" spc="-22" dirty="0">
                  <a:solidFill>
                    <a:schemeClr val="tx1"/>
                  </a:solidFill>
                  <a:latin typeface="Calibri Light"/>
                  <a:cs typeface="Calibri Light"/>
                </a:rPr>
                <a:t>la </a:t>
              </a:r>
              <a:r>
                <a:rPr sz="1100" b="1" spc="-9" dirty="0">
                  <a:solidFill>
                    <a:schemeClr val="tx1"/>
                  </a:solidFill>
                  <a:latin typeface="Calibri Light"/>
                  <a:cs typeface="Calibri Light"/>
                </a:rPr>
                <a:t>literatura</a:t>
              </a:r>
              <a:endParaRPr sz="1100" b="1" dirty="0">
                <a:solidFill>
                  <a:schemeClr val="tx1"/>
                </a:solidFill>
                <a:latin typeface="Calibri Light"/>
                <a:cs typeface="Calibri Light"/>
              </a:endParaRPr>
            </a:p>
          </p:txBody>
        </p:sp>
        <p:sp>
          <p:nvSpPr>
            <p:cNvPr id="13" name="object 13"/>
            <p:cNvSpPr/>
            <p:nvPr/>
          </p:nvSpPr>
          <p:spPr>
            <a:xfrm>
              <a:off x="3473860" y="3180782"/>
              <a:ext cx="1014094" cy="854710"/>
            </a:xfrm>
            <a:custGeom>
              <a:avLst/>
              <a:gdLst/>
              <a:ahLst/>
              <a:cxnLst/>
              <a:rect l="l" t="t" r="r" b="b"/>
              <a:pathLst>
                <a:path w="1014095" h="854710">
                  <a:moveTo>
                    <a:pt x="1013738" y="0"/>
                  </a:moveTo>
                  <a:lnTo>
                    <a:pt x="0" y="0"/>
                  </a:lnTo>
                  <a:lnTo>
                    <a:pt x="0" y="854678"/>
                  </a:lnTo>
                  <a:lnTo>
                    <a:pt x="1013738" y="854678"/>
                  </a:lnTo>
                  <a:lnTo>
                    <a:pt x="1013738" y="0"/>
                  </a:lnTo>
                  <a:close/>
                </a:path>
              </a:pathLst>
            </a:custGeom>
            <a:ln w="28575">
              <a:solidFill>
                <a:schemeClr val="tx1"/>
              </a:solidFill>
            </a:ln>
          </p:spPr>
          <p:style>
            <a:lnRef idx="2">
              <a:schemeClr val="accent2"/>
            </a:lnRef>
            <a:fillRef idx="1">
              <a:schemeClr val="lt1"/>
            </a:fillRef>
            <a:effectRef idx="0">
              <a:schemeClr val="accent2"/>
            </a:effectRef>
            <a:fontRef idx="minor">
              <a:schemeClr val="dk1"/>
            </a:fontRef>
          </p:style>
          <p:txBody>
            <a:bodyPr wrap="square" lIns="0" tIns="0" rIns="0" bIns="0" rtlCol="0"/>
            <a:lstStyle/>
            <a:p>
              <a:endParaRPr sz="1100" b="1">
                <a:solidFill>
                  <a:schemeClr val="tx1"/>
                </a:solidFill>
              </a:endParaRPr>
            </a:p>
          </p:txBody>
        </p:sp>
        <p:sp>
          <p:nvSpPr>
            <p:cNvPr id="14" name="object 14"/>
            <p:cNvSpPr/>
            <p:nvPr/>
          </p:nvSpPr>
          <p:spPr>
            <a:xfrm>
              <a:off x="3473860" y="3180782"/>
              <a:ext cx="1014094" cy="854710"/>
            </a:xfrm>
            <a:custGeom>
              <a:avLst/>
              <a:gdLst/>
              <a:ahLst/>
              <a:cxnLst/>
              <a:rect l="l" t="t" r="r" b="b"/>
              <a:pathLst>
                <a:path w="1014095" h="854710">
                  <a:moveTo>
                    <a:pt x="0" y="0"/>
                  </a:moveTo>
                  <a:lnTo>
                    <a:pt x="1013737" y="0"/>
                  </a:lnTo>
                  <a:lnTo>
                    <a:pt x="1013737" y="854677"/>
                  </a:lnTo>
                  <a:lnTo>
                    <a:pt x="0" y="854677"/>
                  </a:lnTo>
                  <a:lnTo>
                    <a:pt x="0" y="0"/>
                  </a:lnTo>
                  <a:close/>
                </a:path>
              </a:pathLst>
            </a:custGeom>
            <a:ln w="28575">
              <a:solidFill>
                <a:schemeClr val="tx1"/>
              </a:solidFill>
            </a:ln>
          </p:spPr>
          <p:style>
            <a:lnRef idx="2">
              <a:schemeClr val="dk1"/>
            </a:lnRef>
            <a:fillRef idx="1">
              <a:schemeClr val="lt1"/>
            </a:fillRef>
            <a:effectRef idx="0">
              <a:schemeClr val="dk1"/>
            </a:effectRef>
            <a:fontRef idx="minor">
              <a:schemeClr val="dk1"/>
            </a:fontRef>
          </p:style>
          <p:txBody>
            <a:bodyPr wrap="square" lIns="0" tIns="0" rIns="0" bIns="0" rtlCol="0"/>
            <a:lstStyle/>
            <a:p>
              <a:endParaRPr sz="1100" b="1">
                <a:solidFill>
                  <a:schemeClr val="tx1"/>
                </a:solidFill>
              </a:endParaRPr>
            </a:p>
          </p:txBody>
        </p:sp>
        <p:sp>
          <p:nvSpPr>
            <p:cNvPr id="15" name="object 15"/>
            <p:cNvSpPr txBox="1"/>
            <p:nvPr/>
          </p:nvSpPr>
          <p:spPr>
            <a:xfrm>
              <a:off x="3552125" y="3440018"/>
              <a:ext cx="857885" cy="249903"/>
            </a:xfrm>
            <a:prstGeom prst="rect">
              <a:avLst/>
            </a:prstGeom>
            <a:ln w="28575">
              <a:noFill/>
            </a:ln>
          </p:spPr>
          <p:style>
            <a:lnRef idx="2">
              <a:schemeClr val="accent2"/>
            </a:lnRef>
            <a:fillRef idx="1">
              <a:schemeClr val="lt1"/>
            </a:fillRef>
            <a:effectRef idx="0">
              <a:schemeClr val="accent2"/>
            </a:effectRef>
            <a:fontRef idx="minor">
              <a:schemeClr val="dk1"/>
            </a:fontRef>
          </p:style>
          <p:txBody>
            <a:bodyPr vert="horz" wrap="square" lIns="0" tIns="11206" rIns="0" bIns="0" rtlCol="0">
              <a:spAutoFit/>
            </a:bodyPr>
            <a:lstStyle/>
            <a:p>
              <a:pPr marL="165296" marR="4483" indent="-154649">
                <a:spcBef>
                  <a:spcPts val="88"/>
                </a:spcBef>
              </a:pPr>
              <a:r>
                <a:rPr sz="1100" b="1" dirty="0">
                  <a:solidFill>
                    <a:schemeClr val="tx1"/>
                  </a:solidFill>
                  <a:latin typeface="Calibri"/>
                  <a:cs typeface="Calibri"/>
                </a:rPr>
                <a:t>Formulación</a:t>
              </a:r>
              <a:r>
                <a:rPr sz="1100" b="1" spc="115" dirty="0">
                  <a:solidFill>
                    <a:schemeClr val="tx1"/>
                  </a:solidFill>
                  <a:latin typeface="Calibri"/>
                  <a:cs typeface="Calibri"/>
                </a:rPr>
                <a:t> </a:t>
              </a:r>
              <a:r>
                <a:rPr sz="1100" b="1" spc="-22" dirty="0">
                  <a:solidFill>
                    <a:schemeClr val="tx1"/>
                  </a:solidFill>
                  <a:latin typeface="Calibri"/>
                  <a:cs typeface="Calibri"/>
                </a:rPr>
                <a:t>de</a:t>
              </a:r>
              <a:r>
                <a:rPr sz="1100" b="1" spc="-9" dirty="0">
                  <a:solidFill>
                    <a:schemeClr val="tx1"/>
                  </a:solidFill>
                  <a:latin typeface="Calibri"/>
                  <a:cs typeface="Calibri"/>
                </a:rPr>
                <a:t> hipótesis</a:t>
              </a:r>
              <a:endParaRPr sz="1100" b="1" dirty="0">
                <a:solidFill>
                  <a:schemeClr val="tx1"/>
                </a:solidFill>
                <a:latin typeface="Calibri"/>
                <a:cs typeface="Calibri"/>
              </a:endParaRPr>
            </a:p>
          </p:txBody>
        </p:sp>
        <p:pic>
          <p:nvPicPr>
            <p:cNvPr id="17" name="object 17"/>
            <p:cNvPicPr/>
            <p:nvPr/>
          </p:nvPicPr>
          <p:blipFill>
            <a:blip r:embed="rId2" cstate="print"/>
            <a:stretch>
              <a:fillRect/>
            </a:stretch>
          </p:blipFill>
          <p:spPr>
            <a:xfrm>
              <a:off x="3328338" y="3546962"/>
              <a:ext cx="213810" cy="84772"/>
            </a:xfrm>
            <a:prstGeom prst="rect">
              <a:avLst/>
            </a:prstGeom>
            <a:ln w="28575">
              <a:noFill/>
            </a:ln>
          </p:spPr>
          <p:style>
            <a:lnRef idx="2">
              <a:schemeClr val="accent2"/>
            </a:lnRef>
            <a:fillRef idx="1">
              <a:schemeClr val="lt1"/>
            </a:fillRef>
            <a:effectRef idx="0">
              <a:schemeClr val="accent2"/>
            </a:effectRef>
            <a:fontRef idx="minor">
              <a:schemeClr val="dk1"/>
            </a:fontRef>
          </p:style>
        </p:pic>
        <p:sp>
          <p:nvSpPr>
            <p:cNvPr id="18" name="object 18"/>
            <p:cNvSpPr/>
            <p:nvPr/>
          </p:nvSpPr>
          <p:spPr>
            <a:xfrm>
              <a:off x="4618289" y="3180782"/>
              <a:ext cx="1121410" cy="854710"/>
            </a:xfrm>
            <a:custGeom>
              <a:avLst/>
              <a:gdLst/>
              <a:ahLst/>
              <a:cxnLst/>
              <a:rect l="l" t="t" r="r" b="b"/>
              <a:pathLst>
                <a:path w="1121410" h="854710">
                  <a:moveTo>
                    <a:pt x="1120881" y="0"/>
                  </a:moveTo>
                  <a:lnTo>
                    <a:pt x="0" y="0"/>
                  </a:lnTo>
                  <a:lnTo>
                    <a:pt x="0" y="854678"/>
                  </a:lnTo>
                  <a:lnTo>
                    <a:pt x="1120881" y="854678"/>
                  </a:lnTo>
                  <a:lnTo>
                    <a:pt x="1120881" y="0"/>
                  </a:lnTo>
                  <a:close/>
                </a:path>
              </a:pathLst>
            </a:custGeom>
            <a:ln w="28575">
              <a:solidFill>
                <a:schemeClr val="tx1"/>
              </a:solidFill>
            </a:ln>
          </p:spPr>
          <p:style>
            <a:lnRef idx="2">
              <a:schemeClr val="accent2"/>
            </a:lnRef>
            <a:fillRef idx="1">
              <a:schemeClr val="lt1"/>
            </a:fillRef>
            <a:effectRef idx="0">
              <a:schemeClr val="accent2"/>
            </a:effectRef>
            <a:fontRef idx="minor">
              <a:schemeClr val="dk1"/>
            </a:fontRef>
          </p:style>
          <p:txBody>
            <a:bodyPr wrap="square" lIns="0" tIns="0" rIns="0" bIns="0" rtlCol="0"/>
            <a:lstStyle/>
            <a:p>
              <a:endParaRPr sz="1100" b="1">
                <a:solidFill>
                  <a:schemeClr val="tx1"/>
                </a:solidFill>
              </a:endParaRPr>
            </a:p>
          </p:txBody>
        </p:sp>
        <p:sp>
          <p:nvSpPr>
            <p:cNvPr id="19" name="object 19"/>
            <p:cNvSpPr/>
            <p:nvPr/>
          </p:nvSpPr>
          <p:spPr>
            <a:xfrm>
              <a:off x="4618289" y="3180782"/>
              <a:ext cx="1121410" cy="854710"/>
            </a:xfrm>
            <a:custGeom>
              <a:avLst/>
              <a:gdLst/>
              <a:ahLst/>
              <a:cxnLst/>
              <a:rect l="l" t="t" r="r" b="b"/>
              <a:pathLst>
                <a:path w="1121410" h="854710">
                  <a:moveTo>
                    <a:pt x="0" y="0"/>
                  </a:moveTo>
                  <a:lnTo>
                    <a:pt x="1120880" y="0"/>
                  </a:lnTo>
                  <a:lnTo>
                    <a:pt x="1120880" y="854677"/>
                  </a:lnTo>
                  <a:lnTo>
                    <a:pt x="0" y="854677"/>
                  </a:lnTo>
                  <a:lnTo>
                    <a:pt x="0" y="0"/>
                  </a:lnTo>
                  <a:close/>
                </a:path>
              </a:pathLst>
            </a:custGeom>
            <a:ln w="28575">
              <a:solidFill>
                <a:schemeClr val="tx1"/>
              </a:solidFill>
            </a:ln>
          </p:spPr>
          <p:style>
            <a:lnRef idx="2">
              <a:schemeClr val="dk1"/>
            </a:lnRef>
            <a:fillRef idx="1">
              <a:schemeClr val="lt1"/>
            </a:fillRef>
            <a:effectRef idx="0">
              <a:schemeClr val="dk1"/>
            </a:effectRef>
            <a:fontRef idx="minor">
              <a:schemeClr val="dk1"/>
            </a:fontRef>
          </p:style>
          <p:txBody>
            <a:bodyPr wrap="square" lIns="0" tIns="0" rIns="0" bIns="0" rtlCol="0"/>
            <a:lstStyle/>
            <a:p>
              <a:endParaRPr sz="1100" b="1">
                <a:solidFill>
                  <a:schemeClr val="tx1"/>
                </a:solidFill>
              </a:endParaRPr>
            </a:p>
          </p:txBody>
        </p:sp>
        <p:sp>
          <p:nvSpPr>
            <p:cNvPr id="20" name="object 20"/>
            <p:cNvSpPr txBox="1"/>
            <p:nvPr/>
          </p:nvSpPr>
          <p:spPr>
            <a:xfrm>
              <a:off x="4700368" y="3281522"/>
              <a:ext cx="957581" cy="498475"/>
            </a:xfrm>
            <a:prstGeom prst="rect">
              <a:avLst/>
            </a:prstGeom>
            <a:ln w="28575">
              <a:noFill/>
            </a:ln>
          </p:spPr>
          <p:style>
            <a:lnRef idx="2">
              <a:schemeClr val="accent2"/>
            </a:lnRef>
            <a:fillRef idx="1">
              <a:schemeClr val="lt1"/>
            </a:fillRef>
            <a:effectRef idx="0">
              <a:schemeClr val="accent2"/>
            </a:effectRef>
            <a:fontRef idx="minor">
              <a:schemeClr val="dk1"/>
            </a:fontRef>
          </p:style>
          <p:txBody>
            <a:bodyPr vert="horz" wrap="square" lIns="0" tIns="6724" rIns="0" bIns="0" rtlCol="0">
              <a:spAutoFit/>
            </a:bodyPr>
            <a:lstStyle/>
            <a:p>
              <a:pPr marL="11206" marR="4483" indent="-560" algn="ctr">
                <a:lnSpc>
                  <a:spcPct val="103299"/>
                </a:lnSpc>
                <a:spcBef>
                  <a:spcPts val="53"/>
                </a:spcBef>
              </a:pPr>
              <a:r>
                <a:rPr sz="1100" b="1" dirty="0">
                  <a:solidFill>
                    <a:schemeClr val="tx1"/>
                  </a:solidFill>
                  <a:latin typeface="Calibri"/>
                  <a:cs typeface="Calibri"/>
                </a:rPr>
                <a:t>Diseño</a:t>
              </a:r>
              <a:r>
                <a:rPr sz="1100" b="1" spc="93" dirty="0">
                  <a:solidFill>
                    <a:schemeClr val="tx1"/>
                  </a:solidFill>
                  <a:latin typeface="Calibri"/>
                  <a:cs typeface="Calibri"/>
                </a:rPr>
                <a:t> </a:t>
              </a:r>
              <a:r>
                <a:rPr sz="1100" b="1" spc="-22" dirty="0">
                  <a:solidFill>
                    <a:schemeClr val="tx1"/>
                  </a:solidFill>
                  <a:latin typeface="Calibri"/>
                  <a:cs typeface="Calibri"/>
                </a:rPr>
                <a:t>de</a:t>
              </a:r>
              <a:r>
                <a:rPr sz="1100" b="1" spc="-9" dirty="0">
                  <a:solidFill>
                    <a:schemeClr val="tx1"/>
                  </a:solidFill>
                  <a:latin typeface="Calibri"/>
                  <a:cs typeface="Calibri"/>
                </a:rPr>
                <a:t> investigación </a:t>
              </a:r>
              <a:r>
                <a:rPr sz="1100" b="1" dirty="0">
                  <a:solidFill>
                    <a:schemeClr val="tx1"/>
                  </a:solidFill>
                  <a:latin typeface="Calibri"/>
                  <a:cs typeface="Calibri"/>
                </a:rPr>
                <a:t>(inlcuye</a:t>
              </a:r>
              <a:r>
                <a:rPr sz="1100" b="1" spc="66" dirty="0">
                  <a:solidFill>
                    <a:schemeClr val="tx1"/>
                  </a:solidFill>
                  <a:latin typeface="Calibri"/>
                  <a:cs typeface="Calibri"/>
                </a:rPr>
                <a:t> </a:t>
              </a:r>
              <a:r>
                <a:rPr sz="1100" b="1" dirty="0">
                  <a:solidFill>
                    <a:schemeClr val="tx1"/>
                  </a:solidFill>
                  <a:latin typeface="Calibri"/>
                  <a:cs typeface="Calibri"/>
                </a:rPr>
                <a:t>el</a:t>
              </a:r>
              <a:r>
                <a:rPr sz="1100" b="1" spc="53" dirty="0">
                  <a:solidFill>
                    <a:schemeClr val="tx1"/>
                  </a:solidFill>
                  <a:latin typeface="Calibri"/>
                  <a:cs typeface="Calibri"/>
                </a:rPr>
                <a:t> </a:t>
              </a:r>
              <a:r>
                <a:rPr sz="1100" b="1" spc="-9" dirty="0">
                  <a:solidFill>
                    <a:schemeClr val="tx1"/>
                  </a:solidFill>
                  <a:latin typeface="Calibri"/>
                  <a:cs typeface="Calibri"/>
                </a:rPr>
                <a:t>diseño </a:t>
              </a:r>
              <a:r>
                <a:rPr sz="1100" b="1" dirty="0">
                  <a:solidFill>
                    <a:schemeClr val="tx1"/>
                  </a:solidFill>
                  <a:latin typeface="Calibri"/>
                  <a:cs typeface="Calibri"/>
                </a:rPr>
                <a:t>de</a:t>
              </a:r>
              <a:r>
                <a:rPr sz="1100" b="1" spc="31" dirty="0">
                  <a:solidFill>
                    <a:schemeClr val="tx1"/>
                  </a:solidFill>
                  <a:latin typeface="Calibri"/>
                  <a:cs typeface="Calibri"/>
                </a:rPr>
                <a:t> </a:t>
              </a:r>
              <a:r>
                <a:rPr sz="1100" b="1" dirty="0">
                  <a:solidFill>
                    <a:schemeClr val="tx1"/>
                  </a:solidFill>
                  <a:latin typeface="Calibri"/>
                  <a:cs typeface="Calibri"/>
                </a:rPr>
                <a:t>la</a:t>
              </a:r>
              <a:r>
                <a:rPr sz="1100" b="1" spc="31" dirty="0">
                  <a:solidFill>
                    <a:schemeClr val="tx1"/>
                  </a:solidFill>
                  <a:latin typeface="Calibri"/>
                  <a:cs typeface="Calibri"/>
                </a:rPr>
                <a:t> </a:t>
              </a:r>
              <a:r>
                <a:rPr sz="1100" b="1" spc="-9" dirty="0">
                  <a:solidFill>
                    <a:schemeClr val="tx1"/>
                  </a:solidFill>
                  <a:latin typeface="Calibri"/>
                  <a:cs typeface="Calibri"/>
                </a:rPr>
                <a:t>muestra)</a:t>
              </a:r>
              <a:endParaRPr sz="1100" b="1" dirty="0">
                <a:solidFill>
                  <a:schemeClr val="tx1"/>
                </a:solidFill>
                <a:latin typeface="Calibri"/>
                <a:cs typeface="Calibri"/>
              </a:endParaRPr>
            </a:p>
          </p:txBody>
        </p:sp>
        <p:pic>
          <p:nvPicPr>
            <p:cNvPr id="22" name="object 22"/>
            <p:cNvPicPr/>
            <p:nvPr/>
          </p:nvPicPr>
          <p:blipFill>
            <a:blip r:embed="rId3" cstate="print"/>
            <a:stretch>
              <a:fillRect/>
            </a:stretch>
          </p:blipFill>
          <p:spPr>
            <a:xfrm>
              <a:off x="4425675" y="3558726"/>
              <a:ext cx="214983" cy="84775"/>
            </a:xfrm>
            <a:prstGeom prst="rect">
              <a:avLst/>
            </a:prstGeom>
            <a:ln w="28575">
              <a:noFill/>
            </a:ln>
          </p:spPr>
          <p:style>
            <a:lnRef idx="2">
              <a:schemeClr val="accent2"/>
            </a:lnRef>
            <a:fillRef idx="1">
              <a:schemeClr val="lt1"/>
            </a:fillRef>
            <a:effectRef idx="0">
              <a:schemeClr val="accent2"/>
            </a:effectRef>
            <a:fontRef idx="minor">
              <a:schemeClr val="dk1"/>
            </a:fontRef>
          </p:style>
        </p:pic>
        <p:sp>
          <p:nvSpPr>
            <p:cNvPr id="23" name="object 23"/>
            <p:cNvSpPr/>
            <p:nvPr/>
          </p:nvSpPr>
          <p:spPr>
            <a:xfrm>
              <a:off x="5851022" y="3180782"/>
              <a:ext cx="1122680" cy="854710"/>
            </a:xfrm>
            <a:custGeom>
              <a:avLst/>
              <a:gdLst/>
              <a:ahLst/>
              <a:cxnLst/>
              <a:rect l="l" t="t" r="r" b="b"/>
              <a:pathLst>
                <a:path w="1122679" h="854710">
                  <a:moveTo>
                    <a:pt x="1122058" y="0"/>
                  </a:moveTo>
                  <a:lnTo>
                    <a:pt x="0" y="0"/>
                  </a:lnTo>
                  <a:lnTo>
                    <a:pt x="0" y="854678"/>
                  </a:lnTo>
                  <a:lnTo>
                    <a:pt x="1122058" y="854678"/>
                  </a:lnTo>
                  <a:lnTo>
                    <a:pt x="1122058" y="0"/>
                  </a:lnTo>
                  <a:close/>
                </a:path>
              </a:pathLst>
            </a:custGeom>
            <a:ln w="28575">
              <a:solidFill>
                <a:schemeClr val="tx1"/>
              </a:solidFill>
            </a:ln>
          </p:spPr>
          <p:style>
            <a:lnRef idx="2">
              <a:schemeClr val="accent2"/>
            </a:lnRef>
            <a:fillRef idx="1">
              <a:schemeClr val="lt1"/>
            </a:fillRef>
            <a:effectRef idx="0">
              <a:schemeClr val="accent2"/>
            </a:effectRef>
            <a:fontRef idx="minor">
              <a:schemeClr val="dk1"/>
            </a:fontRef>
          </p:style>
          <p:txBody>
            <a:bodyPr wrap="square" lIns="0" tIns="0" rIns="0" bIns="0" rtlCol="0"/>
            <a:lstStyle/>
            <a:p>
              <a:endParaRPr sz="1100" b="1">
                <a:solidFill>
                  <a:schemeClr val="tx1"/>
                </a:solidFill>
              </a:endParaRPr>
            </a:p>
          </p:txBody>
        </p:sp>
        <p:sp>
          <p:nvSpPr>
            <p:cNvPr id="24" name="object 24"/>
            <p:cNvSpPr/>
            <p:nvPr/>
          </p:nvSpPr>
          <p:spPr>
            <a:xfrm>
              <a:off x="5851022" y="3180782"/>
              <a:ext cx="1122680" cy="854710"/>
            </a:xfrm>
            <a:custGeom>
              <a:avLst/>
              <a:gdLst/>
              <a:ahLst/>
              <a:cxnLst/>
              <a:rect l="l" t="t" r="r" b="b"/>
              <a:pathLst>
                <a:path w="1122679" h="854710">
                  <a:moveTo>
                    <a:pt x="0" y="0"/>
                  </a:moveTo>
                  <a:lnTo>
                    <a:pt x="1122058" y="0"/>
                  </a:lnTo>
                  <a:lnTo>
                    <a:pt x="1122058" y="854677"/>
                  </a:lnTo>
                  <a:lnTo>
                    <a:pt x="0" y="854677"/>
                  </a:lnTo>
                  <a:lnTo>
                    <a:pt x="0" y="0"/>
                  </a:lnTo>
                  <a:close/>
                </a:path>
              </a:pathLst>
            </a:custGeom>
            <a:ln w="28575">
              <a:solidFill>
                <a:schemeClr val="tx1"/>
              </a:solidFill>
            </a:ln>
          </p:spPr>
          <p:style>
            <a:lnRef idx="2">
              <a:schemeClr val="dk1"/>
            </a:lnRef>
            <a:fillRef idx="1">
              <a:schemeClr val="lt1"/>
            </a:fillRef>
            <a:effectRef idx="0">
              <a:schemeClr val="dk1"/>
            </a:effectRef>
            <a:fontRef idx="minor">
              <a:schemeClr val="dk1"/>
            </a:fontRef>
          </p:style>
          <p:txBody>
            <a:bodyPr wrap="square" lIns="0" tIns="0" rIns="0" bIns="0" rtlCol="0"/>
            <a:lstStyle/>
            <a:p>
              <a:endParaRPr sz="1100" b="1">
                <a:solidFill>
                  <a:schemeClr val="tx1"/>
                </a:solidFill>
              </a:endParaRPr>
            </a:p>
          </p:txBody>
        </p:sp>
        <p:sp>
          <p:nvSpPr>
            <p:cNvPr id="25" name="object 25"/>
            <p:cNvSpPr txBox="1"/>
            <p:nvPr/>
          </p:nvSpPr>
          <p:spPr>
            <a:xfrm>
              <a:off x="5940167" y="3440018"/>
              <a:ext cx="942339" cy="249903"/>
            </a:xfrm>
            <a:prstGeom prst="rect">
              <a:avLst/>
            </a:prstGeom>
            <a:ln w="28575">
              <a:noFill/>
            </a:ln>
          </p:spPr>
          <p:style>
            <a:lnRef idx="2">
              <a:schemeClr val="accent2"/>
            </a:lnRef>
            <a:fillRef idx="1">
              <a:schemeClr val="lt1"/>
            </a:fillRef>
            <a:effectRef idx="0">
              <a:schemeClr val="accent2"/>
            </a:effectRef>
            <a:fontRef idx="minor">
              <a:schemeClr val="dk1"/>
            </a:fontRef>
          </p:style>
          <p:txBody>
            <a:bodyPr vert="horz" wrap="square" lIns="0" tIns="11206" rIns="0" bIns="0" rtlCol="0">
              <a:spAutoFit/>
            </a:bodyPr>
            <a:lstStyle/>
            <a:p>
              <a:pPr marL="11206" marR="4483" indent="51549">
                <a:spcBef>
                  <a:spcPts val="88"/>
                </a:spcBef>
              </a:pPr>
              <a:r>
                <a:rPr sz="1100" b="1" dirty="0">
                  <a:solidFill>
                    <a:schemeClr val="tx1"/>
                  </a:solidFill>
                  <a:latin typeface="Calibri"/>
                  <a:cs typeface="Calibri"/>
                </a:rPr>
                <a:t>Recolección</a:t>
              </a:r>
              <a:r>
                <a:rPr sz="1100" b="1" spc="106" dirty="0">
                  <a:solidFill>
                    <a:schemeClr val="tx1"/>
                  </a:solidFill>
                  <a:latin typeface="Calibri"/>
                  <a:cs typeface="Calibri"/>
                </a:rPr>
                <a:t> </a:t>
              </a:r>
              <a:r>
                <a:rPr sz="1100" b="1" spc="-22" dirty="0">
                  <a:solidFill>
                    <a:schemeClr val="tx1"/>
                  </a:solidFill>
                  <a:latin typeface="Calibri"/>
                  <a:cs typeface="Calibri"/>
                </a:rPr>
                <a:t>de</a:t>
              </a:r>
              <a:r>
                <a:rPr sz="1100" b="1" dirty="0">
                  <a:solidFill>
                    <a:schemeClr val="tx1"/>
                  </a:solidFill>
                  <a:latin typeface="Calibri"/>
                  <a:cs typeface="Calibri"/>
                </a:rPr>
                <a:t> datos</a:t>
              </a:r>
              <a:r>
                <a:rPr sz="1100" b="1" spc="49" dirty="0">
                  <a:solidFill>
                    <a:schemeClr val="tx1"/>
                  </a:solidFill>
                  <a:latin typeface="Calibri"/>
                  <a:cs typeface="Calibri"/>
                </a:rPr>
                <a:t> </a:t>
              </a:r>
              <a:r>
                <a:rPr sz="1100" b="1" spc="-9" dirty="0">
                  <a:solidFill>
                    <a:schemeClr val="tx1"/>
                  </a:solidFill>
                  <a:latin typeface="Calibri"/>
                  <a:cs typeface="Calibri"/>
                </a:rPr>
                <a:t>(ejecución)</a:t>
              </a:r>
              <a:endParaRPr sz="1100" b="1">
                <a:solidFill>
                  <a:schemeClr val="tx1"/>
                </a:solidFill>
                <a:latin typeface="Calibri"/>
                <a:cs typeface="Calibri"/>
              </a:endParaRPr>
            </a:p>
          </p:txBody>
        </p:sp>
        <p:pic>
          <p:nvPicPr>
            <p:cNvPr id="27" name="object 27"/>
            <p:cNvPicPr/>
            <p:nvPr/>
          </p:nvPicPr>
          <p:blipFill>
            <a:blip r:embed="rId3" cstate="print"/>
            <a:stretch>
              <a:fillRect/>
            </a:stretch>
          </p:blipFill>
          <p:spPr>
            <a:xfrm>
              <a:off x="5733762" y="3555191"/>
              <a:ext cx="214983" cy="84773"/>
            </a:xfrm>
            <a:prstGeom prst="rect">
              <a:avLst/>
            </a:prstGeom>
            <a:ln w="28575">
              <a:noFill/>
            </a:ln>
          </p:spPr>
          <p:style>
            <a:lnRef idx="2">
              <a:schemeClr val="accent2"/>
            </a:lnRef>
            <a:fillRef idx="1">
              <a:schemeClr val="lt1"/>
            </a:fillRef>
            <a:effectRef idx="0">
              <a:schemeClr val="accent2"/>
            </a:effectRef>
            <a:fontRef idx="minor">
              <a:schemeClr val="dk1"/>
            </a:fontRef>
          </p:style>
        </p:pic>
        <p:sp>
          <p:nvSpPr>
            <p:cNvPr id="28" name="object 28"/>
            <p:cNvSpPr/>
            <p:nvPr/>
          </p:nvSpPr>
          <p:spPr>
            <a:xfrm>
              <a:off x="7103771" y="3183140"/>
              <a:ext cx="1122680" cy="855980"/>
            </a:xfrm>
            <a:custGeom>
              <a:avLst/>
              <a:gdLst/>
              <a:ahLst/>
              <a:cxnLst/>
              <a:rect l="l" t="t" r="r" b="b"/>
              <a:pathLst>
                <a:path w="1122679" h="855979">
                  <a:moveTo>
                    <a:pt x="1122057" y="0"/>
                  </a:moveTo>
                  <a:lnTo>
                    <a:pt x="0" y="0"/>
                  </a:lnTo>
                  <a:lnTo>
                    <a:pt x="0" y="855856"/>
                  </a:lnTo>
                  <a:lnTo>
                    <a:pt x="1122057" y="855856"/>
                  </a:lnTo>
                  <a:lnTo>
                    <a:pt x="1122057" y="0"/>
                  </a:lnTo>
                  <a:close/>
                </a:path>
              </a:pathLst>
            </a:custGeom>
            <a:ln w="28575">
              <a:solidFill>
                <a:schemeClr val="tx1"/>
              </a:solidFill>
            </a:ln>
          </p:spPr>
          <p:style>
            <a:lnRef idx="2">
              <a:schemeClr val="accent2"/>
            </a:lnRef>
            <a:fillRef idx="1">
              <a:schemeClr val="lt1"/>
            </a:fillRef>
            <a:effectRef idx="0">
              <a:schemeClr val="accent2"/>
            </a:effectRef>
            <a:fontRef idx="minor">
              <a:schemeClr val="dk1"/>
            </a:fontRef>
          </p:style>
          <p:txBody>
            <a:bodyPr wrap="square" lIns="0" tIns="0" rIns="0" bIns="0" rtlCol="0"/>
            <a:lstStyle/>
            <a:p>
              <a:endParaRPr sz="1100" b="1">
                <a:solidFill>
                  <a:schemeClr val="tx1"/>
                </a:solidFill>
              </a:endParaRPr>
            </a:p>
          </p:txBody>
        </p:sp>
        <p:sp>
          <p:nvSpPr>
            <p:cNvPr id="29" name="object 29"/>
            <p:cNvSpPr/>
            <p:nvPr/>
          </p:nvSpPr>
          <p:spPr>
            <a:xfrm>
              <a:off x="7103771" y="3183140"/>
              <a:ext cx="1122680" cy="855980"/>
            </a:xfrm>
            <a:custGeom>
              <a:avLst/>
              <a:gdLst/>
              <a:ahLst/>
              <a:cxnLst/>
              <a:rect l="l" t="t" r="r" b="b"/>
              <a:pathLst>
                <a:path w="1122679" h="855979">
                  <a:moveTo>
                    <a:pt x="0" y="0"/>
                  </a:moveTo>
                  <a:lnTo>
                    <a:pt x="1122058" y="0"/>
                  </a:lnTo>
                  <a:lnTo>
                    <a:pt x="1122058" y="855856"/>
                  </a:lnTo>
                  <a:lnTo>
                    <a:pt x="0" y="855856"/>
                  </a:lnTo>
                  <a:lnTo>
                    <a:pt x="0" y="0"/>
                  </a:lnTo>
                  <a:close/>
                </a:path>
              </a:pathLst>
            </a:custGeom>
            <a:ln w="28575">
              <a:solidFill>
                <a:schemeClr val="tx1"/>
              </a:solidFill>
            </a:ln>
          </p:spPr>
          <p:style>
            <a:lnRef idx="2">
              <a:schemeClr val="dk1"/>
            </a:lnRef>
            <a:fillRef idx="1">
              <a:schemeClr val="lt1"/>
            </a:fillRef>
            <a:effectRef idx="0">
              <a:schemeClr val="dk1"/>
            </a:effectRef>
            <a:fontRef idx="minor">
              <a:schemeClr val="dk1"/>
            </a:fontRef>
          </p:style>
          <p:txBody>
            <a:bodyPr wrap="square" lIns="0" tIns="0" rIns="0" bIns="0" rtlCol="0"/>
            <a:lstStyle/>
            <a:p>
              <a:endParaRPr sz="1100" b="1">
                <a:solidFill>
                  <a:schemeClr val="tx1"/>
                </a:solidFill>
              </a:endParaRPr>
            </a:p>
          </p:txBody>
        </p:sp>
        <p:sp>
          <p:nvSpPr>
            <p:cNvPr id="30" name="object 30"/>
            <p:cNvSpPr txBox="1"/>
            <p:nvPr/>
          </p:nvSpPr>
          <p:spPr>
            <a:xfrm>
              <a:off x="7276510" y="3443066"/>
              <a:ext cx="774700" cy="249903"/>
            </a:xfrm>
            <a:prstGeom prst="rect">
              <a:avLst/>
            </a:prstGeom>
            <a:ln w="28575">
              <a:noFill/>
            </a:ln>
          </p:spPr>
          <p:style>
            <a:lnRef idx="2">
              <a:schemeClr val="accent2"/>
            </a:lnRef>
            <a:fillRef idx="1">
              <a:schemeClr val="lt1"/>
            </a:fillRef>
            <a:effectRef idx="0">
              <a:schemeClr val="accent2"/>
            </a:effectRef>
            <a:fontRef idx="minor">
              <a:schemeClr val="dk1"/>
            </a:fontRef>
          </p:style>
          <p:txBody>
            <a:bodyPr vert="horz" wrap="square" lIns="0" tIns="11206" rIns="0" bIns="0" rtlCol="0">
              <a:spAutoFit/>
            </a:bodyPr>
            <a:lstStyle/>
            <a:p>
              <a:pPr marL="211802" marR="4483" indent="-201156">
                <a:spcBef>
                  <a:spcPts val="88"/>
                </a:spcBef>
              </a:pPr>
              <a:r>
                <a:rPr sz="1100" b="1" dirty="0">
                  <a:solidFill>
                    <a:schemeClr val="tx1"/>
                  </a:solidFill>
                  <a:latin typeface="Calibri"/>
                  <a:cs typeface="Calibri"/>
                </a:rPr>
                <a:t>Análisis</a:t>
              </a:r>
              <a:r>
                <a:rPr sz="1100" b="1" spc="75" dirty="0">
                  <a:solidFill>
                    <a:schemeClr val="tx1"/>
                  </a:solidFill>
                  <a:latin typeface="Calibri"/>
                  <a:cs typeface="Calibri"/>
                </a:rPr>
                <a:t> </a:t>
              </a:r>
              <a:r>
                <a:rPr sz="1100" b="1" dirty="0">
                  <a:solidFill>
                    <a:schemeClr val="tx1"/>
                  </a:solidFill>
                  <a:latin typeface="Calibri"/>
                  <a:cs typeface="Calibri"/>
                </a:rPr>
                <a:t>de</a:t>
              </a:r>
              <a:r>
                <a:rPr sz="1100" b="1" spc="75" dirty="0">
                  <a:solidFill>
                    <a:schemeClr val="tx1"/>
                  </a:solidFill>
                  <a:latin typeface="Calibri"/>
                  <a:cs typeface="Calibri"/>
                </a:rPr>
                <a:t> </a:t>
              </a:r>
              <a:r>
                <a:rPr sz="1100" b="1" spc="-22" dirty="0">
                  <a:solidFill>
                    <a:schemeClr val="tx1"/>
                  </a:solidFill>
                  <a:latin typeface="Calibri"/>
                  <a:cs typeface="Calibri"/>
                </a:rPr>
                <a:t>los</a:t>
              </a:r>
              <a:r>
                <a:rPr sz="1100" b="1" spc="-9" dirty="0">
                  <a:solidFill>
                    <a:schemeClr val="tx1"/>
                  </a:solidFill>
                  <a:latin typeface="Calibri"/>
                  <a:cs typeface="Calibri"/>
                </a:rPr>
                <a:t> datos</a:t>
              </a:r>
              <a:endParaRPr sz="1100" b="1">
                <a:solidFill>
                  <a:schemeClr val="tx1"/>
                </a:solidFill>
                <a:latin typeface="Calibri"/>
                <a:cs typeface="Calibri"/>
              </a:endParaRPr>
            </a:p>
          </p:txBody>
        </p:sp>
        <p:sp>
          <p:nvSpPr>
            <p:cNvPr id="32" name="object 32"/>
            <p:cNvSpPr/>
            <p:nvPr/>
          </p:nvSpPr>
          <p:spPr>
            <a:xfrm>
              <a:off x="8332972" y="3180782"/>
              <a:ext cx="1121410" cy="854710"/>
            </a:xfrm>
            <a:custGeom>
              <a:avLst/>
              <a:gdLst/>
              <a:ahLst/>
              <a:cxnLst/>
              <a:rect l="l" t="t" r="r" b="b"/>
              <a:pathLst>
                <a:path w="1121409" h="854710">
                  <a:moveTo>
                    <a:pt x="1120880" y="0"/>
                  </a:moveTo>
                  <a:lnTo>
                    <a:pt x="0" y="0"/>
                  </a:lnTo>
                  <a:lnTo>
                    <a:pt x="0" y="854678"/>
                  </a:lnTo>
                  <a:lnTo>
                    <a:pt x="1120880" y="854678"/>
                  </a:lnTo>
                  <a:lnTo>
                    <a:pt x="1120880" y="0"/>
                  </a:lnTo>
                  <a:close/>
                </a:path>
              </a:pathLst>
            </a:custGeom>
            <a:ln w="28575">
              <a:solidFill>
                <a:schemeClr val="tx1"/>
              </a:solidFill>
            </a:ln>
          </p:spPr>
          <p:style>
            <a:lnRef idx="2">
              <a:schemeClr val="accent2"/>
            </a:lnRef>
            <a:fillRef idx="1">
              <a:schemeClr val="lt1"/>
            </a:fillRef>
            <a:effectRef idx="0">
              <a:schemeClr val="accent2"/>
            </a:effectRef>
            <a:fontRef idx="minor">
              <a:schemeClr val="dk1"/>
            </a:fontRef>
          </p:style>
          <p:txBody>
            <a:bodyPr wrap="square" lIns="0" tIns="0" rIns="0" bIns="0" rtlCol="0"/>
            <a:lstStyle/>
            <a:p>
              <a:endParaRPr sz="1100" b="1">
                <a:solidFill>
                  <a:schemeClr val="tx1"/>
                </a:solidFill>
              </a:endParaRPr>
            </a:p>
          </p:txBody>
        </p:sp>
        <p:sp>
          <p:nvSpPr>
            <p:cNvPr id="33" name="object 33"/>
            <p:cNvSpPr/>
            <p:nvPr/>
          </p:nvSpPr>
          <p:spPr>
            <a:xfrm>
              <a:off x="8332972" y="3180782"/>
              <a:ext cx="1121410" cy="854710"/>
            </a:xfrm>
            <a:custGeom>
              <a:avLst/>
              <a:gdLst/>
              <a:ahLst/>
              <a:cxnLst/>
              <a:rect l="l" t="t" r="r" b="b"/>
              <a:pathLst>
                <a:path w="1121409" h="854710">
                  <a:moveTo>
                    <a:pt x="0" y="0"/>
                  </a:moveTo>
                  <a:lnTo>
                    <a:pt x="1120880" y="0"/>
                  </a:lnTo>
                  <a:lnTo>
                    <a:pt x="1120880" y="854677"/>
                  </a:lnTo>
                  <a:lnTo>
                    <a:pt x="0" y="854677"/>
                  </a:lnTo>
                  <a:lnTo>
                    <a:pt x="0" y="0"/>
                  </a:lnTo>
                  <a:close/>
                </a:path>
              </a:pathLst>
            </a:custGeom>
            <a:ln w="28575">
              <a:solidFill>
                <a:schemeClr val="tx1"/>
              </a:solidFill>
            </a:ln>
          </p:spPr>
          <p:style>
            <a:lnRef idx="2">
              <a:schemeClr val="dk1"/>
            </a:lnRef>
            <a:fillRef idx="1">
              <a:schemeClr val="lt1"/>
            </a:fillRef>
            <a:effectRef idx="0">
              <a:schemeClr val="dk1"/>
            </a:effectRef>
            <a:fontRef idx="minor">
              <a:schemeClr val="dk1"/>
            </a:fontRef>
          </p:style>
          <p:txBody>
            <a:bodyPr wrap="square" lIns="0" tIns="0" rIns="0" bIns="0" rtlCol="0"/>
            <a:lstStyle/>
            <a:p>
              <a:endParaRPr sz="1100" b="1">
                <a:solidFill>
                  <a:schemeClr val="tx1"/>
                </a:solidFill>
              </a:endParaRPr>
            </a:p>
          </p:txBody>
        </p:sp>
        <p:sp>
          <p:nvSpPr>
            <p:cNvPr id="34" name="object 34"/>
            <p:cNvSpPr txBox="1"/>
            <p:nvPr/>
          </p:nvSpPr>
          <p:spPr>
            <a:xfrm>
              <a:off x="8453318" y="3440018"/>
              <a:ext cx="878205" cy="249903"/>
            </a:xfrm>
            <a:prstGeom prst="rect">
              <a:avLst/>
            </a:prstGeom>
            <a:ln w="28575">
              <a:noFill/>
            </a:ln>
          </p:spPr>
          <p:style>
            <a:lnRef idx="2">
              <a:schemeClr val="accent2"/>
            </a:lnRef>
            <a:fillRef idx="1">
              <a:schemeClr val="lt1"/>
            </a:fillRef>
            <a:effectRef idx="0">
              <a:schemeClr val="accent2"/>
            </a:effectRef>
            <a:fontRef idx="minor">
              <a:schemeClr val="dk1"/>
            </a:fontRef>
          </p:style>
          <p:txBody>
            <a:bodyPr vert="horz" wrap="square" lIns="0" tIns="11206" rIns="0" bIns="0" rtlCol="0">
              <a:spAutoFit/>
            </a:bodyPr>
            <a:lstStyle/>
            <a:p>
              <a:pPr marL="210122" marR="4483" indent="-199475">
                <a:spcBef>
                  <a:spcPts val="88"/>
                </a:spcBef>
              </a:pPr>
              <a:r>
                <a:rPr sz="1100" b="1" dirty="0">
                  <a:solidFill>
                    <a:schemeClr val="tx1"/>
                  </a:solidFill>
                  <a:latin typeface="Calibri"/>
                  <a:cs typeface="Calibri"/>
                </a:rPr>
                <a:t>Interpretación</a:t>
              </a:r>
              <a:r>
                <a:rPr sz="1100" b="1" spc="101" dirty="0">
                  <a:solidFill>
                    <a:schemeClr val="tx1"/>
                  </a:solidFill>
                  <a:latin typeface="Calibri"/>
                  <a:cs typeface="Calibri"/>
                </a:rPr>
                <a:t> </a:t>
              </a:r>
              <a:r>
                <a:rPr sz="1100" b="1" spc="-44" dirty="0">
                  <a:solidFill>
                    <a:schemeClr val="tx1"/>
                  </a:solidFill>
                  <a:latin typeface="Calibri"/>
                  <a:cs typeface="Calibri"/>
                </a:rPr>
                <a:t>y</a:t>
              </a:r>
              <a:r>
                <a:rPr sz="1100" b="1" spc="-9" dirty="0">
                  <a:solidFill>
                    <a:schemeClr val="tx1"/>
                  </a:solidFill>
                  <a:latin typeface="Calibri"/>
                  <a:cs typeface="Calibri"/>
                </a:rPr>
                <a:t> reporte</a:t>
              </a:r>
              <a:endParaRPr sz="1100" b="1">
                <a:solidFill>
                  <a:schemeClr val="tx1"/>
                </a:solidFill>
                <a:latin typeface="Calibri"/>
                <a:cs typeface="Calibri"/>
              </a:endParaRPr>
            </a:p>
          </p:txBody>
        </p:sp>
        <p:pic>
          <p:nvPicPr>
            <p:cNvPr id="37" name="object 37"/>
            <p:cNvPicPr/>
            <p:nvPr/>
          </p:nvPicPr>
          <p:blipFill>
            <a:blip r:embed="rId4" cstate="print"/>
            <a:stretch>
              <a:fillRect/>
            </a:stretch>
          </p:blipFill>
          <p:spPr>
            <a:xfrm>
              <a:off x="6952362" y="3541067"/>
              <a:ext cx="213810" cy="84773"/>
            </a:xfrm>
            <a:prstGeom prst="rect">
              <a:avLst/>
            </a:prstGeom>
            <a:ln w="28575">
              <a:noFill/>
            </a:ln>
          </p:spPr>
          <p:style>
            <a:lnRef idx="2">
              <a:schemeClr val="accent2"/>
            </a:lnRef>
            <a:fillRef idx="1">
              <a:schemeClr val="lt1"/>
            </a:fillRef>
            <a:effectRef idx="0">
              <a:schemeClr val="accent2"/>
            </a:effectRef>
            <a:fontRef idx="minor">
              <a:schemeClr val="dk1"/>
            </a:fontRef>
          </p:style>
        </p:pic>
        <p:pic>
          <p:nvPicPr>
            <p:cNvPr id="38" name="object 38"/>
            <p:cNvPicPr/>
            <p:nvPr/>
          </p:nvPicPr>
          <p:blipFill>
            <a:blip r:embed="rId3" cstate="print"/>
            <a:stretch>
              <a:fillRect/>
            </a:stretch>
          </p:blipFill>
          <p:spPr>
            <a:xfrm>
              <a:off x="8170971" y="3543401"/>
              <a:ext cx="214984" cy="84775"/>
            </a:xfrm>
            <a:prstGeom prst="rect">
              <a:avLst/>
            </a:prstGeom>
            <a:ln w="28575">
              <a:noFill/>
            </a:ln>
          </p:spPr>
          <p:style>
            <a:lnRef idx="2">
              <a:schemeClr val="accent2"/>
            </a:lnRef>
            <a:fillRef idx="1">
              <a:schemeClr val="lt1"/>
            </a:fillRef>
            <a:effectRef idx="0">
              <a:schemeClr val="accent2"/>
            </a:effectRef>
            <a:fontRef idx="minor">
              <a:schemeClr val="dk1"/>
            </a:fontRef>
          </p:style>
        </p:pic>
        <p:sp>
          <p:nvSpPr>
            <p:cNvPr id="39" name="object 39"/>
            <p:cNvSpPr/>
            <p:nvPr/>
          </p:nvSpPr>
          <p:spPr>
            <a:xfrm>
              <a:off x="5188149" y="2667976"/>
              <a:ext cx="0" cy="481330"/>
            </a:xfrm>
            <a:custGeom>
              <a:avLst/>
              <a:gdLst/>
              <a:ahLst/>
              <a:cxnLst/>
              <a:rect l="l" t="t" r="r" b="b"/>
              <a:pathLst>
                <a:path h="481330">
                  <a:moveTo>
                    <a:pt x="0" y="0"/>
                  </a:moveTo>
                  <a:lnTo>
                    <a:pt x="0" y="480977"/>
                  </a:lnTo>
                </a:path>
              </a:pathLst>
            </a:custGeom>
            <a:ln w="28575">
              <a:solidFill>
                <a:schemeClr val="tx1"/>
              </a:solidFill>
            </a:ln>
          </p:spPr>
          <p:style>
            <a:lnRef idx="2">
              <a:schemeClr val="accent2"/>
            </a:lnRef>
            <a:fillRef idx="1">
              <a:schemeClr val="lt1"/>
            </a:fillRef>
            <a:effectRef idx="0">
              <a:schemeClr val="accent2"/>
            </a:effectRef>
            <a:fontRef idx="minor">
              <a:schemeClr val="dk1"/>
            </a:fontRef>
          </p:style>
          <p:txBody>
            <a:bodyPr wrap="square" lIns="0" tIns="0" rIns="0" bIns="0" rtlCol="0"/>
            <a:lstStyle/>
            <a:p>
              <a:endParaRPr sz="1100" b="1">
                <a:solidFill>
                  <a:schemeClr val="tx1"/>
                </a:solidFill>
              </a:endParaRPr>
            </a:p>
          </p:txBody>
        </p:sp>
        <p:sp>
          <p:nvSpPr>
            <p:cNvPr id="40" name="object 40"/>
            <p:cNvSpPr/>
            <p:nvPr/>
          </p:nvSpPr>
          <p:spPr>
            <a:xfrm>
              <a:off x="5178729" y="2667976"/>
              <a:ext cx="2564765" cy="0"/>
            </a:xfrm>
            <a:custGeom>
              <a:avLst/>
              <a:gdLst/>
              <a:ahLst/>
              <a:cxnLst/>
              <a:rect l="l" t="t" r="r" b="b"/>
              <a:pathLst>
                <a:path w="2564765">
                  <a:moveTo>
                    <a:pt x="2564368" y="0"/>
                  </a:moveTo>
                  <a:lnTo>
                    <a:pt x="0" y="0"/>
                  </a:lnTo>
                </a:path>
              </a:pathLst>
            </a:custGeom>
            <a:ln w="28575">
              <a:solidFill>
                <a:schemeClr val="tx1"/>
              </a:solidFill>
            </a:ln>
          </p:spPr>
          <p:style>
            <a:lnRef idx="2">
              <a:schemeClr val="accent2"/>
            </a:lnRef>
            <a:fillRef idx="1">
              <a:schemeClr val="lt1"/>
            </a:fillRef>
            <a:effectRef idx="0">
              <a:schemeClr val="accent2"/>
            </a:effectRef>
            <a:fontRef idx="minor">
              <a:schemeClr val="dk1"/>
            </a:fontRef>
          </p:style>
          <p:txBody>
            <a:bodyPr wrap="square" lIns="0" tIns="0" rIns="0" bIns="0" rtlCol="0"/>
            <a:lstStyle/>
            <a:p>
              <a:endParaRPr sz="1100" b="1">
                <a:solidFill>
                  <a:schemeClr val="tx1"/>
                </a:solidFill>
              </a:endParaRPr>
            </a:p>
          </p:txBody>
        </p:sp>
        <p:sp>
          <p:nvSpPr>
            <p:cNvPr id="41" name="object 41"/>
            <p:cNvSpPr/>
            <p:nvPr/>
          </p:nvSpPr>
          <p:spPr>
            <a:xfrm>
              <a:off x="7743097" y="2667976"/>
              <a:ext cx="9525" cy="513080"/>
            </a:xfrm>
            <a:custGeom>
              <a:avLst/>
              <a:gdLst/>
              <a:ahLst/>
              <a:cxnLst/>
              <a:rect l="l" t="t" r="r" b="b"/>
              <a:pathLst>
                <a:path w="9525" h="513080">
                  <a:moveTo>
                    <a:pt x="9419" y="0"/>
                  </a:moveTo>
                  <a:lnTo>
                    <a:pt x="0" y="512806"/>
                  </a:lnTo>
                </a:path>
              </a:pathLst>
            </a:custGeom>
            <a:ln w="28575">
              <a:solidFill>
                <a:schemeClr val="tx1"/>
              </a:solidFill>
            </a:ln>
          </p:spPr>
          <p:style>
            <a:lnRef idx="2">
              <a:schemeClr val="accent2"/>
            </a:lnRef>
            <a:fillRef idx="1">
              <a:schemeClr val="lt1"/>
            </a:fillRef>
            <a:effectRef idx="0">
              <a:schemeClr val="accent2"/>
            </a:effectRef>
            <a:fontRef idx="minor">
              <a:schemeClr val="dk1"/>
            </a:fontRef>
          </p:style>
          <p:txBody>
            <a:bodyPr wrap="square" lIns="0" tIns="0" rIns="0" bIns="0" rtlCol="0"/>
            <a:lstStyle/>
            <a:p>
              <a:endParaRPr sz="1100" b="1">
                <a:solidFill>
                  <a:schemeClr val="tx1"/>
                </a:solidFill>
              </a:endParaRPr>
            </a:p>
          </p:txBody>
        </p:sp>
        <p:sp>
          <p:nvSpPr>
            <p:cNvPr id="42" name="object 42"/>
            <p:cNvSpPr/>
            <p:nvPr/>
          </p:nvSpPr>
          <p:spPr>
            <a:xfrm>
              <a:off x="5818055" y="2484072"/>
              <a:ext cx="1494155" cy="481330"/>
            </a:xfrm>
            <a:custGeom>
              <a:avLst/>
              <a:gdLst/>
              <a:ahLst/>
              <a:cxnLst/>
              <a:rect l="l" t="t" r="r" b="b"/>
              <a:pathLst>
                <a:path w="1494154" h="481330">
                  <a:moveTo>
                    <a:pt x="747057" y="0"/>
                  </a:moveTo>
                  <a:lnTo>
                    <a:pt x="679059" y="982"/>
                  </a:lnTo>
                  <a:lnTo>
                    <a:pt x="612772" y="3874"/>
                  </a:lnTo>
                  <a:lnTo>
                    <a:pt x="548459" y="8590"/>
                  </a:lnTo>
                  <a:lnTo>
                    <a:pt x="486384" y="15045"/>
                  </a:lnTo>
                  <a:lnTo>
                    <a:pt x="426811" y="23154"/>
                  </a:lnTo>
                  <a:lnTo>
                    <a:pt x="370002" y="32833"/>
                  </a:lnTo>
                  <a:lnTo>
                    <a:pt x="316223" y="43997"/>
                  </a:lnTo>
                  <a:lnTo>
                    <a:pt x="265737" y="56559"/>
                  </a:lnTo>
                  <a:lnTo>
                    <a:pt x="218807" y="70437"/>
                  </a:lnTo>
                  <a:lnTo>
                    <a:pt x="175698" y="85544"/>
                  </a:lnTo>
                  <a:lnTo>
                    <a:pt x="136672" y="101797"/>
                  </a:lnTo>
                  <a:lnTo>
                    <a:pt x="101995" y="119109"/>
                  </a:lnTo>
                  <a:lnTo>
                    <a:pt x="46737" y="156574"/>
                  </a:lnTo>
                  <a:lnTo>
                    <a:pt x="12036" y="197260"/>
                  </a:lnTo>
                  <a:lnTo>
                    <a:pt x="0" y="240488"/>
                  </a:lnTo>
                  <a:lnTo>
                    <a:pt x="3052" y="262377"/>
                  </a:lnTo>
                  <a:lnTo>
                    <a:pt x="26685" y="304419"/>
                  </a:lnTo>
                  <a:lnTo>
                    <a:pt x="71928" y="343580"/>
                  </a:lnTo>
                  <a:lnTo>
                    <a:pt x="136672" y="379179"/>
                  </a:lnTo>
                  <a:lnTo>
                    <a:pt x="175698" y="395432"/>
                  </a:lnTo>
                  <a:lnTo>
                    <a:pt x="218807" y="410539"/>
                  </a:lnTo>
                  <a:lnTo>
                    <a:pt x="265737" y="424416"/>
                  </a:lnTo>
                  <a:lnTo>
                    <a:pt x="316223" y="436979"/>
                  </a:lnTo>
                  <a:lnTo>
                    <a:pt x="370002" y="448143"/>
                  </a:lnTo>
                  <a:lnTo>
                    <a:pt x="426811" y="457821"/>
                  </a:lnTo>
                  <a:lnTo>
                    <a:pt x="486384" y="465931"/>
                  </a:lnTo>
                  <a:lnTo>
                    <a:pt x="548459" y="472386"/>
                  </a:lnTo>
                  <a:lnTo>
                    <a:pt x="612772" y="477102"/>
                  </a:lnTo>
                  <a:lnTo>
                    <a:pt x="679059" y="479994"/>
                  </a:lnTo>
                  <a:lnTo>
                    <a:pt x="747057" y="480976"/>
                  </a:lnTo>
                  <a:lnTo>
                    <a:pt x="815054" y="479994"/>
                  </a:lnTo>
                  <a:lnTo>
                    <a:pt x="881341" y="477102"/>
                  </a:lnTo>
                  <a:lnTo>
                    <a:pt x="945654" y="472386"/>
                  </a:lnTo>
                  <a:lnTo>
                    <a:pt x="1007729" y="465931"/>
                  </a:lnTo>
                  <a:lnTo>
                    <a:pt x="1067303" y="457821"/>
                  </a:lnTo>
                  <a:lnTo>
                    <a:pt x="1124111" y="448143"/>
                  </a:lnTo>
                  <a:lnTo>
                    <a:pt x="1177890" y="436979"/>
                  </a:lnTo>
                  <a:lnTo>
                    <a:pt x="1228377" y="424416"/>
                  </a:lnTo>
                  <a:lnTo>
                    <a:pt x="1275307" y="410539"/>
                  </a:lnTo>
                  <a:lnTo>
                    <a:pt x="1318416" y="395432"/>
                  </a:lnTo>
                  <a:lnTo>
                    <a:pt x="1357442" y="379179"/>
                  </a:lnTo>
                  <a:lnTo>
                    <a:pt x="1392120" y="361867"/>
                  </a:lnTo>
                  <a:lnTo>
                    <a:pt x="1447377" y="324402"/>
                  </a:lnTo>
                  <a:lnTo>
                    <a:pt x="1482079" y="283716"/>
                  </a:lnTo>
                  <a:lnTo>
                    <a:pt x="1494115" y="240488"/>
                  </a:lnTo>
                  <a:lnTo>
                    <a:pt x="1491062" y="218599"/>
                  </a:lnTo>
                  <a:lnTo>
                    <a:pt x="1467429" y="176557"/>
                  </a:lnTo>
                  <a:lnTo>
                    <a:pt x="1422186" y="137396"/>
                  </a:lnTo>
                  <a:lnTo>
                    <a:pt x="1357442" y="101797"/>
                  </a:lnTo>
                  <a:lnTo>
                    <a:pt x="1318416" y="85544"/>
                  </a:lnTo>
                  <a:lnTo>
                    <a:pt x="1275307" y="70437"/>
                  </a:lnTo>
                  <a:lnTo>
                    <a:pt x="1228377" y="56559"/>
                  </a:lnTo>
                  <a:lnTo>
                    <a:pt x="1177890" y="43997"/>
                  </a:lnTo>
                  <a:lnTo>
                    <a:pt x="1124111" y="32833"/>
                  </a:lnTo>
                  <a:lnTo>
                    <a:pt x="1067303" y="23154"/>
                  </a:lnTo>
                  <a:lnTo>
                    <a:pt x="1007729" y="15045"/>
                  </a:lnTo>
                  <a:lnTo>
                    <a:pt x="945654" y="8590"/>
                  </a:lnTo>
                  <a:lnTo>
                    <a:pt x="881341" y="3874"/>
                  </a:lnTo>
                  <a:lnTo>
                    <a:pt x="815054" y="982"/>
                  </a:lnTo>
                  <a:lnTo>
                    <a:pt x="747057" y="0"/>
                  </a:lnTo>
                  <a:close/>
                </a:path>
              </a:pathLst>
            </a:custGeom>
            <a:ln w="28575">
              <a:solidFill>
                <a:schemeClr val="tx1"/>
              </a:solidFill>
            </a:ln>
          </p:spPr>
          <p:style>
            <a:lnRef idx="2">
              <a:schemeClr val="accent2"/>
            </a:lnRef>
            <a:fillRef idx="1">
              <a:schemeClr val="lt1"/>
            </a:fillRef>
            <a:effectRef idx="0">
              <a:schemeClr val="accent2"/>
            </a:effectRef>
            <a:fontRef idx="minor">
              <a:schemeClr val="dk1"/>
            </a:fontRef>
          </p:style>
          <p:txBody>
            <a:bodyPr wrap="square" lIns="0" tIns="0" rIns="0" bIns="0" rtlCol="0"/>
            <a:lstStyle/>
            <a:p>
              <a:endParaRPr sz="1100" b="1">
                <a:solidFill>
                  <a:schemeClr val="tx1"/>
                </a:solidFill>
              </a:endParaRPr>
            </a:p>
          </p:txBody>
        </p:sp>
        <p:sp>
          <p:nvSpPr>
            <p:cNvPr id="43" name="object 43"/>
            <p:cNvSpPr/>
            <p:nvPr/>
          </p:nvSpPr>
          <p:spPr>
            <a:xfrm>
              <a:off x="5818055" y="2484072"/>
              <a:ext cx="1494155" cy="481330"/>
            </a:xfrm>
            <a:custGeom>
              <a:avLst/>
              <a:gdLst/>
              <a:ahLst/>
              <a:cxnLst/>
              <a:rect l="l" t="t" r="r" b="b"/>
              <a:pathLst>
                <a:path w="1494154" h="481330">
                  <a:moveTo>
                    <a:pt x="0" y="240488"/>
                  </a:moveTo>
                  <a:lnTo>
                    <a:pt x="12036" y="197260"/>
                  </a:lnTo>
                  <a:lnTo>
                    <a:pt x="46737" y="156574"/>
                  </a:lnTo>
                  <a:lnTo>
                    <a:pt x="101995" y="119109"/>
                  </a:lnTo>
                  <a:lnTo>
                    <a:pt x="136673" y="101797"/>
                  </a:lnTo>
                  <a:lnTo>
                    <a:pt x="175698" y="85544"/>
                  </a:lnTo>
                  <a:lnTo>
                    <a:pt x="218808" y="70437"/>
                  </a:lnTo>
                  <a:lnTo>
                    <a:pt x="265737" y="56559"/>
                  </a:lnTo>
                  <a:lnTo>
                    <a:pt x="316224" y="43997"/>
                  </a:lnTo>
                  <a:lnTo>
                    <a:pt x="370003" y="32833"/>
                  </a:lnTo>
                  <a:lnTo>
                    <a:pt x="426811" y="23154"/>
                  </a:lnTo>
                  <a:lnTo>
                    <a:pt x="486385" y="15045"/>
                  </a:lnTo>
                  <a:lnTo>
                    <a:pt x="548460" y="8590"/>
                  </a:lnTo>
                  <a:lnTo>
                    <a:pt x="612773" y="3874"/>
                  </a:lnTo>
                  <a:lnTo>
                    <a:pt x="679060" y="982"/>
                  </a:lnTo>
                  <a:lnTo>
                    <a:pt x="747057" y="0"/>
                  </a:lnTo>
                  <a:lnTo>
                    <a:pt x="815055" y="982"/>
                  </a:lnTo>
                  <a:lnTo>
                    <a:pt x="881342" y="3874"/>
                  </a:lnTo>
                  <a:lnTo>
                    <a:pt x="945655" y="8590"/>
                  </a:lnTo>
                  <a:lnTo>
                    <a:pt x="1007730" y="15045"/>
                  </a:lnTo>
                  <a:lnTo>
                    <a:pt x="1067303" y="23154"/>
                  </a:lnTo>
                  <a:lnTo>
                    <a:pt x="1124112" y="32833"/>
                  </a:lnTo>
                  <a:lnTo>
                    <a:pt x="1177891" y="43997"/>
                  </a:lnTo>
                  <a:lnTo>
                    <a:pt x="1228377" y="56559"/>
                  </a:lnTo>
                  <a:lnTo>
                    <a:pt x="1275307" y="70437"/>
                  </a:lnTo>
                  <a:lnTo>
                    <a:pt x="1318416" y="85544"/>
                  </a:lnTo>
                  <a:lnTo>
                    <a:pt x="1357442" y="101797"/>
                  </a:lnTo>
                  <a:lnTo>
                    <a:pt x="1392120" y="119109"/>
                  </a:lnTo>
                  <a:lnTo>
                    <a:pt x="1447377" y="156574"/>
                  </a:lnTo>
                  <a:lnTo>
                    <a:pt x="1482079" y="197260"/>
                  </a:lnTo>
                  <a:lnTo>
                    <a:pt x="1494115" y="240488"/>
                  </a:lnTo>
                  <a:lnTo>
                    <a:pt x="1491062" y="262377"/>
                  </a:lnTo>
                  <a:lnTo>
                    <a:pt x="1467430" y="304419"/>
                  </a:lnTo>
                  <a:lnTo>
                    <a:pt x="1422186" y="343580"/>
                  </a:lnTo>
                  <a:lnTo>
                    <a:pt x="1357442" y="379180"/>
                  </a:lnTo>
                  <a:lnTo>
                    <a:pt x="1318416" y="395432"/>
                  </a:lnTo>
                  <a:lnTo>
                    <a:pt x="1275307" y="410539"/>
                  </a:lnTo>
                  <a:lnTo>
                    <a:pt x="1228377" y="424417"/>
                  </a:lnTo>
                  <a:lnTo>
                    <a:pt x="1177891" y="436980"/>
                  </a:lnTo>
                  <a:lnTo>
                    <a:pt x="1124112" y="448143"/>
                  </a:lnTo>
                  <a:lnTo>
                    <a:pt x="1067303" y="457822"/>
                  </a:lnTo>
                  <a:lnTo>
                    <a:pt x="1007730" y="465931"/>
                  </a:lnTo>
                  <a:lnTo>
                    <a:pt x="945655" y="472386"/>
                  </a:lnTo>
                  <a:lnTo>
                    <a:pt x="881342" y="477102"/>
                  </a:lnTo>
                  <a:lnTo>
                    <a:pt x="815055" y="479994"/>
                  </a:lnTo>
                  <a:lnTo>
                    <a:pt x="747057" y="480977"/>
                  </a:lnTo>
                  <a:lnTo>
                    <a:pt x="679060" y="479994"/>
                  </a:lnTo>
                  <a:lnTo>
                    <a:pt x="612773" y="477102"/>
                  </a:lnTo>
                  <a:lnTo>
                    <a:pt x="548460" y="472386"/>
                  </a:lnTo>
                  <a:lnTo>
                    <a:pt x="486385" y="465931"/>
                  </a:lnTo>
                  <a:lnTo>
                    <a:pt x="426811" y="457822"/>
                  </a:lnTo>
                  <a:lnTo>
                    <a:pt x="370003" y="448143"/>
                  </a:lnTo>
                  <a:lnTo>
                    <a:pt x="316224" y="436980"/>
                  </a:lnTo>
                  <a:lnTo>
                    <a:pt x="265737" y="424417"/>
                  </a:lnTo>
                  <a:lnTo>
                    <a:pt x="218808" y="410539"/>
                  </a:lnTo>
                  <a:lnTo>
                    <a:pt x="175698" y="395432"/>
                  </a:lnTo>
                  <a:lnTo>
                    <a:pt x="136673" y="379180"/>
                  </a:lnTo>
                  <a:lnTo>
                    <a:pt x="101995" y="361867"/>
                  </a:lnTo>
                  <a:lnTo>
                    <a:pt x="46737" y="324402"/>
                  </a:lnTo>
                  <a:lnTo>
                    <a:pt x="12036" y="283716"/>
                  </a:lnTo>
                  <a:lnTo>
                    <a:pt x="0" y="240488"/>
                  </a:lnTo>
                  <a:close/>
                </a:path>
              </a:pathLst>
            </a:custGeom>
            <a:ln w="28575">
              <a:solidFill>
                <a:schemeClr val="tx1"/>
              </a:solidFill>
            </a:ln>
          </p:spPr>
          <p:style>
            <a:lnRef idx="2">
              <a:schemeClr val="accent2"/>
            </a:lnRef>
            <a:fillRef idx="1">
              <a:schemeClr val="lt1"/>
            </a:fillRef>
            <a:effectRef idx="0">
              <a:schemeClr val="accent2"/>
            </a:effectRef>
            <a:fontRef idx="minor">
              <a:schemeClr val="dk1"/>
            </a:fontRef>
          </p:style>
          <p:txBody>
            <a:bodyPr wrap="square" lIns="0" tIns="0" rIns="0" bIns="0" rtlCol="0"/>
            <a:lstStyle/>
            <a:p>
              <a:endParaRPr sz="1100" b="1">
                <a:solidFill>
                  <a:schemeClr val="tx1"/>
                </a:solidFill>
              </a:endParaRPr>
            </a:p>
          </p:txBody>
        </p:sp>
        <p:sp>
          <p:nvSpPr>
            <p:cNvPr id="44" name="object 44"/>
            <p:cNvSpPr txBox="1"/>
            <p:nvPr/>
          </p:nvSpPr>
          <p:spPr>
            <a:xfrm>
              <a:off x="6150802" y="2521522"/>
              <a:ext cx="828675" cy="139984"/>
            </a:xfrm>
            <a:prstGeom prst="rect">
              <a:avLst/>
            </a:prstGeom>
            <a:noFill/>
            <a:ln w="28575">
              <a:noFill/>
            </a:ln>
          </p:spPr>
          <p:style>
            <a:lnRef idx="2">
              <a:schemeClr val="accent2"/>
            </a:lnRef>
            <a:fillRef idx="1">
              <a:schemeClr val="lt1"/>
            </a:fillRef>
            <a:effectRef idx="0">
              <a:schemeClr val="accent2"/>
            </a:effectRef>
            <a:fontRef idx="minor">
              <a:schemeClr val="dk1"/>
            </a:fontRef>
          </p:style>
          <p:txBody>
            <a:bodyPr vert="horz" wrap="square" lIns="0" tIns="11206" rIns="0" bIns="0" rtlCol="0">
              <a:spAutoFit/>
            </a:bodyPr>
            <a:lstStyle/>
            <a:p>
              <a:pPr marL="11206">
                <a:spcBef>
                  <a:spcPts val="88"/>
                </a:spcBef>
              </a:pPr>
              <a:r>
                <a:rPr sz="1200" b="1" dirty="0">
                  <a:solidFill>
                    <a:schemeClr val="tx1"/>
                  </a:solidFill>
                  <a:latin typeface="Calibri Light"/>
                  <a:cs typeface="Calibri Light"/>
                </a:rPr>
                <a:t>Feed</a:t>
              </a:r>
              <a:r>
                <a:rPr sz="1200" b="1" spc="-53" dirty="0">
                  <a:solidFill>
                    <a:schemeClr val="tx1"/>
                  </a:solidFill>
                  <a:latin typeface="Calibri Light"/>
                  <a:cs typeface="Calibri Light"/>
                </a:rPr>
                <a:t> </a:t>
              </a:r>
              <a:r>
                <a:rPr sz="1200" b="1" spc="-9" dirty="0">
                  <a:solidFill>
                    <a:schemeClr val="tx1"/>
                  </a:solidFill>
                  <a:latin typeface="Calibri Light"/>
                  <a:cs typeface="Calibri Light"/>
                </a:rPr>
                <a:t>forward</a:t>
              </a:r>
              <a:endParaRPr sz="1200" b="1" dirty="0">
                <a:solidFill>
                  <a:schemeClr val="tx1"/>
                </a:solidFill>
                <a:latin typeface="Calibri Light"/>
                <a:cs typeface="Calibri Light"/>
              </a:endParaRPr>
            </a:p>
          </p:txBody>
        </p:sp>
        <p:sp>
          <p:nvSpPr>
            <p:cNvPr id="45" name="object 45"/>
            <p:cNvSpPr txBox="1"/>
            <p:nvPr/>
          </p:nvSpPr>
          <p:spPr>
            <a:xfrm>
              <a:off x="6438229" y="2698306"/>
              <a:ext cx="254635" cy="128993"/>
            </a:xfrm>
            <a:prstGeom prst="rect">
              <a:avLst/>
            </a:prstGeom>
            <a:noFill/>
            <a:ln w="28575">
              <a:noFill/>
            </a:ln>
          </p:spPr>
          <p:style>
            <a:lnRef idx="2">
              <a:schemeClr val="accent2"/>
            </a:lnRef>
            <a:fillRef idx="1">
              <a:schemeClr val="lt1"/>
            </a:fillRef>
            <a:effectRef idx="0">
              <a:schemeClr val="accent2"/>
            </a:effectRef>
            <a:fontRef idx="minor">
              <a:schemeClr val="dk1"/>
            </a:fontRef>
          </p:style>
          <p:txBody>
            <a:bodyPr vert="horz" wrap="square" lIns="0" tIns="11206" rIns="0" bIns="0" rtlCol="0">
              <a:spAutoFit/>
            </a:bodyPr>
            <a:lstStyle/>
            <a:p>
              <a:pPr marL="11206">
                <a:spcBef>
                  <a:spcPts val="88"/>
                </a:spcBef>
              </a:pPr>
              <a:r>
                <a:rPr sz="1100" b="1" spc="-18" dirty="0">
                  <a:solidFill>
                    <a:schemeClr val="tx1"/>
                  </a:solidFill>
                  <a:latin typeface="Calibri Light"/>
                  <a:cs typeface="Calibri Light"/>
                </a:rPr>
                <a:t>(FF)</a:t>
              </a:r>
              <a:endParaRPr sz="1100" b="1">
                <a:solidFill>
                  <a:schemeClr val="tx1"/>
                </a:solidFill>
                <a:latin typeface="Calibri Light"/>
                <a:cs typeface="Calibri Light"/>
              </a:endParaRPr>
            </a:p>
          </p:txBody>
        </p:sp>
        <p:sp>
          <p:nvSpPr>
            <p:cNvPr id="47" name="object 47"/>
            <p:cNvSpPr/>
            <p:nvPr/>
          </p:nvSpPr>
          <p:spPr>
            <a:xfrm>
              <a:off x="4010555" y="2034925"/>
              <a:ext cx="1801751" cy="481330"/>
            </a:xfrm>
            <a:custGeom>
              <a:avLst/>
              <a:gdLst/>
              <a:ahLst/>
              <a:cxnLst/>
              <a:rect l="l" t="t" r="r" b="b"/>
              <a:pathLst>
                <a:path w="1494154" h="481330">
                  <a:moveTo>
                    <a:pt x="747057" y="0"/>
                  </a:moveTo>
                  <a:lnTo>
                    <a:pt x="679059" y="982"/>
                  </a:lnTo>
                  <a:lnTo>
                    <a:pt x="612772" y="3874"/>
                  </a:lnTo>
                  <a:lnTo>
                    <a:pt x="548459" y="8590"/>
                  </a:lnTo>
                  <a:lnTo>
                    <a:pt x="486384" y="15045"/>
                  </a:lnTo>
                  <a:lnTo>
                    <a:pt x="426811" y="23154"/>
                  </a:lnTo>
                  <a:lnTo>
                    <a:pt x="370002" y="32833"/>
                  </a:lnTo>
                  <a:lnTo>
                    <a:pt x="316223" y="43996"/>
                  </a:lnTo>
                  <a:lnTo>
                    <a:pt x="265737" y="56559"/>
                  </a:lnTo>
                  <a:lnTo>
                    <a:pt x="218807" y="70437"/>
                  </a:lnTo>
                  <a:lnTo>
                    <a:pt x="175698" y="85544"/>
                  </a:lnTo>
                  <a:lnTo>
                    <a:pt x="136672" y="101796"/>
                  </a:lnTo>
                  <a:lnTo>
                    <a:pt x="101995" y="119108"/>
                  </a:lnTo>
                  <a:lnTo>
                    <a:pt x="46737" y="156573"/>
                  </a:lnTo>
                  <a:lnTo>
                    <a:pt x="12036" y="197260"/>
                  </a:lnTo>
                  <a:lnTo>
                    <a:pt x="0" y="240488"/>
                  </a:lnTo>
                  <a:lnTo>
                    <a:pt x="3052" y="262377"/>
                  </a:lnTo>
                  <a:lnTo>
                    <a:pt x="26685" y="304419"/>
                  </a:lnTo>
                  <a:lnTo>
                    <a:pt x="71928" y="343580"/>
                  </a:lnTo>
                  <a:lnTo>
                    <a:pt x="136672" y="379179"/>
                  </a:lnTo>
                  <a:lnTo>
                    <a:pt x="175698" y="395432"/>
                  </a:lnTo>
                  <a:lnTo>
                    <a:pt x="218807" y="410539"/>
                  </a:lnTo>
                  <a:lnTo>
                    <a:pt x="265737" y="424416"/>
                  </a:lnTo>
                  <a:lnTo>
                    <a:pt x="316223" y="436979"/>
                  </a:lnTo>
                  <a:lnTo>
                    <a:pt x="370002" y="448143"/>
                  </a:lnTo>
                  <a:lnTo>
                    <a:pt x="426811" y="457821"/>
                  </a:lnTo>
                  <a:lnTo>
                    <a:pt x="486384" y="465931"/>
                  </a:lnTo>
                  <a:lnTo>
                    <a:pt x="548459" y="472386"/>
                  </a:lnTo>
                  <a:lnTo>
                    <a:pt x="612772" y="477102"/>
                  </a:lnTo>
                  <a:lnTo>
                    <a:pt x="679059" y="479994"/>
                  </a:lnTo>
                  <a:lnTo>
                    <a:pt x="747057" y="480976"/>
                  </a:lnTo>
                  <a:lnTo>
                    <a:pt x="815054" y="479994"/>
                  </a:lnTo>
                  <a:lnTo>
                    <a:pt x="881341" y="477102"/>
                  </a:lnTo>
                  <a:lnTo>
                    <a:pt x="945654" y="472386"/>
                  </a:lnTo>
                  <a:lnTo>
                    <a:pt x="1007729" y="465931"/>
                  </a:lnTo>
                  <a:lnTo>
                    <a:pt x="1067303" y="457821"/>
                  </a:lnTo>
                  <a:lnTo>
                    <a:pt x="1124111" y="448143"/>
                  </a:lnTo>
                  <a:lnTo>
                    <a:pt x="1177890" y="436979"/>
                  </a:lnTo>
                  <a:lnTo>
                    <a:pt x="1228377" y="424416"/>
                  </a:lnTo>
                  <a:lnTo>
                    <a:pt x="1275307" y="410539"/>
                  </a:lnTo>
                  <a:lnTo>
                    <a:pt x="1318416" y="395432"/>
                  </a:lnTo>
                  <a:lnTo>
                    <a:pt x="1357442" y="379179"/>
                  </a:lnTo>
                  <a:lnTo>
                    <a:pt x="1392120" y="361867"/>
                  </a:lnTo>
                  <a:lnTo>
                    <a:pt x="1447377" y="324402"/>
                  </a:lnTo>
                  <a:lnTo>
                    <a:pt x="1482079" y="283716"/>
                  </a:lnTo>
                  <a:lnTo>
                    <a:pt x="1494115" y="240488"/>
                  </a:lnTo>
                  <a:lnTo>
                    <a:pt x="1491062" y="218598"/>
                  </a:lnTo>
                  <a:lnTo>
                    <a:pt x="1467429" y="176556"/>
                  </a:lnTo>
                  <a:lnTo>
                    <a:pt x="1422186" y="137396"/>
                  </a:lnTo>
                  <a:lnTo>
                    <a:pt x="1357442" y="101796"/>
                  </a:lnTo>
                  <a:lnTo>
                    <a:pt x="1318416" y="85544"/>
                  </a:lnTo>
                  <a:lnTo>
                    <a:pt x="1275307" y="70437"/>
                  </a:lnTo>
                  <a:lnTo>
                    <a:pt x="1228377" y="56559"/>
                  </a:lnTo>
                  <a:lnTo>
                    <a:pt x="1177890" y="43996"/>
                  </a:lnTo>
                  <a:lnTo>
                    <a:pt x="1124111" y="32833"/>
                  </a:lnTo>
                  <a:lnTo>
                    <a:pt x="1067303" y="23154"/>
                  </a:lnTo>
                  <a:lnTo>
                    <a:pt x="1007729" y="15045"/>
                  </a:lnTo>
                  <a:lnTo>
                    <a:pt x="945654" y="8590"/>
                  </a:lnTo>
                  <a:lnTo>
                    <a:pt x="881341" y="3874"/>
                  </a:lnTo>
                  <a:lnTo>
                    <a:pt x="815054" y="982"/>
                  </a:lnTo>
                  <a:lnTo>
                    <a:pt x="747057" y="0"/>
                  </a:lnTo>
                  <a:close/>
                </a:path>
              </a:pathLst>
            </a:custGeom>
            <a:ln w="28575">
              <a:solidFill>
                <a:schemeClr val="tx1"/>
              </a:solidFill>
            </a:ln>
          </p:spPr>
          <p:style>
            <a:lnRef idx="2">
              <a:schemeClr val="accent2"/>
            </a:lnRef>
            <a:fillRef idx="1">
              <a:schemeClr val="lt1"/>
            </a:fillRef>
            <a:effectRef idx="0">
              <a:schemeClr val="accent2"/>
            </a:effectRef>
            <a:fontRef idx="minor">
              <a:schemeClr val="dk1"/>
            </a:fontRef>
          </p:style>
          <p:txBody>
            <a:bodyPr wrap="square" lIns="0" tIns="0" rIns="0" bIns="0" rtlCol="0"/>
            <a:lstStyle/>
            <a:p>
              <a:endParaRPr sz="1100" b="1">
                <a:solidFill>
                  <a:schemeClr val="tx1"/>
                </a:solidFill>
              </a:endParaRPr>
            </a:p>
          </p:txBody>
        </p:sp>
        <p:sp>
          <p:nvSpPr>
            <p:cNvPr id="48" name="object 48"/>
            <p:cNvSpPr/>
            <p:nvPr/>
          </p:nvSpPr>
          <p:spPr>
            <a:xfrm>
              <a:off x="4010555" y="2034925"/>
              <a:ext cx="1801751" cy="481330"/>
            </a:xfrm>
            <a:custGeom>
              <a:avLst/>
              <a:gdLst/>
              <a:ahLst/>
              <a:cxnLst/>
              <a:rect l="l" t="t" r="r" b="b"/>
              <a:pathLst>
                <a:path w="1494154" h="481330">
                  <a:moveTo>
                    <a:pt x="0" y="240488"/>
                  </a:moveTo>
                  <a:lnTo>
                    <a:pt x="12036" y="197260"/>
                  </a:lnTo>
                  <a:lnTo>
                    <a:pt x="46737" y="156574"/>
                  </a:lnTo>
                  <a:lnTo>
                    <a:pt x="101995" y="119109"/>
                  </a:lnTo>
                  <a:lnTo>
                    <a:pt x="136673" y="101797"/>
                  </a:lnTo>
                  <a:lnTo>
                    <a:pt x="175698" y="85544"/>
                  </a:lnTo>
                  <a:lnTo>
                    <a:pt x="218808" y="70437"/>
                  </a:lnTo>
                  <a:lnTo>
                    <a:pt x="265737" y="56559"/>
                  </a:lnTo>
                  <a:lnTo>
                    <a:pt x="316224" y="43997"/>
                  </a:lnTo>
                  <a:lnTo>
                    <a:pt x="370003" y="32833"/>
                  </a:lnTo>
                  <a:lnTo>
                    <a:pt x="426811" y="23154"/>
                  </a:lnTo>
                  <a:lnTo>
                    <a:pt x="486385" y="15045"/>
                  </a:lnTo>
                  <a:lnTo>
                    <a:pt x="548460" y="8590"/>
                  </a:lnTo>
                  <a:lnTo>
                    <a:pt x="612773" y="3874"/>
                  </a:lnTo>
                  <a:lnTo>
                    <a:pt x="679060" y="982"/>
                  </a:lnTo>
                  <a:lnTo>
                    <a:pt x="747057" y="0"/>
                  </a:lnTo>
                  <a:lnTo>
                    <a:pt x="815055" y="982"/>
                  </a:lnTo>
                  <a:lnTo>
                    <a:pt x="881342" y="3874"/>
                  </a:lnTo>
                  <a:lnTo>
                    <a:pt x="945655" y="8590"/>
                  </a:lnTo>
                  <a:lnTo>
                    <a:pt x="1007730" y="15045"/>
                  </a:lnTo>
                  <a:lnTo>
                    <a:pt x="1067303" y="23154"/>
                  </a:lnTo>
                  <a:lnTo>
                    <a:pt x="1124112" y="32833"/>
                  </a:lnTo>
                  <a:lnTo>
                    <a:pt x="1177891" y="43997"/>
                  </a:lnTo>
                  <a:lnTo>
                    <a:pt x="1228377" y="56559"/>
                  </a:lnTo>
                  <a:lnTo>
                    <a:pt x="1275307" y="70437"/>
                  </a:lnTo>
                  <a:lnTo>
                    <a:pt x="1318416" y="85544"/>
                  </a:lnTo>
                  <a:lnTo>
                    <a:pt x="1357442" y="101797"/>
                  </a:lnTo>
                  <a:lnTo>
                    <a:pt x="1392120" y="119109"/>
                  </a:lnTo>
                  <a:lnTo>
                    <a:pt x="1447377" y="156574"/>
                  </a:lnTo>
                  <a:lnTo>
                    <a:pt x="1482079" y="197260"/>
                  </a:lnTo>
                  <a:lnTo>
                    <a:pt x="1494115" y="240488"/>
                  </a:lnTo>
                  <a:lnTo>
                    <a:pt x="1491062" y="262377"/>
                  </a:lnTo>
                  <a:lnTo>
                    <a:pt x="1467430" y="304419"/>
                  </a:lnTo>
                  <a:lnTo>
                    <a:pt x="1422186" y="343580"/>
                  </a:lnTo>
                  <a:lnTo>
                    <a:pt x="1357442" y="379180"/>
                  </a:lnTo>
                  <a:lnTo>
                    <a:pt x="1318416" y="395432"/>
                  </a:lnTo>
                  <a:lnTo>
                    <a:pt x="1275307" y="410539"/>
                  </a:lnTo>
                  <a:lnTo>
                    <a:pt x="1228377" y="424417"/>
                  </a:lnTo>
                  <a:lnTo>
                    <a:pt x="1177891" y="436980"/>
                  </a:lnTo>
                  <a:lnTo>
                    <a:pt x="1124112" y="448143"/>
                  </a:lnTo>
                  <a:lnTo>
                    <a:pt x="1067303" y="457822"/>
                  </a:lnTo>
                  <a:lnTo>
                    <a:pt x="1007730" y="465931"/>
                  </a:lnTo>
                  <a:lnTo>
                    <a:pt x="945655" y="472386"/>
                  </a:lnTo>
                  <a:lnTo>
                    <a:pt x="881342" y="477102"/>
                  </a:lnTo>
                  <a:lnTo>
                    <a:pt x="815055" y="479994"/>
                  </a:lnTo>
                  <a:lnTo>
                    <a:pt x="747057" y="480977"/>
                  </a:lnTo>
                  <a:lnTo>
                    <a:pt x="679060" y="479994"/>
                  </a:lnTo>
                  <a:lnTo>
                    <a:pt x="612773" y="477102"/>
                  </a:lnTo>
                  <a:lnTo>
                    <a:pt x="548460" y="472386"/>
                  </a:lnTo>
                  <a:lnTo>
                    <a:pt x="486385" y="465931"/>
                  </a:lnTo>
                  <a:lnTo>
                    <a:pt x="426811" y="457822"/>
                  </a:lnTo>
                  <a:lnTo>
                    <a:pt x="370003" y="448143"/>
                  </a:lnTo>
                  <a:lnTo>
                    <a:pt x="316224" y="436980"/>
                  </a:lnTo>
                  <a:lnTo>
                    <a:pt x="265737" y="424417"/>
                  </a:lnTo>
                  <a:lnTo>
                    <a:pt x="218808" y="410539"/>
                  </a:lnTo>
                  <a:lnTo>
                    <a:pt x="175698" y="395432"/>
                  </a:lnTo>
                  <a:lnTo>
                    <a:pt x="136673" y="379180"/>
                  </a:lnTo>
                  <a:lnTo>
                    <a:pt x="101995" y="361867"/>
                  </a:lnTo>
                  <a:lnTo>
                    <a:pt x="46737" y="324402"/>
                  </a:lnTo>
                  <a:lnTo>
                    <a:pt x="12036" y="283716"/>
                  </a:lnTo>
                  <a:lnTo>
                    <a:pt x="0" y="240488"/>
                  </a:lnTo>
                  <a:close/>
                </a:path>
              </a:pathLst>
            </a:custGeom>
            <a:ln w="28575">
              <a:solidFill>
                <a:schemeClr val="tx1"/>
              </a:solidFill>
            </a:ln>
          </p:spPr>
          <p:style>
            <a:lnRef idx="2">
              <a:schemeClr val="accent2"/>
            </a:lnRef>
            <a:fillRef idx="1">
              <a:schemeClr val="lt1"/>
            </a:fillRef>
            <a:effectRef idx="0">
              <a:schemeClr val="accent2"/>
            </a:effectRef>
            <a:fontRef idx="minor">
              <a:schemeClr val="dk1"/>
            </a:fontRef>
          </p:style>
          <p:txBody>
            <a:bodyPr wrap="square" lIns="0" tIns="0" rIns="0" bIns="0" rtlCol="0"/>
            <a:lstStyle/>
            <a:p>
              <a:endParaRPr sz="1200" b="1">
                <a:solidFill>
                  <a:schemeClr val="tx1"/>
                </a:solidFill>
              </a:endParaRPr>
            </a:p>
          </p:txBody>
        </p:sp>
        <p:sp>
          <p:nvSpPr>
            <p:cNvPr id="49" name="object 49"/>
            <p:cNvSpPr txBox="1"/>
            <p:nvPr/>
          </p:nvSpPr>
          <p:spPr>
            <a:xfrm>
              <a:off x="4407139" y="2169788"/>
              <a:ext cx="1220159" cy="136491"/>
            </a:xfrm>
            <a:prstGeom prst="rect">
              <a:avLst/>
            </a:prstGeom>
            <a:noFill/>
            <a:ln w="28575">
              <a:noFill/>
            </a:ln>
          </p:spPr>
          <p:style>
            <a:lnRef idx="2">
              <a:schemeClr val="accent2"/>
            </a:lnRef>
            <a:fillRef idx="1">
              <a:schemeClr val="lt1"/>
            </a:fillRef>
            <a:effectRef idx="0">
              <a:schemeClr val="accent2"/>
            </a:effectRef>
            <a:fontRef idx="minor">
              <a:schemeClr val="dk1"/>
            </a:fontRef>
          </p:style>
          <p:txBody>
            <a:bodyPr vert="horz" wrap="square" lIns="0" tIns="18490" rIns="0" bIns="0" rtlCol="0">
              <a:spAutoFit/>
            </a:bodyPr>
            <a:lstStyle/>
            <a:p>
              <a:pPr marL="264473" marR="4483" indent="-253827">
                <a:lnSpc>
                  <a:spcPts val="1253"/>
                </a:lnSpc>
                <a:spcBef>
                  <a:spcPts val="146"/>
                </a:spcBef>
              </a:pPr>
              <a:r>
                <a:rPr sz="1400" b="1" dirty="0">
                  <a:solidFill>
                    <a:schemeClr val="tx1"/>
                  </a:solidFill>
                  <a:latin typeface="Calibri Light"/>
                  <a:cs typeface="Calibri Light"/>
                </a:rPr>
                <a:t>Feed</a:t>
              </a:r>
              <a:r>
                <a:rPr sz="1400" b="1" spc="-62" dirty="0">
                  <a:solidFill>
                    <a:schemeClr val="tx1"/>
                  </a:solidFill>
                  <a:latin typeface="Calibri Light"/>
                  <a:cs typeface="Calibri Light"/>
                </a:rPr>
                <a:t> </a:t>
              </a:r>
              <a:r>
                <a:rPr sz="1400" b="1" spc="-22" dirty="0">
                  <a:solidFill>
                    <a:schemeClr val="tx1"/>
                  </a:solidFill>
                  <a:latin typeface="Calibri Light"/>
                  <a:cs typeface="Calibri Light"/>
                </a:rPr>
                <a:t>forward </a:t>
              </a:r>
              <a:r>
                <a:rPr sz="1400" b="1" spc="-18" dirty="0">
                  <a:solidFill>
                    <a:schemeClr val="tx1"/>
                  </a:solidFill>
                  <a:latin typeface="Calibri Light"/>
                  <a:cs typeface="Calibri Light"/>
                </a:rPr>
                <a:t>(FF)</a:t>
              </a:r>
              <a:endParaRPr sz="1400" b="1" dirty="0">
                <a:solidFill>
                  <a:schemeClr val="tx1"/>
                </a:solidFill>
                <a:latin typeface="Calibri Light"/>
                <a:cs typeface="Calibri Light"/>
              </a:endParaRPr>
            </a:p>
          </p:txBody>
        </p:sp>
        <p:sp>
          <p:nvSpPr>
            <p:cNvPr id="51" name="object 51"/>
            <p:cNvSpPr/>
            <p:nvPr/>
          </p:nvSpPr>
          <p:spPr>
            <a:xfrm>
              <a:off x="4159030" y="5001366"/>
              <a:ext cx="1494155" cy="481330"/>
            </a:xfrm>
            <a:custGeom>
              <a:avLst/>
              <a:gdLst/>
              <a:ahLst/>
              <a:cxnLst/>
              <a:rect l="l" t="t" r="r" b="b"/>
              <a:pathLst>
                <a:path w="1494154" h="481329">
                  <a:moveTo>
                    <a:pt x="747057" y="0"/>
                  </a:moveTo>
                  <a:lnTo>
                    <a:pt x="679059" y="982"/>
                  </a:lnTo>
                  <a:lnTo>
                    <a:pt x="612772" y="3874"/>
                  </a:lnTo>
                  <a:lnTo>
                    <a:pt x="548460" y="8590"/>
                  </a:lnTo>
                  <a:lnTo>
                    <a:pt x="486385" y="15045"/>
                  </a:lnTo>
                  <a:lnTo>
                    <a:pt x="426811" y="23154"/>
                  </a:lnTo>
                  <a:lnTo>
                    <a:pt x="370003" y="32833"/>
                  </a:lnTo>
                  <a:lnTo>
                    <a:pt x="316224" y="43997"/>
                  </a:lnTo>
                  <a:lnTo>
                    <a:pt x="265738" y="56559"/>
                  </a:lnTo>
                  <a:lnTo>
                    <a:pt x="218808" y="70437"/>
                  </a:lnTo>
                  <a:lnTo>
                    <a:pt x="175698" y="85544"/>
                  </a:lnTo>
                  <a:lnTo>
                    <a:pt x="136673" y="101797"/>
                  </a:lnTo>
                  <a:lnTo>
                    <a:pt x="101995" y="119109"/>
                  </a:lnTo>
                  <a:lnTo>
                    <a:pt x="46737" y="156574"/>
                  </a:lnTo>
                  <a:lnTo>
                    <a:pt x="12036" y="197260"/>
                  </a:lnTo>
                  <a:lnTo>
                    <a:pt x="0" y="240488"/>
                  </a:lnTo>
                  <a:lnTo>
                    <a:pt x="3052" y="262377"/>
                  </a:lnTo>
                  <a:lnTo>
                    <a:pt x="26685" y="304420"/>
                  </a:lnTo>
                  <a:lnTo>
                    <a:pt x="71929" y="343580"/>
                  </a:lnTo>
                  <a:lnTo>
                    <a:pt x="136673" y="379180"/>
                  </a:lnTo>
                  <a:lnTo>
                    <a:pt x="175698" y="395432"/>
                  </a:lnTo>
                  <a:lnTo>
                    <a:pt x="218808" y="410539"/>
                  </a:lnTo>
                  <a:lnTo>
                    <a:pt x="265738" y="424417"/>
                  </a:lnTo>
                  <a:lnTo>
                    <a:pt x="316224" y="436980"/>
                  </a:lnTo>
                  <a:lnTo>
                    <a:pt x="370003" y="448143"/>
                  </a:lnTo>
                  <a:lnTo>
                    <a:pt x="426811" y="457822"/>
                  </a:lnTo>
                  <a:lnTo>
                    <a:pt x="486385" y="465931"/>
                  </a:lnTo>
                  <a:lnTo>
                    <a:pt x="548460" y="472386"/>
                  </a:lnTo>
                  <a:lnTo>
                    <a:pt x="612772" y="477102"/>
                  </a:lnTo>
                  <a:lnTo>
                    <a:pt x="679059" y="479994"/>
                  </a:lnTo>
                  <a:lnTo>
                    <a:pt x="747057" y="480976"/>
                  </a:lnTo>
                  <a:lnTo>
                    <a:pt x="815054" y="479994"/>
                  </a:lnTo>
                  <a:lnTo>
                    <a:pt x="881341" y="477102"/>
                  </a:lnTo>
                  <a:lnTo>
                    <a:pt x="945654" y="472386"/>
                  </a:lnTo>
                  <a:lnTo>
                    <a:pt x="1007729" y="465931"/>
                  </a:lnTo>
                  <a:lnTo>
                    <a:pt x="1067303" y="457822"/>
                  </a:lnTo>
                  <a:lnTo>
                    <a:pt x="1124111" y="448143"/>
                  </a:lnTo>
                  <a:lnTo>
                    <a:pt x="1177890" y="436980"/>
                  </a:lnTo>
                  <a:lnTo>
                    <a:pt x="1228377" y="424417"/>
                  </a:lnTo>
                  <a:lnTo>
                    <a:pt x="1275307" y="410539"/>
                  </a:lnTo>
                  <a:lnTo>
                    <a:pt x="1318416" y="395432"/>
                  </a:lnTo>
                  <a:lnTo>
                    <a:pt x="1357442" y="379180"/>
                  </a:lnTo>
                  <a:lnTo>
                    <a:pt x="1392120" y="361868"/>
                  </a:lnTo>
                  <a:lnTo>
                    <a:pt x="1447377" y="324403"/>
                  </a:lnTo>
                  <a:lnTo>
                    <a:pt x="1482079" y="283716"/>
                  </a:lnTo>
                  <a:lnTo>
                    <a:pt x="1494115" y="240488"/>
                  </a:lnTo>
                  <a:lnTo>
                    <a:pt x="1491062" y="218599"/>
                  </a:lnTo>
                  <a:lnTo>
                    <a:pt x="1467429" y="176557"/>
                  </a:lnTo>
                  <a:lnTo>
                    <a:pt x="1422186" y="137396"/>
                  </a:lnTo>
                  <a:lnTo>
                    <a:pt x="1357442" y="101797"/>
                  </a:lnTo>
                  <a:lnTo>
                    <a:pt x="1318416" y="85544"/>
                  </a:lnTo>
                  <a:lnTo>
                    <a:pt x="1275307" y="70437"/>
                  </a:lnTo>
                  <a:lnTo>
                    <a:pt x="1228377" y="56559"/>
                  </a:lnTo>
                  <a:lnTo>
                    <a:pt x="1177890" y="43997"/>
                  </a:lnTo>
                  <a:lnTo>
                    <a:pt x="1124111" y="32833"/>
                  </a:lnTo>
                  <a:lnTo>
                    <a:pt x="1067303" y="23154"/>
                  </a:lnTo>
                  <a:lnTo>
                    <a:pt x="1007729" y="15045"/>
                  </a:lnTo>
                  <a:lnTo>
                    <a:pt x="945654" y="8590"/>
                  </a:lnTo>
                  <a:lnTo>
                    <a:pt x="881341" y="3874"/>
                  </a:lnTo>
                  <a:lnTo>
                    <a:pt x="815054" y="982"/>
                  </a:lnTo>
                  <a:lnTo>
                    <a:pt x="747057" y="0"/>
                  </a:lnTo>
                  <a:close/>
                </a:path>
              </a:pathLst>
            </a:custGeom>
            <a:ln w="28575">
              <a:solidFill>
                <a:schemeClr val="tx1"/>
              </a:solidFill>
            </a:ln>
          </p:spPr>
          <p:style>
            <a:lnRef idx="2">
              <a:schemeClr val="accent2"/>
            </a:lnRef>
            <a:fillRef idx="1">
              <a:schemeClr val="lt1"/>
            </a:fillRef>
            <a:effectRef idx="0">
              <a:schemeClr val="accent2"/>
            </a:effectRef>
            <a:fontRef idx="minor">
              <a:schemeClr val="dk1"/>
            </a:fontRef>
          </p:style>
          <p:txBody>
            <a:bodyPr wrap="square" lIns="0" tIns="0" rIns="0" bIns="0" rtlCol="0"/>
            <a:lstStyle/>
            <a:p>
              <a:endParaRPr sz="1100" b="1">
                <a:solidFill>
                  <a:schemeClr val="tx1"/>
                </a:solidFill>
              </a:endParaRPr>
            </a:p>
          </p:txBody>
        </p:sp>
        <p:sp>
          <p:nvSpPr>
            <p:cNvPr id="52" name="object 52"/>
            <p:cNvSpPr/>
            <p:nvPr/>
          </p:nvSpPr>
          <p:spPr>
            <a:xfrm>
              <a:off x="4159030" y="5001366"/>
              <a:ext cx="1494155" cy="481330"/>
            </a:xfrm>
            <a:custGeom>
              <a:avLst/>
              <a:gdLst/>
              <a:ahLst/>
              <a:cxnLst/>
              <a:rect l="l" t="t" r="r" b="b"/>
              <a:pathLst>
                <a:path w="1494154" h="481329">
                  <a:moveTo>
                    <a:pt x="0" y="240488"/>
                  </a:moveTo>
                  <a:lnTo>
                    <a:pt x="12036" y="197260"/>
                  </a:lnTo>
                  <a:lnTo>
                    <a:pt x="46737" y="156574"/>
                  </a:lnTo>
                  <a:lnTo>
                    <a:pt x="101995" y="119109"/>
                  </a:lnTo>
                  <a:lnTo>
                    <a:pt x="136673" y="101797"/>
                  </a:lnTo>
                  <a:lnTo>
                    <a:pt x="175698" y="85544"/>
                  </a:lnTo>
                  <a:lnTo>
                    <a:pt x="218808" y="70437"/>
                  </a:lnTo>
                  <a:lnTo>
                    <a:pt x="265737" y="56559"/>
                  </a:lnTo>
                  <a:lnTo>
                    <a:pt x="316224" y="43997"/>
                  </a:lnTo>
                  <a:lnTo>
                    <a:pt x="370003" y="32833"/>
                  </a:lnTo>
                  <a:lnTo>
                    <a:pt x="426811" y="23154"/>
                  </a:lnTo>
                  <a:lnTo>
                    <a:pt x="486385" y="15045"/>
                  </a:lnTo>
                  <a:lnTo>
                    <a:pt x="548460" y="8590"/>
                  </a:lnTo>
                  <a:lnTo>
                    <a:pt x="612773" y="3874"/>
                  </a:lnTo>
                  <a:lnTo>
                    <a:pt x="679060" y="982"/>
                  </a:lnTo>
                  <a:lnTo>
                    <a:pt x="747057" y="0"/>
                  </a:lnTo>
                  <a:lnTo>
                    <a:pt x="815055" y="982"/>
                  </a:lnTo>
                  <a:lnTo>
                    <a:pt x="881342" y="3874"/>
                  </a:lnTo>
                  <a:lnTo>
                    <a:pt x="945655" y="8590"/>
                  </a:lnTo>
                  <a:lnTo>
                    <a:pt x="1007730" y="15045"/>
                  </a:lnTo>
                  <a:lnTo>
                    <a:pt x="1067303" y="23154"/>
                  </a:lnTo>
                  <a:lnTo>
                    <a:pt x="1124111" y="32833"/>
                  </a:lnTo>
                  <a:lnTo>
                    <a:pt x="1177891" y="43997"/>
                  </a:lnTo>
                  <a:lnTo>
                    <a:pt x="1228377" y="56559"/>
                  </a:lnTo>
                  <a:lnTo>
                    <a:pt x="1275307" y="70437"/>
                  </a:lnTo>
                  <a:lnTo>
                    <a:pt x="1318416" y="85544"/>
                  </a:lnTo>
                  <a:lnTo>
                    <a:pt x="1357442" y="101797"/>
                  </a:lnTo>
                  <a:lnTo>
                    <a:pt x="1392119" y="119109"/>
                  </a:lnTo>
                  <a:lnTo>
                    <a:pt x="1447377" y="156574"/>
                  </a:lnTo>
                  <a:lnTo>
                    <a:pt x="1482078" y="197260"/>
                  </a:lnTo>
                  <a:lnTo>
                    <a:pt x="1494114" y="240488"/>
                  </a:lnTo>
                  <a:lnTo>
                    <a:pt x="1491061" y="262377"/>
                  </a:lnTo>
                  <a:lnTo>
                    <a:pt x="1467429" y="304419"/>
                  </a:lnTo>
                  <a:lnTo>
                    <a:pt x="1422186" y="343580"/>
                  </a:lnTo>
                  <a:lnTo>
                    <a:pt x="1357442" y="379180"/>
                  </a:lnTo>
                  <a:lnTo>
                    <a:pt x="1318416" y="395432"/>
                  </a:lnTo>
                  <a:lnTo>
                    <a:pt x="1275307" y="410539"/>
                  </a:lnTo>
                  <a:lnTo>
                    <a:pt x="1228377" y="424417"/>
                  </a:lnTo>
                  <a:lnTo>
                    <a:pt x="1177891" y="436980"/>
                  </a:lnTo>
                  <a:lnTo>
                    <a:pt x="1124111" y="448143"/>
                  </a:lnTo>
                  <a:lnTo>
                    <a:pt x="1067303" y="457822"/>
                  </a:lnTo>
                  <a:lnTo>
                    <a:pt x="1007730" y="465931"/>
                  </a:lnTo>
                  <a:lnTo>
                    <a:pt x="945655" y="472386"/>
                  </a:lnTo>
                  <a:lnTo>
                    <a:pt x="881342" y="477102"/>
                  </a:lnTo>
                  <a:lnTo>
                    <a:pt x="815055" y="479994"/>
                  </a:lnTo>
                  <a:lnTo>
                    <a:pt x="747057" y="480977"/>
                  </a:lnTo>
                  <a:lnTo>
                    <a:pt x="679060" y="479994"/>
                  </a:lnTo>
                  <a:lnTo>
                    <a:pt x="612773" y="477102"/>
                  </a:lnTo>
                  <a:lnTo>
                    <a:pt x="548460" y="472386"/>
                  </a:lnTo>
                  <a:lnTo>
                    <a:pt x="486385" y="465931"/>
                  </a:lnTo>
                  <a:lnTo>
                    <a:pt x="426811" y="457822"/>
                  </a:lnTo>
                  <a:lnTo>
                    <a:pt x="370003" y="448143"/>
                  </a:lnTo>
                  <a:lnTo>
                    <a:pt x="316224" y="436980"/>
                  </a:lnTo>
                  <a:lnTo>
                    <a:pt x="265737" y="424417"/>
                  </a:lnTo>
                  <a:lnTo>
                    <a:pt x="218808" y="410539"/>
                  </a:lnTo>
                  <a:lnTo>
                    <a:pt x="175698" y="395432"/>
                  </a:lnTo>
                  <a:lnTo>
                    <a:pt x="136673" y="379180"/>
                  </a:lnTo>
                  <a:lnTo>
                    <a:pt x="101995" y="361867"/>
                  </a:lnTo>
                  <a:lnTo>
                    <a:pt x="46737" y="324402"/>
                  </a:lnTo>
                  <a:lnTo>
                    <a:pt x="12036" y="283716"/>
                  </a:lnTo>
                  <a:lnTo>
                    <a:pt x="0" y="240488"/>
                  </a:lnTo>
                  <a:close/>
                </a:path>
              </a:pathLst>
            </a:custGeom>
            <a:ln w="28575">
              <a:solidFill>
                <a:schemeClr val="tx1"/>
              </a:solidFill>
            </a:ln>
          </p:spPr>
          <p:style>
            <a:lnRef idx="2">
              <a:schemeClr val="accent2"/>
            </a:lnRef>
            <a:fillRef idx="1">
              <a:schemeClr val="lt1"/>
            </a:fillRef>
            <a:effectRef idx="0">
              <a:schemeClr val="accent2"/>
            </a:effectRef>
            <a:fontRef idx="minor">
              <a:schemeClr val="dk1"/>
            </a:fontRef>
          </p:style>
          <p:txBody>
            <a:bodyPr wrap="square" lIns="0" tIns="0" rIns="0" bIns="0" rtlCol="0"/>
            <a:lstStyle/>
            <a:p>
              <a:endParaRPr sz="1600" b="1">
                <a:solidFill>
                  <a:schemeClr val="tx1"/>
                </a:solidFill>
              </a:endParaRPr>
            </a:p>
          </p:txBody>
        </p:sp>
        <p:sp>
          <p:nvSpPr>
            <p:cNvPr id="53" name="object 53"/>
            <p:cNvSpPr txBox="1"/>
            <p:nvPr/>
          </p:nvSpPr>
          <p:spPr>
            <a:xfrm>
              <a:off x="4493040" y="5116280"/>
              <a:ext cx="826135" cy="161968"/>
            </a:xfrm>
            <a:prstGeom prst="rect">
              <a:avLst/>
            </a:prstGeom>
            <a:noFill/>
            <a:ln w="28575">
              <a:noFill/>
            </a:ln>
          </p:spPr>
          <p:style>
            <a:lnRef idx="2">
              <a:schemeClr val="accent2"/>
            </a:lnRef>
            <a:fillRef idx="1">
              <a:schemeClr val="lt1"/>
            </a:fillRef>
            <a:effectRef idx="0">
              <a:schemeClr val="accent2"/>
            </a:effectRef>
            <a:fontRef idx="minor">
              <a:schemeClr val="dk1"/>
            </a:fontRef>
          </p:style>
          <p:txBody>
            <a:bodyPr vert="horz" wrap="square" lIns="0" tIns="11206" rIns="0" bIns="0" rtlCol="0">
              <a:spAutoFit/>
            </a:bodyPr>
            <a:lstStyle/>
            <a:p>
              <a:pPr marL="11206">
                <a:spcBef>
                  <a:spcPts val="88"/>
                </a:spcBef>
              </a:pPr>
              <a:r>
                <a:rPr sz="1400" b="1" dirty="0">
                  <a:solidFill>
                    <a:schemeClr val="tx1"/>
                  </a:solidFill>
                  <a:latin typeface="Calibri Light"/>
                  <a:cs typeface="Calibri Light"/>
                </a:rPr>
                <a:t>Feed</a:t>
              </a:r>
              <a:r>
                <a:rPr sz="1400" b="1" spc="-53" dirty="0">
                  <a:solidFill>
                    <a:schemeClr val="tx1"/>
                  </a:solidFill>
                  <a:latin typeface="Calibri Light"/>
                  <a:cs typeface="Calibri Light"/>
                </a:rPr>
                <a:t> </a:t>
              </a:r>
              <a:r>
                <a:rPr sz="1400" b="1" dirty="0">
                  <a:solidFill>
                    <a:schemeClr val="tx1"/>
                  </a:solidFill>
                  <a:latin typeface="Calibri Light"/>
                  <a:cs typeface="Calibri Light"/>
                </a:rPr>
                <a:t>back</a:t>
              </a:r>
              <a:r>
                <a:rPr sz="1400" b="1" spc="-53" dirty="0">
                  <a:solidFill>
                    <a:schemeClr val="tx1"/>
                  </a:solidFill>
                  <a:latin typeface="Calibri Light"/>
                  <a:cs typeface="Calibri Light"/>
                </a:rPr>
                <a:t> </a:t>
              </a:r>
              <a:r>
                <a:rPr sz="1400" b="1" spc="-22" dirty="0">
                  <a:solidFill>
                    <a:schemeClr val="tx1"/>
                  </a:solidFill>
                  <a:latin typeface="Calibri Light"/>
                  <a:cs typeface="Calibri Light"/>
                </a:rPr>
                <a:t>(F)</a:t>
              </a:r>
              <a:endParaRPr sz="1400" b="1" dirty="0">
                <a:solidFill>
                  <a:schemeClr val="tx1"/>
                </a:solidFill>
                <a:latin typeface="Calibri Light"/>
                <a:cs typeface="Calibri Light"/>
              </a:endParaRPr>
            </a:p>
          </p:txBody>
        </p:sp>
        <p:grpSp>
          <p:nvGrpSpPr>
            <p:cNvPr id="68" name="Group 67">
              <a:extLst>
                <a:ext uri="{FF2B5EF4-FFF2-40B4-BE49-F238E27FC236}">
                  <a16:creationId xmlns:a16="http://schemas.microsoft.com/office/drawing/2014/main" id="{A6749B96-85EE-576B-E68B-CB6E1D3A1D49}"/>
                </a:ext>
              </a:extLst>
            </p:cNvPr>
            <p:cNvGrpSpPr/>
            <p:nvPr/>
          </p:nvGrpSpPr>
          <p:grpSpPr>
            <a:xfrm>
              <a:off x="6882507" y="4077077"/>
              <a:ext cx="1543670" cy="246379"/>
              <a:chOff x="6591501" y="4312580"/>
              <a:chExt cx="1543670" cy="246379"/>
            </a:xfrm>
          </p:grpSpPr>
          <p:sp>
            <p:nvSpPr>
              <p:cNvPr id="55" name="object 55"/>
              <p:cNvSpPr/>
              <p:nvPr/>
            </p:nvSpPr>
            <p:spPr>
              <a:xfrm>
                <a:off x="6591501" y="4312580"/>
                <a:ext cx="1532255" cy="246379"/>
              </a:xfrm>
              <a:custGeom>
                <a:avLst/>
                <a:gdLst/>
                <a:ahLst/>
                <a:cxnLst/>
                <a:rect l="l" t="t" r="r" b="b"/>
                <a:pathLst>
                  <a:path w="1532254" h="246379">
                    <a:moveTo>
                      <a:pt x="262559" y="28295"/>
                    </a:moveTo>
                    <a:lnTo>
                      <a:pt x="84772" y="28295"/>
                    </a:lnTo>
                    <a:lnTo>
                      <a:pt x="84772" y="0"/>
                    </a:lnTo>
                    <a:lnTo>
                      <a:pt x="0" y="42430"/>
                    </a:lnTo>
                    <a:lnTo>
                      <a:pt x="84772" y="84874"/>
                    </a:lnTo>
                    <a:lnTo>
                      <a:pt x="84772" y="56578"/>
                    </a:lnTo>
                    <a:lnTo>
                      <a:pt x="262559" y="56578"/>
                    </a:lnTo>
                    <a:lnTo>
                      <a:pt x="262559" y="28295"/>
                    </a:lnTo>
                    <a:close/>
                  </a:path>
                  <a:path w="1532254" h="246379">
                    <a:moveTo>
                      <a:pt x="275513" y="173875"/>
                    </a:moveTo>
                    <a:lnTo>
                      <a:pt x="265430" y="145656"/>
                    </a:lnTo>
                    <a:lnTo>
                      <a:pt x="237921" y="122618"/>
                    </a:lnTo>
                    <a:lnTo>
                      <a:pt x="197129" y="107073"/>
                    </a:lnTo>
                    <a:lnTo>
                      <a:pt x="147180" y="101384"/>
                    </a:lnTo>
                    <a:lnTo>
                      <a:pt x="97218" y="107073"/>
                    </a:lnTo>
                    <a:lnTo>
                      <a:pt x="56426" y="122618"/>
                    </a:lnTo>
                    <a:lnTo>
                      <a:pt x="28930" y="145656"/>
                    </a:lnTo>
                    <a:lnTo>
                      <a:pt x="18846" y="173875"/>
                    </a:lnTo>
                    <a:lnTo>
                      <a:pt x="28930" y="202095"/>
                    </a:lnTo>
                    <a:lnTo>
                      <a:pt x="56426" y="225145"/>
                    </a:lnTo>
                    <a:lnTo>
                      <a:pt x="97218" y="240677"/>
                    </a:lnTo>
                    <a:lnTo>
                      <a:pt x="147180" y="246380"/>
                    </a:lnTo>
                    <a:lnTo>
                      <a:pt x="197129" y="240677"/>
                    </a:lnTo>
                    <a:lnTo>
                      <a:pt x="237921" y="225145"/>
                    </a:lnTo>
                    <a:lnTo>
                      <a:pt x="265430" y="202095"/>
                    </a:lnTo>
                    <a:lnTo>
                      <a:pt x="275513" y="173875"/>
                    </a:lnTo>
                    <a:close/>
                  </a:path>
                  <a:path w="1532254" h="246379">
                    <a:moveTo>
                      <a:pt x="1531797" y="28295"/>
                    </a:moveTo>
                    <a:lnTo>
                      <a:pt x="1352829" y="28295"/>
                    </a:lnTo>
                    <a:lnTo>
                      <a:pt x="1352829" y="0"/>
                    </a:lnTo>
                    <a:lnTo>
                      <a:pt x="1268056" y="42430"/>
                    </a:lnTo>
                    <a:lnTo>
                      <a:pt x="1352829" y="84874"/>
                    </a:lnTo>
                    <a:lnTo>
                      <a:pt x="1352829" y="56578"/>
                    </a:lnTo>
                    <a:lnTo>
                      <a:pt x="1531797" y="56578"/>
                    </a:lnTo>
                    <a:lnTo>
                      <a:pt x="1531797" y="28295"/>
                    </a:lnTo>
                    <a:close/>
                  </a:path>
                </a:pathLst>
              </a:custGeom>
              <a:noFill/>
              <a:ln w="28575">
                <a:solidFill>
                  <a:schemeClr val="tx1"/>
                </a:solidFill>
              </a:ln>
            </p:spPr>
            <p:style>
              <a:lnRef idx="2">
                <a:schemeClr val="accent2"/>
              </a:lnRef>
              <a:fillRef idx="1">
                <a:schemeClr val="lt1"/>
              </a:fillRef>
              <a:effectRef idx="0">
                <a:schemeClr val="accent2"/>
              </a:effectRef>
              <a:fontRef idx="minor">
                <a:schemeClr val="dk1"/>
              </a:fontRef>
            </p:style>
            <p:txBody>
              <a:bodyPr wrap="square" lIns="0" tIns="0" rIns="0" bIns="0" rtlCol="0"/>
              <a:lstStyle/>
              <a:p>
                <a:endParaRPr sz="1100" b="1">
                  <a:solidFill>
                    <a:schemeClr val="tx1"/>
                  </a:solidFill>
                </a:endParaRPr>
              </a:p>
            </p:txBody>
          </p:sp>
          <p:sp>
            <p:nvSpPr>
              <p:cNvPr id="60" name="object 60"/>
              <p:cNvSpPr/>
              <p:nvPr/>
            </p:nvSpPr>
            <p:spPr>
              <a:xfrm>
                <a:off x="7879267" y="4387933"/>
                <a:ext cx="255904" cy="145415"/>
              </a:xfrm>
              <a:custGeom>
                <a:avLst/>
                <a:gdLst/>
                <a:ahLst/>
                <a:cxnLst/>
                <a:rect l="l" t="t" r="r" b="b"/>
                <a:pathLst>
                  <a:path w="255904" h="145414">
                    <a:moveTo>
                      <a:pt x="0" y="72500"/>
                    </a:moveTo>
                    <a:lnTo>
                      <a:pt x="10039" y="44279"/>
                    </a:lnTo>
                    <a:lnTo>
                      <a:pt x="37416" y="21234"/>
                    </a:lnTo>
                    <a:lnTo>
                      <a:pt x="78022" y="5697"/>
                    </a:lnTo>
                    <a:lnTo>
                      <a:pt x="127747" y="0"/>
                    </a:lnTo>
                    <a:lnTo>
                      <a:pt x="177472" y="5697"/>
                    </a:lnTo>
                    <a:lnTo>
                      <a:pt x="218078" y="21234"/>
                    </a:lnTo>
                    <a:lnTo>
                      <a:pt x="245456" y="44279"/>
                    </a:lnTo>
                    <a:lnTo>
                      <a:pt x="255495" y="72500"/>
                    </a:lnTo>
                    <a:lnTo>
                      <a:pt x="245456" y="100720"/>
                    </a:lnTo>
                    <a:lnTo>
                      <a:pt x="218078" y="123765"/>
                    </a:lnTo>
                    <a:lnTo>
                      <a:pt x="177472" y="139303"/>
                    </a:lnTo>
                    <a:lnTo>
                      <a:pt x="127747" y="145000"/>
                    </a:lnTo>
                    <a:lnTo>
                      <a:pt x="78022" y="139303"/>
                    </a:lnTo>
                    <a:lnTo>
                      <a:pt x="37416" y="123765"/>
                    </a:lnTo>
                    <a:lnTo>
                      <a:pt x="10039" y="100720"/>
                    </a:lnTo>
                    <a:lnTo>
                      <a:pt x="0" y="72500"/>
                    </a:lnTo>
                    <a:close/>
                  </a:path>
                </a:pathLst>
              </a:custGeom>
              <a:ln w="28575">
                <a:solidFill>
                  <a:schemeClr val="tx1"/>
                </a:solidFill>
              </a:ln>
            </p:spPr>
            <p:style>
              <a:lnRef idx="2">
                <a:schemeClr val="accent2"/>
              </a:lnRef>
              <a:fillRef idx="1">
                <a:schemeClr val="lt1"/>
              </a:fillRef>
              <a:effectRef idx="0">
                <a:schemeClr val="accent2"/>
              </a:effectRef>
              <a:fontRef idx="minor">
                <a:schemeClr val="dk1"/>
              </a:fontRef>
            </p:style>
            <p:txBody>
              <a:bodyPr wrap="square" lIns="0" tIns="0" rIns="0" bIns="0" rtlCol="0"/>
              <a:lstStyle/>
              <a:p>
                <a:endParaRPr sz="1200" b="1">
                  <a:solidFill>
                    <a:schemeClr val="tx1"/>
                  </a:solidFill>
                </a:endParaRPr>
              </a:p>
            </p:txBody>
          </p:sp>
          <p:sp>
            <p:nvSpPr>
              <p:cNvPr id="61" name="object 61"/>
              <p:cNvSpPr txBox="1"/>
              <p:nvPr/>
            </p:nvSpPr>
            <p:spPr>
              <a:xfrm>
                <a:off x="7955325" y="4361896"/>
                <a:ext cx="95885" cy="128993"/>
              </a:xfrm>
              <a:prstGeom prst="rect">
                <a:avLst/>
              </a:prstGeom>
              <a:noFill/>
              <a:ln w="28575">
                <a:noFill/>
              </a:ln>
            </p:spPr>
            <p:style>
              <a:lnRef idx="2">
                <a:schemeClr val="accent2"/>
              </a:lnRef>
              <a:fillRef idx="1">
                <a:schemeClr val="lt1"/>
              </a:fillRef>
              <a:effectRef idx="0">
                <a:schemeClr val="accent2"/>
              </a:effectRef>
              <a:fontRef idx="minor">
                <a:schemeClr val="dk1"/>
              </a:fontRef>
            </p:style>
            <p:txBody>
              <a:bodyPr vert="horz" wrap="square" lIns="0" tIns="11206" rIns="0" bIns="0" rtlCol="0">
                <a:spAutoFit/>
              </a:bodyPr>
              <a:lstStyle/>
              <a:p>
                <a:pPr marL="11206">
                  <a:spcBef>
                    <a:spcPts val="88"/>
                  </a:spcBef>
                </a:pPr>
                <a:r>
                  <a:rPr sz="1100" b="1" spc="-44" dirty="0">
                    <a:solidFill>
                      <a:schemeClr val="tx1"/>
                    </a:solidFill>
                    <a:latin typeface="Calibri Light"/>
                    <a:cs typeface="Calibri Light"/>
                  </a:rPr>
                  <a:t>F</a:t>
                </a:r>
                <a:endParaRPr sz="1100" b="1" dirty="0">
                  <a:solidFill>
                    <a:schemeClr val="tx1"/>
                  </a:solidFill>
                  <a:latin typeface="Calibri Light"/>
                  <a:cs typeface="Calibri Light"/>
                </a:endParaRPr>
              </a:p>
            </p:txBody>
          </p:sp>
        </p:grpSp>
        <p:sp>
          <p:nvSpPr>
            <p:cNvPr id="67" name="object 61">
              <a:extLst>
                <a:ext uri="{FF2B5EF4-FFF2-40B4-BE49-F238E27FC236}">
                  <a16:creationId xmlns:a16="http://schemas.microsoft.com/office/drawing/2014/main" id="{0B7A3391-EE4D-19B7-35F8-13F10F997F14}"/>
                </a:ext>
              </a:extLst>
            </p:cNvPr>
            <p:cNvSpPr txBox="1"/>
            <p:nvPr/>
          </p:nvSpPr>
          <p:spPr>
            <a:xfrm>
              <a:off x="6973702" y="4171028"/>
              <a:ext cx="95885" cy="139984"/>
            </a:xfrm>
            <a:prstGeom prst="rect">
              <a:avLst/>
            </a:prstGeom>
            <a:noFill/>
            <a:ln w="28575">
              <a:noFill/>
            </a:ln>
          </p:spPr>
          <p:style>
            <a:lnRef idx="2">
              <a:schemeClr val="accent2"/>
            </a:lnRef>
            <a:fillRef idx="1">
              <a:schemeClr val="lt1"/>
            </a:fillRef>
            <a:effectRef idx="0">
              <a:schemeClr val="accent2"/>
            </a:effectRef>
            <a:fontRef idx="minor">
              <a:schemeClr val="dk1"/>
            </a:fontRef>
          </p:style>
          <p:txBody>
            <a:bodyPr vert="horz" wrap="square" lIns="0" tIns="11206" rIns="0" bIns="0" rtlCol="0">
              <a:spAutoFit/>
            </a:bodyPr>
            <a:lstStyle/>
            <a:p>
              <a:pPr marL="11206">
                <a:spcBef>
                  <a:spcPts val="88"/>
                </a:spcBef>
              </a:pPr>
              <a:r>
                <a:rPr sz="1200" b="1" spc="-44" dirty="0">
                  <a:solidFill>
                    <a:schemeClr val="tx1"/>
                  </a:solidFill>
                  <a:latin typeface="Calibri Light"/>
                  <a:cs typeface="Calibri Light"/>
                </a:rPr>
                <a:t>F</a:t>
              </a:r>
              <a:endParaRPr sz="1200" b="1" dirty="0">
                <a:solidFill>
                  <a:schemeClr val="tx1"/>
                </a:solidFill>
                <a:latin typeface="Calibri Light"/>
                <a:cs typeface="Calibri Light"/>
              </a:endParaRPr>
            </a:p>
          </p:txBody>
        </p:sp>
        <p:pic>
          <p:nvPicPr>
            <p:cNvPr id="69" name="object 17">
              <a:extLst>
                <a:ext uri="{FF2B5EF4-FFF2-40B4-BE49-F238E27FC236}">
                  <a16:creationId xmlns:a16="http://schemas.microsoft.com/office/drawing/2014/main" id="{B1571423-521C-3BB1-A4B4-A818D323E66F}"/>
                </a:ext>
              </a:extLst>
            </p:cNvPr>
            <p:cNvPicPr/>
            <p:nvPr/>
          </p:nvPicPr>
          <p:blipFill>
            <a:blip r:embed="rId2" cstate="print"/>
            <a:stretch>
              <a:fillRect/>
            </a:stretch>
          </p:blipFill>
          <p:spPr>
            <a:xfrm>
              <a:off x="1755258" y="3512309"/>
              <a:ext cx="213810" cy="84772"/>
            </a:xfrm>
            <a:prstGeom prst="rect">
              <a:avLst/>
            </a:prstGeom>
            <a:ln w="28575">
              <a:noFill/>
            </a:ln>
          </p:spPr>
          <p:style>
            <a:lnRef idx="2">
              <a:schemeClr val="accent2"/>
            </a:lnRef>
            <a:fillRef idx="1">
              <a:schemeClr val="lt1"/>
            </a:fillRef>
            <a:effectRef idx="0">
              <a:schemeClr val="accent2"/>
            </a:effectRef>
            <a:fontRef idx="minor">
              <a:schemeClr val="dk1"/>
            </a:fontRef>
          </p:style>
        </p:pic>
      </p:grpSp>
      <p:sp>
        <p:nvSpPr>
          <p:cNvPr id="2" name="1 Título">
            <a:extLst>
              <a:ext uri="{FF2B5EF4-FFF2-40B4-BE49-F238E27FC236}">
                <a16:creationId xmlns:a16="http://schemas.microsoft.com/office/drawing/2014/main" id="{CA5C54C6-F160-B9D1-997B-98CD6254984B}"/>
              </a:ext>
            </a:extLst>
          </p:cNvPr>
          <p:cNvSpPr>
            <a:spLocks noGrp="1"/>
          </p:cNvSpPr>
          <p:nvPr>
            <p:ph type="title"/>
          </p:nvPr>
        </p:nvSpPr>
        <p:spPr>
          <a:xfrm>
            <a:off x="838200" y="365125"/>
            <a:ext cx="10515600" cy="1325563"/>
          </a:xfrm>
        </p:spPr>
        <p:txBody>
          <a:bodyPr>
            <a:normAutofit/>
          </a:bodyPr>
          <a:lstStyle/>
          <a:p>
            <a:r>
              <a:rPr lang="es-CL" b="1" dirty="0">
                <a:solidFill>
                  <a:schemeClr val="tx1"/>
                </a:solidFill>
                <a:latin typeface="Abadi" panose="020B0604020104020204" pitchFamily="34" charset="0"/>
                <a:ea typeface="Verdana" pitchFamily="34" charset="0"/>
                <a:cs typeface="Verdana" pitchFamily="34" charset="0"/>
              </a:rPr>
              <a:t>El proceso de investigación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42EF82F2-F107-401A-983F-1B9D1EB6DE3C}"/>
              </a:ext>
            </a:extLst>
          </p:cNvPr>
          <p:cNvSpPr txBox="1">
            <a:spLocks/>
          </p:cNvSpPr>
          <p:nvPr/>
        </p:nvSpPr>
        <p:spPr>
          <a:xfrm>
            <a:off x="1562100" y="1036320"/>
            <a:ext cx="9448799" cy="2441053"/>
          </a:xfrm>
          <a:prstGeom prst="rect">
            <a:avLst/>
          </a:prstGeom>
        </p:spPr>
        <p:txBody>
          <a:bodyPr vert="horz" wrap="square" lIns="0" tIns="12065" rIns="0" bIns="0" rtlCol="0">
            <a:spAutoFit/>
          </a:bodyPr>
          <a:lstStyle>
            <a:lvl1pPr>
              <a:defRPr>
                <a:latin typeface="+mj-lt"/>
                <a:ea typeface="+mj-ea"/>
                <a:cs typeface="+mj-cs"/>
              </a:defRPr>
            </a:lvl1pPr>
          </a:lstStyle>
          <a:p>
            <a:pPr marL="12700" algn="ctr"/>
            <a:r>
              <a:rPr lang="es-CL" sz="3600" b="1" kern="0" spc="-5" dirty="0">
                <a:solidFill>
                  <a:sysClr val="windowText" lastClr="000000"/>
                </a:solidFill>
                <a:cs typeface="Agency FB"/>
              </a:rPr>
              <a:t>Piense en un tema o fenómeno que le interese</a:t>
            </a:r>
          </a:p>
          <a:p>
            <a:pPr marL="12700" algn="ctr"/>
            <a:r>
              <a:rPr lang="es-CL" sz="3600" b="1" kern="0" spc="-5" dirty="0">
                <a:solidFill>
                  <a:sysClr val="windowText" lastClr="000000"/>
                </a:solidFill>
                <a:cs typeface="Agency FB"/>
              </a:rPr>
              <a:t>¿En 10 años, se imagina investigando?¿Dónde?¿Con quién?</a:t>
            </a:r>
          </a:p>
          <a:p>
            <a:pPr marL="12700">
              <a:spcBef>
                <a:spcPts val="95"/>
              </a:spcBef>
            </a:pPr>
            <a:endParaRPr lang="es-CL" sz="4900" kern="0" dirty="0">
              <a:solidFill>
                <a:sysClr val="windowText" lastClr="000000"/>
              </a:solidFill>
              <a:latin typeface="Agency FB"/>
              <a:cs typeface="Agency FB"/>
            </a:endParaRPr>
          </a:p>
        </p:txBody>
      </p:sp>
    </p:spTree>
    <p:extLst>
      <p:ext uri="{BB962C8B-B14F-4D97-AF65-F5344CB8AC3E}">
        <p14:creationId xmlns:p14="http://schemas.microsoft.com/office/powerpoint/2010/main" val="2649678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42EF82F2-F107-401A-983F-1B9D1EB6DE3C}"/>
              </a:ext>
            </a:extLst>
          </p:cNvPr>
          <p:cNvSpPr txBox="1">
            <a:spLocks/>
          </p:cNvSpPr>
          <p:nvPr/>
        </p:nvSpPr>
        <p:spPr>
          <a:xfrm>
            <a:off x="1600200" y="762000"/>
            <a:ext cx="9448799" cy="2040943"/>
          </a:xfrm>
          <a:prstGeom prst="rect">
            <a:avLst/>
          </a:prstGeom>
        </p:spPr>
        <p:txBody>
          <a:bodyPr vert="horz" wrap="square" lIns="0" tIns="12065" rIns="0" bIns="0" rtlCol="0">
            <a:spAutoFit/>
          </a:bodyPr>
          <a:lstStyle>
            <a:lvl1pPr>
              <a:defRPr>
                <a:latin typeface="+mj-lt"/>
                <a:ea typeface="+mj-ea"/>
                <a:cs typeface="+mj-cs"/>
              </a:defRPr>
            </a:lvl1pPr>
          </a:lstStyle>
          <a:p>
            <a:pPr marL="12700" algn="ctr">
              <a:spcBef>
                <a:spcPts val="95"/>
              </a:spcBef>
            </a:pPr>
            <a:r>
              <a:rPr lang="es-CL" sz="3200" b="1" kern="0" spc="-5" dirty="0">
                <a:solidFill>
                  <a:sysClr val="windowText" lastClr="000000"/>
                </a:solidFill>
                <a:cs typeface="Agency FB"/>
              </a:rPr>
              <a:t>2° Identifica un arco temporal del ciclo de vida y grafica el fenómeno en ese arco temporal </a:t>
            </a:r>
          </a:p>
          <a:p>
            <a:pPr marL="12700" algn="ctr">
              <a:spcBef>
                <a:spcPts val="95"/>
              </a:spcBef>
            </a:pPr>
            <a:r>
              <a:rPr lang="es-CL" b="1" kern="0" spc="-5" dirty="0">
                <a:solidFill>
                  <a:sysClr val="windowText" lastClr="000000"/>
                </a:solidFill>
                <a:cs typeface="Agency FB"/>
              </a:rPr>
              <a:t>(dibujando una línea de cómo esa variable se comportaría a lo largo del tiempo)</a:t>
            </a:r>
          </a:p>
          <a:p>
            <a:pPr marL="12700">
              <a:spcBef>
                <a:spcPts val="95"/>
              </a:spcBef>
            </a:pPr>
            <a:endParaRPr lang="es-CL" sz="4900" kern="0" dirty="0">
              <a:solidFill>
                <a:sysClr val="windowText" lastClr="000000"/>
              </a:solidFill>
              <a:latin typeface="Agency FB"/>
              <a:cs typeface="Agency FB"/>
            </a:endParaRPr>
          </a:p>
        </p:txBody>
      </p:sp>
      <p:cxnSp>
        <p:nvCxnSpPr>
          <p:cNvPr id="5" name="Conector recto de flecha 4">
            <a:extLst>
              <a:ext uri="{FF2B5EF4-FFF2-40B4-BE49-F238E27FC236}">
                <a16:creationId xmlns:a16="http://schemas.microsoft.com/office/drawing/2014/main" id="{1C411637-C3AB-42EE-89F5-F6713DABE3CD}"/>
              </a:ext>
            </a:extLst>
          </p:cNvPr>
          <p:cNvCxnSpPr/>
          <p:nvPr/>
        </p:nvCxnSpPr>
        <p:spPr>
          <a:xfrm flipV="1">
            <a:off x="2919984" y="2941320"/>
            <a:ext cx="0" cy="2895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Conector recto de flecha 6">
            <a:extLst>
              <a:ext uri="{FF2B5EF4-FFF2-40B4-BE49-F238E27FC236}">
                <a16:creationId xmlns:a16="http://schemas.microsoft.com/office/drawing/2014/main" id="{8A7DFD10-287C-416B-BC5A-3F5C5681AB8A}"/>
              </a:ext>
            </a:extLst>
          </p:cNvPr>
          <p:cNvCxnSpPr/>
          <p:nvPr/>
        </p:nvCxnSpPr>
        <p:spPr>
          <a:xfrm>
            <a:off x="2895600" y="5836920"/>
            <a:ext cx="7239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CuadroTexto 7">
            <a:extLst>
              <a:ext uri="{FF2B5EF4-FFF2-40B4-BE49-F238E27FC236}">
                <a16:creationId xmlns:a16="http://schemas.microsoft.com/office/drawing/2014/main" id="{F4A8491B-E7C8-4CFA-8FCF-BD3F441D1D27}"/>
              </a:ext>
            </a:extLst>
          </p:cNvPr>
          <p:cNvSpPr txBox="1"/>
          <p:nvPr/>
        </p:nvSpPr>
        <p:spPr>
          <a:xfrm>
            <a:off x="990603" y="3686324"/>
            <a:ext cx="1904997" cy="646331"/>
          </a:xfrm>
          <a:prstGeom prst="rect">
            <a:avLst/>
          </a:prstGeom>
          <a:noFill/>
        </p:spPr>
        <p:txBody>
          <a:bodyPr wrap="square" rtlCol="0">
            <a:spAutoFit/>
          </a:bodyPr>
          <a:lstStyle/>
          <a:p>
            <a:r>
              <a:rPr lang="es-CL" b="1" kern="0" spc="-5" dirty="0">
                <a:solidFill>
                  <a:sysClr val="windowText" lastClr="000000"/>
                </a:solidFill>
                <a:latin typeface="+mj-lt"/>
                <a:ea typeface="+mj-ea"/>
                <a:cs typeface="Agency FB"/>
              </a:rPr>
              <a:t>Fenómeno o  </a:t>
            </a:r>
          </a:p>
          <a:p>
            <a:r>
              <a:rPr lang="es-CL" b="1" kern="0" spc="-5" dirty="0">
                <a:solidFill>
                  <a:sysClr val="windowText" lastClr="000000"/>
                </a:solidFill>
                <a:latin typeface="+mj-lt"/>
                <a:ea typeface="+mj-ea"/>
                <a:cs typeface="Agency FB"/>
              </a:rPr>
              <a:t>Variable de Interés</a:t>
            </a:r>
          </a:p>
        </p:txBody>
      </p:sp>
      <p:sp>
        <p:nvSpPr>
          <p:cNvPr id="9" name="CuadroTexto 8">
            <a:extLst>
              <a:ext uri="{FF2B5EF4-FFF2-40B4-BE49-F238E27FC236}">
                <a16:creationId xmlns:a16="http://schemas.microsoft.com/office/drawing/2014/main" id="{CF97BD54-828D-42CB-9D28-8209B7206535}"/>
              </a:ext>
            </a:extLst>
          </p:cNvPr>
          <p:cNvSpPr txBox="1"/>
          <p:nvPr/>
        </p:nvSpPr>
        <p:spPr>
          <a:xfrm>
            <a:off x="4383024" y="6062472"/>
            <a:ext cx="6476998" cy="369332"/>
          </a:xfrm>
          <a:prstGeom prst="rect">
            <a:avLst/>
          </a:prstGeom>
          <a:noFill/>
        </p:spPr>
        <p:txBody>
          <a:bodyPr wrap="square" rtlCol="0">
            <a:spAutoFit/>
          </a:bodyPr>
          <a:lstStyle/>
          <a:p>
            <a:r>
              <a:rPr lang="es-CL" dirty="0">
                <a:latin typeface="Agency FB" panose="020B0503020202020204" pitchFamily="34" charset="0"/>
              </a:rPr>
              <a:t>--------------------------</a:t>
            </a:r>
            <a:r>
              <a:rPr lang="es-CL" b="1" kern="0" spc="-5" dirty="0">
                <a:solidFill>
                  <a:sysClr val="windowText" lastClr="000000"/>
                </a:solidFill>
                <a:latin typeface="+mj-lt"/>
                <a:ea typeface="+mj-ea"/>
                <a:cs typeface="Agency FB"/>
              </a:rPr>
              <a:t>TIEMPO </a:t>
            </a:r>
            <a:r>
              <a:rPr lang="es-CL" dirty="0">
                <a:latin typeface="Agency FB" panose="020B0503020202020204" pitchFamily="34" charset="0"/>
              </a:rPr>
              <a:t> ---------------------------</a:t>
            </a:r>
          </a:p>
        </p:txBody>
      </p:sp>
    </p:spTree>
    <p:extLst>
      <p:ext uri="{BB962C8B-B14F-4D97-AF65-F5344CB8AC3E}">
        <p14:creationId xmlns:p14="http://schemas.microsoft.com/office/powerpoint/2010/main" val="15141464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DC783-96C9-4F1A-BFAB-E8C595CEF2E8}"/>
              </a:ext>
            </a:extLst>
          </p:cNvPr>
          <p:cNvSpPr>
            <a:spLocks noGrp="1"/>
          </p:cNvSpPr>
          <p:nvPr>
            <p:ph type="title"/>
          </p:nvPr>
        </p:nvSpPr>
        <p:spPr>
          <a:xfrm>
            <a:off x="1606296" y="1362456"/>
            <a:ext cx="9144000" cy="1143000"/>
          </a:xfrm>
        </p:spPr>
        <p:txBody>
          <a:bodyPr/>
          <a:lstStyle/>
          <a:p>
            <a:pPr algn="ctr"/>
            <a:r>
              <a:rPr lang="en-US" dirty="0"/>
              <a:t>La </a:t>
            </a:r>
            <a:r>
              <a:rPr lang="en-US" dirty="0" err="1"/>
              <a:t>metodología</a:t>
            </a:r>
            <a:r>
              <a:rPr lang="en-US" dirty="0"/>
              <a:t> longitudinal </a:t>
            </a:r>
            <a:r>
              <a:rPr lang="en-US" dirty="0" err="1"/>
              <a:t>estudia</a:t>
            </a:r>
            <a:r>
              <a:rPr lang="en-US" dirty="0"/>
              <a:t> la </a:t>
            </a:r>
            <a:r>
              <a:rPr lang="en-US" dirty="0" err="1"/>
              <a:t>novedad</a:t>
            </a:r>
            <a:r>
              <a:rPr lang="en-US" dirty="0"/>
              <a:t>, el </a:t>
            </a:r>
            <a:r>
              <a:rPr lang="en-US" dirty="0" err="1"/>
              <a:t>cambio</a:t>
            </a:r>
            <a:r>
              <a:rPr lang="en-US" dirty="0"/>
              <a:t>, individual y </a:t>
            </a:r>
            <a:r>
              <a:rPr lang="en-US" dirty="0" err="1"/>
              <a:t>colectivo</a:t>
            </a:r>
            <a:endParaRPr lang="en-US" dirty="0"/>
          </a:p>
        </p:txBody>
      </p:sp>
      <p:sp>
        <p:nvSpPr>
          <p:cNvPr id="13" name="Title 1">
            <a:extLst>
              <a:ext uri="{FF2B5EF4-FFF2-40B4-BE49-F238E27FC236}">
                <a16:creationId xmlns:a16="http://schemas.microsoft.com/office/drawing/2014/main" id="{292DC783-96C9-4F1A-BFAB-E8C595CEF2E8}"/>
              </a:ext>
            </a:extLst>
          </p:cNvPr>
          <p:cNvSpPr txBox="1">
            <a:spLocks/>
          </p:cNvSpPr>
          <p:nvPr/>
        </p:nvSpPr>
        <p:spPr>
          <a:xfrm>
            <a:off x="1606296" y="3499104"/>
            <a:ext cx="9144000" cy="114300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400" kern="1200" cap="all" baseline="0">
                <a:solidFill>
                  <a:schemeClr val="accent1">
                    <a:lumMod val="75000"/>
                  </a:schemeClr>
                </a:solidFill>
                <a:latin typeface="+mj-lt"/>
                <a:ea typeface="+mj-ea"/>
                <a:cs typeface="+mj-cs"/>
              </a:defRPr>
            </a:lvl1pPr>
          </a:lstStyle>
          <a:p>
            <a:pPr algn="ctr"/>
            <a:r>
              <a:rPr lang="en-US" b="1" cap="none" dirty="0">
                <a:solidFill>
                  <a:srgbClr val="333399"/>
                </a:solidFill>
              </a:rPr>
              <a:t>Los MISMOS INDIVIDUOS </a:t>
            </a:r>
            <a:r>
              <a:rPr lang="en-US" cap="none" dirty="0"/>
              <a:t>son </a:t>
            </a:r>
            <a:r>
              <a:rPr lang="en-US" cap="none" dirty="0" err="1"/>
              <a:t>evaluados</a:t>
            </a:r>
            <a:r>
              <a:rPr lang="en-US" cap="none" dirty="0"/>
              <a:t> </a:t>
            </a:r>
            <a:r>
              <a:rPr lang="en-US" cap="none" dirty="0" err="1"/>
              <a:t>repetidamente</a:t>
            </a:r>
            <a:r>
              <a:rPr lang="en-US" cap="none" dirty="0"/>
              <a:t> a lo largo del </a:t>
            </a:r>
            <a:r>
              <a:rPr lang="en-US" cap="none" dirty="0" err="1"/>
              <a:t>tiempo</a:t>
            </a:r>
            <a:endParaRPr lang="en-US" cap="none" dirty="0"/>
          </a:p>
        </p:txBody>
      </p:sp>
    </p:spTree>
    <p:extLst>
      <p:ext uri="{BB962C8B-B14F-4D97-AF65-F5344CB8AC3E}">
        <p14:creationId xmlns:p14="http://schemas.microsoft.com/office/powerpoint/2010/main" val="37508108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E12083D1-6FF6-4D74-97F7-F60A1501DE42}"/>
              </a:ext>
            </a:extLst>
          </p:cNvPr>
          <p:cNvSpPr txBox="1">
            <a:spLocks/>
          </p:cNvSpPr>
          <p:nvPr/>
        </p:nvSpPr>
        <p:spPr>
          <a:xfrm>
            <a:off x="1420368" y="465230"/>
            <a:ext cx="9446387" cy="4616648"/>
          </a:xfrm>
          <a:prstGeom prst="rect">
            <a:avLst/>
          </a:prstGeom>
        </p:spPr>
        <p:txBody>
          <a:bodyPr wrap="square" lIns="0" tIns="0" rIns="0" bIns="0">
            <a:spAutoFit/>
          </a:bodyPr>
          <a:lstStyle>
            <a:lvl1pPr>
              <a:defRPr sz="2400" b="0" i="0">
                <a:solidFill>
                  <a:schemeClr val="tx1"/>
                </a:solidFill>
                <a:latin typeface="Calibri Light"/>
                <a:ea typeface="+mj-ea"/>
                <a:cs typeface="Calibri Light"/>
              </a:defRPr>
            </a:lvl1pPr>
          </a:lstStyle>
          <a:p>
            <a:br>
              <a:rPr lang="es-CL" kern="0" dirty="0">
                <a:latin typeface="Agency FB" panose="020B0503020202020204" pitchFamily="34" charset="0"/>
              </a:rPr>
            </a:br>
            <a:br>
              <a:rPr lang="es-CL" kern="0" dirty="0">
                <a:latin typeface="Agency FB" panose="020B0503020202020204" pitchFamily="34" charset="0"/>
              </a:rPr>
            </a:br>
            <a:br>
              <a:rPr lang="es-CL" sz="2800" kern="0" dirty="0">
                <a:latin typeface="+mj-lt"/>
              </a:rPr>
            </a:br>
            <a:r>
              <a:rPr lang="es-CL" sz="2800" kern="0" dirty="0">
                <a:latin typeface="+mj-lt"/>
              </a:rPr>
              <a:t>Dos objetivos de los estudios longitudinales:</a:t>
            </a:r>
            <a:br>
              <a:rPr lang="es-CL" sz="2800" kern="0" dirty="0">
                <a:latin typeface="+mj-lt"/>
              </a:rPr>
            </a:br>
            <a:br>
              <a:rPr lang="es-CL" sz="2800" kern="0" dirty="0">
                <a:latin typeface="+mj-lt"/>
              </a:rPr>
            </a:br>
            <a:r>
              <a:rPr lang="es-CL" sz="2800" kern="0" dirty="0">
                <a:latin typeface="+mj-lt"/>
                <a:sym typeface="Wingdings" panose="05000000000000000000" pitchFamily="2" charset="2"/>
              </a:rPr>
              <a:t></a:t>
            </a:r>
            <a:r>
              <a:rPr lang="es-CL" sz="2800" kern="0" dirty="0">
                <a:latin typeface="+mj-lt"/>
              </a:rPr>
              <a:t> </a:t>
            </a:r>
            <a:r>
              <a:rPr lang="es-CL" sz="2800" dirty="0">
                <a:latin typeface="+mj-lt"/>
              </a:rPr>
              <a:t>EXPLICANDO LA RELACIÓN ENTRE VARIABLES: dar robustez a las hipótesis causales </a:t>
            </a:r>
            <a:br>
              <a:rPr lang="es-CL" sz="2800" dirty="0">
                <a:latin typeface="+mj-lt"/>
              </a:rPr>
            </a:br>
            <a:br>
              <a:rPr lang="es-CL" sz="2800" dirty="0">
                <a:latin typeface="+mj-lt"/>
              </a:rPr>
            </a:br>
            <a:r>
              <a:rPr lang="es-CL" sz="2800" dirty="0">
                <a:latin typeface="+mj-lt"/>
                <a:sym typeface="Wingdings" panose="05000000000000000000" pitchFamily="2" charset="2"/>
              </a:rPr>
              <a:t> EXPLICANDO EL CAMBIO/ESTABILIDAD DE LOS FENÓMENOS</a:t>
            </a:r>
          </a:p>
          <a:p>
            <a:endParaRPr lang="es-CL" sz="2800" dirty="0">
              <a:latin typeface="+mj-lt"/>
              <a:sym typeface="Wingdings" panose="05000000000000000000" pitchFamily="2" charset="2"/>
            </a:endParaRPr>
          </a:p>
          <a:p>
            <a:r>
              <a:rPr lang="es-CL" sz="2800" dirty="0">
                <a:latin typeface="+mj-lt"/>
                <a:sym typeface="Wingdings" panose="05000000000000000000" pitchFamily="2" charset="2"/>
              </a:rPr>
              <a:t> </a:t>
            </a:r>
            <a:endParaRPr lang="es-CL" sz="2800" kern="0" dirty="0">
              <a:latin typeface="+mj-lt"/>
            </a:endParaRPr>
          </a:p>
        </p:txBody>
      </p:sp>
    </p:spTree>
    <p:extLst>
      <p:ext uri="{BB962C8B-B14F-4D97-AF65-F5344CB8AC3E}">
        <p14:creationId xmlns:p14="http://schemas.microsoft.com/office/powerpoint/2010/main" val="25309251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81BB6B-C23F-4E4D-BC2F-61AA5117CF68}"/>
              </a:ext>
            </a:extLst>
          </p:cNvPr>
          <p:cNvSpPr>
            <a:spLocks noGrp="1"/>
          </p:cNvSpPr>
          <p:nvPr>
            <p:ph type="title"/>
          </p:nvPr>
        </p:nvSpPr>
        <p:spPr>
          <a:xfrm>
            <a:off x="888077" y="990848"/>
            <a:ext cx="10515600" cy="1564783"/>
          </a:xfrm>
        </p:spPr>
        <p:txBody>
          <a:bodyPr>
            <a:normAutofit/>
          </a:bodyPr>
          <a:lstStyle/>
          <a:p>
            <a:br>
              <a:rPr lang="es-CL" dirty="0"/>
            </a:br>
            <a:endParaRPr lang="es-CL" dirty="0"/>
          </a:p>
        </p:txBody>
      </p:sp>
      <p:sp>
        <p:nvSpPr>
          <p:cNvPr id="3" name="Título 1">
            <a:extLst>
              <a:ext uri="{FF2B5EF4-FFF2-40B4-BE49-F238E27FC236}">
                <a16:creationId xmlns:a16="http://schemas.microsoft.com/office/drawing/2014/main" id="{E33D8B2E-5DD5-4F31-9036-A9EBC0AAFF67}"/>
              </a:ext>
            </a:extLst>
          </p:cNvPr>
          <p:cNvSpPr txBox="1">
            <a:spLocks/>
          </p:cNvSpPr>
          <p:nvPr/>
        </p:nvSpPr>
        <p:spPr>
          <a:xfrm>
            <a:off x="720969" y="2178964"/>
            <a:ext cx="11125200" cy="2123405"/>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4400" kern="1200" cap="all" spc="-50" baseline="0">
                <a:solidFill>
                  <a:schemeClr val="bg1"/>
                </a:solidFill>
                <a:latin typeface="+mj-lt"/>
                <a:ea typeface="+mj-ea"/>
                <a:cs typeface="+mj-cs"/>
              </a:defRPr>
            </a:lvl1pPr>
          </a:lstStyle>
          <a:p>
            <a:endParaRPr lang="es-ES" sz="4400" b="0" i="0" u="none" strike="noStrike" baseline="0" dirty="0">
              <a:latin typeface="Calibri" panose="020F0502020204030204" pitchFamily="34" charset="0"/>
            </a:endParaRPr>
          </a:p>
          <a:p>
            <a:endParaRPr lang="es-ES" dirty="0">
              <a:latin typeface="Calibri" panose="020F0502020204030204" pitchFamily="34" charset="0"/>
            </a:endParaRPr>
          </a:p>
          <a:p>
            <a:r>
              <a:rPr lang="es-ES" sz="4400" b="0" i="0" u="none" strike="noStrike" baseline="0" dirty="0"/>
              <a:t>Preguntas, objetivos y niveles</a:t>
            </a:r>
          </a:p>
          <a:p>
            <a:endParaRPr lang="es-CL" dirty="0"/>
          </a:p>
        </p:txBody>
      </p:sp>
    </p:spTree>
    <p:extLst>
      <p:ext uri="{BB962C8B-B14F-4D97-AF65-F5344CB8AC3E}">
        <p14:creationId xmlns:p14="http://schemas.microsoft.com/office/powerpoint/2010/main" val="36423687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DC783-96C9-4F1A-BFAB-E8C595CEF2E8}"/>
              </a:ext>
            </a:extLst>
          </p:cNvPr>
          <p:cNvSpPr>
            <a:spLocks noGrp="1"/>
          </p:cNvSpPr>
          <p:nvPr>
            <p:ph type="title"/>
          </p:nvPr>
        </p:nvSpPr>
        <p:spPr>
          <a:xfrm>
            <a:off x="1520952" y="49173"/>
            <a:ext cx="9144000" cy="1143000"/>
          </a:xfrm>
        </p:spPr>
        <p:txBody>
          <a:bodyPr/>
          <a:lstStyle/>
          <a:p>
            <a:r>
              <a:rPr lang="en-US" dirty="0" err="1"/>
              <a:t>tipos</a:t>
            </a:r>
            <a:r>
              <a:rPr lang="en-US" dirty="0"/>
              <a:t> de </a:t>
            </a:r>
            <a:r>
              <a:rPr lang="en-US" dirty="0" err="1"/>
              <a:t>preguntas</a:t>
            </a:r>
            <a:endParaRPr lang="en-US" dirty="0"/>
          </a:p>
        </p:txBody>
      </p:sp>
      <p:sp>
        <p:nvSpPr>
          <p:cNvPr id="4" name="Text Placeholder 3">
            <a:extLst>
              <a:ext uri="{FF2B5EF4-FFF2-40B4-BE49-F238E27FC236}">
                <a16:creationId xmlns:a16="http://schemas.microsoft.com/office/drawing/2014/main" id="{8132DBAD-5198-4AB1-9BF2-3D14550B5239}"/>
              </a:ext>
            </a:extLst>
          </p:cNvPr>
          <p:cNvSpPr>
            <a:spLocks noGrp="1"/>
          </p:cNvSpPr>
          <p:nvPr>
            <p:ph type="body" idx="1"/>
          </p:nvPr>
        </p:nvSpPr>
        <p:spPr/>
        <p:txBody>
          <a:bodyPr>
            <a:normAutofit/>
          </a:bodyPr>
          <a:lstStyle/>
          <a:p>
            <a:r>
              <a:rPr lang="es-ES" sz="2000" dirty="0"/>
              <a:t>¿Cómo cambia cada persona con el tiempo?</a:t>
            </a:r>
            <a:endParaRPr lang="en-US" sz="2000" dirty="0"/>
          </a:p>
        </p:txBody>
      </p:sp>
      <p:sp>
        <p:nvSpPr>
          <p:cNvPr id="5" name="Content Placeholder 4">
            <a:extLst>
              <a:ext uri="{FF2B5EF4-FFF2-40B4-BE49-F238E27FC236}">
                <a16:creationId xmlns:a16="http://schemas.microsoft.com/office/drawing/2014/main" id="{7B7229FB-D520-414E-8025-F1A1D79B1949}"/>
              </a:ext>
            </a:extLst>
          </p:cNvPr>
          <p:cNvSpPr>
            <a:spLocks noGrp="1"/>
          </p:cNvSpPr>
          <p:nvPr>
            <p:ph sz="half" idx="2"/>
          </p:nvPr>
        </p:nvSpPr>
        <p:spPr>
          <a:xfrm>
            <a:off x="1520952" y="1674100"/>
            <a:ext cx="4498848" cy="3690257"/>
          </a:xfrm>
        </p:spPr>
        <p:txBody>
          <a:bodyPr/>
          <a:lstStyle/>
          <a:p>
            <a:endParaRPr lang="en-US" dirty="0">
              <a:latin typeface="+mj-lt"/>
            </a:endParaRPr>
          </a:p>
          <a:p>
            <a:pPr marL="45720" indent="0">
              <a:buNone/>
            </a:pPr>
            <a:endParaRPr lang="en-US" dirty="0">
              <a:latin typeface="+mj-lt"/>
            </a:endParaRPr>
          </a:p>
          <a:p>
            <a:pPr marL="45720" indent="0">
              <a:buNone/>
            </a:pPr>
            <a:r>
              <a:rPr lang="en-US" dirty="0">
                <a:latin typeface="+mj-lt"/>
              </a:rPr>
              <a:t>Cambio dentro de </a:t>
            </a:r>
            <a:r>
              <a:rPr lang="en-US" dirty="0" err="1">
                <a:latin typeface="+mj-lt"/>
              </a:rPr>
              <a:t>cada</a:t>
            </a:r>
            <a:r>
              <a:rPr lang="en-US" dirty="0">
                <a:latin typeface="+mj-lt"/>
              </a:rPr>
              <a:t> </a:t>
            </a:r>
            <a:r>
              <a:rPr lang="en-US" dirty="0" err="1">
                <a:latin typeface="+mj-lt"/>
              </a:rPr>
              <a:t>individuo</a:t>
            </a:r>
            <a:endParaRPr lang="en-US" dirty="0">
              <a:latin typeface="+mj-lt"/>
            </a:endParaRPr>
          </a:p>
          <a:p>
            <a:endParaRPr lang="es-ES_tradnl" dirty="0">
              <a:effectLst/>
              <a:latin typeface="Cambria" panose="02040503050406030204" pitchFamily="18" charset="0"/>
              <a:ea typeface="Calibri" panose="020F0502020204030204" pitchFamily="34" charset="0"/>
              <a:cs typeface="Cambria" panose="02040503050406030204" pitchFamily="18" charset="0"/>
            </a:endParaRPr>
          </a:p>
          <a:p>
            <a:endParaRPr lang="es-ES_tradnl" dirty="0">
              <a:latin typeface="Cambria" panose="02040503050406030204" pitchFamily="18" charset="0"/>
              <a:ea typeface="Calibri" panose="020F0502020204030204" pitchFamily="34" charset="0"/>
              <a:cs typeface="Cambria" panose="02040503050406030204" pitchFamily="18" charset="0"/>
            </a:endParaRPr>
          </a:p>
          <a:p>
            <a:endParaRPr lang="es-ES_tradnl" dirty="0">
              <a:effectLst/>
              <a:latin typeface="Cambria" panose="02040503050406030204" pitchFamily="18" charset="0"/>
              <a:ea typeface="Calibri" panose="020F0502020204030204" pitchFamily="34" charset="0"/>
              <a:cs typeface="Cambria" panose="02040503050406030204" pitchFamily="18" charset="0"/>
            </a:endParaRPr>
          </a:p>
        </p:txBody>
      </p:sp>
      <p:sp>
        <p:nvSpPr>
          <p:cNvPr id="6" name="Text Placeholder 5">
            <a:extLst>
              <a:ext uri="{FF2B5EF4-FFF2-40B4-BE49-F238E27FC236}">
                <a16:creationId xmlns:a16="http://schemas.microsoft.com/office/drawing/2014/main" id="{170400CD-F0FB-456B-A155-36B2F634A56D}"/>
              </a:ext>
            </a:extLst>
          </p:cNvPr>
          <p:cNvSpPr>
            <a:spLocks noGrp="1"/>
          </p:cNvSpPr>
          <p:nvPr>
            <p:ph type="body" sz="quarter" idx="3"/>
          </p:nvPr>
        </p:nvSpPr>
        <p:spPr/>
        <p:txBody>
          <a:bodyPr>
            <a:normAutofit/>
          </a:bodyPr>
          <a:lstStyle/>
          <a:p>
            <a:r>
              <a:rPr lang="es-ES" sz="2000" dirty="0"/>
              <a:t>¿Qué predice diferencias entre las personas en sus cambios?</a:t>
            </a:r>
            <a:endParaRPr lang="en-US" sz="2000" dirty="0"/>
          </a:p>
        </p:txBody>
      </p:sp>
      <p:sp>
        <p:nvSpPr>
          <p:cNvPr id="7" name="Content Placeholder 6">
            <a:extLst>
              <a:ext uri="{FF2B5EF4-FFF2-40B4-BE49-F238E27FC236}">
                <a16:creationId xmlns:a16="http://schemas.microsoft.com/office/drawing/2014/main" id="{2D1B5363-14F7-4EC3-83D0-83D06C73F13E}"/>
              </a:ext>
            </a:extLst>
          </p:cNvPr>
          <p:cNvSpPr>
            <a:spLocks noGrp="1"/>
          </p:cNvSpPr>
          <p:nvPr>
            <p:ph sz="quarter" idx="4"/>
          </p:nvPr>
        </p:nvSpPr>
        <p:spPr>
          <a:xfrm>
            <a:off x="6096000" y="1586858"/>
            <a:ext cx="4734910" cy="3690257"/>
          </a:xfrm>
        </p:spPr>
        <p:txBody>
          <a:bodyPr/>
          <a:lstStyle/>
          <a:p>
            <a:endParaRPr lang="en-US" dirty="0"/>
          </a:p>
          <a:p>
            <a:endParaRPr lang="en-US" dirty="0"/>
          </a:p>
          <a:p>
            <a:pPr marL="45720" indent="0">
              <a:buNone/>
            </a:pPr>
            <a:r>
              <a:rPr lang="es-ES_tradnl" dirty="0">
                <a:latin typeface="+mj-lt"/>
              </a:rPr>
              <a:t>Diferencias inter-individuales en el cambio</a:t>
            </a:r>
            <a:endParaRPr lang="en-US" dirty="0">
              <a:latin typeface="+mj-lt"/>
            </a:endParaRPr>
          </a:p>
        </p:txBody>
      </p:sp>
      <p:pic>
        <p:nvPicPr>
          <p:cNvPr id="10" name="Imagen 9" descr="Gráfico&#10;&#10;Descripción generada automáticamente">
            <a:extLst>
              <a:ext uri="{FF2B5EF4-FFF2-40B4-BE49-F238E27FC236}">
                <a16:creationId xmlns:a16="http://schemas.microsoft.com/office/drawing/2014/main" id="{A65D1E30-63F9-469E-8363-CA2DCC8622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06717" y="3209682"/>
            <a:ext cx="5943599" cy="3337795"/>
          </a:xfrm>
          <a:prstGeom prst="rect">
            <a:avLst/>
          </a:prstGeom>
        </p:spPr>
      </p:pic>
    </p:spTree>
    <p:extLst>
      <p:ext uri="{BB962C8B-B14F-4D97-AF65-F5344CB8AC3E}">
        <p14:creationId xmlns:p14="http://schemas.microsoft.com/office/powerpoint/2010/main" val="41480000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DC783-96C9-4F1A-BFAB-E8C595CEF2E8}"/>
              </a:ext>
            </a:extLst>
          </p:cNvPr>
          <p:cNvSpPr>
            <a:spLocks noGrp="1"/>
          </p:cNvSpPr>
          <p:nvPr>
            <p:ph type="title"/>
          </p:nvPr>
        </p:nvSpPr>
        <p:spPr>
          <a:xfrm>
            <a:off x="1520952" y="49173"/>
            <a:ext cx="9144000" cy="1143000"/>
          </a:xfrm>
        </p:spPr>
        <p:txBody>
          <a:bodyPr/>
          <a:lstStyle/>
          <a:p>
            <a:r>
              <a:rPr lang="en-US" dirty="0" err="1"/>
              <a:t>tipos</a:t>
            </a:r>
            <a:r>
              <a:rPr lang="en-US" dirty="0"/>
              <a:t> de </a:t>
            </a:r>
            <a:r>
              <a:rPr lang="en-US" dirty="0" err="1"/>
              <a:t>preguntas</a:t>
            </a:r>
            <a:endParaRPr lang="en-US" dirty="0"/>
          </a:p>
        </p:txBody>
      </p:sp>
      <p:sp>
        <p:nvSpPr>
          <p:cNvPr id="4" name="Text Placeholder 3">
            <a:extLst>
              <a:ext uri="{FF2B5EF4-FFF2-40B4-BE49-F238E27FC236}">
                <a16:creationId xmlns:a16="http://schemas.microsoft.com/office/drawing/2014/main" id="{8132DBAD-5198-4AB1-9BF2-3D14550B5239}"/>
              </a:ext>
            </a:extLst>
          </p:cNvPr>
          <p:cNvSpPr>
            <a:spLocks noGrp="1"/>
          </p:cNvSpPr>
          <p:nvPr>
            <p:ph type="body" idx="1"/>
          </p:nvPr>
        </p:nvSpPr>
        <p:spPr/>
        <p:txBody>
          <a:bodyPr>
            <a:normAutofit/>
          </a:bodyPr>
          <a:lstStyle/>
          <a:p>
            <a:r>
              <a:rPr lang="es-ES" sz="2000" dirty="0"/>
              <a:t>¿Cómo cambia cada persona con el tiempo?</a:t>
            </a:r>
            <a:endParaRPr lang="en-US" sz="2000" dirty="0"/>
          </a:p>
        </p:txBody>
      </p:sp>
      <p:sp>
        <p:nvSpPr>
          <p:cNvPr id="5" name="Content Placeholder 4">
            <a:extLst>
              <a:ext uri="{FF2B5EF4-FFF2-40B4-BE49-F238E27FC236}">
                <a16:creationId xmlns:a16="http://schemas.microsoft.com/office/drawing/2014/main" id="{7B7229FB-D520-414E-8025-F1A1D79B1949}"/>
              </a:ext>
            </a:extLst>
          </p:cNvPr>
          <p:cNvSpPr>
            <a:spLocks noGrp="1"/>
          </p:cNvSpPr>
          <p:nvPr>
            <p:ph sz="half" idx="2"/>
          </p:nvPr>
        </p:nvSpPr>
        <p:spPr>
          <a:xfrm>
            <a:off x="1520952" y="1674100"/>
            <a:ext cx="4498848" cy="3690257"/>
          </a:xfrm>
        </p:spPr>
        <p:txBody>
          <a:bodyPr/>
          <a:lstStyle/>
          <a:p>
            <a:endParaRPr lang="en-US" dirty="0"/>
          </a:p>
          <a:p>
            <a:endParaRPr lang="en-US" dirty="0"/>
          </a:p>
          <a:p>
            <a:pPr marL="45720" indent="0">
              <a:buNone/>
            </a:pPr>
            <a:r>
              <a:rPr lang="en-US" dirty="0">
                <a:latin typeface="+mj-lt"/>
              </a:rPr>
              <a:t>Cambio dentro de </a:t>
            </a:r>
            <a:r>
              <a:rPr lang="en-US" dirty="0" err="1">
                <a:latin typeface="+mj-lt"/>
              </a:rPr>
              <a:t>cada</a:t>
            </a:r>
            <a:r>
              <a:rPr lang="en-US" dirty="0">
                <a:latin typeface="+mj-lt"/>
              </a:rPr>
              <a:t> </a:t>
            </a:r>
            <a:r>
              <a:rPr lang="en-US" dirty="0" err="1">
                <a:latin typeface="+mj-lt"/>
              </a:rPr>
              <a:t>individuo</a:t>
            </a:r>
            <a:endParaRPr lang="en-US" dirty="0">
              <a:latin typeface="+mj-lt"/>
            </a:endParaRPr>
          </a:p>
          <a:p>
            <a:endParaRPr lang="es-ES_tradnl" dirty="0">
              <a:effectLst/>
              <a:latin typeface="Cambria" panose="02040503050406030204" pitchFamily="18" charset="0"/>
              <a:ea typeface="Calibri" panose="020F0502020204030204" pitchFamily="34" charset="0"/>
              <a:cs typeface="Cambria" panose="02040503050406030204" pitchFamily="18" charset="0"/>
            </a:endParaRPr>
          </a:p>
          <a:p>
            <a:endParaRPr lang="es-ES_tradnl" dirty="0">
              <a:latin typeface="Cambria" panose="02040503050406030204" pitchFamily="18" charset="0"/>
              <a:ea typeface="Calibri" panose="020F0502020204030204" pitchFamily="34" charset="0"/>
              <a:cs typeface="Cambria" panose="02040503050406030204" pitchFamily="18" charset="0"/>
            </a:endParaRPr>
          </a:p>
          <a:p>
            <a:endParaRPr lang="es-ES_tradnl" dirty="0">
              <a:effectLst/>
              <a:latin typeface="Cambria" panose="02040503050406030204" pitchFamily="18" charset="0"/>
              <a:ea typeface="Calibri" panose="020F0502020204030204" pitchFamily="34" charset="0"/>
              <a:cs typeface="Cambria" panose="02040503050406030204" pitchFamily="18" charset="0"/>
            </a:endParaRPr>
          </a:p>
        </p:txBody>
      </p:sp>
      <p:sp>
        <p:nvSpPr>
          <p:cNvPr id="6" name="Text Placeholder 5">
            <a:extLst>
              <a:ext uri="{FF2B5EF4-FFF2-40B4-BE49-F238E27FC236}">
                <a16:creationId xmlns:a16="http://schemas.microsoft.com/office/drawing/2014/main" id="{170400CD-F0FB-456B-A155-36B2F634A56D}"/>
              </a:ext>
            </a:extLst>
          </p:cNvPr>
          <p:cNvSpPr>
            <a:spLocks noGrp="1"/>
          </p:cNvSpPr>
          <p:nvPr>
            <p:ph type="body" sz="quarter" idx="3"/>
          </p:nvPr>
        </p:nvSpPr>
        <p:spPr/>
        <p:txBody>
          <a:bodyPr>
            <a:normAutofit/>
          </a:bodyPr>
          <a:lstStyle/>
          <a:p>
            <a:r>
              <a:rPr lang="es-ES" sz="2000" dirty="0"/>
              <a:t>¿Qué predice diferencias entre las personas en sus cambios?</a:t>
            </a:r>
            <a:endParaRPr lang="en-US" sz="2000" dirty="0"/>
          </a:p>
        </p:txBody>
      </p:sp>
      <p:sp>
        <p:nvSpPr>
          <p:cNvPr id="7" name="Content Placeholder 6">
            <a:extLst>
              <a:ext uri="{FF2B5EF4-FFF2-40B4-BE49-F238E27FC236}">
                <a16:creationId xmlns:a16="http://schemas.microsoft.com/office/drawing/2014/main" id="{2D1B5363-14F7-4EC3-83D0-83D06C73F13E}"/>
              </a:ext>
            </a:extLst>
          </p:cNvPr>
          <p:cNvSpPr>
            <a:spLocks noGrp="1"/>
          </p:cNvSpPr>
          <p:nvPr>
            <p:ph sz="quarter" idx="4"/>
          </p:nvPr>
        </p:nvSpPr>
        <p:spPr>
          <a:xfrm>
            <a:off x="6096000" y="1586858"/>
            <a:ext cx="4498848" cy="3690257"/>
          </a:xfrm>
        </p:spPr>
        <p:txBody>
          <a:bodyPr/>
          <a:lstStyle/>
          <a:p>
            <a:endParaRPr lang="en-US" dirty="0"/>
          </a:p>
          <a:p>
            <a:endParaRPr lang="en-US" dirty="0"/>
          </a:p>
          <a:p>
            <a:pPr marL="45720" indent="0">
              <a:buNone/>
            </a:pPr>
            <a:r>
              <a:rPr lang="es-ES_tradnl" dirty="0">
                <a:latin typeface="+mj-lt"/>
              </a:rPr>
              <a:t>Diferencias inter-individuales en el cambio</a:t>
            </a:r>
            <a:endParaRPr lang="en-US" dirty="0">
              <a:latin typeface="+mj-lt"/>
            </a:endParaRPr>
          </a:p>
        </p:txBody>
      </p:sp>
      <p:sp>
        <p:nvSpPr>
          <p:cNvPr id="10" name="TextBox 14">
            <a:extLst>
              <a:ext uri="{FF2B5EF4-FFF2-40B4-BE49-F238E27FC236}">
                <a16:creationId xmlns:a16="http://schemas.microsoft.com/office/drawing/2014/main" id="{0F87FD79-DC9D-48B9-A0CB-D4B88EE5642B}"/>
              </a:ext>
            </a:extLst>
          </p:cNvPr>
          <p:cNvSpPr txBox="1"/>
          <p:nvPr/>
        </p:nvSpPr>
        <p:spPr>
          <a:xfrm>
            <a:off x="1450848" y="3715428"/>
            <a:ext cx="3858916" cy="923330"/>
          </a:xfrm>
          <a:prstGeom prst="rect">
            <a:avLst/>
          </a:prstGeom>
          <a:noFill/>
        </p:spPr>
        <p:txBody>
          <a:bodyPr wrap="square">
            <a:spAutoFit/>
          </a:bodyPr>
          <a:lstStyle/>
          <a:p>
            <a:pPr algn="ctr"/>
            <a:r>
              <a:rPr lang="es-ES_tradnl" i="1" dirty="0">
                <a:effectLst/>
                <a:latin typeface="+mj-lt"/>
                <a:ea typeface="Calibri" panose="020F0502020204030204" pitchFamily="34" charset="0"/>
                <a:cs typeface="Cambria" panose="02040503050406030204" pitchFamily="18" charset="0"/>
              </a:rPr>
              <a:t>¿Cómo cambia la capacidad de lectura de cada niño/a entre los 6 y los 16 años?</a:t>
            </a:r>
            <a:endParaRPr lang="en-US" i="1" dirty="0">
              <a:latin typeface="+mj-lt"/>
            </a:endParaRPr>
          </a:p>
        </p:txBody>
      </p:sp>
      <p:sp>
        <p:nvSpPr>
          <p:cNvPr id="11" name="TextBox 16">
            <a:extLst>
              <a:ext uri="{FF2B5EF4-FFF2-40B4-BE49-F238E27FC236}">
                <a16:creationId xmlns:a16="http://schemas.microsoft.com/office/drawing/2014/main" id="{55BBFE40-2A7F-4D92-96D5-9E17C16AD57C}"/>
              </a:ext>
            </a:extLst>
          </p:cNvPr>
          <p:cNvSpPr txBox="1"/>
          <p:nvPr/>
        </p:nvSpPr>
        <p:spPr>
          <a:xfrm>
            <a:off x="6102096" y="3702137"/>
            <a:ext cx="4492752" cy="1200329"/>
          </a:xfrm>
          <a:prstGeom prst="rect">
            <a:avLst/>
          </a:prstGeom>
          <a:noFill/>
        </p:spPr>
        <p:txBody>
          <a:bodyPr wrap="square">
            <a:spAutoFit/>
          </a:bodyPr>
          <a:lstStyle/>
          <a:p>
            <a:pPr algn="ctr"/>
            <a:r>
              <a:rPr lang="es-ES_tradnl" i="1" dirty="0">
                <a:effectLst/>
                <a:latin typeface="+mj-lt"/>
                <a:ea typeface="Calibri" panose="020F0502020204030204" pitchFamily="34" charset="0"/>
                <a:cs typeface="Cambria" panose="02040503050406030204" pitchFamily="18" charset="0"/>
              </a:rPr>
              <a:t>¿Se puede predecir diferencias en los cambios que toman lugar entre los 6 y los 16 años de acuerdo con la presencia o ausencia de un discapacidad en la lectura?</a:t>
            </a:r>
            <a:endParaRPr lang="en-US" i="1" dirty="0">
              <a:latin typeface="+mj-lt"/>
            </a:endParaRPr>
          </a:p>
        </p:txBody>
      </p:sp>
    </p:spTree>
    <p:extLst>
      <p:ext uri="{BB962C8B-B14F-4D97-AF65-F5344CB8AC3E}">
        <p14:creationId xmlns:p14="http://schemas.microsoft.com/office/powerpoint/2010/main" val="20859386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90600" y="1143000"/>
            <a:ext cx="10210800" cy="3915816"/>
          </a:xfrm>
          <a:prstGeom prst="rect">
            <a:avLst/>
          </a:prstGeom>
        </p:spPr>
        <p:txBody>
          <a:bodyPr vert="horz" wrap="square" lIns="0" tIns="12065" rIns="0" bIns="0" rtlCol="0">
            <a:spAutoFit/>
          </a:bodyPr>
          <a:lstStyle/>
          <a:p>
            <a:pPr marL="241300" indent="-229235">
              <a:lnSpc>
                <a:spcPct val="100000"/>
              </a:lnSpc>
              <a:spcBef>
                <a:spcPts val="95"/>
              </a:spcBef>
              <a:buFont typeface="Arial"/>
              <a:buChar char="•"/>
              <a:tabLst>
                <a:tab pos="241935" algn="l"/>
              </a:tabLst>
            </a:pPr>
            <a:r>
              <a:rPr sz="2800" kern="0" dirty="0">
                <a:solidFill>
                  <a:srgbClr val="333399"/>
                </a:solidFill>
                <a:latin typeface="+mj-lt"/>
                <a:ea typeface="+mj-ea"/>
                <a:cs typeface="Calibri Light"/>
              </a:rPr>
              <a:t>Cambio intra</a:t>
            </a:r>
            <a:r>
              <a:rPr lang="es-CL" sz="2800" kern="0" dirty="0">
                <a:solidFill>
                  <a:srgbClr val="333399"/>
                </a:solidFill>
                <a:latin typeface="+mj-lt"/>
                <a:ea typeface="+mj-ea"/>
                <a:cs typeface="Calibri Light"/>
              </a:rPr>
              <a:t>-</a:t>
            </a:r>
            <a:r>
              <a:rPr sz="2800" kern="0" dirty="0">
                <a:solidFill>
                  <a:srgbClr val="333399"/>
                </a:solidFill>
                <a:latin typeface="+mj-lt"/>
                <a:ea typeface="+mj-ea"/>
                <a:cs typeface="Calibri Light"/>
              </a:rPr>
              <a:t>individual</a:t>
            </a:r>
            <a:r>
              <a:rPr lang="es-CL" sz="2800" kern="0" dirty="0">
                <a:solidFill>
                  <a:srgbClr val="333399"/>
                </a:solidFill>
                <a:latin typeface="+mj-lt"/>
                <a:ea typeface="+mj-ea"/>
                <a:cs typeface="Calibri Light"/>
              </a:rPr>
              <a:t>: </a:t>
            </a:r>
          </a:p>
          <a:p>
            <a:pPr marL="469265" lvl="1">
              <a:spcBef>
                <a:spcPts val="95"/>
              </a:spcBef>
              <a:tabLst>
                <a:tab pos="241935" algn="l"/>
              </a:tabLst>
            </a:pPr>
            <a:r>
              <a:rPr lang="es-CL" sz="2800" kern="0" dirty="0">
                <a:latin typeface="+mj-lt"/>
                <a:ea typeface="+mj-ea"/>
                <a:cs typeface="Calibri Light"/>
              </a:rPr>
              <a:t>- F</a:t>
            </a:r>
            <a:r>
              <a:rPr sz="2800" kern="0" dirty="0" err="1">
                <a:latin typeface="+mj-lt"/>
                <a:ea typeface="+mj-ea"/>
                <a:cs typeface="Calibri Light"/>
              </a:rPr>
              <a:t>ases</a:t>
            </a:r>
            <a:r>
              <a:rPr sz="2800" kern="0" dirty="0">
                <a:latin typeface="+mj-lt"/>
                <a:ea typeface="+mj-ea"/>
                <a:cs typeface="Calibri Light"/>
              </a:rPr>
              <a:t> de continuidad/</a:t>
            </a:r>
            <a:r>
              <a:rPr sz="2800" kern="0" dirty="0" err="1">
                <a:latin typeface="+mj-lt"/>
                <a:ea typeface="+mj-ea"/>
                <a:cs typeface="Calibri Light"/>
              </a:rPr>
              <a:t>discontinuidad</a:t>
            </a:r>
            <a:endParaRPr lang="es-CL" sz="2800" kern="0" dirty="0">
              <a:latin typeface="+mj-lt"/>
              <a:ea typeface="+mj-ea"/>
              <a:cs typeface="Calibri Light"/>
            </a:endParaRPr>
          </a:p>
          <a:p>
            <a:pPr marL="469265" lvl="1">
              <a:spcBef>
                <a:spcPts val="95"/>
              </a:spcBef>
              <a:tabLst>
                <a:tab pos="241935" algn="l"/>
              </a:tabLst>
            </a:pPr>
            <a:r>
              <a:rPr lang="es-CL" sz="2800" kern="0" dirty="0">
                <a:latin typeface="+mj-lt"/>
                <a:ea typeface="+mj-ea"/>
                <a:cs typeface="Calibri Light"/>
              </a:rPr>
              <a:t>- Cómo cambia una persona a lo largo del tiempo en un atributo</a:t>
            </a:r>
            <a:endParaRPr sz="2800" kern="0" dirty="0">
              <a:latin typeface="+mj-lt"/>
              <a:ea typeface="+mj-ea"/>
              <a:cs typeface="Calibri Light"/>
            </a:endParaRPr>
          </a:p>
          <a:p>
            <a:pPr>
              <a:lnSpc>
                <a:spcPct val="100000"/>
              </a:lnSpc>
              <a:spcBef>
                <a:spcPts val="35"/>
              </a:spcBef>
              <a:buFont typeface="Arial"/>
              <a:buChar char="•"/>
            </a:pPr>
            <a:endParaRPr sz="2800" kern="0" dirty="0">
              <a:latin typeface="+mj-lt"/>
              <a:ea typeface="+mj-ea"/>
              <a:cs typeface="Calibri Light"/>
            </a:endParaRPr>
          </a:p>
          <a:p>
            <a:pPr marL="241300" indent="-229235">
              <a:lnSpc>
                <a:spcPct val="100000"/>
              </a:lnSpc>
              <a:buFont typeface="Arial"/>
              <a:buChar char="•"/>
              <a:tabLst>
                <a:tab pos="241935" algn="l"/>
              </a:tabLst>
            </a:pPr>
            <a:r>
              <a:rPr lang="es-CL" sz="2800" kern="0" dirty="0">
                <a:solidFill>
                  <a:srgbClr val="333399"/>
                </a:solidFill>
                <a:latin typeface="+mj-lt"/>
                <a:ea typeface="+mj-ea"/>
                <a:cs typeface="Calibri Light"/>
              </a:rPr>
              <a:t> Cambio inter-</a:t>
            </a:r>
            <a:r>
              <a:rPr sz="2800" kern="0" dirty="0">
                <a:solidFill>
                  <a:srgbClr val="333399"/>
                </a:solidFill>
                <a:latin typeface="+mj-lt"/>
                <a:ea typeface="+mj-ea"/>
                <a:cs typeface="Calibri Light"/>
              </a:rPr>
              <a:t>individual</a:t>
            </a:r>
            <a:r>
              <a:rPr lang="es-CL" sz="2800" kern="0" dirty="0">
                <a:solidFill>
                  <a:srgbClr val="333399"/>
                </a:solidFill>
                <a:latin typeface="+mj-lt"/>
                <a:ea typeface="+mj-ea"/>
                <a:cs typeface="Calibri Light"/>
              </a:rPr>
              <a:t>: </a:t>
            </a:r>
          </a:p>
          <a:p>
            <a:pPr marL="469265" lvl="1">
              <a:tabLst>
                <a:tab pos="241935" algn="l"/>
              </a:tabLst>
            </a:pPr>
            <a:r>
              <a:rPr lang="es-CL" sz="2800" kern="0" dirty="0">
                <a:latin typeface="+mj-lt"/>
                <a:ea typeface="+mj-ea"/>
                <a:cs typeface="Calibri Light"/>
              </a:rPr>
              <a:t>- Qué explica que las personas cambien de manera diferente a lo largo del tiempo en ese atributo</a:t>
            </a:r>
          </a:p>
          <a:p>
            <a:pPr marL="469265" lvl="1">
              <a:tabLst>
                <a:tab pos="241935" algn="l"/>
              </a:tabLst>
            </a:pPr>
            <a:r>
              <a:rPr lang="es-CL" sz="2800" kern="0" dirty="0">
                <a:latin typeface="+mj-lt"/>
                <a:ea typeface="+mj-ea"/>
                <a:cs typeface="Calibri Light"/>
              </a:rPr>
              <a:t>- Cómo ese cambio afecta a otros resultados (en otros atributos) en el desarrollo de las personas</a:t>
            </a:r>
            <a:endParaRPr sz="2800" kern="0" dirty="0">
              <a:latin typeface="+mj-lt"/>
              <a:ea typeface="+mj-ea"/>
              <a:cs typeface="Calibri Light"/>
            </a:endParaRPr>
          </a:p>
        </p:txBody>
      </p:sp>
    </p:spTree>
    <p:extLst>
      <p:ext uri="{BB962C8B-B14F-4D97-AF65-F5344CB8AC3E}">
        <p14:creationId xmlns:p14="http://schemas.microsoft.com/office/powerpoint/2010/main" val="11879251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1E5EC689-DAFD-4F03-8073-C47BE054DAB7}"/>
              </a:ext>
            </a:extLst>
          </p:cNvPr>
          <p:cNvPicPr>
            <a:picLocks noChangeAspect="1"/>
          </p:cNvPicPr>
          <p:nvPr/>
        </p:nvPicPr>
        <p:blipFill>
          <a:blip r:embed="rId3"/>
          <a:stretch>
            <a:fillRect/>
          </a:stretch>
        </p:blipFill>
        <p:spPr>
          <a:xfrm>
            <a:off x="120650" y="109807"/>
            <a:ext cx="11950700" cy="6363748"/>
          </a:xfrm>
          <a:prstGeom prst="rect">
            <a:avLst/>
          </a:prstGeom>
          <a:noFill/>
        </p:spPr>
      </p:pic>
      <p:pic>
        <p:nvPicPr>
          <p:cNvPr id="21" name="Picture 20">
            <a:extLst>
              <a:ext uri="{FF2B5EF4-FFF2-40B4-BE49-F238E27FC236}">
                <a16:creationId xmlns:a16="http://schemas.microsoft.com/office/drawing/2014/main" id="{BDF409AC-C5AB-4F01-A602-5057878EFE29}"/>
              </a:ext>
            </a:extLst>
          </p:cNvPr>
          <p:cNvPicPr>
            <a:picLocks noChangeAspect="1"/>
          </p:cNvPicPr>
          <p:nvPr/>
        </p:nvPicPr>
        <p:blipFill rotWithShape="1">
          <a:blip r:embed="rId4"/>
          <a:srcRect l="33004" t="66164"/>
          <a:stretch/>
        </p:blipFill>
        <p:spPr>
          <a:xfrm>
            <a:off x="4358640" y="3429000"/>
            <a:ext cx="1200150" cy="346356"/>
          </a:xfrm>
          <a:prstGeom prst="rect">
            <a:avLst/>
          </a:prstGeom>
        </p:spPr>
      </p:pic>
      <p:pic>
        <p:nvPicPr>
          <p:cNvPr id="23" name="Picture 22">
            <a:extLst>
              <a:ext uri="{FF2B5EF4-FFF2-40B4-BE49-F238E27FC236}">
                <a16:creationId xmlns:a16="http://schemas.microsoft.com/office/drawing/2014/main" id="{547C582E-A6F6-42C3-9F0A-DD9170E2C0F5}"/>
              </a:ext>
            </a:extLst>
          </p:cNvPr>
          <p:cNvPicPr>
            <a:picLocks noChangeAspect="1"/>
          </p:cNvPicPr>
          <p:nvPr/>
        </p:nvPicPr>
        <p:blipFill rotWithShape="1">
          <a:blip r:embed="rId4"/>
          <a:srcRect l="33004" t="33410" b="29866"/>
          <a:stretch/>
        </p:blipFill>
        <p:spPr>
          <a:xfrm>
            <a:off x="6827520" y="2915761"/>
            <a:ext cx="1200150" cy="375920"/>
          </a:xfrm>
          <a:prstGeom prst="rect">
            <a:avLst/>
          </a:prstGeom>
        </p:spPr>
      </p:pic>
      <p:pic>
        <p:nvPicPr>
          <p:cNvPr id="25" name="Picture 24">
            <a:extLst>
              <a:ext uri="{FF2B5EF4-FFF2-40B4-BE49-F238E27FC236}">
                <a16:creationId xmlns:a16="http://schemas.microsoft.com/office/drawing/2014/main" id="{80FD2F4F-5C01-4B04-B596-8F129ADFD9B2}"/>
              </a:ext>
            </a:extLst>
          </p:cNvPr>
          <p:cNvPicPr>
            <a:picLocks noChangeAspect="1"/>
          </p:cNvPicPr>
          <p:nvPr/>
        </p:nvPicPr>
        <p:blipFill rotWithShape="1">
          <a:blip r:embed="rId4"/>
          <a:srcRect l="33004" b="66590"/>
          <a:stretch/>
        </p:blipFill>
        <p:spPr>
          <a:xfrm>
            <a:off x="8270240" y="4179205"/>
            <a:ext cx="1200150" cy="341995"/>
          </a:xfrm>
          <a:prstGeom prst="rect">
            <a:avLst/>
          </a:prstGeom>
        </p:spPr>
      </p:pic>
      <p:sp>
        <p:nvSpPr>
          <p:cNvPr id="27" name="TextBox 26">
            <a:extLst>
              <a:ext uri="{FF2B5EF4-FFF2-40B4-BE49-F238E27FC236}">
                <a16:creationId xmlns:a16="http://schemas.microsoft.com/office/drawing/2014/main" id="{A7EE83C9-597C-4144-879C-7DB1766523D1}"/>
              </a:ext>
            </a:extLst>
          </p:cNvPr>
          <p:cNvSpPr txBox="1"/>
          <p:nvPr/>
        </p:nvSpPr>
        <p:spPr>
          <a:xfrm>
            <a:off x="9596761" y="303981"/>
            <a:ext cx="2595239" cy="1223412"/>
          </a:xfrm>
          <a:prstGeom prst="rect">
            <a:avLst/>
          </a:prstGeom>
          <a:noFill/>
        </p:spPr>
        <p:txBody>
          <a:bodyPr wrap="square">
            <a:spAutoFit/>
          </a:bodyPr>
          <a:lstStyle/>
          <a:p>
            <a:pPr algn="r"/>
            <a:r>
              <a:rPr lang="en-US" sz="1050" b="0" i="0" dirty="0" err="1">
                <a:solidFill>
                  <a:srgbClr val="222222"/>
                </a:solidFill>
                <a:effectLst/>
                <a:latin typeface="Arial" panose="020B0604020202020204" pitchFamily="34" charset="0"/>
              </a:rPr>
              <a:t>Wanner</a:t>
            </a:r>
            <a:r>
              <a:rPr lang="en-US" sz="1050" b="0" i="0" dirty="0">
                <a:solidFill>
                  <a:srgbClr val="222222"/>
                </a:solidFill>
                <a:effectLst/>
                <a:latin typeface="Arial" panose="020B0604020202020204" pitchFamily="34" charset="0"/>
              </a:rPr>
              <a:t>, B., </a:t>
            </a:r>
            <a:r>
              <a:rPr lang="en-US" sz="1050" b="0" i="0" dirty="0" err="1">
                <a:solidFill>
                  <a:srgbClr val="222222"/>
                </a:solidFill>
                <a:effectLst/>
                <a:latin typeface="Arial" panose="020B0604020202020204" pitchFamily="34" charset="0"/>
              </a:rPr>
              <a:t>Vitaro</a:t>
            </a:r>
            <a:r>
              <a:rPr lang="en-US" sz="1050" b="0" i="0" dirty="0">
                <a:solidFill>
                  <a:srgbClr val="222222"/>
                </a:solidFill>
                <a:effectLst/>
                <a:latin typeface="Arial" panose="020B0604020202020204" pitchFamily="34" charset="0"/>
              </a:rPr>
              <a:t>, F., Ladouceur, R., </a:t>
            </a:r>
            <a:r>
              <a:rPr lang="en-US" sz="1050" b="0" i="0" dirty="0" err="1">
                <a:solidFill>
                  <a:srgbClr val="222222"/>
                </a:solidFill>
                <a:effectLst/>
                <a:latin typeface="Arial" panose="020B0604020202020204" pitchFamily="34" charset="0"/>
              </a:rPr>
              <a:t>Brendgen</a:t>
            </a:r>
            <a:r>
              <a:rPr lang="en-US" sz="1050" b="0" i="0" dirty="0">
                <a:solidFill>
                  <a:srgbClr val="222222"/>
                </a:solidFill>
                <a:effectLst/>
                <a:latin typeface="Arial" panose="020B0604020202020204" pitchFamily="34" charset="0"/>
              </a:rPr>
              <a:t>, M., &amp; Tremblay, R. E. (2006). Joint trajectories of gambling, alcohol and marijuana use during adolescence: A person-and variable-centered developmental approach. </a:t>
            </a:r>
            <a:r>
              <a:rPr lang="en-US" sz="1050" b="0" i="1" dirty="0">
                <a:solidFill>
                  <a:srgbClr val="222222"/>
                </a:solidFill>
                <a:effectLst/>
                <a:latin typeface="Arial" panose="020B0604020202020204" pitchFamily="34" charset="0"/>
              </a:rPr>
              <a:t>Addictive Behaviors</a:t>
            </a:r>
            <a:r>
              <a:rPr lang="en-US" sz="1050" b="0" i="0" dirty="0">
                <a:solidFill>
                  <a:srgbClr val="222222"/>
                </a:solidFill>
                <a:effectLst/>
                <a:latin typeface="Arial" panose="020B0604020202020204" pitchFamily="34" charset="0"/>
              </a:rPr>
              <a:t>, </a:t>
            </a:r>
            <a:r>
              <a:rPr lang="en-US" sz="1050" b="0" i="1" dirty="0">
                <a:solidFill>
                  <a:srgbClr val="222222"/>
                </a:solidFill>
                <a:effectLst/>
                <a:latin typeface="Arial" panose="020B0604020202020204" pitchFamily="34" charset="0"/>
              </a:rPr>
              <a:t>31</a:t>
            </a:r>
            <a:r>
              <a:rPr lang="en-US" sz="1050" b="0" i="0" dirty="0">
                <a:solidFill>
                  <a:srgbClr val="222222"/>
                </a:solidFill>
                <a:effectLst/>
                <a:latin typeface="Arial" panose="020B0604020202020204" pitchFamily="34" charset="0"/>
              </a:rPr>
              <a:t>(4), 566-580.</a:t>
            </a:r>
            <a:endParaRPr lang="en-US" sz="1050" dirty="0"/>
          </a:p>
        </p:txBody>
      </p:sp>
    </p:spTree>
    <p:extLst>
      <p:ext uri="{BB962C8B-B14F-4D97-AF65-F5344CB8AC3E}">
        <p14:creationId xmlns:p14="http://schemas.microsoft.com/office/powerpoint/2010/main" val="37596863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1426464" y="2199132"/>
            <a:ext cx="9144000" cy="4457700"/>
          </a:xfrm>
        </p:spPr>
        <p:txBody>
          <a:bodyPr/>
          <a:lstStyle/>
          <a:p>
            <a:r>
              <a:rPr lang="es-ES" dirty="0">
                <a:solidFill>
                  <a:srgbClr val="333399"/>
                </a:solidFill>
                <a:latin typeface="+mj-lt"/>
              </a:rPr>
              <a:t>¿Cómo ha cambiado la opinión de las personas sobre qué votar en las elecciones presidenciales del 2025?</a:t>
            </a:r>
          </a:p>
          <a:p>
            <a:endParaRPr lang="es-ES" dirty="0">
              <a:solidFill>
                <a:srgbClr val="333399"/>
              </a:solidFill>
              <a:latin typeface="+mj-lt"/>
            </a:endParaRPr>
          </a:p>
          <a:p>
            <a:r>
              <a:rPr lang="es-ES" dirty="0">
                <a:solidFill>
                  <a:srgbClr val="333399"/>
                </a:solidFill>
                <a:latin typeface="+mj-lt"/>
              </a:rPr>
              <a:t>¿El cambio en la opinión sobre por quién votar, será diferente en función de la comuna de residencia?</a:t>
            </a:r>
            <a:endParaRPr lang="es-CL" dirty="0">
              <a:solidFill>
                <a:srgbClr val="333399"/>
              </a:solidFill>
              <a:latin typeface="+mj-lt"/>
            </a:endParaRPr>
          </a:p>
        </p:txBody>
      </p:sp>
      <p:grpSp>
        <p:nvGrpSpPr>
          <p:cNvPr id="17" name="Grupo 16"/>
          <p:cNvGrpSpPr/>
          <p:nvPr/>
        </p:nvGrpSpPr>
        <p:grpSpPr>
          <a:xfrm>
            <a:off x="-178382" y="4610790"/>
            <a:ext cx="12781862" cy="857322"/>
            <a:chOff x="-589862" y="797742"/>
            <a:chExt cx="12781862" cy="857322"/>
          </a:xfrm>
        </p:grpSpPr>
        <p:cxnSp>
          <p:nvCxnSpPr>
            <p:cNvPr id="6" name="Conector recto de flecha 5"/>
            <p:cNvCxnSpPr/>
            <p:nvPr/>
          </p:nvCxnSpPr>
          <p:spPr>
            <a:xfrm>
              <a:off x="1426464" y="1316736"/>
              <a:ext cx="8732520" cy="9144"/>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8" name="TextBox 14">
              <a:extLst>
                <a:ext uri="{FF2B5EF4-FFF2-40B4-BE49-F238E27FC236}">
                  <a16:creationId xmlns:a16="http://schemas.microsoft.com/office/drawing/2014/main" id="{0F87FD79-DC9D-48B9-A0CB-D4B88EE5642B}"/>
                </a:ext>
              </a:extLst>
            </p:cNvPr>
            <p:cNvSpPr txBox="1"/>
            <p:nvPr/>
          </p:nvSpPr>
          <p:spPr>
            <a:xfrm>
              <a:off x="-589862" y="797742"/>
              <a:ext cx="3858916" cy="369332"/>
            </a:xfrm>
            <a:prstGeom prst="rect">
              <a:avLst/>
            </a:prstGeom>
            <a:noFill/>
          </p:spPr>
          <p:txBody>
            <a:bodyPr wrap="square">
              <a:spAutoFit/>
            </a:bodyPr>
            <a:lstStyle/>
            <a:p>
              <a:pPr algn="ctr"/>
              <a:r>
                <a:rPr lang="es-ES_tradnl" i="1" dirty="0">
                  <a:latin typeface="+mj-lt"/>
                  <a:ea typeface="Calibri" panose="020F0502020204030204" pitchFamily="34" charset="0"/>
                  <a:cs typeface="Cambria" panose="02040503050406030204" pitchFamily="18" charset="0"/>
                </a:rPr>
                <a:t>Marzo</a:t>
              </a:r>
              <a:endParaRPr lang="en-US" i="1" dirty="0">
                <a:latin typeface="+mj-lt"/>
              </a:endParaRPr>
            </a:p>
          </p:txBody>
        </p:sp>
        <p:sp>
          <p:nvSpPr>
            <p:cNvPr id="9" name="TextBox 14">
              <a:extLst>
                <a:ext uri="{FF2B5EF4-FFF2-40B4-BE49-F238E27FC236}">
                  <a16:creationId xmlns:a16="http://schemas.microsoft.com/office/drawing/2014/main" id="{0F87FD79-DC9D-48B9-A0CB-D4B88EE5642B}"/>
                </a:ext>
              </a:extLst>
            </p:cNvPr>
            <p:cNvSpPr txBox="1"/>
            <p:nvPr/>
          </p:nvSpPr>
          <p:spPr>
            <a:xfrm>
              <a:off x="8333084" y="797742"/>
              <a:ext cx="3858916" cy="369332"/>
            </a:xfrm>
            <a:prstGeom prst="rect">
              <a:avLst/>
            </a:prstGeom>
            <a:noFill/>
          </p:spPr>
          <p:txBody>
            <a:bodyPr wrap="square">
              <a:spAutoFit/>
            </a:bodyPr>
            <a:lstStyle/>
            <a:p>
              <a:pPr algn="ctr"/>
              <a:r>
                <a:rPr lang="es-ES_tradnl" i="1" dirty="0">
                  <a:latin typeface="+mj-lt"/>
                </a:rPr>
                <a:t>diciembre</a:t>
              </a:r>
              <a:endParaRPr lang="en-US" i="1" dirty="0">
                <a:latin typeface="+mj-lt"/>
              </a:endParaRPr>
            </a:p>
          </p:txBody>
        </p:sp>
        <p:cxnSp>
          <p:nvCxnSpPr>
            <p:cNvPr id="13" name="Conector recto 12"/>
            <p:cNvCxnSpPr/>
            <p:nvPr/>
          </p:nvCxnSpPr>
          <p:spPr>
            <a:xfrm flipH="1">
              <a:off x="2935224" y="1155930"/>
              <a:ext cx="9144" cy="49913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Conector recto 13"/>
            <p:cNvCxnSpPr/>
            <p:nvPr/>
          </p:nvCxnSpPr>
          <p:spPr>
            <a:xfrm flipH="1">
              <a:off x="3598164" y="1133046"/>
              <a:ext cx="9144" cy="49913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Conector recto 14"/>
            <p:cNvCxnSpPr/>
            <p:nvPr/>
          </p:nvCxnSpPr>
          <p:spPr>
            <a:xfrm flipH="1">
              <a:off x="5865876" y="1130974"/>
              <a:ext cx="9144" cy="49913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Conector recto 15"/>
            <p:cNvCxnSpPr/>
            <p:nvPr/>
          </p:nvCxnSpPr>
          <p:spPr>
            <a:xfrm flipH="1">
              <a:off x="8814816" y="1138773"/>
              <a:ext cx="9144" cy="49913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1026" name="Picture 2" descr="Voting Is Social Work: Empowering ...">
            <a:extLst>
              <a:ext uri="{FF2B5EF4-FFF2-40B4-BE49-F238E27FC236}">
                <a16:creationId xmlns:a16="http://schemas.microsoft.com/office/drawing/2014/main" id="{91308066-B9AB-3A72-400F-E232E93BEF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71509" y="473285"/>
            <a:ext cx="2453910" cy="16329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85122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Placeholder 3">
            <a:extLst>
              <a:ext uri="{FF2B5EF4-FFF2-40B4-BE49-F238E27FC236}">
                <a16:creationId xmlns:a16="http://schemas.microsoft.com/office/drawing/2014/main" id="{6782EAAC-34EA-48DE-A37A-B6F1E70DFF71}"/>
              </a:ext>
            </a:extLst>
          </p:cNvPr>
          <p:cNvSpPr>
            <a:spLocks noGrp="1"/>
          </p:cNvSpPr>
          <p:nvPr>
            <p:ph type="body" idx="1"/>
          </p:nvPr>
        </p:nvSpPr>
        <p:spPr>
          <a:xfrm>
            <a:off x="1527048" y="1733162"/>
            <a:ext cx="4498848" cy="685800"/>
          </a:xfrm>
        </p:spPr>
        <p:txBody>
          <a:bodyPr>
            <a:normAutofit/>
          </a:bodyPr>
          <a:lstStyle/>
          <a:p>
            <a:r>
              <a:rPr lang="es-ES" sz="2000" dirty="0"/>
              <a:t>¿Cómo cambia cada persona con el tiempo?</a:t>
            </a:r>
            <a:endParaRPr lang="en-US" sz="2000" dirty="0"/>
          </a:p>
        </p:txBody>
      </p:sp>
      <p:sp>
        <p:nvSpPr>
          <p:cNvPr id="14" name="Content Placeholder 4">
            <a:extLst>
              <a:ext uri="{FF2B5EF4-FFF2-40B4-BE49-F238E27FC236}">
                <a16:creationId xmlns:a16="http://schemas.microsoft.com/office/drawing/2014/main" id="{A79AD4C8-255A-4CF2-A1E2-E55996EF5B47}"/>
              </a:ext>
            </a:extLst>
          </p:cNvPr>
          <p:cNvSpPr>
            <a:spLocks noGrp="1"/>
          </p:cNvSpPr>
          <p:nvPr>
            <p:ph sz="half" idx="2"/>
          </p:nvPr>
        </p:nvSpPr>
        <p:spPr>
          <a:xfrm>
            <a:off x="1527048" y="2481943"/>
            <a:ext cx="4498848" cy="3690257"/>
          </a:xfrm>
        </p:spPr>
        <p:txBody>
          <a:bodyPr>
            <a:normAutofit/>
          </a:bodyPr>
          <a:lstStyle/>
          <a:p>
            <a:pPr marL="45720" indent="0">
              <a:buNone/>
            </a:pPr>
            <a:r>
              <a:rPr lang="en-US" b="1" dirty="0">
                <a:solidFill>
                  <a:srgbClr val="333399"/>
                </a:solidFill>
                <a:latin typeface="+mj-lt"/>
              </a:rPr>
              <a:t>DESCRIPTIVA</a:t>
            </a:r>
          </a:p>
          <a:p>
            <a:pPr marL="45720" indent="0">
              <a:buNone/>
            </a:pPr>
            <a:r>
              <a:rPr lang="es-ES_tradnl" sz="1800" dirty="0">
                <a:effectLst/>
                <a:latin typeface="+mj-lt"/>
                <a:ea typeface="Calibri" panose="020F0502020204030204" pitchFamily="34" charset="0"/>
                <a:cs typeface="Cambria" panose="02040503050406030204" pitchFamily="18" charset="0"/>
              </a:rPr>
              <a:t>Caractericemos la forma o patrón de cambio de cada persona a lo largo del tiempo. </a:t>
            </a:r>
          </a:p>
          <a:p>
            <a:pPr marL="45720" indent="0">
              <a:buNone/>
            </a:pPr>
            <a:r>
              <a:rPr lang="es-ES_tradnl" sz="1800" dirty="0">
                <a:effectLst/>
                <a:latin typeface="+mj-lt"/>
                <a:ea typeface="Calibri" panose="020F0502020204030204" pitchFamily="34" charset="0"/>
                <a:cs typeface="Cambria" panose="02040503050406030204" pitchFamily="18" charset="0"/>
              </a:rPr>
              <a:t>Por ejemplo, ¿es el cambio lineal o no lineal? </a:t>
            </a:r>
            <a:endParaRPr lang="en-US" dirty="0">
              <a:solidFill>
                <a:srgbClr val="FF0000"/>
              </a:solidFill>
              <a:latin typeface="+mj-lt"/>
            </a:endParaRPr>
          </a:p>
          <a:p>
            <a:endParaRPr lang="es-ES_tradnl" dirty="0">
              <a:effectLst/>
              <a:latin typeface="+mj-lt"/>
              <a:ea typeface="Calibri" panose="020F0502020204030204" pitchFamily="34" charset="0"/>
              <a:cs typeface="Cambria" panose="02040503050406030204" pitchFamily="18" charset="0"/>
            </a:endParaRPr>
          </a:p>
          <a:p>
            <a:endParaRPr lang="es-ES_tradnl" dirty="0">
              <a:latin typeface="+mj-lt"/>
              <a:ea typeface="Calibri" panose="020F0502020204030204" pitchFamily="34" charset="0"/>
              <a:cs typeface="Cambria" panose="02040503050406030204" pitchFamily="18" charset="0"/>
            </a:endParaRPr>
          </a:p>
          <a:p>
            <a:endParaRPr lang="es-ES_tradnl" dirty="0">
              <a:effectLst/>
              <a:latin typeface="+mj-lt"/>
              <a:ea typeface="Calibri" panose="020F0502020204030204" pitchFamily="34" charset="0"/>
              <a:cs typeface="Cambria" panose="02040503050406030204" pitchFamily="18" charset="0"/>
            </a:endParaRPr>
          </a:p>
        </p:txBody>
      </p:sp>
      <p:sp>
        <p:nvSpPr>
          <p:cNvPr id="15" name="Text Placeholder 5">
            <a:extLst>
              <a:ext uri="{FF2B5EF4-FFF2-40B4-BE49-F238E27FC236}">
                <a16:creationId xmlns:a16="http://schemas.microsoft.com/office/drawing/2014/main" id="{122B9421-D6D5-4E6E-B9F0-D8DEB2D36300}"/>
              </a:ext>
            </a:extLst>
          </p:cNvPr>
          <p:cNvSpPr>
            <a:spLocks noGrp="1"/>
          </p:cNvSpPr>
          <p:nvPr>
            <p:ph type="body" sz="quarter" idx="3"/>
          </p:nvPr>
        </p:nvSpPr>
        <p:spPr>
          <a:xfrm>
            <a:off x="6172200" y="1733162"/>
            <a:ext cx="4498848" cy="685800"/>
          </a:xfrm>
        </p:spPr>
        <p:txBody>
          <a:bodyPr>
            <a:normAutofit/>
          </a:bodyPr>
          <a:lstStyle/>
          <a:p>
            <a:r>
              <a:rPr lang="es-ES" sz="2000" dirty="0"/>
              <a:t>¿Qué predice diferencias entre las personas en sus cambios?</a:t>
            </a:r>
            <a:endParaRPr lang="en-US" sz="2000" dirty="0"/>
          </a:p>
        </p:txBody>
      </p:sp>
      <p:sp>
        <p:nvSpPr>
          <p:cNvPr id="16" name="Content Placeholder 6">
            <a:extLst>
              <a:ext uri="{FF2B5EF4-FFF2-40B4-BE49-F238E27FC236}">
                <a16:creationId xmlns:a16="http://schemas.microsoft.com/office/drawing/2014/main" id="{1176C8DA-8B71-4966-9BE6-D7D5A89A0A20}"/>
              </a:ext>
            </a:extLst>
          </p:cNvPr>
          <p:cNvSpPr>
            <a:spLocks noGrp="1"/>
          </p:cNvSpPr>
          <p:nvPr>
            <p:ph sz="quarter" idx="4"/>
          </p:nvPr>
        </p:nvSpPr>
        <p:spPr>
          <a:xfrm>
            <a:off x="6172200" y="2481943"/>
            <a:ext cx="4498848" cy="3690257"/>
          </a:xfrm>
        </p:spPr>
        <p:txBody>
          <a:bodyPr>
            <a:normAutofit/>
          </a:bodyPr>
          <a:lstStyle/>
          <a:p>
            <a:pPr marL="45720" indent="0">
              <a:buNone/>
            </a:pPr>
            <a:r>
              <a:rPr lang="en-US" b="1" dirty="0">
                <a:solidFill>
                  <a:srgbClr val="333399"/>
                </a:solidFill>
                <a:latin typeface="+mj-lt"/>
              </a:rPr>
              <a:t>RELACIONAL</a:t>
            </a:r>
          </a:p>
          <a:p>
            <a:pPr marL="45720" indent="0">
              <a:buNone/>
            </a:pPr>
            <a:r>
              <a:rPr lang="es-ES" sz="1800" dirty="0">
                <a:latin typeface="+mj-lt"/>
              </a:rPr>
              <a:t>Examinamos la </a:t>
            </a:r>
            <a:r>
              <a:rPr lang="es-ES" sz="1800" b="1" dirty="0">
                <a:latin typeface="+mj-lt"/>
              </a:rPr>
              <a:t>asociación entre los predictores </a:t>
            </a:r>
            <a:r>
              <a:rPr lang="es-ES" sz="1800" dirty="0">
                <a:latin typeface="+mj-lt"/>
              </a:rPr>
              <a:t>y las formas o patrones de cambio. </a:t>
            </a:r>
          </a:p>
          <a:p>
            <a:pPr marL="45720" indent="0">
              <a:buNone/>
            </a:pPr>
            <a:endParaRPr lang="es-ES" sz="1800" dirty="0">
              <a:latin typeface="+mj-lt"/>
            </a:endParaRPr>
          </a:p>
          <a:p>
            <a:pPr marL="45720" indent="0">
              <a:buNone/>
            </a:pPr>
            <a:r>
              <a:rPr lang="es-ES" sz="1800" dirty="0">
                <a:latin typeface="+mj-lt"/>
              </a:rPr>
              <a:t>Por ejemplo, ¿diferentes tipos de personas experimentan diferentes patrones de cambio? ¿Qué predictores están asociados con qué patrones?</a:t>
            </a:r>
          </a:p>
          <a:p>
            <a:pPr marL="45720" indent="0">
              <a:buNone/>
            </a:pPr>
            <a:endParaRPr lang="en-US" dirty="0">
              <a:solidFill>
                <a:srgbClr val="FF0000"/>
              </a:solidFill>
            </a:endParaRPr>
          </a:p>
        </p:txBody>
      </p:sp>
      <p:sp>
        <p:nvSpPr>
          <p:cNvPr id="20" name="Title 1">
            <a:extLst>
              <a:ext uri="{FF2B5EF4-FFF2-40B4-BE49-F238E27FC236}">
                <a16:creationId xmlns:a16="http://schemas.microsoft.com/office/drawing/2014/main" id="{292DC783-96C9-4F1A-BFAB-E8C595CEF2E8}"/>
              </a:ext>
            </a:extLst>
          </p:cNvPr>
          <p:cNvSpPr>
            <a:spLocks noGrp="1"/>
          </p:cNvSpPr>
          <p:nvPr>
            <p:ph type="title"/>
          </p:nvPr>
        </p:nvSpPr>
        <p:spPr>
          <a:xfrm>
            <a:off x="1520952" y="49173"/>
            <a:ext cx="9144000" cy="1143000"/>
          </a:xfrm>
        </p:spPr>
        <p:txBody>
          <a:bodyPr/>
          <a:lstStyle/>
          <a:p>
            <a:r>
              <a:rPr lang="en-US" dirty="0"/>
              <a:t>OBJETIVOS DE LAS PREGUNTAS</a:t>
            </a:r>
          </a:p>
        </p:txBody>
      </p:sp>
    </p:spTree>
    <p:extLst>
      <p:ext uri="{BB962C8B-B14F-4D97-AF65-F5344CB8AC3E}">
        <p14:creationId xmlns:p14="http://schemas.microsoft.com/office/powerpoint/2010/main" val="41442039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Placeholder 3">
            <a:extLst>
              <a:ext uri="{FF2B5EF4-FFF2-40B4-BE49-F238E27FC236}">
                <a16:creationId xmlns:a16="http://schemas.microsoft.com/office/drawing/2014/main" id="{CEAFA3DE-BE75-4587-97CE-E412995BA04E}"/>
              </a:ext>
            </a:extLst>
          </p:cNvPr>
          <p:cNvSpPr>
            <a:spLocks noGrp="1"/>
          </p:cNvSpPr>
          <p:nvPr>
            <p:ph type="body" idx="1"/>
          </p:nvPr>
        </p:nvSpPr>
        <p:spPr>
          <a:xfrm>
            <a:off x="1527048" y="1733162"/>
            <a:ext cx="4498848" cy="685800"/>
          </a:xfrm>
        </p:spPr>
        <p:txBody>
          <a:bodyPr>
            <a:normAutofit/>
          </a:bodyPr>
          <a:lstStyle/>
          <a:p>
            <a:r>
              <a:rPr lang="es-ES" sz="2000" dirty="0"/>
              <a:t>¿Cómo cambia cada persona con el tiempo?</a:t>
            </a:r>
            <a:endParaRPr lang="en-US" sz="2000" dirty="0"/>
          </a:p>
        </p:txBody>
      </p:sp>
      <p:sp>
        <p:nvSpPr>
          <p:cNvPr id="16" name="Text Placeholder 5">
            <a:extLst>
              <a:ext uri="{FF2B5EF4-FFF2-40B4-BE49-F238E27FC236}">
                <a16:creationId xmlns:a16="http://schemas.microsoft.com/office/drawing/2014/main" id="{90D4078B-5CE2-47C6-884B-60C7AE7ED138}"/>
              </a:ext>
            </a:extLst>
          </p:cNvPr>
          <p:cNvSpPr>
            <a:spLocks noGrp="1"/>
          </p:cNvSpPr>
          <p:nvPr>
            <p:ph type="body" sz="quarter" idx="3"/>
          </p:nvPr>
        </p:nvSpPr>
        <p:spPr>
          <a:xfrm>
            <a:off x="6172200" y="1733162"/>
            <a:ext cx="4498848" cy="685800"/>
          </a:xfrm>
        </p:spPr>
        <p:txBody>
          <a:bodyPr>
            <a:normAutofit/>
          </a:bodyPr>
          <a:lstStyle/>
          <a:p>
            <a:r>
              <a:rPr lang="es-ES" sz="2000" dirty="0"/>
              <a:t>¿Qué predice diferencias entre las personas en sus cambios?</a:t>
            </a:r>
            <a:endParaRPr lang="en-US" sz="2000" dirty="0"/>
          </a:p>
        </p:txBody>
      </p:sp>
      <p:sp>
        <p:nvSpPr>
          <p:cNvPr id="22" name="TextBox 21">
            <a:extLst>
              <a:ext uri="{FF2B5EF4-FFF2-40B4-BE49-F238E27FC236}">
                <a16:creationId xmlns:a16="http://schemas.microsoft.com/office/drawing/2014/main" id="{BCED5883-DF57-4DA3-BC5A-350AAACEE50A}"/>
              </a:ext>
            </a:extLst>
          </p:cNvPr>
          <p:cNvSpPr txBox="1"/>
          <p:nvPr/>
        </p:nvSpPr>
        <p:spPr>
          <a:xfrm>
            <a:off x="1591802" y="4948794"/>
            <a:ext cx="3858916" cy="923330"/>
          </a:xfrm>
          <a:prstGeom prst="rect">
            <a:avLst/>
          </a:prstGeom>
          <a:noFill/>
        </p:spPr>
        <p:txBody>
          <a:bodyPr wrap="square">
            <a:spAutoFit/>
          </a:bodyPr>
          <a:lstStyle/>
          <a:p>
            <a:pPr algn="ctr"/>
            <a:r>
              <a:rPr lang="es-ES_tradnl" i="1" dirty="0">
                <a:effectLst/>
                <a:latin typeface="+mj-lt"/>
                <a:ea typeface="Calibri" panose="020F0502020204030204" pitchFamily="34" charset="0"/>
                <a:cs typeface="Cambria" panose="02040503050406030204" pitchFamily="18" charset="0"/>
              </a:rPr>
              <a:t>¿Cómo cambia la capacidad de lectura de cada niño/a entre los 6 y los 16 años?</a:t>
            </a:r>
            <a:endParaRPr lang="en-US" i="1" dirty="0">
              <a:latin typeface="+mj-lt"/>
            </a:endParaRPr>
          </a:p>
        </p:txBody>
      </p:sp>
      <p:sp>
        <p:nvSpPr>
          <p:cNvPr id="24" name="TextBox 23">
            <a:extLst>
              <a:ext uri="{FF2B5EF4-FFF2-40B4-BE49-F238E27FC236}">
                <a16:creationId xmlns:a16="http://schemas.microsoft.com/office/drawing/2014/main" id="{D6AF52C6-960B-4164-B342-E68D2ADBA23F}"/>
              </a:ext>
            </a:extLst>
          </p:cNvPr>
          <p:cNvSpPr txBox="1"/>
          <p:nvPr/>
        </p:nvSpPr>
        <p:spPr>
          <a:xfrm>
            <a:off x="6175248" y="4948794"/>
            <a:ext cx="4492752" cy="1200329"/>
          </a:xfrm>
          <a:prstGeom prst="rect">
            <a:avLst/>
          </a:prstGeom>
          <a:noFill/>
        </p:spPr>
        <p:txBody>
          <a:bodyPr wrap="square">
            <a:spAutoFit/>
          </a:bodyPr>
          <a:lstStyle/>
          <a:p>
            <a:pPr algn="ctr"/>
            <a:r>
              <a:rPr lang="es-ES_tradnl" i="1" dirty="0">
                <a:latin typeface="+mj-lt"/>
                <a:ea typeface="Calibri" panose="020F0502020204030204" pitchFamily="34" charset="0"/>
                <a:cs typeface="Cambria" panose="02040503050406030204" pitchFamily="18" charset="0"/>
              </a:rPr>
              <a:t>¿Se puede predecir diferencias en los cambios que toman lugar entre los 6 y los 16 años de acuerdo con la presencia o ausencia de una dificultad en la lectura?</a:t>
            </a:r>
            <a:endParaRPr lang="en-US" i="1" dirty="0">
              <a:latin typeface="+mj-lt"/>
              <a:ea typeface="Calibri" panose="020F0502020204030204" pitchFamily="34" charset="0"/>
              <a:cs typeface="Cambria" panose="02040503050406030204" pitchFamily="18" charset="0"/>
            </a:endParaRPr>
          </a:p>
        </p:txBody>
      </p:sp>
      <p:sp>
        <p:nvSpPr>
          <p:cNvPr id="29" name="Content Placeholder 4">
            <a:extLst>
              <a:ext uri="{FF2B5EF4-FFF2-40B4-BE49-F238E27FC236}">
                <a16:creationId xmlns:a16="http://schemas.microsoft.com/office/drawing/2014/main" id="{BB4358AA-554F-4EEF-8F93-ADB5A088C0F4}"/>
              </a:ext>
            </a:extLst>
          </p:cNvPr>
          <p:cNvSpPr>
            <a:spLocks noGrp="1"/>
          </p:cNvSpPr>
          <p:nvPr>
            <p:ph sz="half" idx="2"/>
          </p:nvPr>
        </p:nvSpPr>
        <p:spPr>
          <a:xfrm>
            <a:off x="1527048" y="2481943"/>
            <a:ext cx="4498848" cy="2263793"/>
          </a:xfrm>
        </p:spPr>
        <p:txBody>
          <a:bodyPr>
            <a:normAutofit/>
          </a:bodyPr>
          <a:lstStyle/>
          <a:p>
            <a:pPr marL="45720" indent="0">
              <a:buNone/>
            </a:pPr>
            <a:endParaRPr lang="en-US" b="1" dirty="0">
              <a:solidFill>
                <a:srgbClr val="333399"/>
              </a:solidFill>
              <a:latin typeface="+mj-lt"/>
            </a:endParaRPr>
          </a:p>
          <a:p>
            <a:pPr marL="45720" indent="0">
              <a:buNone/>
            </a:pPr>
            <a:r>
              <a:rPr lang="es-ES" sz="1800" dirty="0">
                <a:effectLst/>
                <a:latin typeface="+mj-lt"/>
                <a:ea typeface="Calibri" panose="020F0502020204030204" pitchFamily="34" charset="0"/>
                <a:cs typeface="Cambria" panose="02040503050406030204" pitchFamily="18" charset="0"/>
              </a:rPr>
              <a:t>El foco es </a:t>
            </a:r>
            <a:r>
              <a:rPr lang="es-ES" sz="1800" i="1" dirty="0">
                <a:effectLst/>
                <a:latin typeface="+mj-lt"/>
                <a:ea typeface="Calibri" panose="020F0502020204030204" pitchFamily="34" charset="0"/>
                <a:cs typeface="Cambria" panose="02040503050406030204" pitchFamily="18" charset="0"/>
              </a:rPr>
              <a:t>intra</a:t>
            </a:r>
            <a:r>
              <a:rPr lang="es-ES" sz="1800" dirty="0">
                <a:effectLst/>
                <a:latin typeface="+mj-lt"/>
                <a:ea typeface="Calibri" panose="020F0502020204030204" pitchFamily="34" charset="0"/>
                <a:cs typeface="Cambria" panose="02040503050406030204" pitchFamily="18" charset="0"/>
              </a:rPr>
              <a:t>-individuo.</a:t>
            </a:r>
          </a:p>
          <a:p>
            <a:pPr marL="45720" indent="0">
              <a:buNone/>
            </a:pPr>
            <a:r>
              <a:rPr lang="es-ES" sz="1800" dirty="0">
                <a:latin typeface="+mj-lt"/>
                <a:ea typeface="Calibri" panose="020F0502020204030204" pitchFamily="34" charset="0"/>
                <a:cs typeface="Cambria" panose="02040503050406030204" pitchFamily="18" charset="0"/>
              </a:rPr>
              <a:t>S</a:t>
            </a:r>
            <a:r>
              <a:rPr lang="es-ES" sz="1800" dirty="0">
                <a:effectLst/>
                <a:latin typeface="+mj-lt"/>
                <a:ea typeface="Calibri" panose="020F0502020204030204" pitchFamily="34" charset="0"/>
                <a:cs typeface="Cambria" panose="02040503050406030204" pitchFamily="18" charset="0"/>
              </a:rPr>
              <a:t>e describe la </a:t>
            </a:r>
            <a:r>
              <a:rPr lang="es-ES" sz="1800" b="1" dirty="0">
                <a:effectLst/>
                <a:latin typeface="+mj-lt"/>
                <a:ea typeface="Calibri" panose="020F0502020204030204" pitchFamily="34" charset="0"/>
                <a:cs typeface="Cambria" panose="02040503050406030204" pitchFamily="18" charset="0"/>
              </a:rPr>
              <a:t>forma de cambio de cada persona</a:t>
            </a:r>
            <a:r>
              <a:rPr lang="es-ES_tradnl" sz="1800" b="1" dirty="0">
                <a:effectLst/>
                <a:latin typeface="+mj-lt"/>
                <a:ea typeface="Calibri" panose="020F0502020204030204" pitchFamily="34" charset="0"/>
                <a:cs typeface="Cambria" panose="02040503050406030204" pitchFamily="18" charset="0"/>
              </a:rPr>
              <a:t>. </a:t>
            </a:r>
            <a:endParaRPr lang="en-US" b="1" dirty="0">
              <a:solidFill>
                <a:srgbClr val="FF0000"/>
              </a:solidFill>
              <a:latin typeface="+mj-lt"/>
            </a:endParaRPr>
          </a:p>
          <a:p>
            <a:endParaRPr lang="es-ES_tradnl" dirty="0">
              <a:effectLst/>
              <a:latin typeface="+mj-lt"/>
              <a:ea typeface="Calibri" panose="020F0502020204030204" pitchFamily="34" charset="0"/>
              <a:cs typeface="Cambria" panose="02040503050406030204" pitchFamily="18" charset="0"/>
            </a:endParaRPr>
          </a:p>
          <a:p>
            <a:endParaRPr lang="es-ES_tradnl" dirty="0">
              <a:latin typeface="+mj-lt"/>
              <a:ea typeface="Calibri" panose="020F0502020204030204" pitchFamily="34" charset="0"/>
              <a:cs typeface="Cambria" panose="02040503050406030204" pitchFamily="18" charset="0"/>
            </a:endParaRPr>
          </a:p>
          <a:p>
            <a:endParaRPr lang="es-ES_tradnl" dirty="0">
              <a:effectLst/>
              <a:latin typeface="Cambria" panose="02040503050406030204" pitchFamily="18" charset="0"/>
              <a:ea typeface="Calibri" panose="020F0502020204030204" pitchFamily="34" charset="0"/>
              <a:cs typeface="Cambria" panose="02040503050406030204" pitchFamily="18" charset="0"/>
            </a:endParaRPr>
          </a:p>
        </p:txBody>
      </p:sp>
      <p:sp>
        <p:nvSpPr>
          <p:cNvPr id="30" name="Content Placeholder 6">
            <a:extLst>
              <a:ext uri="{FF2B5EF4-FFF2-40B4-BE49-F238E27FC236}">
                <a16:creationId xmlns:a16="http://schemas.microsoft.com/office/drawing/2014/main" id="{5F45E576-A1FE-47FE-8258-66D17CAF2C31}"/>
              </a:ext>
            </a:extLst>
          </p:cNvPr>
          <p:cNvSpPr>
            <a:spLocks noGrp="1"/>
          </p:cNvSpPr>
          <p:nvPr>
            <p:ph sz="quarter" idx="4"/>
          </p:nvPr>
        </p:nvSpPr>
        <p:spPr>
          <a:xfrm>
            <a:off x="6172200" y="2481943"/>
            <a:ext cx="4498848" cy="2263793"/>
          </a:xfrm>
        </p:spPr>
        <p:txBody>
          <a:bodyPr>
            <a:normAutofit lnSpcReduction="10000"/>
          </a:bodyPr>
          <a:lstStyle/>
          <a:p>
            <a:pPr marL="45720" indent="0">
              <a:buNone/>
            </a:pPr>
            <a:endParaRPr lang="en-US" b="1" dirty="0">
              <a:solidFill>
                <a:srgbClr val="333399"/>
              </a:solidFill>
              <a:latin typeface="+mj-lt"/>
            </a:endParaRPr>
          </a:p>
          <a:p>
            <a:pPr marL="45720" indent="0">
              <a:buNone/>
            </a:pPr>
            <a:r>
              <a:rPr lang="es-ES_tradnl" sz="1800" dirty="0">
                <a:latin typeface="+mj-lt"/>
                <a:ea typeface="Calibri" panose="020F0502020204030204" pitchFamily="34" charset="0"/>
                <a:cs typeface="Cambria" panose="02040503050406030204" pitchFamily="18" charset="0"/>
              </a:rPr>
              <a:t>El foco es entre-individuos.</a:t>
            </a:r>
          </a:p>
          <a:p>
            <a:pPr marL="45720" indent="0">
              <a:buNone/>
            </a:pPr>
            <a:r>
              <a:rPr lang="es-ES_tradnl" sz="1800" dirty="0">
                <a:latin typeface="+mj-lt"/>
                <a:ea typeface="Calibri" panose="020F0502020204030204" pitchFamily="34" charset="0"/>
                <a:cs typeface="Cambria" panose="02040503050406030204" pitchFamily="18" charset="0"/>
              </a:rPr>
              <a:t>Se describen </a:t>
            </a:r>
            <a:r>
              <a:rPr lang="es-ES_tradnl" sz="1800" b="1" dirty="0">
                <a:latin typeface="+mj-lt"/>
                <a:ea typeface="Calibri" panose="020F0502020204030204" pitchFamily="34" charset="0"/>
                <a:cs typeface="Cambria" panose="02040503050406030204" pitchFamily="18" charset="0"/>
              </a:rPr>
              <a:t>las diferencias entre-individuos en el cambio </a:t>
            </a:r>
            <a:r>
              <a:rPr lang="es-ES_tradnl" sz="1800" dirty="0">
                <a:latin typeface="+mj-lt"/>
                <a:ea typeface="Calibri" panose="020F0502020204030204" pitchFamily="34" charset="0"/>
                <a:cs typeface="Cambria" panose="02040503050406030204" pitchFamily="18" charset="0"/>
              </a:rPr>
              <a:t>(formas o patrones de trayectorias diferentes entre grupos de personas), las cuales también se pueden predecir.</a:t>
            </a:r>
            <a:endParaRPr lang="es-ES" sz="1800" dirty="0">
              <a:latin typeface="+mj-lt"/>
              <a:ea typeface="Calibri" panose="020F0502020204030204" pitchFamily="34" charset="0"/>
              <a:cs typeface="Cambria" panose="02040503050406030204" pitchFamily="18" charset="0"/>
            </a:endParaRPr>
          </a:p>
          <a:p>
            <a:pPr marL="45720" indent="0">
              <a:buNone/>
            </a:pPr>
            <a:endParaRPr lang="en-US" dirty="0">
              <a:solidFill>
                <a:srgbClr val="FF0000"/>
              </a:solidFill>
            </a:endParaRPr>
          </a:p>
        </p:txBody>
      </p:sp>
      <p:sp>
        <p:nvSpPr>
          <p:cNvPr id="11" name="Title 1">
            <a:extLst>
              <a:ext uri="{FF2B5EF4-FFF2-40B4-BE49-F238E27FC236}">
                <a16:creationId xmlns:a16="http://schemas.microsoft.com/office/drawing/2014/main" id="{292DC783-96C9-4F1A-BFAB-E8C595CEF2E8}"/>
              </a:ext>
            </a:extLst>
          </p:cNvPr>
          <p:cNvSpPr>
            <a:spLocks noGrp="1"/>
          </p:cNvSpPr>
          <p:nvPr>
            <p:ph type="title"/>
          </p:nvPr>
        </p:nvSpPr>
        <p:spPr>
          <a:xfrm>
            <a:off x="1520952" y="49173"/>
            <a:ext cx="9144000" cy="1143000"/>
          </a:xfrm>
        </p:spPr>
        <p:txBody>
          <a:bodyPr/>
          <a:lstStyle/>
          <a:p>
            <a:r>
              <a:rPr lang="en-US" dirty="0"/>
              <a:t>NIVELES DE INTERÉS DE LA </a:t>
            </a:r>
            <a:r>
              <a:rPr lang="en-US" dirty="0" err="1"/>
              <a:t>pregunta</a:t>
            </a:r>
            <a:endParaRPr lang="en-US" dirty="0"/>
          </a:p>
        </p:txBody>
      </p:sp>
    </p:spTree>
    <p:extLst>
      <p:ext uri="{BB962C8B-B14F-4D97-AF65-F5344CB8AC3E}">
        <p14:creationId xmlns:p14="http://schemas.microsoft.com/office/powerpoint/2010/main" val="14744772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81BB6B-C23F-4E4D-BC2F-61AA5117CF68}"/>
              </a:ext>
            </a:extLst>
          </p:cNvPr>
          <p:cNvSpPr>
            <a:spLocks noGrp="1"/>
          </p:cNvSpPr>
          <p:nvPr>
            <p:ph type="title"/>
          </p:nvPr>
        </p:nvSpPr>
        <p:spPr>
          <a:xfrm>
            <a:off x="888077" y="990848"/>
            <a:ext cx="10515600" cy="1564783"/>
          </a:xfrm>
        </p:spPr>
        <p:txBody>
          <a:bodyPr>
            <a:normAutofit/>
          </a:bodyPr>
          <a:lstStyle/>
          <a:p>
            <a:br>
              <a:rPr lang="es-CL" dirty="0"/>
            </a:br>
            <a:endParaRPr lang="es-CL" dirty="0"/>
          </a:p>
        </p:txBody>
      </p:sp>
      <p:sp>
        <p:nvSpPr>
          <p:cNvPr id="3" name="Título 1">
            <a:extLst>
              <a:ext uri="{FF2B5EF4-FFF2-40B4-BE49-F238E27FC236}">
                <a16:creationId xmlns:a16="http://schemas.microsoft.com/office/drawing/2014/main" id="{E33D8B2E-5DD5-4F31-9036-A9EBC0AAFF67}"/>
              </a:ext>
            </a:extLst>
          </p:cNvPr>
          <p:cNvSpPr txBox="1">
            <a:spLocks/>
          </p:cNvSpPr>
          <p:nvPr/>
        </p:nvSpPr>
        <p:spPr>
          <a:xfrm>
            <a:off x="720969" y="2178964"/>
            <a:ext cx="11125200" cy="2123405"/>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4400" kern="1200" cap="all" spc="-50" baseline="0">
                <a:solidFill>
                  <a:schemeClr val="bg1"/>
                </a:solidFill>
                <a:latin typeface="+mj-lt"/>
                <a:ea typeface="+mj-ea"/>
                <a:cs typeface="+mj-cs"/>
              </a:defRPr>
            </a:lvl1pPr>
          </a:lstStyle>
          <a:p>
            <a:endParaRPr lang="es-ES" sz="4400" b="0" i="0" u="none" strike="noStrike" baseline="0" dirty="0">
              <a:latin typeface="Calibri" panose="020F0502020204030204" pitchFamily="34" charset="0"/>
            </a:endParaRPr>
          </a:p>
          <a:p>
            <a:endParaRPr lang="es-ES" dirty="0">
              <a:latin typeface="Calibri" panose="020F0502020204030204" pitchFamily="34" charset="0"/>
            </a:endParaRPr>
          </a:p>
          <a:p>
            <a:r>
              <a:rPr lang="es-ES" sz="4400" b="0" i="0" u="none" strike="noStrike" baseline="0" dirty="0"/>
              <a:t>CARACTERÍSTICAS DE UN ESTUDIO DEL CAMBIO</a:t>
            </a:r>
          </a:p>
          <a:p>
            <a:endParaRPr lang="es-CL" dirty="0"/>
          </a:p>
        </p:txBody>
      </p:sp>
    </p:spTree>
    <p:extLst>
      <p:ext uri="{BB962C8B-B14F-4D97-AF65-F5344CB8AC3E}">
        <p14:creationId xmlns:p14="http://schemas.microsoft.com/office/powerpoint/2010/main" val="10185018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DC783-96C9-4F1A-BFAB-E8C595CEF2E8}"/>
              </a:ext>
            </a:extLst>
          </p:cNvPr>
          <p:cNvSpPr>
            <a:spLocks noGrp="1"/>
          </p:cNvSpPr>
          <p:nvPr>
            <p:ph type="title"/>
          </p:nvPr>
        </p:nvSpPr>
        <p:spPr/>
        <p:txBody>
          <a:bodyPr/>
          <a:lstStyle/>
          <a:p>
            <a:r>
              <a:rPr lang="es-ES" dirty="0"/>
              <a:t>Diseños de investigación según cantidad de oleadas de datos (puntos de medición)</a:t>
            </a:r>
            <a:endParaRPr lang="en-US" dirty="0"/>
          </a:p>
        </p:txBody>
      </p:sp>
      <p:sp>
        <p:nvSpPr>
          <p:cNvPr id="10" name="Content Placeholder 4">
            <a:extLst>
              <a:ext uri="{FF2B5EF4-FFF2-40B4-BE49-F238E27FC236}">
                <a16:creationId xmlns:a16="http://schemas.microsoft.com/office/drawing/2014/main" id="{C79695AA-78D4-4C10-B452-5BA3E1A2234D}"/>
              </a:ext>
            </a:extLst>
          </p:cNvPr>
          <p:cNvSpPr txBox="1">
            <a:spLocks/>
          </p:cNvSpPr>
          <p:nvPr/>
        </p:nvSpPr>
        <p:spPr>
          <a:xfrm>
            <a:off x="408460" y="852259"/>
            <a:ext cx="7616954" cy="5743852"/>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800"/>
              </a:spcBef>
              <a:buClr>
                <a:schemeClr val="accent1">
                  <a:lumMod val="50000"/>
                </a:schemeClr>
              </a:buClr>
              <a:buSzPct val="100000"/>
              <a:buFont typeface="Arial" pitchFamily="34" charset="0"/>
              <a:buNone/>
              <a:defRPr sz="1600" kern="1200">
                <a:solidFill>
                  <a:schemeClr val="bg1"/>
                </a:solidFill>
                <a:latin typeface="+mn-lt"/>
                <a:ea typeface="+mn-ea"/>
                <a:cs typeface="+mn-cs"/>
              </a:defRPr>
            </a:lvl1pPr>
            <a:lvl2pPr marL="457200" indent="0" algn="l" defTabSz="914400" rtl="0" eaLnBrk="1" latinLnBrk="0" hangingPunct="1">
              <a:lnSpc>
                <a:spcPct val="90000"/>
              </a:lnSpc>
              <a:spcBef>
                <a:spcPts val="800"/>
              </a:spcBef>
              <a:buClr>
                <a:schemeClr val="accent1">
                  <a:lumMod val="50000"/>
                </a:schemeClr>
              </a:buClr>
              <a:buSzPct val="100000"/>
              <a:buFont typeface="Arial"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800"/>
              </a:spcBef>
              <a:buClr>
                <a:schemeClr val="accent1">
                  <a:lumMod val="50000"/>
                </a:schemeClr>
              </a:buClr>
              <a:buSzPct val="100000"/>
              <a:buFont typeface="Arial"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800"/>
              </a:spcBef>
              <a:buClr>
                <a:schemeClr val="accent1">
                  <a:lumMod val="50000"/>
                </a:schemeClr>
              </a:buClr>
              <a:buSzPct val="100000"/>
              <a:buFont typeface="Arial" pitchFamily="34" charset="0"/>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800"/>
              </a:spcBef>
              <a:buClr>
                <a:schemeClr val="accent1">
                  <a:lumMod val="50000"/>
                </a:schemeClr>
              </a:buClr>
              <a:buSzPct val="100000"/>
              <a:buFont typeface="Arial" pitchFamily="34" charset="0"/>
              <a:buNone/>
              <a:defRPr sz="1000" kern="1200">
                <a:solidFill>
                  <a:schemeClr val="tx1"/>
                </a:solidFill>
                <a:latin typeface="+mn-lt"/>
                <a:ea typeface="+mn-ea"/>
                <a:cs typeface="+mn-cs"/>
              </a:defRPr>
            </a:lvl5pPr>
            <a:lvl6pPr marL="2286000" indent="0" algn="l" defTabSz="914400" rtl="0" eaLnBrk="1" latinLnBrk="0" hangingPunct="1">
              <a:lnSpc>
                <a:spcPct val="90000"/>
              </a:lnSpc>
              <a:spcBef>
                <a:spcPts val="800"/>
              </a:spcBef>
              <a:buClr>
                <a:schemeClr val="accent1">
                  <a:lumMod val="50000"/>
                </a:schemeClr>
              </a:buClr>
              <a:buSzPct val="100000"/>
              <a:buFont typeface="Arial"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800"/>
              </a:spcBef>
              <a:buClr>
                <a:schemeClr val="accent1">
                  <a:lumMod val="50000"/>
                </a:schemeClr>
              </a:buClr>
              <a:buSzPct val="100000"/>
              <a:buFont typeface="Arial"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800"/>
              </a:spcBef>
              <a:buClr>
                <a:schemeClr val="accent1">
                  <a:lumMod val="50000"/>
                </a:schemeClr>
              </a:buClr>
              <a:buSzPct val="100000"/>
              <a:buFont typeface="Arial"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800"/>
              </a:spcBef>
              <a:buClr>
                <a:schemeClr val="accent1">
                  <a:lumMod val="50000"/>
                </a:schemeClr>
              </a:buClr>
              <a:buSzPct val="100000"/>
              <a:buFont typeface="Arial" pitchFamily="34" charset="0"/>
              <a:buNone/>
              <a:defRPr sz="1000" kern="1200">
                <a:solidFill>
                  <a:schemeClr val="tx1"/>
                </a:solidFill>
                <a:latin typeface="+mn-lt"/>
                <a:ea typeface="+mn-ea"/>
                <a:cs typeface="+mn-cs"/>
              </a:defRPr>
            </a:lvl9pPr>
          </a:lstStyle>
          <a:p>
            <a:pPr marL="45720"/>
            <a:r>
              <a:rPr lang="es-ES" sz="2800" dirty="0">
                <a:solidFill>
                  <a:srgbClr val="333399"/>
                </a:solidFill>
                <a:latin typeface="+mj-lt"/>
              </a:rPr>
              <a:t>Diseños transversales, también conocidos como transeccionales o </a:t>
            </a:r>
            <a:r>
              <a:rPr lang="es-ES" sz="2800" dirty="0" err="1">
                <a:solidFill>
                  <a:srgbClr val="333399"/>
                </a:solidFill>
                <a:latin typeface="+mj-lt"/>
              </a:rPr>
              <a:t>cross</a:t>
            </a:r>
            <a:r>
              <a:rPr lang="es-ES" sz="2800" dirty="0">
                <a:solidFill>
                  <a:srgbClr val="333399"/>
                </a:solidFill>
                <a:latin typeface="+mj-lt"/>
              </a:rPr>
              <a:t>-seccionales</a:t>
            </a:r>
          </a:p>
          <a:p>
            <a:pPr marL="45720"/>
            <a:endParaRPr lang="es-ES" sz="2800" dirty="0">
              <a:solidFill>
                <a:srgbClr val="FF0000"/>
              </a:solidFill>
              <a:latin typeface="+mj-lt"/>
            </a:endParaRPr>
          </a:p>
          <a:p>
            <a:pPr marL="45720"/>
            <a:r>
              <a:rPr lang="es-ES" sz="2800" dirty="0">
                <a:solidFill>
                  <a:schemeClr val="tx1"/>
                </a:solidFill>
                <a:latin typeface="+mj-lt"/>
              </a:rPr>
              <a:t>Estudios con una única oleada de datos (un punto de medición) (Tiempo 1)</a:t>
            </a:r>
          </a:p>
          <a:p>
            <a:pPr marL="45720"/>
            <a:endParaRPr lang="es-ES" sz="2800" dirty="0">
              <a:solidFill>
                <a:schemeClr val="tx1"/>
              </a:solidFill>
              <a:latin typeface="+mj-lt"/>
            </a:endParaRPr>
          </a:p>
          <a:p>
            <a:pPr marL="45720"/>
            <a:r>
              <a:rPr lang="es-ES" sz="2800" dirty="0">
                <a:solidFill>
                  <a:schemeClr val="tx1"/>
                </a:solidFill>
                <a:latin typeface="+mj-lt"/>
              </a:rPr>
              <a:t>Algunas limitaciones:</a:t>
            </a:r>
          </a:p>
          <a:p>
            <a:pPr marL="331470" indent="-285750">
              <a:buFont typeface="Arial" panose="020B0604020202020204" pitchFamily="34" charset="0"/>
              <a:buChar char="•"/>
            </a:pPr>
            <a:r>
              <a:rPr lang="es-ES" sz="2800" dirty="0">
                <a:solidFill>
                  <a:schemeClr val="tx1"/>
                </a:solidFill>
                <a:latin typeface="+mj-lt"/>
              </a:rPr>
              <a:t>Efecto cohorte</a:t>
            </a:r>
          </a:p>
          <a:p>
            <a:pPr marL="331470" indent="-285750">
              <a:buFont typeface="Arial" panose="020B0604020202020204" pitchFamily="34" charset="0"/>
              <a:buChar char="•"/>
            </a:pPr>
            <a:r>
              <a:rPr lang="es-ES" sz="2800" dirty="0">
                <a:solidFill>
                  <a:schemeClr val="tx1"/>
                </a:solidFill>
                <a:latin typeface="+mj-lt"/>
              </a:rPr>
              <a:t>Sesgos de selección</a:t>
            </a:r>
          </a:p>
          <a:p>
            <a:pPr marL="45720"/>
            <a:endParaRPr lang="es-ES" dirty="0">
              <a:solidFill>
                <a:srgbClr val="FF0000"/>
              </a:solidFill>
            </a:endParaRPr>
          </a:p>
          <a:p>
            <a:endParaRPr lang="es-ES_tradnl" dirty="0">
              <a:latin typeface="Cambria" panose="02040503050406030204" pitchFamily="18" charset="0"/>
              <a:ea typeface="Calibri" panose="020F0502020204030204" pitchFamily="34" charset="0"/>
              <a:cs typeface="Cambria" panose="02040503050406030204" pitchFamily="18" charset="0"/>
            </a:endParaRPr>
          </a:p>
        </p:txBody>
      </p:sp>
    </p:spTree>
    <p:extLst>
      <p:ext uri="{BB962C8B-B14F-4D97-AF65-F5344CB8AC3E}">
        <p14:creationId xmlns:p14="http://schemas.microsoft.com/office/powerpoint/2010/main" val="2522768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DC783-96C9-4F1A-BFAB-E8C595CEF2E8}"/>
              </a:ext>
            </a:extLst>
          </p:cNvPr>
          <p:cNvSpPr>
            <a:spLocks noGrp="1"/>
          </p:cNvSpPr>
          <p:nvPr>
            <p:ph type="title"/>
          </p:nvPr>
        </p:nvSpPr>
        <p:spPr/>
        <p:txBody>
          <a:bodyPr/>
          <a:lstStyle/>
          <a:p>
            <a:r>
              <a:rPr lang="es-ES" dirty="0"/>
              <a:t>Diseños de investigación según cantidad de oleadas de datos (puntos de medición)</a:t>
            </a:r>
            <a:endParaRPr lang="en-US" dirty="0"/>
          </a:p>
        </p:txBody>
      </p:sp>
      <p:sp>
        <p:nvSpPr>
          <p:cNvPr id="10" name="Content Placeholder 4">
            <a:extLst>
              <a:ext uri="{FF2B5EF4-FFF2-40B4-BE49-F238E27FC236}">
                <a16:creationId xmlns:a16="http://schemas.microsoft.com/office/drawing/2014/main" id="{C79695AA-78D4-4C10-B452-5BA3E1A2234D}"/>
              </a:ext>
            </a:extLst>
          </p:cNvPr>
          <p:cNvSpPr txBox="1">
            <a:spLocks/>
          </p:cNvSpPr>
          <p:nvPr/>
        </p:nvSpPr>
        <p:spPr>
          <a:xfrm>
            <a:off x="408460" y="852259"/>
            <a:ext cx="7616954" cy="5743852"/>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800"/>
              </a:spcBef>
              <a:buClr>
                <a:schemeClr val="accent1">
                  <a:lumMod val="50000"/>
                </a:schemeClr>
              </a:buClr>
              <a:buSzPct val="100000"/>
              <a:buFont typeface="Arial" pitchFamily="34" charset="0"/>
              <a:buNone/>
              <a:defRPr sz="1600" kern="1200">
                <a:solidFill>
                  <a:schemeClr val="bg1"/>
                </a:solidFill>
                <a:latin typeface="+mn-lt"/>
                <a:ea typeface="+mn-ea"/>
                <a:cs typeface="+mn-cs"/>
              </a:defRPr>
            </a:lvl1pPr>
            <a:lvl2pPr marL="457200" indent="0" algn="l" defTabSz="914400" rtl="0" eaLnBrk="1" latinLnBrk="0" hangingPunct="1">
              <a:lnSpc>
                <a:spcPct val="90000"/>
              </a:lnSpc>
              <a:spcBef>
                <a:spcPts val="800"/>
              </a:spcBef>
              <a:buClr>
                <a:schemeClr val="accent1">
                  <a:lumMod val="50000"/>
                </a:schemeClr>
              </a:buClr>
              <a:buSzPct val="100000"/>
              <a:buFont typeface="Arial"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800"/>
              </a:spcBef>
              <a:buClr>
                <a:schemeClr val="accent1">
                  <a:lumMod val="50000"/>
                </a:schemeClr>
              </a:buClr>
              <a:buSzPct val="100000"/>
              <a:buFont typeface="Arial"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800"/>
              </a:spcBef>
              <a:buClr>
                <a:schemeClr val="accent1">
                  <a:lumMod val="50000"/>
                </a:schemeClr>
              </a:buClr>
              <a:buSzPct val="100000"/>
              <a:buFont typeface="Arial" pitchFamily="34" charset="0"/>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800"/>
              </a:spcBef>
              <a:buClr>
                <a:schemeClr val="accent1">
                  <a:lumMod val="50000"/>
                </a:schemeClr>
              </a:buClr>
              <a:buSzPct val="100000"/>
              <a:buFont typeface="Arial" pitchFamily="34" charset="0"/>
              <a:buNone/>
              <a:defRPr sz="1000" kern="1200">
                <a:solidFill>
                  <a:schemeClr val="tx1"/>
                </a:solidFill>
                <a:latin typeface="+mn-lt"/>
                <a:ea typeface="+mn-ea"/>
                <a:cs typeface="+mn-cs"/>
              </a:defRPr>
            </a:lvl5pPr>
            <a:lvl6pPr marL="2286000" indent="0" algn="l" defTabSz="914400" rtl="0" eaLnBrk="1" latinLnBrk="0" hangingPunct="1">
              <a:lnSpc>
                <a:spcPct val="90000"/>
              </a:lnSpc>
              <a:spcBef>
                <a:spcPts val="800"/>
              </a:spcBef>
              <a:buClr>
                <a:schemeClr val="accent1">
                  <a:lumMod val="50000"/>
                </a:schemeClr>
              </a:buClr>
              <a:buSzPct val="100000"/>
              <a:buFont typeface="Arial"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800"/>
              </a:spcBef>
              <a:buClr>
                <a:schemeClr val="accent1">
                  <a:lumMod val="50000"/>
                </a:schemeClr>
              </a:buClr>
              <a:buSzPct val="100000"/>
              <a:buFont typeface="Arial"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800"/>
              </a:spcBef>
              <a:buClr>
                <a:schemeClr val="accent1">
                  <a:lumMod val="50000"/>
                </a:schemeClr>
              </a:buClr>
              <a:buSzPct val="100000"/>
              <a:buFont typeface="Arial"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800"/>
              </a:spcBef>
              <a:buClr>
                <a:schemeClr val="accent1">
                  <a:lumMod val="50000"/>
                </a:schemeClr>
              </a:buClr>
              <a:buSzPct val="100000"/>
              <a:buFont typeface="Arial" pitchFamily="34" charset="0"/>
              <a:buNone/>
              <a:defRPr sz="1000" kern="1200">
                <a:solidFill>
                  <a:schemeClr val="tx1"/>
                </a:solidFill>
                <a:latin typeface="+mn-lt"/>
                <a:ea typeface="+mn-ea"/>
                <a:cs typeface="+mn-cs"/>
              </a:defRPr>
            </a:lvl9pPr>
          </a:lstStyle>
          <a:p>
            <a:pPr marL="45720"/>
            <a:r>
              <a:rPr lang="es-ES" sz="2800" dirty="0">
                <a:solidFill>
                  <a:srgbClr val="333399"/>
                </a:solidFill>
                <a:latin typeface="+mj-lt"/>
              </a:rPr>
              <a:t>Diseño de dos olas </a:t>
            </a:r>
          </a:p>
          <a:p>
            <a:pPr marL="45720"/>
            <a:endParaRPr lang="es-ES" sz="2800" dirty="0">
              <a:solidFill>
                <a:srgbClr val="333399"/>
              </a:solidFill>
              <a:latin typeface="+mj-lt"/>
            </a:endParaRPr>
          </a:p>
          <a:p>
            <a:pPr marL="45720"/>
            <a:r>
              <a:rPr lang="es-ES" sz="2800" dirty="0">
                <a:solidFill>
                  <a:schemeClr val="tx1"/>
                </a:solidFill>
                <a:latin typeface="+mj-lt"/>
              </a:rPr>
              <a:t>Estudios con dos oleadas de datos (dos puntos de medición) (Tiempo 1, Tiempo 2)</a:t>
            </a:r>
          </a:p>
          <a:p>
            <a:pPr marL="45720"/>
            <a:endParaRPr lang="es-ES" sz="2800" dirty="0">
              <a:solidFill>
                <a:schemeClr val="tx1"/>
              </a:solidFill>
              <a:latin typeface="+mj-lt"/>
            </a:endParaRPr>
          </a:p>
          <a:p>
            <a:pPr marL="45720">
              <a:lnSpc>
                <a:spcPct val="100000"/>
              </a:lnSpc>
            </a:pPr>
            <a:r>
              <a:rPr lang="es-ES" sz="2800" dirty="0">
                <a:solidFill>
                  <a:schemeClr val="tx1"/>
                </a:solidFill>
                <a:latin typeface="+mj-lt"/>
              </a:rPr>
              <a:t>Algunas limitaciones:</a:t>
            </a:r>
          </a:p>
          <a:p>
            <a:pPr marL="331470" indent="-285750">
              <a:lnSpc>
                <a:spcPct val="100000"/>
              </a:lnSpc>
              <a:buFont typeface="Arial" panose="020B0604020202020204" pitchFamily="34" charset="0"/>
              <a:buChar char="•"/>
            </a:pPr>
            <a:r>
              <a:rPr lang="es-ES" sz="2800" dirty="0">
                <a:solidFill>
                  <a:schemeClr val="tx1"/>
                </a:solidFill>
                <a:latin typeface="+mj-lt"/>
              </a:rPr>
              <a:t>No hay información respecto a la forma o patrón de la trayectoria</a:t>
            </a:r>
          </a:p>
          <a:p>
            <a:pPr marL="331470" indent="-285750">
              <a:lnSpc>
                <a:spcPct val="100000"/>
              </a:lnSpc>
              <a:buFont typeface="Arial" panose="020B0604020202020204" pitchFamily="34" charset="0"/>
              <a:buChar char="•"/>
            </a:pPr>
            <a:r>
              <a:rPr lang="es-ES" sz="2800" dirty="0">
                <a:solidFill>
                  <a:schemeClr val="tx1"/>
                </a:solidFill>
                <a:latin typeface="+mj-lt"/>
              </a:rPr>
              <a:t>Error de medición</a:t>
            </a:r>
          </a:p>
          <a:p>
            <a:pPr marL="45720">
              <a:lnSpc>
                <a:spcPct val="100000"/>
              </a:lnSpc>
            </a:pPr>
            <a:endParaRPr lang="es-ES" dirty="0">
              <a:solidFill>
                <a:schemeClr val="tx1"/>
              </a:solidFill>
            </a:endParaRPr>
          </a:p>
          <a:p>
            <a:endParaRPr lang="es-ES_tradnl" dirty="0">
              <a:latin typeface="Cambria" panose="02040503050406030204" pitchFamily="18" charset="0"/>
              <a:ea typeface="Calibri" panose="020F0502020204030204" pitchFamily="34" charset="0"/>
              <a:cs typeface="Cambria" panose="02040503050406030204" pitchFamily="18" charset="0"/>
            </a:endParaRPr>
          </a:p>
        </p:txBody>
      </p:sp>
    </p:spTree>
    <p:extLst>
      <p:ext uri="{BB962C8B-B14F-4D97-AF65-F5344CB8AC3E}">
        <p14:creationId xmlns:p14="http://schemas.microsoft.com/office/powerpoint/2010/main" val="1603629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DC783-96C9-4F1A-BFAB-E8C595CEF2E8}"/>
              </a:ext>
            </a:extLst>
          </p:cNvPr>
          <p:cNvSpPr>
            <a:spLocks noGrp="1"/>
          </p:cNvSpPr>
          <p:nvPr>
            <p:ph type="title"/>
          </p:nvPr>
        </p:nvSpPr>
        <p:spPr/>
        <p:txBody>
          <a:bodyPr/>
          <a:lstStyle/>
          <a:p>
            <a:r>
              <a:rPr lang="es-ES" dirty="0"/>
              <a:t>Diseños de investigación según cantidad de oleadas de datos (puntos de medición)</a:t>
            </a:r>
            <a:endParaRPr lang="en-US" dirty="0"/>
          </a:p>
        </p:txBody>
      </p:sp>
      <p:sp>
        <p:nvSpPr>
          <p:cNvPr id="10" name="Content Placeholder 4">
            <a:extLst>
              <a:ext uri="{FF2B5EF4-FFF2-40B4-BE49-F238E27FC236}">
                <a16:creationId xmlns:a16="http://schemas.microsoft.com/office/drawing/2014/main" id="{C79695AA-78D4-4C10-B452-5BA3E1A2234D}"/>
              </a:ext>
            </a:extLst>
          </p:cNvPr>
          <p:cNvSpPr txBox="1">
            <a:spLocks/>
          </p:cNvSpPr>
          <p:nvPr/>
        </p:nvSpPr>
        <p:spPr>
          <a:xfrm>
            <a:off x="408460" y="852259"/>
            <a:ext cx="7616954" cy="5743852"/>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800"/>
              </a:spcBef>
              <a:buClr>
                <a:schemeClr val="accent1">
                  <a:lumMod val="50000"/>
                </a:schemeClr>
              </a:buClr>
              <a:buSzPct val="100000"/>
              <a:buFont typeface="Arial" pitchFamily="34" charset="0"/>
              <a:buNone/>
              <a:defRPr sz="1600" kern="1200">
                <a:solidFill>
                  <a:schemeClr val="bg1"/>
                </a:solidFill>
                <a:latin typeface="+mn-lt"/>
                <a:ea typeface="+mn-ea"/>
                <a:cs typeface="+mn-cs"/>
              </a:defRPr>
            </a:lvl1pPr>
            <a:lvl2pPr marL="457200" indent="0" algn="l" defTabSz="914400" rtl="0" eaLnBrk="1" latinLnBrk="0" hangingPunct="1">
              <a:lnSpc>
                <a:spcPct val="90000"/>
              </a:lnSpc>
              <a:spcBef>
                <a:spcPts val="800"/>
              </a:spcBef>
              <a:buClr>
                <a:schemeClr val="accent1">
                  <a:lumMod val="50000"/>
                </a:schemeClr>
              </a:buClr>
              <a:buSzPct val="100000"/>
              <a:buFont typeface="Arial"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800"/>
              </a:spcBef>
              <a:buClr>
                <a:schemeClr val="accent1">
                  <a:lumMod val="50000"/>
                </a:schemeClr>
              </a:buClr>
              <a:buSzPct val="100000"/>
              <a:buFont typeface="Arial"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800"/>
              </a:spcBef>
              <a:buClr>
                <a:schemeClr val="accent1">
                  <a:lumMod val="50000"/>
                </a:schemeClr>
              </a:buClr>
              <a:buSzPct val="100000"/>
              <a:buFont typeface="Arial" pitchFamily="34" charset="0"/>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800"/>
              </a:spcBef>
              <a:buClr>
                <a:schemeClr val="accent1">
                  <a:lumMod val="50000"/>
                </a:schemeClr>
              </a:buClr>
              <a:buSzPct val="100000"/>
              <a:buFont typeface="Arial" pitchFamily="34" charset="0"/>
              <a:buNone/>
              <a:defRPr sz="1000" kern="1200">
                <a:solidFill>
                  <a:schemeClr val="tx1"/>
                </a:solidFill>
                <a:latin typeface="+mn-lt"/>
                <a:ea typeface="+mn-ea"/>
                <a:cs typeface="+mn-cs"/>
              </a:defRPr>
            </a:lvl5pPr>
            <a:lvl6pPr marL="2286000" indent="0" algn="l" defTabSz="914400" rtl="0" eaLnBrk="1" latinLnBrk="0" hangingPunct="1">
              <a:lnSpc>
                <a:spcPct val="90000"/>
              </a:lnSpc>
              <a:spcBef>
                <a:spcPts val="800"/>
              </a:spcBef>
              <a:buClr>
                <a:schemeClr val="accent1">
                  <a:lumMod val="50000"/>
                </a:schemeClr>
              </a:buClr>
              <a:buSzPct val="100000"/>
              <a:buFont typeface="Arial"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800"/>
              </a:spcBef>
              <a:buClr>
                <a:schemeClr val="accent1">
                  <a:lumMod val="50000"/>
                </a:schemeClr>
              </a:buClr>
              <a:buSzPct val="100000"/>
              <a:buFont typeface="Arial"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800"/>
              </a:spcBef>
              <a:buClr>
                <a:schemeClr val="accent1">
                  <a:lumMod val="50000"/>
                </a:schemeClr>
              </a:buClr>
              <a:buSzPct val="100000"/>
              <a:buFont typeface="Arial"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800"/>
              </a:spcBef>
              <a:buClr>
                <a:schemeClr val="accent1">
                  <a:lumMod val="50000"/>
                </a:schemeClr>
              </a:buClr>
              <a:buSzPct val="100000"/>
              <a:buFont typeface="Arial" pitchFamily="34" charset="0"/>
              <a:buNone/>
              <a:defRPr sz="1000" kern="1200">
                <a:solidFill>
                  <a:schemeClr val="tx1"/>
                </a:solidFill>
                <a:latin typeface="+mn-lt"/>
                <a:ea typeface="+mn-ea"/>
                <a:cs typeface="+mn-cs"/>
              </a:defRPr>
            </a:lvl9pPr>
          </a:lstStyle>
          <a:p>
            <a:pPr marL="45720"/>
            <a:r>
              <a:rPr lang="es-ES" sz="2800" dirty="0">
                <a:solidFill>
                  <a:srgbClr val="333399"/>
                </a:solidFill>
                <a:latin typeface="+mj-lt"/>
              </a:rPr>
              <a:t>Diseños longitudinales</a:t>
            </a:r>
          </a:p>
          <a:p>
            <a:pPr marL="45720"/>
            <a:endParaRPr lang="es-ES" sz="2800" dirty="0">
              <a:solidFill>
                <a:srgbClr val="333399"/>
              </a:solidFill>
              <a:latin typeface="+mj-lt"/>
            </a:endParaRPr>
          </a:p>
          <a:p>
            <a:pPr marL="45720">
              <a:lnSpc>
                <a:spcPct val="100000"/>
              </a:lnSpc>
            </a:pPr>
            <a:r>
              <a:rPr lang="es-ES" sz="2800" dirty="0">
                <a:solidFill>
                  <a:schemeClr val="tx1"/>
                </a:solidFill>
                <a:latin typeface="+mj-lt"/>
              </a:rPr>
              <a:t>Estudios con tres o más oleadas de datos (tres o más puntos de medición) (Tiempo 1, Tiempo 2, Tiempo n) </a:t>
            </a:r>
          </a:p>
          <a:p>
            <a:pPr marL="45720">
              <a:lnSpc>
                <a:spcPct val="100000"/>
              </a:lnSpc>
            </a:pPr>
            <a:endParaRPr lang="es-ES" sz="2800" dirty="0">
              <a:solidFill>
                <a:schemeClr val="tx1"/>
              </a:solidFill>
              <a:latin typeface="+mj-lt"/>
            </a:endParaRPr>
          </a:p>
          <a:p>
            <a:pPr marL="45720">
              <a:lnSpc>
                <a:spcPct val="100000"/>
              </a:lnSpc>
            </a:pPr>
            <a:r>
              <a:rPr lang="es-ES" sz="2800" dirty="0">
                <a:solidFill>
                  <a:schemeClr val="tx1"/>
                </a:solidFill>
                <a:latin typeface="+mj-lt"/>
              </a:rPr>
              <a:t>En general, más olas (puntos de medición) son siempre mejores pero ello implica más costos.</a:t>
            </a:r>
          </a:p>
          <a:p>
            <a:pPr marL="45720">
              <a:lnSpc>
                <a:spcPct val="100000"/>
              </a:lnSpc>
            </a:pPr>
            <a:endParaRPr lang="es-ES" sz="2800" dirty="0">
              <a:solidFill>
                <a:schemeClr val="tx1"/>
              </a:solidFill>
              <a:latin typeface="+mj-lt"/>
            </a:endParaRPr>
          </a:p>
          <a:p>
            <a:pPr marL="45720">
              <a:lnSpc>
                <a:spcPct val="100000"/>
              </a:lnSpc>
            </a:pPr>
            <a:r>
              <a:rPr lang="es-ES" sz="1800" dirty="0">
                <a:solidFill>
                  <a:srgbClr val="333399"/>
                </a:solidFill>
                <a:latin typeface="+mj-lt"/>
                <a:hlinkClick r:id="rId3"/>
              </a:rPr>
              <a:t>https://youtu.be/8KkKuTCFvzI</a:t>
            </a:r>
            <a:endParaRPr lang="es-ES_tradnl" sz="1800" dirty="0">
              <a:solidFill>
                <a:srgbClr val="333399"/>
              </a:solidFill>
              <a:latin typeface="+mj-lt"/>
            </a:endParaRPr>
          </a:p>
          <a:p>
            <a:endParaRPr lang="es-ES_tradnl" dirty="0">
              <a:latin typeface="Cambria" panose="02040503050406030204" pitchFamily="18" charset="0"/>
              <a:ea typeface="Calibri" panose="020F0502020204030204" pitchFamily="34" charset="0"/>
              <a:cs typeface="Cambria" panose="02040503050406030204" pitchFamily="18" charset="0"/>
            </a:endParaRPr>
          </a:p>
        </p:txBody>
      </p:sp>
    </p:spTree>
    <p:extLst>
      <p:ext uri="{BB962C8B-B14F-4D97-AF65-F5344CB8AC3E}">
        <p14:creationId xmlns:p14="http://schemas.microsoft.com/office/powerpoint/2010/main" val="21185716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81BB6B-C23F-4E4D-BC2F-61AA5117CF68}"/>
              </a:ext>
            </a:extLst>
          </p:cNvPr>
          <p:cNvSpPr>
            <a:spLocks noGrp="1"/>
          </p:cNvSpPr>
          <p:nvPr>
            <p:ph type="title"/>
          </p:nvPr>
        </p:nvSpPr>
        <p:spPr>
          <a:xfrm>
            <a:off x="888077" y="990848"/>
            <a:ext cx="10515600" cy="1564783"/>
          </a:xfrm>
        </p:spPr>
        <p:txBody>
          <a:bodyPr>
            <a:normAutofit/>
          </a:bodyPr>
          <a:lstStyle/>
          <a:p>
            <a:br>
              <a:rPr lang="es-CL" dirty="0"/>
            </a:br>
            <a:endParaRPr lang="es-CL" dirty="0"/>
          </a:p>
        </p:txBody>
      </p:sp>
      <p:sp>
        <p:nvSpPr>
          <p:cNvPr id="5" name="Rectángulo 4"/>
          <p:cNvSpPr/>
          <p:nvPr/>
        </p:nvSpPr>
        <p:spPr>
          <a:xfrm>
            <a:off x="4842404" y="6055516"/>
            <a:ext cx="3147272" cy="369332"/>
          </a:xfrm>
          <a:prstGeom prst="rect">
            <a:avLst/>
          </a:prstGeom>
        </p:spPr>
        <p:txBody>
          <a:bodyPr wrap="none">
            <a:spAutoFit/>
          </a:bodyPr>
          <a:lstStyle/>
          <a:p>
            <a:r>
              <a:rPr lang="es-CL" dirty="0"/>
              <a:t>https://coes.cl/encuesta-panel/</a:t>
            </a:r>
          </a:p>
        </p:txBody>
      </p:sp>
      <p:pic>
        <p:nvPicPr>
          <p:cNvPr id="3" name="Picture 2">
            <a:extLst>
              <a:ext uri="{FF2B5EF4-FFF2-40B4-BE49-F238E27FC236}">
                <a16:creationId xmlns:a16="http://schemas.microsoft.com/office/drawing/2014/main" id="{83419F2E-BAB8-7DE8-9678-483C557C8946}"/>
              </a:ext>
            </a:extLst>
          </p:cNvPr>
          <p:cNvPicPr>
            <a:picLocks noChangeAspect="1"/>
          </p:cNvPicPr>
          <p:nvPr/>
        </p:nvPicPr>
        <p:blipFill>
          <a:blip r:embed="rId3"/>
          <a:stretch>
            <a:fillRect/>
          </a:stretch>
        </p:blipFill>
        <p:spPr>
          <a:xfrm>
            <a:off x="1350148" y="443350"/>
            <a:ext cx="9917797" cy="5612166"/>
          </a:xfrm>
          <a:prstGeom prst="rect">
            <a:avLst/>
          </a:prstGeom>
        </p:spPr>
      </p:pic>
    </p:spTree>
    <p:extLst>
      <p:ext uri="{BB962C8B-B14F-4D97-AF65-F5344CB8AC3E}">
        <p14:creationId xmlns:p14="http://schemas.microsoft.com/office/powerpoint/2010/main" val="40391315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D557FF2-2276-5131-24BB-D1349BC359B3}"/>
              </a:ext>
            </a:extLst>
          </p:cNvPr>
          <p:cNvSpPr>
            <a:spLocks noGrp="1"/>
          </p:cNvSpPr>
          <p:nvPr>
            <p:ph type="title"/>
          </p:nvPr>
        </p:nvSpPr>
        <p:spPr/>
        <p:txBody>
          <a:bodyPr/>
          <a:lstStyle/>
          <a:p>
            <a:r>
              <a:rPr lang="en-US" b="1" dirty="0" err="1">
                <a:solidFill>
                  <a:schemeClr val="tx1"/>
                </a:solidFill>
              </a:rPr>
              <a:t>Equipo</a:t>
            </a:r>
            <a:endParaRPr lang="en-US" b="1" dirty="0">
              <a:solidFill>
                <a:schemeClr val="tx1"/>
              </a:solidFill>
            </a:endParaRPr>
          </a:p>
        </p:txBody>
      </p:sp>
      <p:sp>
        <p:nvSpPr>
          <p:cNvPr id="3" name="Marcador de texto 2">
            <a:extLst>
              <a:ext uri="{FF2B5EF4-FFF2-40B4-BE49-F238E27FC236}">
                <a16:creationId xmlns:a16="http://schemas.microsoft.com/office/drawing/2014/main" id="{E2696C98-B141-08A3-B36F-B9CE4CE6EE7A}"/>
              </a:ext>
            </a:extLst>
          </p:cNvPr>
          <p:cNvSpPr>
            <a:spLocks noGrp="1"/>
          </p:cNvSpPr>
          <p:nvPr>
            <p:ph type="body" idx="1"/>
          </p:nvPr>
        </p:nvSpPr>
        <p:spPr>
          <a:xfrm>
            <a:off x="838200" y="1690688"/>
            <a:ext cx="5181600" cy="4486275"/>
          </a:xfrm>
        </p:spPr>
        <p:txBody>
          <a:bodyPr>
            <a:normAutofit/>
          </a:bodyPr>
          <a:lstStyle/>
          <a:p>
            <a:pPr marL="0" indent="0" algn="l">
              <a:buNone/>
            </a:pPr>
            <a:r>
              <a:rPr lang="es-CL" sz="1400" b="1" i="0" dirty="0">
                <a:effectLst/>
                <a:latin typeface="Montserrat" panose="00000500000000000000" pitchFamily="2" charset="0"/>
              </a:rPr>
              <a:t>Roberto González</a:t>
            </a:r>
            <a:endParaRPr lang="es-CL" sz="1400" b="0" i="0" dirty="0">
              <a:effectLst/>
              <a:latin typeface="Montserrat" panose="00000500000000000000" pitchFamily="2" charset="0"/>
            </a:endParaRPr>
          </a:p>
          <a:p>
            <a:pPr marL="0" indent="0" algn="l">
              <a:buNone/>
            </a:pPr>
            <a:r>
              <a:rPr lang="es-CL" sz="1400" b="0" i="0" dirty="0">
                <a:effectLst/>
                <a:latin typeface="Montserrat" panose="00000500000000000000" pitchFamily="2" charset="0"/>
              </a:rPr>
              <a:t>Profesor Titular Escuela de Psicología PUC. Investigador Principal COES, Coordinador estudio ELSOC</a:t>
            </a:r>
          </a:p>
          <a:p>
            <a:pPr marL="0" indent="0" algn="l">
              <a:buNone/>
            </a:pPr>
            <a:endParaRPr lang="es-CL" sz="1400" b="0" i="0" dirty="0">
              <a:effectLst/>
              <a:latin typeface="Montserrat" panose="00000500000000000000" pitchFamily="2" charset="0"/>
            </a:endParaRPr>
          </a:p>
          <a:p>
            <a:pPr marL="0" indent="0">
              <a:buNone/>
            </a:pPr>
            <a:r>
              <a:rPr lang="es-CL" sz="1400" b="1" i="0" dirty="0">
                <a:effectLst/>
                <a:latin typeface="Montserrat" panose="00000500000000000000" pitchFamily="2" charset="0"/>
              </a:rPr>
              <a:t>Daniel Mirand</a:t>
            </a:r>
            <a:r>
              <a:rPr lang="es-CL" sz="1400" b="1" dirty="0">
                <a:latin typeface="Montserrat" panose="00000500000000000000" pitchFamily="2" charset="0"/>
              </a:rPr>
              <a:t>a</a:t>
            </a:r>
            <a:endParaRPr lang="es-CL" sz="1400" b="0" i="0" dirty="0">
              <a:effectLst/>
              <a:latin typeface="Montserrat" panose="00000500000000000000" pitchFamily="2" charset="0"/>
            </a:endParaRPr>
          </a:p>
          <a:p>
            <a:pPr marL="0" indent="0" algn="l">
              <a:buNone/>
            </a:pPr>
            <a:r>
              <a:rPr lang="es-CL" sz="1400" b="0" i="0" dirty="0">
                <a:effectLst/>
                <a:latin typeface="Montserrat" panose="00000500000000000000" pitchFamily="2" charset="0"/>
              </a:rPr>
              <a:t>Profesor Asistente, Departamento de Psicología UCHILE. Investigador Asociado COES</a:t>
            </a:r>
          </a:p>
          <a:p>
            <a:pPr marL="0" indent="0" algn="l">
              <a:buNone/>
            </a:pPr>
            <a:endParaRPr lang="es-CL" sz="1400" b="0" i="0" dirty="0">
              <a:effectLst/>
              <a:latin typeface="Montserrat" panose="00000500000000000000" pitchFamily="2" charset="0"/>
            </a:endParaRPr>
          </a:p>
          <a:p>
            <a:pPr marL="0" indent="0">
              <a:buNone/>
            </a:pPr>
            <a:r>
              <a:rPr lang="es-CL" sz="1400" b="1" i="0" dirty="0">
                <a:effectLst/>
                <a:latin typeface="Montserrat" panose="00000500000000000000" pitchFamily="2" charset="0"/>
              </a:rPr>
              <a:t>Daniela Olivares Collío</a:t>
            </a:r>
          </a:p>
          <a:p>
            <a:pPr marL="0" indent="0">
              <a:buNone/>
            </a:pPr>
            <a:r>
              <a:rPr lang="es-CL" sz="1400" b="0" i="0" dirty="0">
                <a:effectLst/>
                <a:latin typeface="Montserrat" panose="00000500000000000000" pitchFamily="2" charset="0"/>
              </a:rPr>
              <a:t>Coordinadora Técnica ELSOC</a:t>
            </a:r>
            <a:endParaRPr lang="es-CL" sz="1400" b="1" i="0" dirty="0">
              <a:effectLst/>
              <a:latin typeface="Montserrat" panose="00000500000000000000" pitchFamily="2" charset="0"/>
            </a:endParaRPr>
          </a:p>
        </p:txBody>
      </p:sp>
      <p:sp>
        <p:nvSpPr>
          <p:cNvPr id="4" name="Marcador de texto 3">
            <a:extLst>
              <a:ext uri="{FF2B5EF4-FFF2-40B4-BE49-F238E27FC236}">
                <a16:creationId xmlns:a16="http://schemas.microsoft.com/office/drawing/2014/main" id="{0DCC41E4-C505-7390-C5C3-3CC9A0380B6B}"/>
              </a:ext>
            </a:extLst>
          </p:cNvPr>
          <p:cNvSpPr>
            <a:spLocks noGrp="1"/>
          </p:cNvSpPr>
          <p:nvPr>
            <p:ph type="body" idx="2"/>
          </p:nvPr>
        </p:nvSpPr>
        <p:spPr>
          <a:xfrm>
            <a:off x="6172199" y="1690688"/>
            <a:ext cx="5451049" cy="4802187"/>
          </a:xfrm>
        </p:spPr>
        <p:txBody>
          <a:bodyPr>
            <a:normAutofit lnSpcReduction="10000"/>
          </a:bodyPr>
          <a:lstStyle/>
          <a:p>
            <a:pPr marL="0" indent="0" algn="l">
              <a:buNone/>
            </a:pPr>
            <a:r>
              <a:rPr lang="es-CL" sz="1400" b="1" i="0" dirty="0">
                <a:effectLst/>
                <a:latin typeface="Montserrat" panose="00000500000000000000" pitchFamily="2" charset="0"/>
              </a:rPr>
              <a:t>Matías </a:t>
            </a:r>
            <a:r>
              <a:rPr lang="es-CL" sz="1400" b="1" i="0" dirty="0" err="1">
                <a:effectLst/>
                <a:latin typeface="Montserrat" panose="00000500000000000000" pitchFamily="2" charset="0"/>
              </a:rPr>
              <a:t>Bargsted</a:t>
            </a:r>
            <a:endParaRPr lang="es-CL" sz="1400" b="0" i="0" dirty="0">
              <a:effectLst/>
              <a:latin typeface="Montserrat" panose="00000500000000000000" pitchFamily="2" charset="0"/>
            </a:endParaRPr>
          </a:p>
          <a:p>
            <a:pPr marL="0" indent="0" algn="l">
              <a:buNone/>
            </a:pPr>
            <a:r>
              <a:rPr lang="es-CL" sz="1400" b="0" i="0" dirty="0">
                <a:effectLst/>
                <a:latin typeface="Montserrat" panose="00000500000000000000" pitchFamily="2" charset="0"/>
              </a:rPr>
              <a:t>Profesor Asociado Instituto de Sociología PUC. Investigador Asociado COES</a:t>
            </a:r>
          </a:p>
          <a:p>
            <a:pPr marL="0" indent="0" algn="l">
              <a:buNone/>
            </a:pPr>
            <a:endParaRPr lang="es-CL" sz="1400" b="0" i="0" dirty="0">
              <a:effectLst/>
              <a:latin typeface="Montserrat" panose="00000500000000000000" pitchFamily="2" charset="0"/>
            </a:endParaRPr>
          </a:p>
          <a:p>
            <a:pPr marL="0" indent="0" algn="l">
              <a:buNone/>
            </a:pPr>
            <a:r>
              <a:rPr lang="es-CL" sz="1400" b="1" dirty="0">
                <a:latin typeface="Montserrat" panose="00000500000000000000" pitchFamily="2" charset="0"/>
              </a:rPr>
              <a:t>Ana Figueiredo</a:t>
            </a:r>
            <a:endParaRPr lang="es-CL" sz="1400" b="0" i="0" dirty="0">
              <a:effectLst/>
              <a:latin typeface="Montserrat" panose="00000500000000000000" pitchFamily="2" charset="0"/>
            </a:endParaRPr>
          </a:p>
          <a:p>
            <a:pPr marL="0" indent="0" algn="l">
              <a:buNone/>
            </a:pPr>
            <a:r>
              <a:rPr lang="es-CL" sz="1400" b="0" i="0" dirty="0">
                <a:effectLst/>
                <a:latin typeface="Montserrat" panose="00000500000000000000" pitchFamily="2" charset="0"/>
              </a:rPr>
              <a:t>Profesora </a:t>
            </a:r>
            <a:r>
              <a:rPr lang="es-CL" sz="1400" dirty="0">
                <a:latin typeface="Montserrat" panose="00000500000000000000" pitchFamily="2" charset="0"/>
              </a:rPr>
              <a:t>Asociada Instituto de Ciencias Sociales </a:t>
            </a:r>
            <a:r>
              <a:rPr lang="es-CL" sz="1400" b="0" i="0" dirty="0">
                <a:effectLst/>
                <a:latin typeface="Montserrat" panose="00000500000000000000" pitchFamily="2" charset="0"/>
              </a:rPr>
              <a:t>UOH (Rancagua). Investigadora Asociada COES</a:t>
            </a:r>
          </a:p>
          <a:p>
            <a:pPr marL="0" indent="0" algn="l">
              <a:buNone/>
            </a:pPr>
            <a:endParaRPr lang="es-CL" sz="1400" b="0" i="0" dirty="0">
              <a:effectLst/>
              <a:latin typeface="Montserrat" panose="00000500000000000000" pitchFamily="2" charset="0"/>
            </a:endParaRPr>
          </a:p>
          <a:p>
            <a:pPr marL="0" indent="0">
              <a:buNone/>
            </a:pPr>
            <a:r>
              <a:rPr lang="es-CL" sz="1400" b="1" i="0" dirty="0">
                <a:effectLst/>
                <a:latin typeface="Montserrat" panose="00000500000000000000" pitchFamily="2" charset="0"/>
              </a:rPr>
              <a:t>Gustavo Ahumada</a:t>
            </a:r>
          </a:p>
          <a:p>
            <a:pPr marL="0" indent="0">
              <a:buNone/>
            </a:pPr>
            <a:r>
              <a:rPr lang="es-CL" sz="1400" b="0" i="0" dirty="0">
                <a:effectLst/>
                <a:latin typeface="Montserrat" panose="00000500000000000000" pitchFamily="2" charset="0"/>
              </a:rPr>
              <a:t>Asistente de Investigación ELSOC</a:t>
            </a:r>
          </a:p>
          <a:p>
            <a:pPr marL="0" indent="0">
              <a:buNone/>
            </a:pPr>
            <a:endParaRPr lang="es-CL" sz="1400" dirty="0">
              <a:latin typeface="Montserrat" panose="00000500000000000000" pitchFamily="2" charset="0"/>
            </a:endParaRPr>
          </a:p>
          <a:p>
            <a:pPr marL="0" indent="0" algn="l">
              <a:buNone/>
            </a:pPr>
            <a:r>
              <a:rPr lang="es-CL" sz="1400" b="1" i="0" dirty="0">
                <a:effectLst/>
                <a:latin typeface="Montserrat" panose="00000500000000000000" pitchFamily="2" charset="0"/>
              </a:rPr>
              <a:t>Andrés González</a:t>
            </a:r>
          </a:p>
          <a:p>
            <a:pPr marL="0" indent="0">
              <a:buNone/>
            </a:pPr>
            <a:r>
              <a:rPr lang="es-CL" sz="1400" b="0" i="0" dirty="0">
                <a:effectLst/>
                <a:latin typeface="Montserrat" panose="00000500000000000000" pitchFamily="2" charset="0"/>
              </a:rPr>
              <a:t>Asistente de Investigación ELSOC</a:t>
            </a:r>
            <a:endParaRPr lang="es-CL" sz="1400" dirty="0">
              <a:latin typeface="Montserrat" panose="00000500000000000000" pitchFamily="2" charset="0"/>
            </a:endParaRPr>
          </a:p>
        </p:txBody>
      </p:sp>
      <p:sp>
        <p:nvSpPr>
          <p:cNvPr id="8" name="Slide Number Placeholder 5">
            <a:extLst>
              <a:ext uri="{FF2B5EF4-FFF2-40B4-BE49-F238E27FC236}">
                <a16:creationId xmlns:a16="http://schemas.microsoft.com/office/drawing/2014/main" id="{210F9AA5-ABB8-F5CE-CA22-27950EB5C41A}"/>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s-CL"/>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9899EEF-128D-5149-85AB-A29305301F2C}" type="slidenum">
              <a:rPr lang="en-US" smtClean="0">
                <a:solidFill>
                  <a:prstClr val="black">
                    <a:tint val="82000"/>
                  </a:prstClr>
                </a:solidFill>
                <a:latin typeface="Aptos" panose="02110004020202020204"/>
              </a:rPr>
              <a:pPr/>
              <a:t>20</a:t>
            </a:fld>
            <a:endParaRPr lang="en-US">
              <a:solidFill>
                <a:prstClr val="black">
                  <a:tint val="82000"/>
                </a:prstClr>
              </a:solidFill>
              <a:latin typeface="Aptos" panose="02110004020202020204"/>
            </a:endParaRPr>
          </a:p>
        </p:txBody>
      </p:sp>
    </p:spTree>
    <p:extLst>
      <p:ext uri="{BB962C8B-B14F-4D97-AF65-F5344CB8AC3E}">
        <p14:creationId xmlns:p14="http://schemas.microsoft.com/office/powerpoint/2010/main" val="943799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32EEA1-F53C-F6CB-DF09-9DB77B934373}"/>
              </a:ext>
            </a:extLst>
          </p:cNvPr>
          <p:cNvSpPr>
            <a:spLocks noGrp="1"/>
          </p:cNvSpPr>
          <p:nvPr>
            <p:ph type="title"/>
          </p:nvPr>
        </p:nvSpPr>
        <p:spPr>
          <a:xfrm>
            <a:off x="673100" y="0"/>
            <a:ext cx="10515600" cy="1007376"/>
          </a:xfrm>
        </p:spPr>
        <p:txBody>
          <a:bodyPr/>
          <a:lstStyle/>
          <a:p>
            <a:r>
              <a:rPr lang="en-US" b="1" dirty="0">
                <a:solidFill>
                  <a:schemeClr val="tx1"/>
                </a:solidFill>
              </a:rPr>
              <a:t>Datos de la </a:t>
            </a:r>
            <a:r>
              <a:rPr lang="en-US" b="1" dirty="0" err="1">
                <a:solidFill>
                  <a:schemeClr val="tx1"/>
                </a:solidFill>
              </a:rPr>
              <a:t>muestra</a:t>
            </a:r>
            <a:endParaRPr lang="en-US" b="1" dirty="0">
              <a:solidFill>
                <a:schemeClr val="tx1"/>
              </a:solidFill>
            </a:endParaRPr>
          </a:p>
        </p:txBody>
      </p:sp>
      <p:sp>
        <p:nvSpPr>
          <p:cNvPr id="3" name="Marcador de texto 2">
            <a:extLst>
              <a:ext uri="{FF2B5EF4-FFF2-40B4-BE49-F238E27FC236}">
                <a16:creationId xmlns:a16="http://schemas.microsoft.com/office/drawing/2014/main" id="{82E1A735-68ED-CFED-49F1-A72807229812}"/>
              </a:ext>
            </a:extLst>
          </p:cNvPr>
          <p:cNvSpPr>
            <a:spLocks noGrp="1"/>
          </p:cNvSpPr>
          <p:nvPr>
            <p:ph type="body" idx="1"/>
          </p:nvPr>
        </p:nvSpPr>
        <p:spPr>
          <a:xfrm>
            <a:off x="483305" y="878257"/>
            <a:ext cx="11225389" cy="5855336"/>
          </a:xfrm>
        </p:spPr>
        <p:txBody>
          <a:bodyPr>
            <a:noAutofit/>
          </a:bodyPr>
          <a:lstStyle/>
          <a:p>
            <a:pPr algn="just" fontAlgn="base">
              <a:lnSpc>
                <a:spcPct val="150000"/>
              </a:lnSpc>
              <a:spcBef>
                <a:spcPts val="200"/>
              </a:spcBef>
              <a:spcAft>
                <a:spcPts val="200"/>
              </a:spcAft>
            </a:pPr>
            <a:r>
              <a:rPr lang="es-CL" sz="1600" b="1" dirty="0">
                <a:latin typeface="Montserrat" panose="00000500000000000000" pitchFamily="2" charset="0"/>
              </a:rPr>
              <a:t>Diseño: </a:t>
            </a:r>
            <a:r>
              <a:rPr lang="es-CL" sz="1600" dirty="0">
                <a:latin typeface="Montserrat" panose="00000500000000000000" pitchFamily="2" charset="0"/>
              </a:rPr>
              <a:t>Estudio cuantitativo por medio de un cuestionario estructurado. </a:t>
            </a:r>
            <a:endParaRPr lang="es-CL" sz="1600" b="1" dirty="0">
              <a:latin typeface="Montserrat" panose="00000500000000000000" pitchFamily="2" charset="0"/>
            </a:endParaRPr>
          </a:p>
          <a:p>
            <a:pPr algn="just" fontAlgn="base">
              <a:lnSpc>
                <a:spcPct val="150000"/>
              </a:lnSpc>
              <a:spcBef>
                <a:spcPts val="200"/>
              </a:spcBef>
              <a:spcAft>
                <a:spcPts val="200"/>
              </a:spcAft>
            </a:pPr>
            <a:r>
              <a:rPr lang="es-CL" sz="1600" b="1" dirty="0">
                <a:latin typeface="Montserrat" panose="00000500000000000000" pitchFamily="2" charset="0"/>
              </a:rPr>
              <a:t>Periodo de aplicación: </a:t>
            </a:r>
            <a:r>
              <a:rPr lang="es-CL" sz="1600" dirty="0">
                <a:latin typeface="Montserrat" panose="00000500000000000000" pitchFamily="2" charset="0"/>
              </a:rPr>
              <a:t>Entre Julio y Noviembre para los años 2016 a 2018; cuarta medición entre el 21 de noviembre de 2019 y 9 de marzo de 2020; quinta medición entre el 30 de enero de 2021 hasta mediados de junio; y sexta medición entre Julio y Octubre de 2022. La séptima medición se aplicó entre diciembre de 2023 y marzo de 2024.</a:t>
            </a:r>
            <a:endParaRPr lang="es-CL" sz="1600" b="1" dirty="0">
              <a:latin typeface="Montserrat" panose="00000500000000000000" pitchFamily="2" charset="0"/>
            </a:endParaRPr>
          </a:p>
          <a:p>
            <a:pPr algn="just" fontAlgn="base">
              <a:lnSpc>
                <a:spcPct val="150000"/>
              </a:lnSpc>
              <a:spcBef>
                <a:spcPts val="200"/>
              </a:spcBef>
              <a:spcAft>
                <a:spcPts val="200"/>
              </a:spcAft>
            </a:pPr>
            <a:r>
              <a:rPr lang="es-CL" sz="1600" b="1" dirty="0">
                <a:latin typeface="Montserrat" panose="00000500000000000000" pitchFamily="2" charset="0"/>
              </a:rPr>
              <a:t>Población objetivo: </a:t>
            </a:r>
            <a:r>
              <a:rPr lang="es-CL" sz="1600" dirty="0">
                <a:latin typeface="Montserrat" panose="00000500000000000000" pitchFamily="2" charset="0"/>
              </a:rPr>
              <a:t>Hombres y mujeres de 18 a 75 años, residentes habituales de viviendas particulares ocupadas, en zonas urbanas, localizadas en 40 ciudades (92 comunas, 13 regiones) del país.</a:t>
            </a:r>
            <a:endParaRPr lang="es-CL" sz="1600" b="1" dirty="0">
              <a:latin typeface="Montserrat" panose="00000500000000000000" pitchFamily="2" charset="0"/>
            </a:endParaRPr>
          </a:p>
          <a:p>
            <a:pPr algn="just" fontAlgn="base">
              <a:lnSpc>
                <a:spcPct val="150000"/>
              </a:lnSpc>
              <a:spcBef>
                <a:spcPts val="200"/>
              </a:spcBef>
              <a:spcAft>
                <a:spcPts val="200"/>
              </a:spcAft>
            </a:pPr>
            <a:r>
              <a:rPr lang="es-CL" sz="1600" b="1" dirty="0">
                <a:latin typeface="Montserrat" panose="00000500000000000000" pitchFamily="2" charset="0"/>
              </a:rPr>
              <a:t>Diseño Muestral: </a:t>
            </a:r>
            <a:r>
              <a:rPr lang="es-CL" sz="1600" dirty="0">
                <a:latin typeface="Montserrat" panose="00000500000000000000" pitchFamily="2" charset="0"/>
              </a:rPr>
              <a:t>Probabilístico, estratificado (por tamaño de ciudades), por conglomerados y </a:t>
            </a:r>
            <a:r>
              <a:rPr lang="es-CL" sz="1600" dirty="0" err="1">
                <a:latin typeface="Montserrat" panose="00000500000000000000" pitchFamily="2" charset="0"/>
              </a:rPr>
              <a:t>multietápico</a:t>
            </a:r>
            <a:r>
              <a:rPr lang="es-CL" sz="1600" dirty="0">
                <a:latin typeface="Montserrat" panose="00000500000000000000" pitchFamily="2" charset="0"/>
              </a:rPr>
              <a:t>.</a:t>
            </a:r>
            <a:endParaRPr lang="es-CL" sz="1600" b="1" dirty="0">
              <a:latin typeface="Montserrat" panose="00000500000000000000" pitchFamily="2" charset="0"/>
            </a:endParaRPr>
          </a:p>
          <a:p>
            <a:pPr algn="just">
              <a:lnSpc>
                <a:spcPct val="150000"/>
              </a:lnSpc>
              <a:spcBef>
                <a:spcPts val="200"/>
              </a:spcBef>
              <a:spcAft>
                <a:spcPts val="200"/>
              </a:spcAft>
            </a:pPr>
            <a:r>
              <a:rPr lang="es-CL" sz="1600" b="1" dirty="0">
                <a:latin typeface="Montserrat" panose="00000500000000000000" pitchFamily="2" charset="0"/>
              </a:rPr>
              <a:t>Unidades de Muestreo: </a:t>
            </a:r>
            <a:r>
              <a:rPr lang="es-CL" sz="1600" dirty="0">
                <a:latin typeface="Montserrat" panose="00000500000000000000" pitchFamily="2" charset="0"/>
              </a:rPr>
              <a:t>Primer se eligen ciudades (UPM), luego manzanas (USM), y </a:t>
            </a:r>
            <a:r>
              <a:rPr lang="es-CL" sz="1600" dirty="0" err="1">
                <a:latin typeface="Montserrat" panose="00000500000000000000" pitchFamily="2" charset="0"/>
              </a:rPr>
              <a:t>sub-bloques</a:t>
            </a:r>
            <a:r>
              <a:rPr lang="es-CL" sz="1600" dirty="0">
                <a:latin typeface="Montserrat" panose="00000500000000000000" pitchFamily="2" charset="0"/>
              </a:rPr>
              <a:t> y viviendas (UTM). La unidad final de selección es la persona.</a:t>
            </a:r>
          </a:p>
          <a:p>
            <a:pPr algn="just" fontAlgn="base">
              <a:lnSpc>
                <a:spcPct val="150000"/>
              </a:lnSpc>
              <a:spcBef>
                <a:spcPts val="200"/>
              </a:spcBef>
              <a:spcAft>
                <a:spcPts val="200"/>
              </a:spcAft>
            </a:pPr>
            <a:r>
              <a:rPr lang="es-CL" sz="1600" b="1" dirty="0">
                <a:latin typeface="Montserrat" panose="00000500000000000000" pitchFamily="2" charset="0"/>
              </a:rPr>
              <a:t>Formato de Cuestionario y medición</a:t>
            </a:r>
            <a:r>
              <a:rPr lang="es-CL" sz="1600" dirty="0">
                <a:latin typeface="Montserrat" panose="00000500000000000000" pitchFamily="2" charset="0"/>
              </a:rPr>
              <a:t>: La mayor parte de la muestra fue encuestada de manera presencial (CAPI), una fracción menor fue encuestada bajo modalidad telefónica (CATI). Para quienes fueron encuestados telefónicamente, se adaptó la extensión del cuestionario y de las preguntas.</a:t>
            </a:r>
          </a:p>
        </p:txBody>
      </p:sp>
      <p:sp>
        <p:nvSpPr>
          <p:cNvPr id="7" name="Slide Number Placeholder 5">
            <a:extLst>
              <a:ext uri="{FF2B5EF4-FFF2-40B4-BE49-F238E27FC236}">
                <a16:creationId xmlns:a16="http://schemas.microsoft.com/office/drawing/2014/main" id="{C351392E-4214-4477-86E1-FAD3CAB1739D}"/>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s-CL"/>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9899EEF-128D-5149-85AB-A29305301F2C}" type="slidenum">
              <a:rPr lang="en-US" smtClean="0">
                <a:solidFill>
                  <a:prstClr val="black">
                    <a:tint val="82000"/>
                  </a:prstClr>
                </a:solidFill>
                <a:latin typeface="Aptos" panose="02110004020202020204"/>
              </a:rPr>
              <a:pPr/>
              <a:t>21</a:t>
            </a:fld>
            <a:endParaRPr lang="en-US">
              <a:solidFill>
                <a:prstClr val="black">
                  <a:tint val="82000"/>
                </a:prstClr>
              </a:solidFill>
              <a:latin typeface="Aptos" panose="02110004020202020204"/>
            </a:endParaRPr>
          </a:p>
        </p:txBody>
      </p:sp>
    </p:spTree>
    <p:extLst>
      <p:ext uri="{BB962C8B-B14F-4D97-AF65-F5344CB8AC3E}">
        <p14:creationId xmlns:p14="http://schemas.microsoft.com/office/powerpoint/2010/main" val="22983770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E8DA400-C462-9E40-B53C-05E8E00B94A3}"/>
              </a:ext>
            </a:extLst>
          </p:cNvPr>
          <p:cNvSpPr>
            <a:spLocks noGrp="1"/>
          </p:cNvSpPr>
          <p:nvPr>
            <p:ph type="title"/>
          </p:nvPr>
        </p:nvSpPr>
        <p:spPr>
          <a:xfrm>
            <a:off x="853166" y="120898"/>
            <a:ext cx="10515600" cy="1325563"/>
          </a:xfrm>
        </p:spPr>
        <p:txBody>
          <a:bodyPr>
            <a:normAutofit/>
          </a:bodyPr>
          <a:lstStyle/>
          <a:p>
            <a:r>
              <a:rPr lang="es-CL" b="1" dirty="0">
                <a:solidFill>
                  <a:schemeClr val="tx1"/>
                </a:solidFill>
              </a:rPr>
              <a:t>Dimensión longitudinal del diseño</a:t>
            </a:r>
          </a:p>
        </p:txBody>
      </p:sp>
      <p:grpSp>
        <p:nvGrpSpPr>
          <p:cNvPr id="8" name="Grupo 7">
            <a:extLst>
              <a:ext uri="{FF2B5EF4-FFF2-40B4-BE49-F238E27FC236}">
                <a16:creationId xmlns:a16="http://schemas.microsoft.com/office/drawing/2014/main" id="{30BEA4F3-47CB-0F42-8C6A-2A4BF8A8F16C}"/>
              </a:ext>
            </a:extLst>
          </p:cNvPr>
          <p:cNvGrpSpPr/>
          <p:nvPr/>
        </p:nvGrpSpPr>
        <p:grpSpPr>
          <a:xfrm>
            <a:off x="710453" y="1690688"/>
            <a:ext cx="9698426" cy="3750931"/>
            <a:chOff x="164478" y="1849558"/>
            <a:chExt cx="7760641" cy="1684380"/>
          </a:xfrm>
        </p:grpSpPr>
        <p:grpSp>
          <p:nvGrpSpPr>
            <p:cNvPr id="9" name="Grupo 8">
              <a:extLst>
                <a:ext uri="{FF2B5EF4-FFF2-40B4-BE49-F238E27FC236}">
                  <a16:creationId xmlns:a16="http://schemas.microsoft.com/office/drawing/2014/main" id="{7DA61580-E0E8-FA4E-8832-5DF3421492FD}"/>
                </a:ext>
              </a:extLst>
            </p:cNvPr>
            <p:cNvGrpSpPr/>
            <p:nvPr/>
          </p:nvGrpSpPr>
          <p:grpSpPr>
            <a:xfrm>
              <a:off x="164478" y="1849558"/>
              <a:ext cx="7760641" cy="1684380"/>
              <a:chOff x="-53123" y="1849558"/>
              <a:chExt cx="7956601" cy="1684380"/>
            </a:xfrm>
          </p:grpSpPr>
          <p:sp>
            <p:nvSpPr>
              <p:cNvPr id="16" name="Rectángulo 15">
                <a:extLst>
                  <a:ext uri="{FF2B5EF4-FFF2-40B4-BE49-F238E27FC236}">
                    <a16:creationId xmlns:a16="http://schemas.microsoft.com/office/drawing/2014/main" id="{6DEFEAB8-EDC4-C447-A1A6-758D99C982B0}"/>
                  </a:ext>
                </a:extLst>
              </p:cNvPr>
              <p:cNvSpPr/>
              <p:nvPr/>
            </p:nvSpPr>
            <p:spPr>
              <a:xfrm>
                <a:off x="1895750" y="2132856"/>
                <a:ext cx="719844" cy="504056"/>
              </a:xfrm>
              <a:prstGeom prst="rect">
                <a:avLst/>
              </a:prstGeom>
              <a:noFill/>
              <a:ln w="698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dirty="0">
                    <a:ln>
                      <a:noFill/>
                    </a:ln>
                    <a:solidFill>
                      <a:srgbClr val="595959"/>
                    </a:solidFill>
                    <a:effectLst/>
                    <a:uLnTx/>
                    <a:uFillTx/>
                    <a:latin typeface="Montserrat" panose="00000500000000000000" pitchFamily="2" charset="0"/>
                    <a:ea typeface="Tw Cen MT" charset="0"/>
                    <a:cs typeface="Tw Cen MT" charset="0"/>
                    <a:sym typeface="Arial"/>
                  </a:rPr>
                  <a:t>Ola 2</a:t>
                </a:r>
              </a:p>
            </p:txBody>
          </p:sp>
          <p:sp>
            <p:nvSpPr>
              <p:cNvPr id="17" name="Rectángulo 16">
                <a:extLst>
                  <a:ext uri="{FF2B5EF4-FFF2-40B4-BE49-F238E27FC236}">
                    <a16:creationId xmlns:a16="http://schemas.microsoft.com/office/drawing/2014/main" id="{E1C0AD83-67DD-5742-8749-DA45832E0444}"/>
                  </a:ext>
                </a:extLst>
              </p:cNvPr>
              <p:cNvSpPr/>
              <p:nvPr/>
            </p:nvSpPr>
            <p:spPr>
              <a:xfrm>
                <a:off x="1014814" y="2132856"/>
                <a:ext cx="719844" cy="504056"/>
              </a:xfrm>
              <a:prstGeom prst="rect">
                <a:avLst/>
              </a:prstGeom>
              <a:noFill/>
              <a:ln w="698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dirty="0">
                    <a:ln>
                      <a:noFill/>
                    </a:ln>
                    <a:solidFill>
                      <a:srgbClr val="595959"/>
                    </a:solidFill>
                    <a:effectLst/>
                    <a:uLnTx/>
                    <a:uFillTx/>
                    <a:latin typeface="Montserrat" panose="00000500000000000000" pitchFamily="2" charset="0"/>
                    <a:ea typeface="Tw Cen MT" charset="0"/>
                    <a:cs typeface="Tw Cen MT" charset="0"/>
                    <a:sym typeface="Arial"/>
                  </a:rPr>
                  <a:t>Ola 1</a:t>
                </a:r>
              </a:p>
            </p:txBody>
          </p:sp>
          <p:sp>
            <p:nvSpPr>
              <p:cNvPr id="18" name="Rectángulo 17">
                <a:extLst>
                  <a:ext uri="{FF2B5EF4-FFF2-40B4-BE49-F238E27FC236}">
                    <a16:creationId xmlns:a16="http://schemas.microsoft.com/office/drawing/2014/main" id="{C870A3B8-B803-DD49-8222-7BD44929D9DF}"/>
                  </a:ext>
                </a:extLst>
              </p:cNvPr>
              <p:cNvSpPr/>
              <p:nvPr/>
            </p:nvSpPr>
            <p:spPr>
              <a:xfrm>
                <a:off x="2776685" y="2132856"/>
                <a:ext cx="719844" cy="504056"/>
              </a:xfrm>
              <a:prstGeom prst="rect">
                <a:avLst/>
              </a:prstGeom>
              <a:noFill/>
              <a:ln w="698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a:ln>
                      <a:noFill/>
                    </a:ln>
                    <a:solidFill>
                      <a:srgbClr val="595959"/>
                    </a:solidFill>
                    <a:effectLst/>
                    <a:uLnTx/>
                    <a:uFillTx/>
                    <a:latin typeface="Montserrat" panose="00000500000000000000" pitchFamily="2" charset="0"/>
                    <a:ea typeface="Tw Cen MT" charset="0"/>
                    <a:cs typeface="Tw Cen MT" charset="0"/>
                    <a:sym typeface="Arial"/>
                  </a:rPr>
                  <a:t>Ola </a:t>
                </a:r>
                <a:r>
                  <a:rPr kumimoji="0" lang="es-CL" sz="1600" b="0" i="0" u="none" strike="noStrike" kern="1200" cap="none" spc="0" normalizeH="0" baseline="0" noProof="0" dirty="0">
                    <a:ln>
                      <a:noFill/>
                    </a:ln>
                    <a:solidFill>
                      <a:srgbClr val="595959"/>
                    </a:solidFill>
                    <a:effectLst/>
                    <a:uLnTx/>
                    <a:uFillTx/>
                    <a:latin typeface="Montserrat" panose="00000500000000000000" pitchFamily="2" charset="0"/>
                    <a:ea typeface="Tw Cen MT" charset="0"/>
                    <a:cs typeface="Tw Cen MT" charset="0"/>
                    <a:sym typeface="Arial"/>
                  </a:rPr>
                  <a:t>3</a:t>
                </a:r>
              </a:p>
            </p:txBody>
          </p:sp>
          <p:sp>
            <p:nvSpPr>
              <p:cNvPr id="19" name="Rectángulo 18">
                <a:extLst>
                  <a:ext uri="{FF2B5EF4-FFF2-40B4-BE49-F238E27FC236}">
                    <a16:creationId xmlns:a16="http://schemas.microsoft.com/office/drawing/2014/main" id="{C7214395-3181-424B-994C-0969AA4C09F7}"/>
                  </a:ext>
                </a:extLst>
              </p:cNvPr>
              <p:cNvSpPr/>
              <p:nvPr/>
            </p:nvSpPr>
            <p:spPr>
              <a:xfrm>
                <a:off x="3657621" y="2136351"/>
                <a:ext cx="719844" cy="504056"/>
              </a:xfrm>
              <a:prstGeom prst="rect">
                <a:avLst/>
              </a:prstGeom>
              <a:noFill/>
              <a:ln w="698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a:ln>
                      <a:noFill/>
                    </a:ln>
                    <a:solidFill>
                      <a:srgbClr val="595959"/>
                    </a:solidFill>
                    <a:effectLst/>
                    <a:uLnTx/>
                    <a:uFillTx/>
                    <a:latin typeface="Montserrat" panose="00000500000000000000" pitchFamily="2" charset="0"/>
                    <a:ea typeface="Tw Cen MT" charset="0"/>
                    <a:cs typeface="Tw Cen MT" charset="0"/>
                    <a:sym typeface="Arial"/>
                  </a:rPr>
                  <a:t>Ola </a:t>
                </a:r>
                <a:r>
                  <a:rPr kumimoji="0" lang="es-CL" sz="1600" b="0" i="0" u="none" strike="noStrike" kern="1200" cap="none" spc="0" normalizeH="0" baseline="0" noProof="0" dirty="0">
                    <a:ln>
                      <a:noFill/>
                    </a:ln>
                    <a:solidFill>
                      <a:srgbClr val="595959"/>
                    </a:solidFill>
                    <a:effectLst/>
                    <a:uLnTx/>
                    <a:uFillTx/>
                    <a:latin typeface="Montserrat" panose="00000500000000000000" pitchFamily="2" charset="0"/>
                    <a:ea typeface="Tw Cen MT" charset="0"/>
                    <a:cs typeface="Tw Cen MT" charset="0"/>
                    <a:sym typeface="Arial"/>
                  </a:rPr>
                  <a:t>4</a:t>
                </a:r>
              </a:p>
            </p:txBody>
          </p:sp>
          <p:sp>
            <p:nvSpPr>
              <p:cNvPr id="20" name="Rectángulo 19">
                <a:extLst>
                  <a:ext uri="{FF2B5EF4-FFF2-40B4-BE49-F238E27FC236}">
                    <a16:creationId xmlns:a16="http://schemas.microsoft.com/office/drawing/2014/main" id="{4F1EC490-73A0-3143-8F8E-C183BDCD57C6}"/>
                  </a:ext>
                </a:extLst>
              </p:cNvPr>
              <p:cNvSpPr/>
              <p:nvPr/>
            </p:nvSpPr>
            <p:spPr>
              <a:xfrm>
                <a:off x="4538557" y="2132856"/>
                <a:ext cx="719844" cy="504056"/>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L" sz="1600" b="0" i="0" u="none" strike="noStrike" kern="1200" cap="none" spc="0" normalizeH="0" baseline="0" noProof="0" dirty="0">
                  <a:ln>
                    <a:noFill/>
                  </a:ln>
                  <a:solidFill>
                    <a:srgbClr val="595959"/>
                  </a:solidFill>
                  <a:effectLst/>
                  <a:uLnTx/>
                  <a:uFillTx/>
                  <a:latin typeface="Montserrat" panose="00000500000000000000" pitchFamily="2" charset="0"/>
                  <a:ea typeface="Tw Cen MT" charset="0"/>
                  <a:cs typeface="Tw Cen MT" charset="0"/>
                  <a:sym typeface="Arial"/>
                </a:endParaRPr>
              </a:p>
            </p:txBody>
          </p:sp>
          <p:sp>
            <p:nvSpPr>
              <p:cNvPr id="21" name="Rectángulo 20">
                <a:extLst>
                  <a:ext uri="{FF2B5EF4-FFF2-40B4-BE49-F238E27FC236}">
                    <a16:creationId xmlns:a16="http://schemas.microsoft.com/office/drawing/2014/main" id="{14C78E08-59D3-064B-8E5D-1E89BE6C4B0E}"/>
                  </a:ext>
                </a:extLst>
              </p:cNvPr>
              <p:cNvSpPr/>
              <p:nvPr/>
            </p:nvSpPr>
            <p:spPr>
              <a:xfrm>
                <a:off x="3657621" y="2932377"/>
                <a:ext cx="719844" cy="504056"/>
              </a:xfrm>
              <a:prstGeom prst="rect">
                <a:avLst/>
              </a:prstGeom>
              <a:noFill/>
              <a:ln w="698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dirty="0">
                    <a:ln>
                      <a:noFill/>
                    </a:ln>
                    <a:solidFill>
                      <a:srgbClr val="595959"/>
                    </a:solidFill>
                    <a:effectLst/>
                    <a:uLnTx/>
                    <a:uFillTx/>
                    <a:latin typeface="Montserrat" panose="00000500000000000000" pitchFamily="2" charset="0"/>
                    <a:ea typeface="Tw Cen MT" charset="0"/>
                    <a:cs typeface="Tw Cen MT" charset="0"/>
                    <a:sym typeface="Arial"/>
                  </a:rPr>
                  <a:t>Ola 2</a:t>
                </a:r>
              </a:p>
            </p:txBody>
          </p:sp>
          <p:sp>
            <p:nvSpPr>
              <p:cNvPr id="22" name="Rectángulo 21">
                <a:extLst>
                  <a:ext uri="{FF2B5EF4-FFF2-40B4-BE49-F238E27FC236}">
                    <a16:creationId xmlns:a16="http://schemas.microsoft.com/office/drawing/2014/main" id="{3028B957-BF18-AE4B-B609-51878FFCAD2D}"/>
                  </a:ext>
                </a:extLst>
              </p:cNvPr>
              <p:cNvSpPr/>
              <p:nvPr/>
            </p:nvSpPr>
            <p:spPr>
              <a:xfrm>
                <a:off x="2776685" y="2932377"/>
                <a:ext cx="719844" cy="504056"/>
              </a:xfrm>
              <a:prstGeom prst="rect">
                <a:avLst/>
              </a:prstGeom>
              <a:noFill/>
              <a:ln w="698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a:ln>
                      <a:noFill/>
                    </a:ln>
                    <a:solidFill>
                      <a:srgbClr val="595959"/>
                    </a:solidFill>
                    <a:effectLst/>
                    <a:uLnTx/>
                    <a:uFillTx/>
                    <a:latin typeface="Montserrat" panose="00000500000000000000" pitchFamily="2" charset="0"/>
                    <a:ea typeface="Tw Cen MT" charset="0"/>
                    <a:cs typeface="Tw Cen MT" charset="0"/>
                    <a:sym typeface="Arial"/>
                  </a:rPr>
                  <a:t>Ola </a:t>
                </a:r>
                <a:r>
                  <a:rPr kumimoji="0" lang="es-CL" sz="1600" b="0" i="0" u="none" strike="noStrike" kern="1200" cap="none" spc="0" normalizeH="0" baseline="0" noProof="0" dirty="0">
                    <a:ln>
                      <a:noFill/>
                    </a:ln>
                    <a:solidFill>
                      <a:srgbClr val="595959"/>
                    </a:solidFill>
                    <a:effectLst/>
                    <a:uLnTx/>
                    <a:uFillTx/>
                    <a:latin typeface="Montserrat" panose="00000500000000000000" pitchFamily="2" charset="0"/>
                    <a:ea typeface="Tw Cen MT" charset="0"/>
                    <a:cs typeface="Tw Cen MT" charset="0"/>
                    <a:sym typeface="Arial"/>
                  </a:rPr>
                  <a:t>1</a:t>
                </a:r>
              </a:p>
            </p:txBody>
          </p:sp>
          <p:sp>
            <p:nvSpPr>
              <p:cNvPr id="23" name="Rectángulo 22">
                <a:extLst>
                  <a:ext uri="{FF2B5EF4-FFF2-40B4-BE49-F238E27FC236}">
                    <a16:creationId xmlns:a16="http://schemas.microsoft.com/office/drawing/2014/main" id="{86284DE3-BF11-BC4E-B611-02EE6F6497EE}"/>
                  </a:ext>
                </a:extLst>
              </p:cNvPr>
              <p:cNvSpPr/>
              <p:nvPr/>
            </p:nvSpPr>
            <p:spPr>
              <a:xfrm>
                <a:off x="4538556" y="2932377"/>
                <a:ext cx="719844" cy="504056"/>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L" sz="1600" b="0" i="0" u="none" strike="noStrike" kern="1200" cap="none" spc="0" normalizeH="0" baseline="0" noProof="0" dirty="0">
                  <a:ln>
                    <a:noFill/>
                  </a:ln>
                  <a:solidFill>
                    <a:srgbClr val="595959"/>
                  </a:solidFill>
                  <a:effectLst/>
                  <a:uLnTx/>
                  <a:uFillTx/>
                  <a:latin typeface="Montserrat" panose="00000500000000000000" pitchFamily="2" charset="0"/>
                  <a:ea typeface="Tw Cen MT" charset="0"/>
                  <a:cs typeface="Tw Cen MT" charset="0"/>
                  <a:sym typeface="Arial"/>
                </a:endParaRPr>
              </a:p>
            </p:txBody>
          </p:sp>
          <p:sp>
            <p:nvSpPr>
              <p:cNvPr id="24" name="Rectángulo 23">
                <a:extLst>
                  <a:ext uri="{FF2B5EF4-FFF2-40B4-BE49-F238E27FC236}">
                    <a16:creationId xmlns:a16="http://schemas.microsoft.com/office/drawing/2014/main" id="{65A99B7C-7983-6245-A0CE-17C0A3F21AC8}"/>
                  </a:ext>
                </a:extLst>
              </p:cNvPr>
              <p:cNvSpPr/>
              <p:nvPr/>
            </p:nvSpPr>
            <p:spPr>
              <a:xfrm>
                <a:off x="5419492" y="2935872"/>
                <a:ext cx="719844" cy="504056"/>
              </a:xfrm>
              <a:prstGeom prst="rect">
                <a:avLst/>
              </a:prstGeom>
              <a:noFill/>
              <a:ln w="69850">
                <a:solidFill>
                  <a:srgbClr val="83419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a:ln>
                      <a:noFill/>
                    </a:ln>
                    <a:solidFill>
                      <a:srgbClr val="595959"/>
                    </a:solidFill>
                    <a:effectLst/>
                    <a:uLnTx/>
                    <a:uFillTx/>
                    <a:latin typeface="Montserrat" panose="00000500000000000000" pitchFamily="2" charset="0"/>
                    <a:ea typeface="Tw Cen MT" charset="0"/>
                    <a:cs typeface="Tw Cen MT" charset="0"/>
                    <a:sym typeface="Arial"/>
                  </a:rPr>
                  <a:t>Ola </a:t>
                </a:r>
                <a:r>
                  <a:rPr kumimoji="0" lang="es-CL" sz="1600" b="0" i="0" u="none" strike="noStrike" kern="1200" cap="none" spc="0" normalizeH="0" baseline="0" noProof="0" dirty="0">
                    <a:ln>
                      <a:noFill/>
                    </a:ln>
                    <a:solidFill>
                      <a:srgbClr val="595959"/>
                    </a:solidFill>
                    <a:effectLst/>
                    <a:uLnTx/>
                    <a:uFillTx/>
                    <a:latin typeface="Montserrat" panose="00000500000000000000" pitchFamily="2" charset="0"/>
                    <a:ea typeface="Tw Cen MT" charset="0"/>
                    <a:cs typeface="Tw Cen MT" charset="0"/>
                    <a:sym typeface="Arial"/>
                  </a:rPr>
                  <a:t>3</a:t>
                </a:r>
              </a:p>
            </p:txBody>
          </p:sp>
          <p:sp>
            <p:nvSpPr>
              <p:cNvPr id="25" name="Rectángulo 24">
                <a:extLst>
                  <a:ext uri="{FF2B5EF4-FFF2-40B4-BE49-F238E27FC236}">
                    <a16:creationId xmlns:a16="http://schemas.microsoft.com/office/drawing/2014/main" id="{EE0BA628-0557-B447-8D24-E1EA2839E854}"/>
                  </a:ext>
                </a:extLst>
              </p:cNvPr>
              <p:cNvSpPr/>
              <p:nvPr/>
            </p:nvSpPr>
            <p:spPr>
              <a:xfrm>
                <a:off x="6300428" y="2932377"/>
                <a:ext cx="719844" cy="504056"/>
              </a:xfrm>
              <a:prstGeom prst="rect">
                <a:avLst/>
              </a:prstGeom>
              <a:noFill/>
              <a:ln w="69850">
                <a:solidFill>
                  <a:srgbClr val="83419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s-CL" sz="1600" b="0" i="0" u="none" strike="noStrike" kern="0" cap="none" spc="0" normalizeH="0" baseline="0" noProof="0" dirty="0">
                    <a:ln>
                      <a:noFill/>
                    </a:ln>
                    <a:solidFill>
                      <a:srgbClr val="595959"/>
                    </a:solidFill>
                    <a:effectLst/>
                    <a:uLnTx/>
                    <a:uFillTx/>
                    <a:latin typeface="Montserrat" panose="00000500000000000000" pitchFamily="2" charset="0"/>
                    <a:ea typeface="+mn-ea"/>
                    <a:cs typeface="+mn-cs"/>
                    <a:sym typeface="Arial"/>
                  </a:rPr>
                  <a:t>Ola 4</a:t>
                </a:r>
              </a:p>
            </p:txBody>
          </p:sp>
          <p:sp>
            <p:nvSpPr>
              <p:cNvPr id="26" name="Rectángulo 25">
                <a:extLst>
                  <a:ext uri="{FF2B5EF4-FFF2-40B4-BE49-F238E27FC236}">
                    <a16:creationId xmlns:a16="http://schemas.microsoft.com/office/drawing/2014/main" id="{8FC4B046-4748-0347-98BF-3A78A7E474BF}"/>
                  </a:ext>
                </a:extLst>
              </p:cNvPr>
              <p:cNvSpPr/>
              <p:nvPr/>
            </p:nvSpPr>
            <p:spPr>
              <a:xfrm>
                <a:off x="-53123" y="2132856"/>
                <a:ext cx="1036367" cy="50405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600" b="1" i="0" u="none" strike="noStrike" kern="1200" cap="none" spc="0" normalizeH="0" baseline="0" noProof="0" dirty="0">
                    <a:ln>
                      <a:noFill/>
                    </a:ln>
                    <a:solidFill>
                      <a:srgbClr val="595959"/>
                    </a:solidFill>
                    <a:effectLst/>
                    <a:uLnTx/>
                    <a:uFillTx/>
                    <a:latin typeface="Montserrat" panose="00000500000000000000" pitchFamily="2" charset="0"/>
                    <a:ea typeface="Tw Cen MT" charset="0"/>
                    <a:cs typeface="Tw Cen MT" charset="0"/>
                    <a:sym typeface="Arial"/>
                  </a:rPr>
                  <a:t>Muestra 1</a:t>
                </a:r>
              </a:p>
            </p:txBody>
          </p:sp>
          <p:sp>
            <p:nvSpPr>
              <p:cNvPr id="27" name="Rectángulo 26">
                <a:extLst>
                  <a:ext uri="{FF2B5EF4-FFF2-40B4-BE49-F238E27FC236}">
                    <a16:creationId xmlns:a16="http://schemas.microsoft.com/office/drawing/2014/main" id="{34E7B451-645E-8645-88F8-E63602250126}"/>
                  </a:ext>
                </a:extLst>
              </p:cNvPr>
              <p:cNvSpPr/>
              <p:nvPr/>
            </p:nvSpPr>
            <p:spPr>
              <a:xfrm>
                <a:off x="-53123" y="3029882"/>
                <a:ext cx="1067937" cy="50405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600" b="1" i="0" u="none" strike="noStrike" kern="1200" cap="none" spc="0" normalizeH="0" baseline="0" noProof="0" dirty="0">
                    <a:ln>
                      <a:noFill/>
                    </a:ln>
                    <a:solidFill>
                      <a:srgbClr val="595959"/>
                    </a:solidFill>
                    <a:effectLst/>
                    <a:uLnTx/>
                    <a:uFillTx/>
                    <a:latin typeface="Montserrat" panose="00000500000000000000" pitchFamily="2" charset="0"/>
                    <a:ea typeface="Tw Cen MT" charset="0"/>
                    <a:cs typeface="Tw Cen MT" charset="0"/>
                    <a:sym typeface="Arial"/>
                  </a:rPr>
                  <a:t>Muestra 2</a:t>
                </a:r>
              </a:p>
            </p:txBody>
          </p:sp>
          <p:sp>
            <p:nvSpPr>
              <p:cNvPr id="28" name="Rectángulo 27">
                <a:extLst>
                  <a:ext uri="{FF2B5EF4-FFF2-40B4-BE49-F238E27FC236}">
                    <a16:creationId xmlns:a16="http://schemas.microsoft.com/office/drawing/2014/main" id="{D45E5652-B7C7-2542-B00B-F56A29DA78F0}"/>
                  </a:ext>
                </a:extLst>
              </p:cNvPr>
              <p:cNvSpPr/>
              <p:nvPr/>
            </p:nvSpPr>
            <p:spPr>
              <a:xfrm>
                <a:off x="1014814" y="1851382"/>
                <a:ext cx="719844" cy="25429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dirty="0">
                    <a:ln>
                      <a:noFill/>
                    </a:ln>
                    <a:solidFill>
                      <a:srgbClr val="595959"/>
                    </a:solidFill>
                    <a:effectLst/>
                    <a:uLnTx/>
                    <a:uFillTx/>
                    <a:latin typeface="Montserrat" panose="00000500000000000000" pitchFamily="2" charset="0"/>
                    <a:ea typeface="Tw Cen MT" charset="0"/>
                    <a:cs typeface="Tw Cen MT" charset="0"/>
                    <a:sym typeface="Arial"/>
                  </a:rPr>
                  <a:t>2016</a:t>
                </a:r>
              </a:p>
            </p:txBody>
          </p:sp>
          <p:sp>
            <p:nvSpPr>
              <p:cNvPr id="29" name="Rectángulo 28">
                <a:extLst>
                  <a:ext uri="{FF2B5EF4-FFF2-40B4-BE49-F238E27FC236}">
                    <a16:creationId xmlns:a16="http://schemas.microsoft.com/office/drawing/2014/main" id="{22DDF813-21C5-2E4B-A1B4-401801CE5AE3}"/>
                  </a:ext>
                </a:extLst>
              </p:cNvPr>
              <p:cNvSpPr/>
              <p:nvPr/>
            </p:nvSpPr>
            <p:spPr>
              <a:xfrm>
                <a:off x="1897101" y="1851382"/>
                <a:ext cx="719844" cy="25429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dirty="0">
                    <a:ln>
                      <a:noFill/>
                    </a:ln>
                    <a:solidFill>
                      <a:srgbClr val="595959"/>
                    </a:solidFill>
                    <a:effectLst/>
                    <a:uLnTx/>
                    <a:uFillTx/>
                    <a:latin typeface="Montserrat" panose="00000500000000000000" pitchFamily="2" charset="0"/>
                    <a:ea typeface="Tw Cen MT" charset="0"/>
                    <a:cs typeface="Tw Cen MT" charset="0"/>
                    <a:sym typeface="Arial"/>
                  </a:rPr>
                  <a:t>2017</a:t>
                </a:r>
              </a:p>
            </p:txBody>
          </p:sp>
          <p:sp>
            <p:nvSpPr>
              <p:cNvPr id="30" name="Rectángulo 29">
                <a:extLst>
                  <a:ext uri="{FF2B5EF4-FFF2-40B4-BE49-F238E27FC236}">
                    <a16:creationId xmlns:a16="http://schemas.microsoft.com/office/drawing/2014/main" id="{6B1DE1AF-CD26-5249-8E54-921ACA6301F7}"/>
                  </a:ext>
                </a:extLst>
              </p:cNvPr>
              <p:cNvSpPr/>
              <p:nvPr/>
            </p:nvSpPr>
            <p:spPr>
              <a:xfrm>
                <a:off x="2778037" y="1851382"/>
                <a:ext cx="719844" cy="25429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dirty="0">
                    <a:ln>
                      <a:noFill/>
                    </a:ln>
                    <a:solidFill>
                      <a:srgbClr val="595959"/>
                    </a:solidFill>
                    <a:effectLst/>
                    <a:uLnTx/>
                    <a:uFillTx/>
                    <a:latin typeface="Montserrat" panose="00000500000000000000" pitchFamily="2" charset="0"/>
                    <a:ea typeface="Tw Cen MT" charset="0"/>
                    <a:cs typeface="Tw Cen MT" charset="0"/>
                    <a:sym typeface="Arial"/>
                  </a:rPr>
                  <a:t>2018</a:t>
                </a:r>
              </a:p>
            </p:txBody>
          </p:sp>
          <p:sp>
            <p:nvSpPr>
              <p:cNvPr id="31" name="Rectángulo 30">
                <a:extLst>
                  <a:ext uri="{FF2B5EF4-FFF2-40B4-BE49-F238E27FC236}">
                    <a16:creationId xmlns:a16="http://schemas.microsoft.com/office/drawing/2014/main" id="{E7AFB359-EC3D-D940-A8E9-D234BB39A299}"/>
                  </a:ext>
                </a:extLst>
              </p:cNvPr>
              <p:cNvSpPr/>
              <p:nvPr/>
            </p:nvSpPr>
            <p:spPr>
              <a:xfrm>
                <a:off x="3657621" y="1856688"/>
                <a:ext cx="719844" cy="25612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dirty="0">
                    <a:ln>
                      <a:noFill/>
                    </a:ln>
                    <a:solidFill>
                      <a:srgbClr val="595959"/>
                    </a:solidFill>
                    <a:effectLst/>
                    <a:uLnTx/>
                    <a:uFillTx/>
                    <a:latin typeface="Montserrat" panose="00000500000000000000" pitchFamily="2" charset="0"/>
                    <a:ea typeface="Tw Cen MT" charset="0"/>
                    <a:cs typeface="Tw Cen MT" charset="0"/>
                    <a:sym typeface="Arial"/>
                  </a:rPr>
                  <a:t>2019</a:t>
                </a:r>
              </a:p>
            </p:txBody>
          </p:sp>
          <p:sp>
            <p:nvSpPr>
              <p:cNvPr id="32" name="Rectángulo 31">
                <a:extLst>
                  <a:ext uri="{FF2B5EF4-FFF2-40B4-BE49-F238E27FC236}">
                    <a16:creationId xmlns:a16="http://schemas.microsoft.com/office/drawing/2014/main" id="{F171D279-8728-0E4E-A955-B4DD8DF8CD88}"/>
                  </a:ext>
                </a:extLst>
              </p:cNvPr>
              <p:cNvSpPr/>
              <p:nvPr/>
            </p:nvSpPr>
            <p:spPr>
              <a:xfrm>
                <a:off x="4539908" y="1849558"/>
                <a:ext cx="719844" cy="25612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dirty="0">
                    <a:ln>
                      <a:noFill/>
                    </a:ln>
                    <a:solidFill>
                      <a:srgbClr val="595959"/>
                    </a:solidFill>
                    <a:effectLst/>
                    <a:uLnTx/>
                    <a:uFillTx/>
                    <a:latin typeface="Montserrat" panose="00000500000000000000" pitchFamily="2" charset="0"/>
                    <a:ea typeface="Tw Cen MT" charset="0"/>
                    <a:cs typeface="Tw Cen MT" charset="0"/>
                    <a:sym typeface="Arial"/>
                  </a:rPr>
                  <a:t>2020</a:t>
                </a:r>
              </a:p>
            </p:txBody>
          </p:sp>
          <p:sp>
            <p:nvSpPr>
              <p:cNvPr id="33" name="Rectángulo 32">
                <a:extLst>
                  <a:ext uri="{FF2B5EF4-FFF2-40B4-BE49-F238E27FC236}">
                    <a16:creationId xmlns:a16="http://schemas.microsoft.com/office/drawing/2014/main" id="{0B4EC4BA-951F-2F45-85CD-E95FB0BAACB3}"/>
                  </a:ext>
                </a:extLst>
              </p:cNvPr>
              <p:cNvSpPr/>
              <p:nvPr/>
            </p:nvSpPr>
            <p:spPr>
              <a:xfrm>
                <a:off x="5420844" y="1849558"/>
                <a:ext cx="719844" cy="25612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dirty="0">
                    <a:ln>
                      <a:noFill/>
                    </a:ln>
                    <a:solidFill>
                      <a:srgbClr val="595959"/>
                    </a:solidFill>
                    <a:effectLst/>
                    <a:uLnTx/>
                    <a:uFillTx/>
                    <a:latin typeface="Montserrat" panose="00000500000000000000" pitchFamily="2" charset="0"/>
                    <a:ea typeface="Tw Cen MT" charset="0"/>
                    <a:cs typeface="Tw Cen MT" charset="0"/>
                    <a:sym typeface="Arial"/>
                  </a:rPr>
                  <a:t>2021</a:t>
                </a:r>
              </a:p>
            </p:txBody>
          </p:sp>
          <p:sp>
            <p:nvSpPr>
              <p:cNvPr id="34" name="Rectángulo 33">
                <a:extLst>
                  <a:ext uri="{FF2B5EF4-FFF2-40B4-BE49-F238E27FC236}">
                    <a16:creationId xmlns:a16="http://schemas.microsoft.com/office/drawing/2014/main" id="{AFF2E84E-A11F-E646-B2D5-3F57DECB13AD}"/>
                  </a:ext>
                </a:extLst>
              </p:cNvPr>
              <p:cNvSpPr/>
              <p:nvPr/>
            </p:nvSpPr>
            <p:spPr>
              <a:xfrm>
                <a:off x="6301781" y="1849558"/>
                <a:ext cx="719844" cy="25612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dirty="0">
                    <a:ln>
                      <a:noFill/>
                    </a:ln>
                    <a:solidFill>
                      <a:srgbClr val="595959"/>
                    </a:solidFill>
                    <a:effectLst/>
                    <a:uLnTx/>
                    <a:uFillTx/>
                    <a:latin typeface="Montserrat" panose="00000500000000000000" pitchFamily="2" charset="0"/>
                    <a:ea typeface="Tw Cen MT" charset="0"/>
                    <a:cs typeface="Tw Cen MT" charset="0"/>
                    <a:sym typeface="Arial"/>
                  </a:rPr>
                  <a:t>2022</a:t>
                </a:r>
              </a:p>
            </p:txBody>
          </p:sp>
          <p:sp>
            <p:nvSpPr>
              <p:cNvPr id="35" name="Rectángulo 34">
                <a:extLst>
                  <a:ext uri="{FF2B5EF4-FFF2-40B4-BE49-F238E27FC236}">
                    <a16:creationId xmlns:a16="http://schemas.microsoft.com/office/drawing/2014/main" id="{BB67A066-7C45-3449-A07E-D649CF96234E}"/>
                  </a:ext>
                </a:extLst>
              </p:cNvPr>
              <p:cNvSpPr/>
              <p:nvPr/>
            </p:nvSpPr>
            <p:spPr>
              <a:xfrm>
                <a:off x="7183634" y="1849558"/>
                <a:ext cx="719844" cy="25612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dirty="0">
                    <a:ln>
                      <a:noFill/>
                    </a:ln>
                    <a:solidFill>
                      <a:srgbClr val="595959"/>
                    </a:solidFill>
                    <a:effectLst/>
                    <a:uLnTx/>
                    <a:uFillTx/>
                    <a:latin typeface="Montserrat" panose="00000500000000000000" pitchFamily="2" charset="0"/>
                    <a:ea typeface="Tw Cen MT" charset="0"/>
                    <a:cs typeface="Tw Cen MT" charset="0"/>
                    <a:sym typeface="Arial"/>
                  </a:rPr>
                  <a:t>2023</a:t>
                </a:r>
              </a:p>
            </p:txBody>
          </p:sp>
        </p:grpSp>
        <p:sp>
          <p:nvSpPr>
            <p:cNvPr id="10" name="Rectángulo 9">
              <a:extLst>
                <a:ext uri="{FF2B5EF4-FFF2-40B4-BE49-F238E27FC236}">
                  <a16:creationId xmlns:a16="http://schemas.microsoft.com/office/drawing/2014/main" id="{A02D12DA-9597-DD4D-AE5B-58BD3188920C}"/>
                </a:ext>
              </a:extLst>
            </p:cNvPr>
            <p:cNvSpPr/>
            <p:nvPr/>
          </p:nvSpPr>
          <p:spPr>
            <a:xfrm>
              <a:off x="5525655" y="2132856"/>
              <a:ext cx="702115" cy="504056"/>
            </a:xfrm>
            <a:prstGeom prst="rect">
              <a:avLst/>
            </a:prstGeom>
            <a:noFill/>
            <a:ln w="69850">
              <a:solidFill>
                <a:srgbClr val="83419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dirty="0">
                  <a:ln>
                    <a:noFill/>
                  </a:ln>
                  <a:solidFill>
                    <a:srgbClr val="595959"/>
                  </a:solidFill>
                  <a:effectLst/>
                  <a:uLnTx/>
                  <a:uFillTx/>
                  <a:latin typeface="Montserrat" panose="00000500000000000000" pitchFamily="2" charset="0"/>
                  <a:ea typeface="Tw Cen MT" charset="0"/>
                  <a:cs typeface="Tw Cen MT" charset="0"/>
                  <a:sym typeface="Arial"/>
                </a:rPr>
                <a:t>Ola 5</a:t>
              </a:r>
            </a:p>
          </p:txBody>
        </p:sp>
        <p:sp>
          <p:nvSpPr>
            <p:cNvPr id="11" name="Rectángulo 10">
              <a:extLst>
                <a:ext uri="{FF2B5EF4-FFF2-40B4-BE49-F238E27FC236}">
                  <a16:creationId xmlns:a16="http://schemas.microsoft.com/office/drawing/2014/main" id="{1B20BF8E-7CBF-DD44-99DC-1D12ADB5A6D8}"/>
                </a:ext>
              </a:extLst>
            </p:cNvPr>
            <p:cNvSpPr/>
            <p:nvPr/>
          </p:nvSpPr>
          <p:spPr>
            <a:xfrm>
              <a:off x="6361548" y="2132856"/>
              <a:ext cx="702115" cy="504056"/>
            </a:xfrm>
            <a:prstGeom prst="rect">
              <a:avLst/>
            </a:prstGeom>
            <a:noFill/>
            <a:ln w="69850">
              <a:solidFill>
                <a:srgbClr val="83419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s-CL" sz="1600" b="0" i="0" u="none" strike="noStrike" kern="0" cap="none" spc="0" normalizeH="0" baseline="0" noProof="0" dirty="0">
                  <a:ln>
                    <a:noFill/>
                  </a:ln>
                  <a:solidFill>
                    <a:srgbClr val="595959"/>
                  </a:solidFill>
                  <a:effectLst/>
                  <a:uLnTx/>
                  <a:uFillTx/>
                  <a:latin typeface="Montserrat" panose="00000500000000000000" pitchFamily="2" charset="0"/>
                  <a:ea typeface="+mn-ea"/>
                  <a:cs typeface="+mn-cs"/>
                  <a:sym typeface="Arial"/>
                </a:rPr>
                <a:t>Ola 6</a:t>
              </a:r>
            </a:p>
          </p:txBody>
        </p:sp>
      </p:grpSp>
      <p:sp>
        <p:nvSpPr>
          <p:cNvPr id="37" name="Rectángulo 36">
            <a:extLst>
              <a:ext uri="{FF2B5EF4-FFF2-40B4-BE49-F238E27FC236}">
                <a16:creationId xmlns:a16="http://schemas.microsoft.com/office/drawing/2014/main" id="{2D7FAFDE-2970-744F-86E5-0384A16E10BB}"/>
              </a:ext>
            </a:extLst>
          </p:cNvPr>
          <p:cNvSpPr/>
          <p:nvPr/>
        </p:nvSpPr>
        <p:spPr>
          <a:xfrm>
            <a:off x="5106294" y="5782809"/>
            <a:ext cx="6362835" cy="434115"/>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200" b="1" i="0" u="none" strike="noStrike" kern="1200" cap="none" spc="0" normalizeH="0" baseline="0" noProof="0" dirty="0">
                <a:ln>
                  <a:noFill/>
                </a:ln>
                <a:solidFill>
                  <a:srgbClr val="595959"/>
                </a:solidFill>
                <a:effectLst/>
                <a:uLnTx/>
                <a:uFillTx/>
                <a:latin typeface="Montserrat" panose="00000500000000000000" pitchFamily="2" charset="0"/>
                <a:ea typeface="+mn-ea"/>
                <a:cs typeface="+mn-cs"/>
                <a:sym typeface="Arial"/>
              </a:rPr>
              <a:t>              Terminada                Suspendida por pandemia</a:t>
            </a:r>
          </a:p>
        </p:txBody>
      </p:sp>
      <p:sp>
        <p:nvSpPr>
          <p:cNvPr id="38" name="Rectángulo 37">
            <a:extLst>
              <a:ext uri="{FF2B5EF4-FFF2-40B4-BE49-F238E27FC236}">
                <a16:creationId xmlns:a16="http://schemas.microsoft.com/office/drawing/2014/main" id="{AE9AD185-E4A2-5A43-A7AA-2842664D4F06}"/>
              </a:ext>
            </a:extLst>
          </p:cNvPr>
          <p:cNvSpPr/>
          <p:nvPr/>
        </p:nvSpPr>
        <p:spPr>
          <a:xfrm>
            <a:off x="5389509" y="5869781"/>
            <a:ext cx="204335" cy="260173"/>
          </a:xfrm>
          <a:prstGeom prst="rect">
            <a:avLst/>
          </a:prstGeom>
          <a:noFill/>
          <a:ln w="698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L" sz="1400" b="1" i="0" u="none" strike="noStrike" kern="1200" cap="none" spc="0" normalizeH="0" baseline="0" noProof="0" dirty="0">
              <a:ln>
                <a:noFill/>
              </a:ln>
              <a:solidFill>
                <a:srgbClr val="595959"/>
              </a:solidFill>
              <a:effectLst/>
              <a:uLnTx/>
              <a:uFillTx/>
              <a:latin typeface="Montserrat" panose="00000500000000000000" pitchFamily="2" charset="0"/>
              <a:ea typeface="Tw Cen MT" charset="0"/>
              <a:cs typeface="Tw Cen MT" charset="0"/>
              <a:sym typeface="Arial"/>
            </a:endParaRPr>
          </a:p>
        </p:txBody>
      </p:sp>
      <p:sp>
        <p:nvSpPr>
          <p:cNvPr id="39" name="Rectángulo 38">
            <a:extLst>
              <a:ext uri="{FF2B5EF4-FFF2-40B4-BE49-F238E27FC236}">
                <a16:creationId xmlns:a16="http://schemas.microsoft.com/office/drawing/2014/main" id="{CF60D25B-E794-5C46-A13D-EF778EDF5F71}"/>
              </a:ext>
            </a:extLst>
          </p:cNvPr>
          <p:cNvSpPr/>
          <p:nvPr/>
        </p:nvSpPr>
        <p:spPr>
          <a:xfrm>
            <a:off x="6948631" y="5869781"/>
            <a:ext cx="211931" cy="267763"/>
          </a:xfrm>
          <a:prstGeom prst="rect">
            <a:avLst/>
          </a:prstGeom>
          <a:noFill/>
          <a:ln w="698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L" sz="1400" b="1" i="0" u="none" strike="noStrike" kern="1200" cap="none" spc="0" normalizeH="0" baseline="0" noProof="0" dirty="0">
              <a:ln>
                <a:noFill/>
              </a:ln>
              <a:solidFill>
                <a:srgbClr val="595959"/>
              </a:solidFill>
              <a:effectLst/>
              <a:uLnTx/>
              <a:uFillTx/>
              <a:latin typeface="Montserrat" panose="00000500000000000000" pitchFamily="2" charset="0"/>
              <a:ea typeface="Tw Cen MT" charset="0"/>
              <a:cs typeface="Tw Cen MT" charset="0"/>
              <a:sym typeface="Arial"/>
            </a:endParaRPr>
          </a:p>
        </p:txBody>
      </p:sp>
      <p:sp>
        <p:nvSpPr>
          <p:cNvPr id="4" name="Rectángulo 3">
            <a:extLst>
              <a:ext uri="{FF2B5EF4-FFF2-40B4-BE49-F238E27FC236}">
                <a16:creationId xmlns:a16="http://schemas.microsoft.com/office/drawing/2014/main" id="{97DB459D-A5DA-A4D1-6A3C-40DD77E7D60A}"/>
              </a:ext>
            </a:extLst>
          </p:cNvPr>
          <p:cNvSpPr/>
          <p:nvPr/>
        </p:nvSpPr>
        <p:spPr>
          <a:xfrm>
            <a:off x="9560681" y="2321562"/>
            <a:ext cx="877429" cy="1122478"/>
          </a:xfrm>
          <a:prstGeom prst="rect">
            <a:avLst/>
          </a:prstGeom>
          <a:noFill/>
          <a:ln w="69850">
            <a:solidFill>
              <a:srgbClr val="83419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s-CL" sz="1600" b="0" i="0" u="none" strike="noStrike" kern="0" cap="none" spc="0" normalizeH="0" baseline="0" noProof="0" dirty="0">
                <a:ln>
                  <a:noFill/>
                </a:ln>
                <a:solidFill>
                  <a:srgbClr val="595959"/>
                </a:solidFill>
                <a:effectLst/>
                <a:uLnTx/>
                <a:uFillTx/>
                <a:latin typeface="Montserrat" panose="00000500000000000000" pitchFamily="2" charset="0"/>
                <a:ea typeface="+mn-ea"/>
                <a:cs typeface="+mn-cs"/>
                <a:sym typeface="Arial"/>
              </a:rPr>
              <a:t>Ola 7</a:t>
            </a:r>
          </a:p>
        </p:txBody>
      </p:sp>
      <p:sp>
        <p:nvSpPr>
          <p:cNvPr id="12" name="Rectángulo 11">
            <a:extLst>
              <a:ext uri="{FF2B5EF4-FFF2-40B4-BE49-F238E27FC236}">
                <a16:creationId xmlns:a16="http://schemas.microsoft.com/office/drawing/2014/main" id="{D66BC938-56E0-B2CA-F5DB-B5E8E7D2522F}"/>
              </a:ext>
            </a:extLst>
          </p:cNvPr>
          <p:cNvSpPr/>
          <p:nvPr/>
        </p:nvSpPr>
        <p:spPr>
          <a:xfrm>
            <a:off x="9555143" y="4102008"/>
            <a:ext cx="877429" cy="1122478"/>
          </a:xfrm>
          <a:prstGeom prst="rect">
            <a:avLst/>
          </a:prstGeom>
          <a:noFill/>
          <a:ln w="69850">
            <a:solidFill>
              <a:srgbClr val="83419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s-CL" sz="1600" b="0" i="0" u="none" strike="noStrike" kern="0" cap="none" spc="0" normalizeH="0" baseline="0" noProof="0" dirty="0">
                <a:ln>
                  <a:noFill/>
                </a:ln>
                <a:solidFill>
                  <a:srgbClr val="595959"/>
                </a:solidFill>
                <a:effectLst/>
                <a:uLnTx/>
                <a:uFillTx/>
                <a:latin typeface="Montserrat" panose="00000500000000000000" pitchFamily="2" charset="0"/>
                <a:ea typeface="+mn-ea"/>
                <a:cs typeface="+mn-cs"/>
                <a:sym typeface="Arial"/>
              </a:rPr>
              <a:t>Ola 5</a:t>
            </a:r>
          </a:p>
        </p:txBody>
      </p:sp>
      <p:sp>
        <p:nvSpPr>
          <p:cNvPr id="6" name="Slide Number Placeholder 5">
            <a:extLst>
              <a:ext uri="{FF2B5EF4-FFF2-40B4-BE49-F238E27FC236}">
                <a16:creationId xmlns:a16="http://schemas.microsoft.com/office/drawing/2014/main" id="{EA977BB9-D0E8-952B-AA1F-31B161CDCCFC}"/>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s-CL"/>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9899EEF-128D-5149-85AB-A29305301F2C}" type="slidenum">
              <a:rPr lang="en-US" smtClean="0">
                <a:solidFill>
                  <a:prstClr val="black">
                    <a:tint val="82000"/>
                  </a:prstClr>
                </a:solidFill>
                <a:latin typeface="Aptos" panose="02110004020202020204"/>
              </a:rPr>
              <a:pPr/>
              <a:t>22</a:t>
            </a:fld>
            <a:endParaRPr lang="en-US">
              <a:solidFill>
                <a:prstClr val="black">
                  <a:tint val="82000"/>
                </a:prstClr>
              </a:solidFill>
              <a:latin typeface="Aptos" panose="02110004020202020204"/>
            </a:endParaRPr>
          </a:p>
        </p:txBody>
      </p:sp>
    </p:spTree>
    <p:extLst>
      <p:ext uri="{BB962C8B-B14F-4D97-AF65-F5344CB8AC3E}">
        <p14:creationId xmlns:p14="http://schemas.microsoft.com/office/powerpoint/2010/main" val="2701868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E8DA400-C462-9E40-B53C-05E8E00B94A3}"/>
              </a:ext>
            </a:extLst>
          </p:cNvPr>
          <p:cNvSpPr>
            <a:spLocks noGrp="1"/>
          </p:cNvSpPr>
          <p:nvPr>
            <p:ph type="title"/>
          </p:nvPr>
        </p:nvSpPr>
        <p:spPr>
          <a:xfrm>
            <a:off x="760259" y="31599"/>
            <a:ext cx="10515600" cy="971286"/>
          </a:xfrm>
        </p:spPr>
        <p:txBody>
          <a:bodyPr>
            <a:normAutofit/>
          </a:bodyPr>
          <a:lstStyle/>
          <a:p>
            <a:r>
              <a:rPr lang="es-CL" b="1" dirty="0">
                <a:solidFill>
                  <a:schemeClr val="tx1"/>
                </a:solidFill>
              </a:rPr>
              <a:t>Etapas de selección en el diseño muestral</a:t>
            </a:r>
          </a:p>
        </p:txBody>
      </p:sp>
      <p:grpSp>
        <p:nvGrpSpPr>
          <p:cNvPr id="3" name="Grupo 2">
            <a:extLst>
              <a:ext uri="{FF2B5EF4-FFF2-40B4-BE49-F238E27FC236}">
                <a16:creationId xmlns:a16="http://schemas.microsoft.com/office/drawing/2014/main" id="{F706364E-E54A-7D4C-95B2-5A062540F78C}"/>
              </a:ext>
            </a:extLst>
          </p:cNvPr>
          <p:cNvGrpSpPr>
            <a:grpSpLocks/>
          </p:cNvGrpSpPr>
          <p:nvPr/>
        </p:nvGrpSpPr>
        <p:grpSpPr bwMode="auto">
          <a:xfrm>
            <a:off x="543220" y="1371092"/>
            <a:ext cx="11074909" cy="4754563"/>
            <a:chOff x="1490052" y="1626393"/>
            <a:chExt cx="8681852" cy="4473575"/>
          </a:xfrm>
        </p:grpSpPr>
        <p:sp>
          <p:nvSpPr>
            <p:cNvPr id="4" name="Flecha doblada hacia arriba 3">
              <a:extLst>
                <a:ext uri="{FF2B5EF4-FFF2-40B4-BE49-F238E27FC236}">
                  <a16:creationId xmlns:a16="http://schemas.microsoft.com/office/drawing/2014/main" id="{C27A663A-E96B-3E47-8FB5-AAF1FF4A25A3}"/>
                </a:ext>
              </a:extLst>
            </p:cNvPr>
            <p:cNvSpPr/>
            <p:nvPr/>
          </p:nvSpPr>
          <p:spPr>
            <a:xfrm rot="5400000">
              <a:off x="1719849" y="2617663"/>
              <a:ext cx="869322" cy="988632"/>
            </a:xfrm>
            <a:prstGeom prst="bentUpArrow">
              <a:avLst>
                <a:gd name="adj1" fmla="val 32840"/>
                <a:gd name="adj2" fmla="val 25000"/>
                <a:gd name="adj3" fmla="val 35780"/>
              </a:avLst>
            </a:prstGeom>
            <a:solidFill>
              <a:schemeClr val="accent3"/>
            </a:solid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s-CL" sz="1100" b="0" i="0" u="none" strike="noStrike" kern="0" cap="none" spc="0" normalizeH="0" baseline="0" noProof="0" dirty="0">
                <a:ln>
                  <a:noFill/>
                </a:ln>
                <a:solidFill>
                  <a:srgbClr val="FFFFFF">
                    <a:hueOff val="0"/>
                    <a:satOff val="0"/>
                    <a:lumOff val="0"/>
                    <a:alphaOff val="0"/>
                  </a:srgbClr>
                </a:solidFill>
                <a:effectLst/>
                <a:uLnTx/>
                <a:uFillTx/>
                <a:latin typeface="Montserrat" panose="00000500000000000000" pitchFamily="2" charset="0"/>
                <a:ea typeface="+mn-ea"/>
                <a:cs typeface="+mn-cs"/>
                <a:sym typeface="Arial"/>
              </a:endParaRPr>
            </a:p>
          </p:txBody>
        </p:sp>
        <p:sp>
          <p:nvSpPr>
            <p:cNvPr id="5" name="Forma libre 4">
              <a:extLst>
                <a:ext uri="{FF2B5EF4-FFF2-40B4-BE49-F238E27FC236}">
                  <a16:creationId xmlns:a16="http://schemas.microsoft.com/office/drawing/2014/main" id="{44301D57-E4DD-AC41-8D3C-31EBD4B363EC}"/>
                </a:ext>
              </a:extLst>
            </p:cNvPr>
            <p:cNvSpPr/>
            <p:nvPr/>
          </p:nvSpPr>
          <p:spPr>
            <a:xfrm>
              <a:off x="1490052" y="1626393"/>
              <a:ext cx="1462970" cy="1023172"/>
            </a:xfrm>
            <a:custGeom>
              <a:avLst/>
              <a:gdLst>
                <a:gd name="connsiteX0" fmla="*/ 0 w 1462501"/>
                <a:gd name="connsiteY0" fmla="*/ 170651 h 1023703"/>
                <a:gd name="connsiteX1" fmla="*/ 170651 w 1462501"/>
                <a:gd name="connsiteY1" fmla="*/ 0 h 1023703"/>
                <a:gd name="connsiteX2" fmla="*/ 1291850 w 1462501"/>
                <a:gd name="connsiteY2" fmla="*/ 0 h 1023703"/>
                <a:gd name="connsiteX3" fmla="*/ 1462501 w 1462501"/>
                <a:gd name="connsiteY3" fmla="*/ 170651 h 1023703"/>
                <a:gd name="connsiteX4" fmla="*/ 1462501 w 1462501"/>
                <a:gd name="connsiteY4" fmla="*/ 853052 h 1023703"/>
                <a:gd name="connsiteX5" fmla="*/ 1291850 w 1462501"/>
                <a:gd name="connsiteY5" fmla="*/ 1023703 h 1023703"/>
                <a:gd name="connsiteX6" fmla="*/ 170651 w 1462501"/>
                <a:gd name="connsiteY6" fmla="*/ 1023703 h 1023703"/>
                <a:gd name="connsiteX7" fmla="*/ 0 w 1462501"/>
                <a:gd name="connsiteY7" fmla="*/ 853052 h 1023703"/>
                <a:gd name="connsiteX8" fmla="*/ 0 w 1462501"/>
                <a:gd name="connsiteY8" fmla="*/ 170651 h 1023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62501" h="1023703">
                  <a:moveTo>
                    <a:pt x="0" y="170651"/>
                  </a:moveTo>
                  <a:cubicBezTo>
                    <a:pt x="0" y="76403"/>
                    <a:pt x="76403" y="0"/>
                    <a:pt x="170651" y="0"/>
                  </a:cubicBezTo>
                  <a:lnTo>
                    <a:pt x="1291850" y="0"/>
                  </a:lnTo>
                  <a:cubicBezTo>
                    <a:pt x="1386098" y="0"/>
                    <a:pt x="1462501" y="76403"/>
                    <a:pt x="1462501" y="170651"/>
                  </a:cubicBezTo>
                  <a:lnTo>
                    <a:pt x="1462501" y="853052"/>
                  </a:lnTo>
                  <a:cubicBezTo>
                    <a:pt x="1462501" y="947300"/>
                    <a:pt x="1386098" y="1023703"/>
                    <a:pt x="1291850" y="1023703"/>
                  </a:cubicBezTo>
                  <a:lnTo>
                    <a:pt x="170651" y="1023703"/>
                  </a:lnTo>
                  <a:cubicBezTo>
                    <a:pt x="76403" y="1023703"/>
                    <a:pt x="0" y="947300"/>
                    <a:pt x="0" y="853052"/>
                  </a:cubicBezTo>
                  <a:lnTo>
                    <a:pt x="0" y="170651"/>
                  </a:lnTo>
                  <a:close/>
                </a:path>
              </a:pathLst>
            </a:custGeom>
            <a:solidFill>
              <a:schemeClr val="accent2"/>
            </a:solidFill>
            <a:ln>
              <a:no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lIns="114752" tIns="114752" rIns="114752" bIns="114752" spcCol="1270" anchor="ctr"/>
            <a:lstStyle/>
            <a:p>
              <a:pPr marL="0" marR="0" lvl="0" indent="0" algn="ctr" defTabSz="755650" rtl="0" eaLnBrk="1" fontAlgn="auto" latinLnBrk="0" hangingPunct="1">
                <a:lnSpc>
                  <a:spcPct val="90000"/>
                </a:lnSpc>
                <a:spcBef>
                  <a:spcPts val="0"/>
                </a:spcBef>
                <a:spcAft>
                  <a:spcPct val="35000"/>
                </a:spcAft>
                <a:buClr>
                  <a:srgbClr val="000000"/>
                </a:buClr>
                <a:buSzTx/>
                <a:buFont typeface="Arial"/>
                <a:buNone/>
                <a:tabLst/>
                <a:defRPr/>
              </a:pPr>
              <a:r>
                <a:rPr kumimoji="0" lang="es-ES_tradnl" sz="1800" b="1" i="0" u="none" strike="noStrike" kern="0" cap="none" spc="0" normalizeH="0" baseline="0" noProof="0" dirty="0">
                  <a:ln w="0"/>
                  <a:solidFill>
                    <a:srgbClr val="FFFFFF"/>
                  </a:solidFill>
                  <a:effectLst/>
                  <a:uLnTx/>
                  <a:uFillTx/>
                  <a:latin typeface="Montserrat" panose="00000500000000000000" pitchFamily="2" charset="0"/>
                  <a:ea typeface="+mn-ea"/>
                  <a:cs typeface="Times New Roman" panose="02020603050405020304" pitchFamily="18" charset="0"/>
                  <a:sym typeface="Arial"/>
                </a:rPr>
                <a:t>Ciudades</a:t>
              </a:r>
            </a:p>
          </p:txBody>
        </p:sp>
        <p:sp>
          <p:nvSpPr>
            <p:cNvPr id="6" name="Forma libre 5">
              <a:extLst>
                <a:ext uri="{FF2B5EF4-FFF2-40B4-BE49-F238E27FC236}">
                  <a16:creationId xmlns:a16="http://schemas.microsoft.com/office/drawing/2014/main" id="{205884C3-B646-E349-AC2E-72DF8E309601}"/>
                </a:ext>
              </a:extLst>
            </p:cNvPr>
            <p:cNvSpPr/>
            <p:nvPr/>
          </p:nvSpPr>
          <p:spPr>
            <a:xfrm>
              <a:off x="3450307" y="1667042"/>
              <a:ext cx="6607382" cy="827499"/>
            </a:xfrm>
            <a:custGeom>
              <a:avLst/>
              <a:gdLst>
                <a:gd name="connsiteX0" fmla="*/ 0 w 1063684"/>
                <a:gd name="connsiteY0" fmla="*/ 0 h 827402"/>
                <a:gd name="connsiteX1" fmla="*/ 1063684 w 1063684"/>
                <a:gd name="connsiteY1" fmla="*/ 0 h 827402"/>
                <a:gd name="connsiteX2" fmla="*/ 1063684 w 1063684"/>
                <a:gd name="connsiteY2" fmla="*/ 827402 h 827402"/>
                <a:gd name="connsiteX3" fmla="*/ 0 w 1063684"/>
                <a:gd name="connsiteY3" fmla="*/ 827402 h 827402"/>
                <a:gd name="connsiteX4" fmla="*/ 0 w 1063684"/>
                <a:gd name="connsiteY4" fmla="*/ 0 h 8274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3684" h="827402">
                  <a:moveTo>
                    <a:pt x="0" y="0"/>
                  </a:moveTo>
                  <a:lnTo>
                    <a:pt x="1063684" y="0"/>
                  </a:lnTo>
                  <a:lnTo>
                    <a:pt x="1063684" y="827402"/>
                  </a:lnTo>
                  <a:lnTo>
                    <a:pt x="0" y="827402"/>
                  </a:lnTo>
                  <a:lnTo>
                    <a:pt x="0" y="0"/>
                  </a:lnTo>
                  <a:close/>
                </a:path>
              </a:pathLst>
            </a:custGeom>
            <a:effectLst/>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lIns="-506235" tIns="38642" rIns="605295" bIns="60418" spcCol="1270" anchor="ctr"/>
            <a:lstStyle/>
            <a:p>
              <a:pPr marL="0" marR="0" lvl="1" indent="0" algn="l" defTabSz="444500" rtl="0" eaLnBrk="1" fontAlgn="auto" latinLnBrk="0" hangingPunct="1">
                <a:lnSpc>
                  <a:spcPct val="90000"/>
                </a:lnSpc>
                <a:spcBef>
                  <a:spcPts val="0"/>
                </a:spcBef>
                <a:spcAft>
                  <a:spcPct val="15000"/>
                </a:spcAft>
                <a:buClr>
                  <a:srgbClr val="000000"/>
                </a:buClr>
                <a:buSzTx/>
                <a:buFont typeface="Arial"/>
                <a:buNone/>
                <a:tabLst/>
                <a:defRPr/>
              </a:pPr>
              <a:r>
                <a:rPr kumimoji="0" lang="es-ES_tradnl" sz="1600" b="0" i="0" u="none" strike="noStrike" kern="0" cap="none" spc="0" normalizeH="0" baseline="0" noProof="0" dirty="0">
                  <a:ln w="0"/>
                  <a:solidFill>
                    <a:srgbClr val="595959"/>
                  </a:solidFill>
                  <a:effectLst/>
                  <a:uLnTx/>
                  <a:uFillTx/>
                  <a:latin typeface="Montserrat" panose="00000500000000000000" pitchFamily="2" charset="0"/>
                  <a:ea typeface="+mn-ea"/>
                  <a:cs typeface="Times New Roman" panose="02020603050405020304" pitchFamily="18" charset="0"/>
                  <a:sym typeface="Arial"/>
                </a:rPr>
                <a:t>Elegidas aleatoriamente en estratos definidos con más de 10.000 habitantes (40) </a:t>
              </a:r>
            </a:p>
          </p:txBody>
        </p:sp>
        <p:sp>
          <p:nvSpPr>
            <p:cNvPr id="7" name="Flecha doblada hacia arriba 6">
              <a:extLst>
                <a:ext uri="{FF2B5EF4-FFF2-40B4-BE49-F238E27FC236}">
                  <a16:creationId xmlns:a16="http://schemas.microsoft.com/office/drawing/2014/main" id="{3CE6C55D-8C10-C44C-8957-1DE030DF5E5F}"/>
                </a:ext>
              </a:extLst>
            </p:cNvPr>
            <p:cNvSpPr/>
            <p:nvPr/>
          </p:nvSpPr>
          <p:spPr>
            <a:xfrm rot="5400000">
              <a:off x="2932761" y="3767797"/>
              <a:ext cx="869322" cy="988633"/>
            </a:xfrm>
            <a:prstGeom prst="bentUpArrow">
              <a:avLst>
                <a:gd name="adj1" fmla="val 32840"/>
                <a:gd name="adj2" fmla="val 25000"/>
                <a:gd name="adj3" fmla="val 35780"/>
              </a:avLst>
            </a:prstGeom>
            <a:solidFill>
              <a:schemeClr val="accent3"/>
            </a:solid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s-CL" sz="1400" b="0" i="0" u="none" strike="noStrike" kern="0" cap="none" spc="0" normalizeH="0" baseline="0" noProof="0">
                <a:ln>
                  <a:noFill/>
                </a:ln>
                <a:solidFill>
                  <a:srgbClr val="FFFFFF">
                    <a:hueOff val="0"/>
                    <a:satOff val="0"/>
                    <a:lumOff val="0"/>
                    <a:alphaOff val="0"/>
                  </a:srgbClr>
                </a:solidFill>
                <a:effectLst/>
                <a:uLnTx/>
                <a:uFillTx/>
                <a:latin typeface="Arial"/>
                <a:ea typeface="+mn-ea"/>
                <a:cs typeface="+mn-cs"/>
                <a:sym typeface="Arial"/>
              </a:endParaRPr>
            </a:p>
          </p:txBody>
        </p:sp>
        <p:sp>
          <p:nvSpPr>
            <p:cNvPr id="8" name="Forma libre 7">
              <a:extLst>
                <a:ext uri="{FF2B5EF4-FFF2-40B4-BE49-F238E27FC236}">
                  <a16:creationId xmlns:a16="http://schemas.microsoft.com/office/drawing/2014/main" id="{688BDB50-8FA6-4B40-A847-13AE8F333276}"/>
                </a:ext>
              </a:extLst>
            </p:cNvPr>
            <p:cNvSpPr/>
            <p:nvPr/>
          </p:nvSpPr>
          <p:spPr>
            <a:xfrm>
              <a:off x="2702963" y="2776527"/>
              <a:ext cx="1461681" cy="1023172"/>
            </a:xfrm>
            <a:custGeom>
              <a:avLst/>
              <a:gdLst>
                <a:gd name="connsiteX0" fmla="*/ 0 w 1462501"/>
                <a:gd name="connsiteY0" fmla="*/ 170651 h 1023703"/>
                <a:gd name="connsiteX1" fmla="*/ 170651 w 1462501"/>
                <a:gd name="connsiteY1" fmla="*/ 0 h 1023703"/>
                <a:gd name="connsiteX2" fmla="*/ 1291850 w 1462501"/>
                <a:gd name="connsiteY2" fmla="*/ 0 h 1023703"/>
                <a:gd name="connsiteX3" fmla="*/ 1462501 w 1462501"/>
                <a:gd name="connsiteY3" fmla="*/ 170651 h 1023703"/>
                <a:gd name="connsiteX4" fmla="*/ 1462501 w 1462501"/>
                <a:gd name="connsiteY4" fmla="*/ 853052 h 1023703"/>
                <a:gd name="connsiteX5" fmla="*/ 1291850 w 1462501"/>
                <a:gd name="connsiteY5" fmla="*/ 1023703 h 1023703"/>
                <a:gd name="connsiteX6" fmla="*/ 170651 w 1462501"/>
                <a:gd name="connsiteY6" fmla="*/ 1023703 h 1023703"/>
                <a:gd name="connsiteX7" fmla="*/ 0 w 1462501"/>
                <a:gd name="connsiteY7" fmla="*/ 853052 h 1023703"/>
                <a:gd name="connsiteX8" fmla="*/ 0 w 1462501"/>
                <a:gd name="connsiteY8" fmla="*/ 170651 h 1023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62501" h="1023703">
                  <a:moveTo>
                    <a:pt x="0" y="170651"/>
                  </a:moveTo>
                  <a:cubicBezTo>
                    <a:pt x="0" y="76403"/>
                    <a:pt x="76403" y="0"/>
                    <a:pt x="170651" y="0"/>
                  </a:cubicBezTo>
                  <a:lnTo>
                    <a:pt x="1291850" y="0"/>
                  </a:lnTo>
                  <a:cubicBezTo>
                    <a:pt x="1386098" y="0"/>
                    <a:pt x="1462501" y="76403"/>
                    <a:pt x="1462501" y="170651"/>
                  </a:cubicBezTo>
                  <a:lnTo>
                    <a:pt x="1462501" y="853052"/>
                  </a:lnTo>
                  <a:cubicBezTo>
                    <a:pt x="1462501" y="947300"/>
                    <a:pt x="1386098" y="1023703"/>
                    <a:pt x="1291850" y="1023703"/>
                  </a:cubicBezTo>
                  <a:lnTo>
                    <a:pt x="170651" y="1023703"/>
                  </a:lnTo>
                  <a:cubicBezTo>
                    <a:pt x="76403" y="1023703"/>
                    <a:pt x="0" y="947300"/>
                    <a:pt x="0" y="853052"/>
                  </a:cubicBezTo>
                  <a:lnTo>
                    <a:pt x="0" y="170651"/>
                  </a:lnTo>
                  <a:close/>
                </a:path>
              </a:pathLst>
            </a:custGeom>
            <a:solidFill>
              <a:srgbClr val="834193"/>
            </a:solidFill>
            <a:ln>
              <a:no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lIns="114752" tIns="114752" rIns="114752" bIns="114752" spcCol="1270" anchor="ctr"/>
            <a:lstStyle/>
            <a:p>
              <a:pPr marL="0" marR="0" lvl="0" indent="0" algn="ctr" defTabSz="755650" rtl="0" eaLnBrk="1" fontAlgn="auto" latinLnBrk="0" hangingPunct="1">
                <a:lnSpc>
                  <a:spcPct val="90000"/>
                </a:lnSpc>
                <a:spcBef>
                  <a:spcPts val="0"/>
                </a:spcBef>
                <a:spcAft>
                  <a:spcPct val="35000"/>
                </a:spcAft>
                <a:buClr>
                  <a:srgbClr val="000000"/>
                </a:buClr>
                <a:buSzTx/>
                <a:buFont typeface="Arial"/>
                <a:buNone/>
                <a:tabLst/>
                <a:defRPr/>
              </a:pPr>
              <a:r>
                <a:rPr kumimoji="0" lang="es-ES_tradnl" sz="1800" b="1" i="0" u="none" strike="noStrike" kern="0" cap="none" spc="0" normalizeH="0" baseline="0" noProof="0" dirty="0">
                  <a:ln w="0"/>
                  <a:solidFill>
                    <a:srgbClr val="FFFFFF"/>
                  </a:solidFill>
                  <a:effectLst/>
                  <a:uLnTx/>
                  <a:uFillTx/>
                  <a:latin typeface="Montserrat" panose="00000500000000000000" pitchFamily="2" charset="0"/>
                  <a:ea typeface="+mn-ea"/>
                  <a:cs typeface="Times New Roman" panose="02020603050405020304" pitchFamily="18" charset="0"/>
                  <a:sym typeface="Arial"/>
                </a:rPr>
                <a:t>Bloques</a:t>
              </a:r>
            </a:p>
            <a:p>
              <a:pPr marL="0" marR="0" lvl="0" indent="0" algn="ctr" defTabSz="755650" rtl="0" eaLnBrk="1" fontAlgn="auto" latinLnBrk="0" hangingPunct="1">
                <a:lnSpc>
                  <a:spcPct val="90000"/>
                </a:lnSpc>
                <a:spcBef>
                  <a:spcPts val="0"/>
                </a:spcBef>
                <a:spcAft>
                  <a:spcPct val="35000"/>
                </a:spcAft>
                <a:buClr>
                  <a:srgbClr val="000000"/>
                </a:buClr>
                <a:buSzTx/>
                <a:buFont typeface="Arial"/>
                <a:buNone/>
                <a:tabLst/>
                <a:defRPr/>
              </a:pPr>
              <a:r>
                <a:rPr kumimoji="0" lang="es-ES_tradnl" sz="1800" b="1" i="0" u="none" strike="noStrike" kern="0" cap="none" spc="0" normalizeH="0" baseline="0" noProof="0" dirty="0">
                  <a:ln w="0"/>
                  <a:solidFill>
                    <a:srgbClr val="FFFFFF"/>
                  </a:solidFill>
                  <a:effectLst/>
                  <a:uLnTx/>
                  <a:uFillTx/>
                  <a:latin typeface="Montserrat" panose="00000500000000000000" pitchFamily="2" charset="0"/>
                  <a:ea typeface="+mn-ea"/>
                  <a:cs typeface="Times New Roman" panose="02020603050405020304" pitchFamily="18" charset="0"/>
                  <a:sym typeface="Arial"/>
                </a:rPr>
                <a:t>(Manzanas)</a:t>
              </a:r>
            </a:p>
          </p:txBody>
        </p:sp>
        <p:sp>
          <p:nvSpPr>
            <p:cNvPr id="9" name="Forma libre 8">
              <a:extLst>
                <a:ext uri="{FF2B5EF4-FFF2-40B4-BE49-F238E27FC236}">
                  <a16:creationId xmlns:a16="http://schemas.microsoft.com/office/drawing/2014/main" id="{1EB48C7F-853A-D24C-862A-4B976DF8455C}"/>
                </a:ext>
              </a:extLst>
            </p:cNvPr>
            <p:cNvSpPr/>
            <p:nvPr/>
          </p:nvSpPr>
          <p:spPr>
            <a:xfrm>
              <a:off x="4239403" y="2888554"/>
              <a:ext cx="3159125" cy="827499"/>
            </a:xfrm>
            <a:custGeom>
              <a:avLst/>
              <a:gdLst>
                <a:gd name="connsiteX0" fmla="*/ 0 w 1063684"/>
                <a:gd name="connsiteY0" fmla="*/ 0 h 827402"/>
                <a:gd name="connsiteX1" fmla="*/ 1063684 w 1063684"/>
                <a:gd name="connsiteY1" fmla="*/ 0 h 827402"/>
                <a:gd name="connsiteX2" fmla="*/ 1063684 w 1063684"/>
                <a:gd name="connsiteY2" fmla="*/ 827402 h 827402"/>
                <a:gd name="connsiteX3" fmla="*/ 0 w 1063684"/>
                <a:gd name="connsiteY3" fmla="*/ 827402 h 827402"/>
                <a:gd name="connsiteX4" fmla="*/ 0 w 1063684"/>
                <a:gd name="connsiteY4" fmla="*/ 0 h 8274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3684" h="827402">
                  <a:moveTo>
                    <a:pt x="0" y="0"/>
                  </a:moveTo>
                  <a:lnTo>
                    <a:pt x="1063684" y="0"/>
                  </a:lnTo>
                  <a:lnTo>
                    <a:pt x="1063684" y="827402"/>
                  </a:lnTo>
                  <a:lnTo>
                    <a:pt x="0" y="827402"/>
                  </a:lnTo>
                  <a:lnTo>
                    <a:pt x="0" y="0"/>
                  </a:lnTo>
                  <a:close/>
                </a:path>
              </a:pathLst>
            </a:custGeom>
            <a:effectLst/>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lIns="49530" tIns="49530" rIns="49530" bIns="49530" spcCol="1270" anchor="ctr"/>
            <a:lstStyle/>
            <a:p>
              <a:pPr marL="0" marR="0" lvl="1" indent="0" algn="l" defTabSz="444500" rtl="0" eaLnBrk="1" fontAlgn="auto" latinLnBrk="0" hangingPunct="1">
                <a:lnSpc>
                  <a:spcPct val="90000"/>
                </a:lnSpc>
                <a:spcBef>
                  <a:spcPts val="0"/>
                </a:spcBef>
                <a:spcAft>
                  <a:spcPct val="15000"/>
                </a:spcAft>
                <a:buClr>
                  <a:srgbClr val="000000"/>
                </a:buClr>
                <a:buSzTx/>
                <a:buFont typeface="Arial"/>
                <a:buNone/>
                <a:tabLst/>
                <a:defRPr/>
              </a:pPr>
              <a:r>
                <a:rPr kumimoji="0" lang="es-ES_tradnl" sz="1600" b="0" i="0" u="none" strike="noStrike" kern="0" cap="none" spc="0" normalizeH="0" baseline="0" noProof="0" dirty="0">
                  <a:ln w="0"/>
                  <a:solidFill>
                    <a:srgbClr val="595959"/>
                  </a:solidFill>
                  <a:effectLst/>
                  <a:uLnTx/>
                  <a:uFillTx/>
                  <a:latin typeface="Montserrat" panose="00000500000000000000" pitchFamily="2" charset="0"/>
                  <a:ea typeface="+mn-ea"/>
                  <a:cs typeface="Times New Roman" panose="02020603050405020304" pitchFamily="18" charset="0"/>
                  <a:sym typeface="Arial"/>
                </a:rPr>
                <a:t>Elegidas aleatoriamente (1.067)</a:t>
              </a:r>
            </a:p>
          </p:txBody>
        </p:sp>
        <p:sp>
          <p:nvSpPr>
            <p:cNvPr id="10" name="Flecha doblada hacia arriba 9">
              <a:extLst>
                <a:ext uri="{FF2B5EF4-FFF2-40B4-BE49-F238E27FC236}">
                  <a16:creationId xmlns:a16="http://schemas.microsoft.com/office/drawing/2014/main" id="{4C185A4C-9366-1245-94D1-365FC855EC74}"/>
                </a:ext>
              </a:extLst>
            </p:cNvPr>
            <p:cNvSpPr/>
            <p:nvPr/>
          </p:nvSpPr>
          <p:spPr>
            <a:xfrm rot="5400000">
              <a:off x="4145775" y="4916542"/>
              <a:ext cx="867828" cy="989922"/>
            </a:xfrm>
            <a:prstGeom prst="bentUpArrow">
              <a:avLst>
                <a:gd name="adj1" fmla="val 32840"/>
                <a:gd name="adj2" fmla="val 25000"/>
                <a:gd name="adj3" fmla="val 35780"/>
              </a:avLst>
            </a:prstGeom>
            <a:solidFill>
              <a:schemeClr val="accent3"/>
            </a:solid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s-CL" sz="1400" b="0" i="0" u="none" strike="noStrike" kern="0" cap="none" spc="0" normalizeH="0" baseline="0" noProof="0">
                <a:ln>
                  <a:noFill/>
                </a:ln>
                <a:solidFill>
                  <a:srgbClr val="FFFFFF">
                    <a:hueOff val="0"/>
                    <a:satOff val="0"/>
                    <a:lumOff val="0"/>
                    <a:alphaOff val="0"/>
                  </a:srgbClr>
                </a:solidFill>
                <a:effectLst/>
                <a:uLnTx/>
                <a:uFillTx/>
                <a:latin typeface="Arial"/>
                <a:ea typeface="+mn-ea"/>
                <a:cs typeface="+mn-cs"/>
                <a:sym typeface="Arial"/>
              </a:endParaRPr>
            </a:p>
          </p:txBody>
        </p:sp>
        <p:sp>
          <p:nvSpPr>
            <p:cNvPr id="11" name="Forma libre 10">
              <a:extLst>
                <a:ext uri="{FF2B5EF4-FFF2-40B4-BE49-F238E27FC236}">
                  <a16:creationId xmlns:a16="http://schemas.microsoft.com/office/drawing/2014/main" id="{5FF45259-46FC-F242-992F-2157753E0AB3}"/>
                </a:ext>
              </a:extLst>
            </p:cNvPr>
            <p:cNvSpPr/>
            <p:nvPr/>
          </p:nvSpPr>
          <p:spPr>
            <a:xfrm>
              <a:off x="3914586" y="3926662"/>
              <a:ext cx="1462970" cy="1023172"/>
            </a:xfrm>
            <a:custGeom>
              <a:avLst/>
              <a:gdLst>
                <a:gd name="connsiteX0" fmla="*/ 0 w 1462501"/>
                <a:gd name="connsiteY0" fmla="*/ 170651 h 1023703"/>
                <a:gd name="connsiteX1" fmla="*/ 170651 w 1462501"/>
                <a:gd name="connsiteY1" fmla="*/ 0 h 1023703"/>
                <a:gd name="connsiteX2" fmla="*/ 1291850 w 1462501"/>
                <a:gd name="connsiteY2" fmla="*/ 0 h 1023703"/>
                <a:gd name="connsiteX3" fmla="*/ 1462501 w 1462501"/>
                <a:gd name="connsiteY3" fmla="*/ 170651 h 1023703"/>
                <a:gd name="connsiteX4" fmla="*/ 1462501 w 1462501"/>
                <a:gd name="connsiteY4" fmla="*/ 853052 h 1023703"/>
                <a:gd name="connsiteX5" fmla="*/ 1291850 w 1462501"/>
                <a:gd name="connsiteY5" fmla="*/ 1023703 h 1023703"/>
                <a:gd name="connsiteX6" fmla="*/ 170651 w 1462501"/>
                <a:gd name="connsiteY6" fmla="*/ 1023703 h 1023703"/>
                <a:gd name="connsiteX7" fmla="*/ 0 w 1462501"/>
                <a:gd name="connsiteY7" fmla="*/ 853052 h 1023703"/>
                <a:gd name="connsiteX8" fmla="*/ 0 w 1462501"/>
                <a:gd name="connsiteY8" fmla="*/ 170651 h 1023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62501" h="1023703">
                  <a:moveTo>
                    <a:pt x="0" y="170651"/>
                  </a:moveTo>
                  <a:cubicBezTo>
                    <a:pt x="0" y="76403"/>
                    <a:pt x="76403" y="0"/>
                    <a:pt x="170651" y="0"/>
                  </a:cubicBezTo>
                  <a:lnTo>
                    <a:pt x="1291850" y="0"/>
                  </a:lnTo>
                  <a:cubicBezTo>
                    <a:pt x="1386098" y="0"/>
                    <a:pt x="1462501" y="76403"/>
                    <a:pt x="1462501" y="170651"/>
                  </a:cubicBezTo>
                  <a:lnTo>
                    <a:pt x="1462501" y="853052"/>
                  </a:lnTo>
                  <a:cubicBezTo>
                    <a:pt x="1462501" y="947300"/>
                    <a:pt x="1386098" y="1023703"/>
                    <a:pt x="1291850" y="1023703"/>
                  </a:cubicBezTo>
                  <a:lnTo>
                    <a:pt x="170651" y="1023703"/>
                  </a:lnTo>
                  <a:cubicBezTo>
                    <a:pt x="76403" y="1023703"/>
                    <a:pt x="0" y="947300"/>
                    <a:pt x="0" y="853052"/>
                  </a:cubicBezTo>
                  <a:lnTo>
                    <a:pt x="0" y="170651"/>
                  </a:lnTo>
                  <a:close/>
                </a:path>
              </a:pathLst>
            </a:custGeom>
            <a:solidFill>
              <a:srgbClr val="834193"/>
            </a:solidFill>
            <a:ln>
              <a:no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lIns="114752" tIns="114752" rIns="114752" bIns="114752" spcCol="1270" anchor="ctr"/>
            <a:lstStyle/>
            <a:p>
              <a:pPr marL="0" marR="0" lvl="0" indent="0" algn="ctr" defTabSz="755650" rtl="0" eaLnBrk="1" fontAlgn="auto" latinLnBrk="0" hangingPunct="1">
                <a:lnSpc>
                  <a:spcPct val="90000"/>
                </a:lnSpc>
                <a:spcBef>
                  <a:spcPts val="0"/>
                </a:spcBef>
                <a:spcAft>
                  <a:spcPct val="35000"/>
                </a:spcAft>
                <a:buClr>
                  <a:srgbClr val="000000"/>
                </a:buClr>
                <a:buSzTx/>
                <a:buFont typeface="Arial"/>
                <a:buNone/>
                <a:tabLst/>
                <a:defRPr/>
              </a:pPr>
              <a:r>
                <a:rPr kumimoji="0" lang="es-ES_tradnl" sz="1800" b="1" i="0" u="none" strike="noStrike" kern="0" cap="none" spc="0" normalizeH="0" baseline="0" noProof="0" dirty="0">
                  <a:ln w="0"/>
                  <a:solidFill>
                    <a:srgbClr val="FFFFFF"/>
                  </a:solidFill>
                  <a:effectLst/>
                  <a:uLnTx/>
                  <a:uFillTx/>
                  <a:latin typeface="Montserrat" panose="00000500000000000000" pitchFamily="2" charset="0"/>
                  <a:ea typeface="+mn-ea"/>
                  <a:cs typeface="Times New Roman" panose="02020603050405020304" pitchFamily="18" charset="0"/>
                  <a:sym typeface="Arial"/>
                </a:rPr>
                <a:t>Hogares</a:t>
              </a:r>
            </a:p>
          </p:txBody>
        </p:sp>
        <p:sp>
          <p:nvSpPr>
            <p:cNvPr id="12" name="Forma libre 11">
              <a:extLst>
                <a:ext uri="{FF2B5EF4-FFF2-40B4-BE49-F238E27FC236}">
                  <a16:creationId xmlns:a16="http://schemas.microsoft.com/office/drawing/2014/main" id="{EC232765-15FB-384E-812C-D615D9776D5F}"/>
                </a:ext>
              </a:extLst>
            </p:cNvPr>
            <p:cNvSpPr/>
            <p:nvPr/>
          </p:nvSpPr>
          <p:spPr>
            <a:xfrm>
              <a:off x="5452316" y="4004333"/>
              <a:ext cx="4474342" cy="827499"/>
            </a:xfrm>
            <a:custGeom>
              <a:avLst/>
              <a:gdLst>
                <a:gd name="connsiteX0" fmla="*/ 0 w 2071812"/>
                <a:gd name="connsiteY0" fmla="*/ 0 h 827402"/>
                <a:gd name="connsiteX1" fmla="*/ 2071812 w 2071812"/>
                <a:gd name="connsiteY1" fmla="*/ 0 h 827402"/>
                <a:gd name="connsiteX2" fmla="*/ 2071812 w 2071812"/>
                <a:gd name="connsiteY2" fmla="*/ 827402 h 827402"/>
                <a:gd name="connsiteX3" fmla="*/ 0 w 2071812"/>
                <a:gd name="connsiteY3" fmla="*/ 827402 h 827402"/>
                <a:gd name="connsiteX4" fmla="*/ 0 w 2071812"/>
                <a:gd name="connsiteY4" fmla="*/ 0 h 8274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71812" h="827402">
                  <a:moveTo>
                    <a:pt x="0" y="0"/>
                  </a:moveTo>
                  <a:lnTo>
                    <a:pt x="2071812" y="0"/>
                  </a:lnTo>
                  <a:lnTo>
                    <a:pt x="2071812" y="827402"/>
                  </a:lnTo>
                  <a:lnTo>
                    <a:pt x="0" y="827402"/>
                  </a:lnTo>
                  <a:lnTo>
                    <a:pt x="0" y="0"/>
                  </a:lnTo>
                  <a:close/>
                </a:path>
              </a:pathLst>
            </a:custGeom>
            <a:effectLst/>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lIns="49530" tIns="49530" rIns="49530" bIns="49530" spcCol="1270" anchor="ctr"/>
            <a:lstStyle/>
            <a:p>
              <a:pPr marL="0" marR="0" lvl="1" indent="0" algn="l" defTabSz="444500" rtl="0" eaLnBrk="1" fontAlgn="auto" latinLnBrk="0" hangingPunct="1">
                <a:lnSpc>
                  <a:spcPct val="90000"/>
                </a:lnSpc>
                <a:spcBef>
                  <a:spcPts val="0"/>
                </a:spcBef>
                <a:spcAft>
                  <a:spcPct val="15000"/>
                </a:spcAft>
                <a:buClr>
                  <a:srgbClr val="000000"/>
                </a:buClr>
                <a:buSzTx/>
                <a:buFont typeface="Arial"/>
                <a:buNone/>
                <a:tabLst/>
                <a:defRPr/>
              </a:pPr>
              <a:r>
                <a:rPr kumimoji="0" lang="es-ES_tradnl" sz="1600" b="0" i="0" u="none" strike="noStrike" kern="0" cap="none" spc="0" normalizeH="0" baseline="0" noProof="0" dirty="0">
                  <a:ln w="0"/>
                  <a:solidFill>
                    <a:srgbClr val="595959"/>
                  </a:solidFill>
                  <a:effectLst/>
                  <a:uLnTx/>
                  <a:uFillTx/>
                  <a:latin typeface="Montserrat" panose="00000500000000000000" pitchFamily="2" charset="0"/>
                  <a:ea typeface="+mn-ea"/>
                  <a:cs typeface="Times New Roman" panose="02020603050405020304" pitchFamily="18" charset="0"/>
                  <a:sym typeface="Arial"/>
                </a:rPr>
                <a:t>Elegidas aleatoriamente en etapas previas (PSU)</a:t>
              </a:r>
            </a:p>
          </p:txBody>
        </p:sp>
        <p:sp>
          <p:nvSpPr>
            <p:cNvPr id="13" name="Forma libre 12">
              <a:extLst>
                <a:ext uri="{FF2B5EF4-FFF2-40B4-BE49-F238E27FC236}">
                  <a16:creationId xmlns:a16="http://schemas.microsoft.com/office/drawing/2014/main" id="{F8BCB084-F98C-CE43-8D30-F18E86370F00}"/>
                </a:ext>
              </a:extLst>
            </p:cNvPr>
            <p:cNvSpPr/>
            <p:nvPr/>
          </p:nvSpPr>
          <p:spPr>
            <a:xfrm>
              <a:off x="5127498" y="5076796"/>
              <a:ext cx="1462970" cy="1023172"/>
            </a:xfrm>
            <a:custGeom>
              <a:avLst/>
              <a:gdLst>
                <a:gd name="connsiteX0" fmla="*/ 0 w 1462501"/>
                <a:gd name="connsiteY0" fmla="*/ 170651 h 1023703"/>
                <a:gd name="connsiteX1" fmla="*/ 170651 w 1462501"/>
                <a:gd name="connsiteY1" fmla="*/ 0 h 1023703"/>
                <a:gd name="connsiteX2" fmla="*/ 1291850 w 1462501"/>
                <a:gd name="connsiteY2" fmla="*/ 0 h 1023703"/>
                <a:gd name="connsiteX3" fmla="*/ 1462501 w 1462501"/>
                <a:gd name="connsiteY3" fmla="*/ 170651 h 1023703"/>
                <a:gd name="connsiteX4" fmla="*/ 1462501 w 1462501"/>
                <a:gd name="connsiteY4" fmla="*/ 853052 h 1023703"/>
                <a:gd name="connsiteX5" fmla="*/ 1291850 w 1462501"/>
                <a:gd name="connsiteY5" fmla="*/ 1023703 h 1023703"/>
                <a:gd name="connsiteX6" fmla="*/ 170651 w 1462501"/>
                <a:gd name="connsiteY6" fmla="*/ 1023703 h 1023703"/>
                <a:gd name="connsiteX7" fmla="*/ 0 w 1462501"/>
                <a:gd name="connsiteY7" fmla="*/ 853052 h 1023703"/>
                <a:gd name="connsiteX8" fmla="*/ 0 w 1462501"/>
                <a:gd name="connsiteY8" fmla="*/ 170651 h 1023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62501" h="1023703">
                  <a:moveTo>
                    <a:pt x="0" y="170651"/>
                  </a:moveTo>
                  <a:cubicBezTo>
                    <a:pt x="0" y="76403"/>
                    <a:pt x="76403" y="0"/>
                    <a:pt x="170651" y="0"/>
                  </a:cubicBezTo>
                  <a:lnTo>
                    <a:pt x="1291850" y="0"/>
                  </a:lnTo>
                  <a:cubicBezTo>
                    <a:pt x="1386098" y="0"/>
                    <a:pt x="1462501" y="76403"/>
                    <a:pt x="1462501" y="170651"/>
                  </a:cubicBezTo>
                  <a:lnTo>
                    <a:pt x="1462501" y="853052"/>
                  </a:lnTo>
                  <a:cubicBezTo>
                    <a:pt x="1462501" y="947300"/>
                    <a:pt x="1386098" y="1023703"/>
                    <a:pt x="1291850" y="1023703"/>
                  </a:cubicBezTo>
                  <a:lnTo>
                    <a:pt x="170651" y="1023703"/>
                  </a:lnTo>
                  <a:cubicBezTo>
                    <a:pt x="76403" y="1023703"/>
                    <a:pt x="0" y="947300"/>
                    <a:pt x="0" y="853052"/>
                  </a:cubicBezTo>
                  <a:lnTo>
                    <a:pt x="0" y="170651"/>
                  </a:lnTo>
                  <a:close/>
                </a:path>
              </a:pathLst>
            </a:custGeom>
            <a:solidFill>
              <a:srgbClr val="834193"/>
            </a:solidFill>
            <a:ln>
              <a:no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lIns="114752" tIns="114752" rIns="114752" bIns="114752" spcCol="1270" anchor="ctr"/>
            <a:lstStyle/>
            <a:p>
              <a:pPr marL="0" marR="0" lvl="0" indent="0" algn="ctr" defTabSz="755650" rtl="0" eaLnBrk="1" fontAlgn="auto" latinLnBrk="0" hangingPunct="1">
                <a:lnSpc>
                  <a:spcPct val="90000"/>
                </a:lnSpc>
                <a:spcBef>
                  <a:spcPts val="0"/>
                </a:spcBef>
                <a:spcAft>
                  <a:spcPct val="35000"/>
                </a:spcAft>
                <a:buClr>
                  <a:srgbClr val="000000"/>
                </a:buClr>
                <a:buSzTx/>
                <a:buFont typeface="Arial"/>
                <a:buNone/>
                <a:tabLst/>
                <a:defRPr/>
              </a:pPr>
              <a:r>
                <a:rPr kumimoji="0" lang="es-CL" sz="1800" b="1" i="0" u="none" strike="noStrike" kern="0" cap="none" spc="0" normalizeH="0" baseline="0" noProof="0" dirty="0">
                  <a:ln w="0"/>
                  <a:solidFill>
                    <a:srgbClr val="FFFFFF"/>
                  </a:solidFill>
                  <a:effectLst/>
                  <a:uLnTx/>
                  <a:uFillTx/>
                  <a:latin typeface="Montserrat" panose="00000500000000000000" pitchFamily="2" charset="0"/>
                  <a:ea typeface="+mn-ea"/>
                  <a:cs typeface="Times New Roman" panose="02020603050405020304" pitchFamily="18" charset="0"/>
                  <a:sym typeface="Arial"/>
                </a:rPr>
                <a:t>Individuos</a:t>
              </a:r>
            </a:p>
          </p:txBody>
        </p:sp>
        <p:sp>
          <p:nvSpPr>
            <p:cNvPr id="14" name="Forma libre 13">
              <a:extLst>
                <a:ext uri="{FF2B5EF4-FFF2-40B4-BE49-F238E27FC236}">
                  <a16:creationId xmlns:a16="http://schemas.microsoft.com/office/drawing/2014/main" id="{1FB8D35E-7169-BA47-B642-8141BA54C143}"/>
                </a:ext>
              </a:extLst>
            </p:cNvPr>
            <p:cNvSpPr/>
            <p:nvPr/>
          </p:nvSpPr>
          <p:spPr>
            <a:xfrm>
              <a:off x="6760037" y="5173886"/>
              <a:ext cx="3411867" cy="827499"/>
            </a:xfrm>
            <a:custGeom>
              <a:avLst/>
              <a:gdLst>
                <a:gd name="connsiteX0" fmla="*/ 0 w 1063684"/>
                <a:gd name="connsiteY0" fmla="*/ 0 h 827402"/>
                <a:gd name="connsiteX1" fmla="*/ 1063684 w 1063684"/>
                <a:gd name="connsiteY1" fmla="*/ 0 h 827402"/>
                <a:gd name="connsiteX2" fmla="*/ 1063684 w 1063684"/>
                <a:gd name="connsiteY2" fmla="*/ 827402 h 827402"/>
                <a:gd name="connsiteX3" fmla="*/ 0 w 1063684"/>
                <a:gd name="connsiteY3" fmla="*/ 827402 h 827402"/>
                <a:gd name="connsiteX4" fmla="*/ 0 w 1063684"/>
                <a:gd name="connsiteY4" fmla="*/ 0 h 8274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3684" h="827402">
                  <a:moveTo>
                    <a:pt x="0" y="0"/>
                  </a:moveTo>
                  <a:lnTo>
                    <a:pt x="1063684" y="0"/>
                  </a:lnTo>
                  <a:lnTo>
                    <a:pt x="1063684" y="827402"/>
                  </a:lnTo>
                  <a:lnTo>
                    <a:pt x="0" y="827402"/>
                  </a:lnTo>
                  <a:lnTo>
                    <a:pt x="0" y="0"/>
                  </a:lnTo>
                  <a:close/>
                </a:path>
              </a:pathLst>
            </a:custGeom>
            <a:effectLst/>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lIns="64770" tIns="64770" rIns="64770" bIns="64770" spcCol="1270" anchor="ctr"/>
            <a:lstStyle/>
            <a:p>
              <a:pPr marL="0" marR="0" lvl="1" indent="0" algn="l" defTabSz="577850" rtl="0" eaLnBrk="1" fontAlgn="auto" latinLnBrk="0" hangingPunct="1">
                <a:lnSpc>
                  <a:spcPct val="90000"/>
                </a:lnSpc>
                <a:spcBef>
                  <a:spcPts val="0"/>
                </a:spcBef>
                <a:spcAft>
                  <a:spcPct val="15000"/>
                </a:spcAft>
                <a:buClr>
                  <a:srgbClr val="000000"/>
                </a:buClr>
                <a:buSzTx/>
                <a:buFont typeface="Arial"/>
                <a:buNone/>
                <a:tabLst/>
                <a:defRPr/>
              </a:pPr>
              <a:r>
                <a:rPr kumimoji="0" lang="es-ES_tradnl" sz="1600" b="0" i="0" u="none" strike="noStrike" kern="0" cap="none" spc="0" normalizeH="0" baseline="0" noProof="0" dirty="0">
                  <a:ln w="0"/>
                  <a:solidFill>
                    <a:srgbClr val="595959"/>
                  </a:solidFill>
                  <a:effectLst/>
                  <a:uLnTx/>
                  <a:uFillTx/>
                  <a:latin typeface="Montserrat" panose="00000500000000000000" pitchFamily="2" charset="0"/>
                  <a:ea typeface="+mn-ea"/>
                  <a:cs typeface="Times New Roman" panose="02020603050405020304" pitchFamily="18" charset="0"/>
                  <a:sym typeface="Arial"/>
                </a:rPr>
                <a:t>Elegidos aleatoriamente entre miembros del hogar mayores de 18 años</a:t>
              </a:r>
            </a:p>
          </p:txBody>
        </p:sp>
      </p:grpSp>
      <p:sp>
        <p:nvSpPr>
          <p:cNvPr id="17" name="Slide Number Placeholder 5">
            <a:extLst>
              <a:ext uri="{FF2B5EF4-FFF2-40B4-BE49-F238E27FC236}">
                <a16:creationId xmlns:a16="http://schemas.microsoft.com/office/drawing/2014/main" id="{138846BF-5A6F-D415-59D6-E989A6A8F4CD}"/>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s-CL"/>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9899EEF-128D-5149-85AB-A29305301F2C}" type="slidenum">
              <a:rPr lang="en-US" smtClean="0">
                <a:solidFill>
                  <a:prstClr val="black">
                    <a:tint val="82000"/>
                  </a:prstClr>
                </a:solidFill>
                <a:latin typeface="Aptos" panose="02110004020202020204"/>
              </a:rPr>
              <a:pPr/>
              <a:t>23</a:t>
            </a:fld>
            <a:endParaRPr lang="en-US">
              <a:solidFill>
                <a:prstClr val="black">
                  <a:tint val="82000"/>
                </a:prstClr>
              </a:solidFill>
              <a:latin typeface="Aptos" panose="02110004020202020204"/>
            </a:endParaRPr>
          </a:p>
        </p:txBody>
      </p:sp>
    </p:spTree>
    <p:extLst>
      <p:ext uri="{BB962C8B-B14F-4D97-AF65-F5344CB8AC3E}">
        <p14:creationId xmlns:p14="http://schemas.microsoft.com/office/powerpoint/2010/main" val="3701124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2"/>
              </a:buClr>
              <a:buSzPts val="3200"/>
              <a:buFont typeface="Montserrat"/>
              <a:buNone/>
            </a:pPr>
            <a:r>
              <a:rPr lang="es-ES" b="1" dirty="0">
                <a:solidFill>
                  <a:schemeClr val="tx1"/>
                </a:solidFill>
              </a:rPr>
              <a:t>Atrición de la muestra original y de la muestra de refresco.</a:t>
            </a:r>
            <a:endParaRPr b="1" dirty="0">
              <a:solidFill>
                <a:schemeClr val="tx1"/>
              </a:solidFill>
            </a:endParaRPr>
          </a:p>
        </p:txBody>
      </p:sp>
      <p:graphicFrame>
        <p:nvGraphicFramePr>
          <p:cNvPr id="86" name="Google Shape;86;p4"/>
          <p:cNvGraphicFramePr/>
          <p:nvPr/>
        </p:nvGraphicFramePr>
        <p:xfrm>
          <a:off x="838175" y="1690688"/>
          <a:ext cx="10515625" cy="3760475"/>
        </p:xfrm>
        <a:graphic>
          <a:graphicData uri="http://schemas.openxmlformats.org/drawingml/2006/table">
            <a:tbl>
              <a:tblPr bandRow="1">
                <a:noFill/>
              </a:tblPr>
              <a:tblGrid>
                <a:gridCol w="2103125">
                  <a:extLst>
                    <a:ext uri="{9D8B030D-6E8A-4147-A177-3AD203B41FA5}">
                      <a16:colId xmlns:a16="http://schemas.microsoft.com/office/drawing/2014/main" val="20000"/>
                    </a:ext>
                  </a:extLst>
                </a:gridCol>
                <a:gridCol w="2103125">
                  <a:extLst>
                    <a:ext uri="{9D8B030D-6E8A-4147-A177-3AD203B41FA5}">
                      <a16:colId xmlns:a16="http://schemas.microsoft.com/office/drawing/2014/main" val="20001"/>
                    </a:ext>
                  </a:extLst>
                </a:gridCol>
                <a:gridCol w="2103125">
                  <a:extLst>
                    <a:ext uri="{9D8B030D-6E8A-4147-A177-3AD203B41FA5}">
                      <a16:colId xmlns:a16="http://schemas.microsoft.com/office/drawing/2014/main" val="20002"/>
                    </a:ext>
                  </a:extLst>
                </a:gridCol>
                <a:gridCol w="2103125">
                  <a:extLst>
                    <a:ext uri="{9D8B030D-6E8A-4147-A177-3AD203B41FA5}">
                      <a16:colId xmlns:a16="http://schemas.microsoft.com/office/drawing/2014/main" val="20003"/>
                    </a:ext>
                  </a:extLst>
                </a:gridCol>
                <a:gridCol w="2103125">
                  <a:extLst>
                    <a:ext uri="{9D8B030D-6E8A-4147-A177-3AD203B41FA5}">
                      <a16:colId xmlns:a16="http://schemas.microsoft.com/office/drawing/2014/main" val="20004"/>
                    </a:ext>
                  </a:extLst>
                </a:gridCol>
              </a:tblGrid>
              <a:tr h="228600">
                <a:tc>
                  <a:txBody>
                    <a:bodyPr/>
                    <a:lstStyle/>
                    <a:p>
                      <a:pPr marL="0" marR="0" lvl="0" indent="0" algn="ctr" rtl="0">
                        <a:spcBef>
                          <a:spcPts val="0"/>
                        </a:spcBef>
                        <a:spcAft>
                          <a:spcPts val="0"/>
                        </a:spcAft>
                        <a:buNone/>
                      </a:pPr>
                      <a:br>
                        <a:rPr lang="es-ES" sz="1800" b="1" u="none" strike="noStrike" cap="none">
                          <a:solidFill>
                            <a:srgbClr val="595959"/>
                          </a:solidFill>
                          <a:latin typeface="Arial"/>
                          <a:ea typeface="Arial"/>
                          <a:cs typeface="Arial"/>
                          <a:sym typeface="Arial"/>
                        </a:rPr>
                      </a:br>
                      <a:endParaRPr sz="1800" b="1" u="none" strike="noStrike" cap="none">
                        <a:solidFill>
                          <a:srgbClr val="595959"/>
                        </a:solidFill>
                        <a:latin typeface="Arial"/>
                        <a:ea typeface="Arial"/>
                        <a:cs typeface="Arial"/>
                        <a:sym typeface="Arial"/>
                      </a:endParaRPr>
                    </a:p>
                  </a:txBody>
                  <a:tcPr marL="28575" marR="28575" marT="57150"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tcPr>
                </a:tc>
                <a:tc gridSpan="2">
                  <a:txBody>
                    <a:bodyPr/>
                    <a:lstStyle/>
                    <a:p>
                      <a:pPr marL="0" marR="0" lvl="0" indent="0" algn="ctr" rtl="0">
                        <a:spcBef>
                          <a:spcPts val="0"/>
                        </a:spcBef>
                        <a:spcAft>
                          <a:spcPts val="0"/>
                        </a:spcAft>
                        <a:buNone/>
                      </a:pPr>
                      <a:r>
                        <a:rPr lang="es-ES" sz="1800" b="1" u="none" strike="noStrike" cap="none">
                          <a:solidFill>
                            <a:srgbClr val="595959"/>
                          </a:solidFill>
                          <a:latin typeface="Arial"/>
                          <a:ea typeface="Arial"/>
                          <a:cs typeface="Arial"/>
                          <a:sym typeface="Arial"/>
                        </a:rPr>
                        <a:t>Muestra Original</a:t>
                      </a:r>
                      <a:endParaRPr/>
                    </a:p>
                  </a:txBody>
                  <a:tcPr marL="28575" marR="28575" marT="57150"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tcPr>
                </a:tc>
                <a:tc hMerge="1">
                  <a:txBody>
                    <a:bodyPr/>
                    <a:lstStyle/>
                    <a:p>
                      <a:endParaRPr lang="en-CL"/>
                    </a:p>
                  </a:txBody>
                  <a:tcPr/>
                </a:tc>
                <a:tc gridSpan="2">
                  <a:txBody>
                    <a:bodyPr/>
                    <a:lstStyle/>
                    <a:p>
                      <a:pPr marL="0" marR="0" lvl="0" indent="0" algn="ctr" rtl="0">
                        <a:spcBef>
                          <a:spcPts val="0"/>
                        </a:spcBef>
                        <a:spcAft>
                          <a:spcPts val="0"/>
                        </a:spcAft>
                        <a:buNone/>
                      </a:pPr>
                      <a:r>
                        <a:rPr lang="es-ES" sz="1800" b="1" u="none" strike="noStrike" cap="none">
                          <a:solidFill>
                            <a:srgbClr val="595959"/>
                          </a:solidFill>
                          <a:latin typeface="Arial"/>
                          <a:ea typeface="Arial"/>
                          <a:cs typeface="Arial"/>
                          <a:sym typeface="Arial"/>
                        </a:rPr>
                        <a:t>Muestra Refresco</a:t>
                      </a:r>
                      <a:endParaRPr/>
                    </a:p>
                  </a:txBody>
                  <a:tcPr marL="28575" marR="28575" marT="57150"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tcPr>
                </a:tc>
                <a:tc hMerge="1">
                  <a:txBody>
                    <a:bodyPr/>
                    <a:lstStyle/>
                    <a:p>
                      <a:endParaRPr lang="en-CL"/>
                    </a:p>
                  </a:txBody>
                  <a:tcPr/>
                </a:tc>
                <a:extLst>
                  <a:ext uri="{0D108BD9-81ED-4DB2-BD59-A6C34878D82A}">
                    <a16:rowId xmlns:a16="http://schemas.microsoft.com/office/drawing/2014/main" val="10000"/>
                  </a:ext>
                </a:extLst>
              </a:tr>
              <a:tr h="228600">
                <a:tc>
                  <a:txBody>
                    <a:bodyPr/>
                    <a:lstStyle/>
                    <a:p>
                      <a:pPr marL="0" marR="0" lvl="0" indent="0" algn="ctr" rtl="0">
                        <a:spcBef>
                          <a:spcPts val="0"/>
                        </a:spcBef>
                        <a:spcAft>
                          <a:spcPts val="0"/>
                        </a:spcAft>
                        <a:buNone/>
                      </a:pPr>
                      <a:r>
                        <a:rPr lang="es-ES" sz="1800" b="1" u="none" strike="noStrike" cap="none">
                          <a:solidFill>
                            <a:srgbClr val="595959"/>
                          </a:solidFill>
                          <a:latin typeface="Arial"/>
                          <a:ea typeface="Arial"/>
                          <a:cs typeface="Arial"/>
                          <a:sym typeface="Arial"/>
                        </a:rPr>
                        <a:t>Medición</a:t>
                      </a:r>
                      <a:endParaRPr/>
                    </a:p>
                  </a:txBody>
                  <a:tcPr marL="123825" marR="123825" marT="57150" marB="571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tcPr>
                </a:tc>
                <a:tc>
                  <a:txBody>
                    <a:bodyPr/>
                    <a:lstStyle/>
                    <a:p>
                      <a:pPr marL="0" marR="0" lvl="0" indent="0" algn="ctr" rtl="0">
                        <a:spcBef>
                          <a:spcPts val="0"/>
                        </a:spcBef>
                        <a:spcAft>
                          <a:spcPts val="0"/>
                        </a:spcAft>
                        <a:buNone/>
                      </a:pPr>
                      <a:r>
                        <a:rPr lang="es-ES" sz="1800" b="1" u="none" strike="noStrike" cap="none">
                          <a:solidFill>
                            <a:srgbClr val="595959"/>
                          </a:solidFill>
                          <a:latin typeface="Arial"/>
                          <a:ea typeface="Arial"/>
                          <a:cs typeface="Arial"/>
                          <a:sym typeface="Arial"/>
                        </a:rPr>
                        <a:t>Muestra lograda</a:t>
                      </a:r>
                      <a:endParaRPr/>
                    </a:p>
                  </a:txBody>
                  <a:tcPr marL="123825" marR="123825" marT="57150" marB="57150" anchor="ctr">
                    <a:lnL w="12700" cap="flat" cmpd="sng">
                      <a:solidFill>
                        <a:schemeClr val="dk1"/>
                      </a:solidFill>
                      <a:prstDash val="solid"/>
                      <a:round/>
                      <a:headEnd type="none" w="sm" len="sm"/>
                      <a:tailEnd type="none" w="sm" len="sm"/>
                    </a:lnL>
                  </a:tcPr>
                </a:tc>
                <a:tc>
                  <a:txBody>
                    <a:bodyPr/>
                    <a:lstStyle/>
                    <a:p>
                      <a:pPr marL="0" marR="0" lvl="0" indent="0" algn="ctr" rtl="0">
                        <a:spcBef>
                          <a:spcPts val="0"/>
                        </a:spcBef>
                        <a:spcAft>
                          <a:spcPts val="0"/>
                        </a:spcAft>
                        <a:buNone/>
                      </a:pPr>
                      <a:r>
                        <a:rPr lang="es-ES" sz="1800" b="1" u="none" strike="noStrike" cap="none">
                          <a:solidFill>
                            <a:srgbClr val="595959"/>
                          </a:solidFill>
                          <a:latin typeface="Arial"/>
                          <a:ea typeface="Arial"/>
                          <a:cs typeface="Arial"/>
                          <a:sym typeface="Arial"/>
                        </a:rPr>
                        <a:t>Atrición</a:t>
                      </a:r>
                      <a:endParaRPr/>
                    </a:p>
                  </a:txBody>
                  <a:tcPr marL="123825" marR="123825" marT="57150" marB="57150" anchor="ctr">
                    <a:lnR w="12700" cap="flat" cmpd="sng">
                      <a:solidFill>
                        <a:schemeClr val="dk1"/>
                      </a:solidFill>
                      <a:prstDash val="solid"/>
                      <a:round/>
                      <a:headEnd type="none" w="sm" len="sm"/>
                      <a:tailEnd type="none" w="sm" len="sm"/>
                    </a:lnR>
                  </a:tcPr>
                </a:tc>
                <a:tc>
                  <a:txBody>
                    <a:bodyPr/>
                    <a:lstStyle/>
                    <a:p>
                      <a:pPr marL="0" marR="0" lvl="0" indent="0" algn="ctr" rtl="0">
                        <a:spcBef>
                          <a:spcPts val="0"/>
                        </a:spcBef>
                        <a:spcAft>
                          <a:spcPts val="0"/>
                        </a:spcAft>
                        <a:buNone/>
                      </a:pPr>
                      <a:r>
                        <a:rPr lang="es-ES" sz="1800" b="1" u="none" strike="noStrike" cap="none">
                          <a:solidFill>
                            <a:srgbClr val="595959"/>
                          </a:solidFill>
                          <a:latin typeface="Arial"/>
                          <a:ea typeface="Arial"/>
                          <a:cs typeface="Arial"/>
                          <a:sym typeface="Arial"/>
                        </a:rPr>
                        <a:t>Muestra lograda</a:t>
                      </a:r>
                      <a:endParaRPr/>
                    </a:p>
                  </a:txBody>
                  <a:tcPr marL="123825" marR="123825" marT="57150" marB="57150" anchor="ctr">
                    <a:lnL w="12700" cap="flat" cmpd="sng">
                      <a:solidFill>
                        <a:schemeClr val="dk1"/>
                      </a:solidFill>
                      <a:prstDash val="solid"/>
                      <a:round/>
                      <a:headEnd type="none" w="sm" len="sm"/>
                      <a:tailEnd type="none" w="sm" len="sm"/>
                    </a:lnL>
                  </a:tcPr>
                </a:tc>
                <a:tc>
                  <a:txBody>
                    <a:bodyPr/>
                    <a:lstStyle/>
                    <a:p>
                      <a:pPr marL="0" marR="0" lvl="0" indent="0" algn="ctr" rtl="0">
                        <a:spcBef>
                          <a:spcPts val="0"/>
                        </a:spcBef>
                        <a:spcAft>
                          <a:spcPts val="0"/>
                        </a:spcAft>
                        <a:buNone/>
                      </a:pPr>
                      <a:r>
                        <a:rPr lang="es-ES" sz="1800" b="1" u="none" strike="noStrike" cap="none">
                          <a:solidFill>
                            <a:srgbClr val="595959"/>
                          </a:solidFill>
                          <a:latin typeface="Arial"/>
                          <a:ea typeface="Arial"/>
                          <a:cs typeface="Arial"/>
                          <a:sym typeface="Arial"/>
                        </a:rPr>
                        <a:t>Atrición</a:t>
                      </a:r>
                      <a:endParaRPr/>
                    </a:p>
                  </a:txBody>
                  <a:tcPr marL="123825" marR="123825" marT="57150" marB="57150" anchor="ctr">
                    <a:lnR w="12700" cap="flat" cmpd="sng">
                      <a:solidFill>
                        <a:schemeClr val="dk1"/>
                      </a:solidFill>
                      <a:prstDash val="solid"/>
                      <a:round/>
                      <a:headEnd type="none" w="sm" len="sm"/>
                      <a:tailEnd type="none" w="sm" len="sm"/>
                    </a:lnR>
                  </a:tcPr>
                </a:tc>
                <a:extLst>
                  <a:ext uri="{0D108BD9-81ED-4DB2-BD59-A6C34878D82A}">
                    <a16:rowId xmlns:a16="http://schemas.microsoft.com/office/drawing/2014/main" val="10001"/>
                  </a:ext>
                </a:extLst>
              </a:tr>
              <a:tr h="228600">
                <a:tc>
                  <a:txBody>
                    <a:bodyPr/>
                    <a:lstStyle/>
                    <a:p>
                      <a:pPr marL="0" marR="0" lvl="0" indent="0" algn="ctr" rtl="0">
                        <a:spcBef>
                          <a:spcPts val="0"/>
                        </a:spcBef>
                        <a:spcAft>
                          <a:spcPts val="0"/>
                        </a:spcAft>
                        <a:buNone/>
                      </a:pPr>
                      <a:r>
                        <a:rPr lang="es-ES" sz="1800" u="none" strike="noStrike" cap="none">
                          <a:solidFill>
                            <a:srgbClr val="595959"/>
                          </a:solidFill>
                          <a:latin typeface="Arial"/>
                          <a:ea typeface="Arial"/>
                          <a:cs typeface="Arial"/>
                          <a:sym typeface="Arial"/>
                        </a:rPr>
                        <a:t>2016</a:t>
                      </a:r>
                      <a:endParaRPr sz="1800" b="1" u="none" strike="noStrike" cap="none">
                        <a:solidFill>
                          <a:srgbClr val="595959"/>
                        </a:solidFill>
                        <a:latin typeface="Arial"/>
                        <a:ea typeface="Arial"/>
                        <a:cs typeface="Arial"/>
                        <a:sym typeface="Arial"/>
                      </a:endParaRPr>
                    </a:p>
                  </a:txBody>
                  <a:tcPr marL="123825" marR="123825" marT="57150" marB="571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tcPr>
                </a:tc>
                <a:tc>
                  <a:txBody>
                    <a:bodyPr/>
                    <a:lstStyle/>
                    <a:p>
                      <a:pPr marL="0" marR="0" lvl="0" indent="0" algn="ctr" rtl="0">
                        <a:spcBef>
                          <a:spcPts val="0"/>
                        </a:spcBef>
                        <a:spcAft>
                          <a:spcPts val="0"/>
                        </a:spcAft>
                        <a:buNone/>
                      </a:pPr>
                      <a:r>
                        <a:rPr lang="es-ES" sz="1800" u="none" strike="noStrike" cap="none">
                          <a:solidFill>
                            <a:srgbClr val="595959"/>
                          </a:solidFill>
                          <a:latin typeface="Arial"/>
                          <a:ea typeface="Arial"/>
                          <a:cs typeface="Arial"/>
                          <a:sym typeface="Arial"/>
                        </a:rPr>
                        <a:t>2,927</a:t>
                      </a:r>
                      <a:endParaRPr/>
                    </a:p>
                  </a:txBody>
                  <a:tcPr marL="123825" marR="123825" marT="57150" marB="57150" anchor="ctr">
                    <a:lnL w="12700" cap="flat" cmpd="sng">
                      <a:solidFill>
                        <a:schemeClr val="dk1"/>
                      </a:solidFill>
                      <a:prstDash val="solid"/>
                      <a:round/>
                      <a:headEnd type="none" w="sm" len="sm"/>
                      <a:tailEnd type="none" w="sm" len="sm"/>
                    </a:lnL>
                  </a:tcPr>
                </a:tc>
                <a:tc>
                  <a:txBody>
                    <a:bodyPr/>
                    <a:lstStyle/>
                    <a:p>
                      <a:pPr marL="0" marR="0" lvl="0" indent="0" algn="ctr" rtl="0">
                        <a:spcBef>
                          <a:spcPts val="0"/>
                        </a:spcBef>
                        <a:spcAft>
                          <a:spcPts val="0"/>
                        </a:spcAft>
                        <a:buNone/>
                      </a:pPr>
                      <a:endParaRPr sz="1800" u="none" strike="noStrike" cap="none">
                        <a:solidFill>
                          <a:srgbClr val="595959"/>
                        </a:solidFill>
                        <a:latin typeface="Arial"/>
                        <a:ea typeface="Arial"/>
                        <a:cs typeface="Arial"/>
                        <a:sym typeface="Arial"/>
                      </a:endParaRPr>
                    </a:p>
                  </a:txBody>
                  <a:tcPr marL="123825" marR="123825" marT="57150" marB="57150" anchor="ctr">
                    <a:lnR w="12700" cap="flat" cmpd="sng">
                      <a:solidFill>
                        <a:schemeClr val="dk1"/>
                      </a:solidFill>
                      <a:prstDash val="solid"/>
                      <a:round/>
                      <a:headEnd type="none" w="sm" len="sm"/>
                      <a:tailEnd type="none" w="sm" len="sm"/>
                    </a:lnR>
                  </a:tcPr>
                </a:tc>
                <a:tc>
                  <a:txBody>
                    <a:bodyPr/>
                    <a:lstStyle/>
                    <a:p>
                      <a:pPr marL="0" marR="0" lvl="0" indent="0" algn="ctr" rtl="0">
                        <a:spcBef>
                          <a:spcPts val="0"/>
                        </a:spcBef>
                        <a:spcAft>
                          <a:spcPts val="0"/>
                        </a:spcAft>
                        <a:buNone/>
                      </a:pPr>
                      <a:endParaRPr sz="1800" u="none" strike="noStrike" cap="none">
                        <a:solidFill>
                          <a:srgbClr val="595959"/>
                        </a:solidFill>
                        <a:latin typeface="Arial"/>
                        <a:ea typeface="Arial"/>
                        <a:cs typeface="Arial"/>
                        <a:sym typeface="Arial"/>
                      </a:endParaRPr>
                    </a:p>
                  </a:txBody>
                  <a:tcPr marL="123825" marR="123825" marT="57150" marB="57150" anchor="ctr">
                    <a:lnL w="12700" cap="flat" cmpd="sng">
                      <a:solidFill>
                        <a:schemeClr val="dk1"/>
                      </a:solidFill>
                      <a:prstDash val="solid"/>
                      <a:round/>
                      <a:headEnd type="none" w="sm" len="sm"/>
                      <a:tailEnd type="none" w="sm" len="sm"/>
                    </a:lnL>
                  </a:tcPr>
                </a:tc>
                <a:tc>
                  <a:txBody>
                    <a:bodyPr/>
                    <a:lstStyle/>
                    <a:p>
                      <a:pPr marL="0" marR="0" lvl="0" indent="0" algn="ctr" rtl="0">
                        <a:spcBef>
                          <a:spcPts val="0"/>
                        </a:spcBef>
                        <a:spcAft>
                          <a:spcPts val="0"/>
                        </a:spcAft>
                        <a:buNone/>
                      </a:pPr>
                      <a:endParaRPr sz="1800" u="none" strike="noStrike" cap="none">
                        <a:solidFill>
                          <a:srgbClr val="595959"/>
                        </a:solidFill>
                        <a:latin typeface="Arial"/>
                        <a:ea typeface="Arial"/>
                        <a:cs typeface="Arial"/>
                        <a:sym typeface="Arial"/>
                      </a:endParaRPr>
                    </a:p>
                  </a:txBody>
                  <a:tcPr marL="123825" marR="123825" marT="57150" marB="57150" anchor="ctr">
                    <a:lnR w="12700" cap="flat" cmpd="sng">
                      <a:solidFill>
                        <a:schemeClr val="dk1"/>
                      </a:solidFill>
                      <a:prstDash val="solid"/>
                      <a:round/>
                      <a:headEnd type="none" w="sm" len="sm"/>
                      <a:tailEnd type="none" w="sm" len="sm"/>
                    </a:lnR>
                  </a:tcPr>
                </a:tc>
                <a:extLst>
                  <a:ext uri="{0D108BD9-81ED-4DB2-BD59-A6C34878D82A}">
                    <a16:rowId xmlns:a16="http://schemas.microsoft.com/office/drawing/2014/main" val="10002"/>
                  </a:ext>
                </a:extLst>
              </a:tr>
              <a:tr h="228600">
                <a:tc>
                  <a:txBody>
                    <a:bodyPr/>
                    <a:lstStyle/>
                    <a:p>
                      <a:pPr marL="0" marR="0" lvl="0" indent="0" algn="ctr" rtl="0">
                        <a:spcBef>
                          <a:spcPts val="0"/>
                        </a:spcBef>
                        <a:spcAft>
                          <a:spcPts val="0"/>
                        </a:spcAft>
                        <a:buNone/>
                      </a:pPr>
                      <a:r>
                        <a:rPr lang="es-ES" sz="1800" u="none" strike="noStrike" cap="none">
                          <a:solidFill>
                            <a:srgbClr val="595959"/>
                          </a:solidFill>
                          <a:latin typeface="Arial"/>
                          <a:ea typeface="Arial"/>
                          <a:cs typeface="Arial"/>
                          <a:sym typeface="Arial"/>
                        </a:rPr>
                        <a:t>2017</a:t>
                      </a:r>
                      <a:endParaRPr sz="1800" b="1" u="none" strike="noStrike" cap="none">
                        <a:solidFill>
                          <a:srgbClr val="595959"/>
                        </a:solidFill>
                        <a:latin typeface="Arial"/>
                        <a:ea typeface="Arial"/>
                        <a:cs typeface="Arial"/>
                        <a:sym typeface="Arial"/>
                      </a:endParaRPr>
                    </a:p>
                  </a:txBody>
                  <a:tcPr marL="123825" marR="123825" marT="57150" marB="571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tcPr>
                </a:tc>
                <a:tc>
                  <a:txBody>
                    <a:bodyPr/>
                    <a:lstStyle/>
                    <a:p>
                      <a:pPr marL="0" marR="0" lvl="0" indent="0" algn="ctr" rtl="0">
                        <a:spcBef>
                          <a:spcPts val="0"/>
                        </a:spcBef>
                        <a:spcAft>
                          <a:spcPts val="0"/>
                        </a:spcAft>
                        <a:buNone/>
                      </a:pPr>
                      <a:r>
                        <a:rPr lang="es-ES" sz="1800" u="none" strike="noStrike" cap="none">
                          <a:solidFill>
                            <a:srgbClr val="595959"/>
                          </a:solidFill>
                          <a:latin typeface="Arial"/>
                          <a:ea typeface="Arial"/>
                          <a:cs typeface="Arial"/>
                          <a:sym typeface="Arial"/>
                        </a:rPr>
                        <a:t>2,473</a:t>
                      </a:r>
                      <a:endParaRPr/>
                    </a:p>
                  </a:txBody>
                  <a:tcPr marL="123825" marR="123825" marT="57150" marB="57150" anchor="ctr">
                    <a:lnL w="12700" cap="flat" cmpd="sng">
                      <a:solidFill>
                        <a:schemeClr val="dk1"/>
                      </a:solidFill>
                      <a:prstDash val="solid"/>
                      <a:round/>
                      <a:headEnd type="none" w="sm" len="sm"/>
                      <a:tailEnd type="none" w="sm" len="sm"/>
                    </a:lnL>
                  </a:tcPr>
                </a:tc>
                <a:tc>
                  <a:txBody>
                    <a:bodyPr/>
                    <a:lstStyle/>
                    <a:p>
                      <a:pPr marL="0" marR="0" lvl="0" indent="0" algn="ctr" rtl="0">
                        <a:spcBef>
                          <a:spcPts val="0"/>
                        </a:spcBef>
                        <a:spcAft>
                          <a:spcPts val="0"/>
                        </a:spcAft>
                        <a:buNone/>
                      </a:pPr>
                      <a:r>
                        <a:rPr lang="es-ES" sz="1800" u="none" strike="noStrike" cap="none">
                          <a:solidFill>
                            <a:srgbClr val="595959"/>
                          </a:solidFill>
                          <a:latin typeface="Arial"/>
                          <a:ea typeface="Arial"/>
                          <a:cs typeface="Arial"/>
                          <a:sym typeface="Arial"/>
                        </a:rPr>
                        <a:t>15.5%</a:t>
                      </a:r>
                      <a:endParaRPr/>
                    </a:p>
                  </a:txBody>
                  <a:tcPr marL="123825" marR="123825" marT="57150" marB="57150" anchor="ctr">
                    <a:lnR w="12700" cap="flat" cmpd="sng">
                      <a:solidFill>
                        <a:schemeClr val="dk1"/>
                      </a:solidFill>
                      <a:prstDash val="solid"/>
                      <a:round/>
                      <a:headEnd type="none" w="sm" len="sm"/>
                      <a:tailEnd type="none" w="sm" len="sm"/>
                    </a:lnR>
                  </a:tcPr>
                </a:tc>
                <a:tc>
                  <a:txBody>
                    <a:bodyPr/>
                    <a:lstStyle/>
                    <a:p>
                      <a:pPr marL="0" marR="0" lvl="0" indent="0" algn="ctr" rtl="0">
                        <a:spcBef>
                          <a:spcPts val="0"/>
                        </a:spcBef>
                        <a:spcAft>
                          <a:spcPts val="0"/>
                        </a:spcAft>
                        <a:buNone/>
                      </a:pPr>
                      <a:endParaRPr sz="1800" u="none" strike="noStrike" cap="none">
                        <a:solidFill>
                          <a:srgbClr val="595959"/>
                        </a:solidFill>
                        <a:latin typeface="Arial"/>
                        <a:ea typeface="Arial"/>
                        <a:cs typeface="Arial"/>
                        <a:sym typeface="Arial"/>
                      </a:endParaRPr>
                    </a:p>
                  </a:txBody>
                  <a:tcPr marL="123825" marR="123825" marT="57150" marB="57150" anchor="ctr">
                    <a:lnL w="12700" cap="flat" cmpd="sng">
                      <a:solidFill>
                        <a:schemeClr val="dk1"/>
                      </a:solidFill>
                      <a:prstDash val="solid"/>
                      <a:round/>
                      <a:headEnd type="none" w="sm" len="sm"/>
                      <a:tailEnd type="none" w="sm" len="sm"/>
                    </a:lnL>
                  </a:tcPr>
                </a:tc>
                <a:tc>
                  <a:txBody>
                    <a:bodyPr/>
                    <a:lstStyle/>
                    <a:p>
                      <a:pPr marL="0" marR="0" lvl="0" indent="0" algn="ctr" rtl="0">
                        <a:spcBef>
                          <a:spcPts val="0"/>
                        </a:spcBef>
                        <a:spcAft>
                          <a:spcPts val="0"/>
                        </a:spcAft>
                        <a:buNone/>
                      </a:pPr>
                      <a:endParaRPr sz="1800" u="none" strike="noStrike" cap="none">
                        <a:solidFill>
                          <a:srgbClr val="595959"/>
                        </a:solidFill>
                        <a:latin typeface="Arial"/>
                        <a:ea typeface="Arial"/>
                        <a:cs typeface="Arial"/>
                        <a:sym typeface="Arial"/>
                      </a:endParaRPr>
                    </a:p>
                  </a:txBody>
                  <a:tcPr marL="123825" marR="123825" marT="57150" marB="57150" anchor="ctr">
                    <a:lnR w="12700" cap="flat" cmpd="sng">
                      <a:solidFill>
                        <a:schemeClr val="dk1"/>
                      </a:solidFill>
                      <a:prstDash val="solid"/>
                      <a:round/>
                      <a:headEnd type="none" w="sm" len="sm"/>
                      <a:tailEnd type="none" w="sm" len="sm"/>
                    </a:lnR>
                  </a:tcPr>
                </a:tc>
                <a:extLst>
                  <a:ext uri="{0D108BD9-81ED-4DB2-BD59-A6C34878D82A}">
                    <a16:rowId xmlns:a16="http://schemas.microsoft.com/office/drawing/2014/main" val="10003"/>
                  </a:ext>
                </a:extLst>
              </a:tr>
              <a:tr h="228600">
                <a:tc>
                  <a:txBody>
                    <a:bodyPr/>
                    <a:lstStyle/>
                    <a:p>
                      <a:pPr marL="0" marR="0" lvl="0" indent="0" algn="ctr" rtl="0">
                        <a:spcBef>
                          <a:spcPts val="0"/>
                        </a:spcBef>
                        <a:spcAft>
                          <a:spcPts val="0"/>
                        </a:spcAft>
                        <a:buNone/>
                      </a:pPr>
                      <a:r>
                        <a:rPr lang="es-ES" sz="1800" u="none" strike="noStrike" cap="none">
                          <a:solidFill>
                            <a:srgbClr val="595959"/>
                          </a:solidFill>
                          <a:latin typeface="Arial"/>
                          <a:ea typeface="Arial"/>
                          <a:cs typeface="Arial"/>
                          <a:sym typeface="Arial"/>
                        </a:rPr>
                        <a:t>2018</a:t>
                      </a:r>
                      <a:endParaRPr sz="1800" b="1" u="none" strike="noStrike" cap="none">
                        <a:solidFill>
                          <a:srgbClr val="595959"/>
                        </a:solidFill>
                        <a:latin typeface="Arial"/>
                        <a:ea typeface="Arial"/>
                        <a:cs typeface="Arial"/>
                        <a:sym typeface="Arial"/>
                      </a:endParaRPr>
                    </a:p>
                  </a:txBody>
                  <a:tcPr marL="123825" marR="123825" marT="57150" marB="571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tcPr>
                </a:tc>
                <a:tc>
                  <a:txBody>
                    <a:bodyPr/>
                    <a:lstStyle/>
                    <a:p>
                      <a:pPr marL="0" marR="0" lvl="0" indent="0" algn="ctr" rtl="0">
                        <a:spcBef>
                          <a:spcPts val="0"/>
                        </a:spcBef>
                        <a:spcAft>
                          <a:spcPts val="0"/>
                        </a:spcAft>
                        <a:buNone/>
                      </a:pPr>
                      <a:r>
                        <a:rPr lang="es-ES" sz="1800" u="none" strike="noStrike" cap="none">
                          <a:solidFill>
                            <a:srgbClr val="595959"/>
                          </a:solidFill>
                          <a:latin typeface="Arial"/>
                          <a:ea typeface="Arial"/>
                          <a:cs typeface="Arial"/>
                          <a:sym typeface="Arial"/>
                        </a:rPr>
                        <a:t>2,229</a:t>
                      </a:r>
                      <a:endParaRPr/>
                    </a:p>
                  </a:txBody>
                  <a:tcPr marL="123825" marR="123825" marT="57150" marB="57150" anchor="ctr">
                    <a:lnL w="12700" cap="flat" cmpd="sng">
                      <a:solidFill>
                        <a:schemeClr val="dk1"/>
                      </a:solidFill>
                      <a:prstDash val="solid"/>
                      <a:round/>
                      <a:headEnd type="none" w="sm" len="sm"/>
                      <a:tailEnd type="none" w="sm" len="sm"/>
                    </a:lnL>
                  </a:tcPr>
                </a:tc>
                <a:tc>
                  <a:txBody>
                    <a:bodyPr/>
                    <a:lstStyle/>
                    <a:p>
                      <a:pPr marL="0" marR="0" lvl="0" indent="0" algn="ctr" rtl="0">
                        <a:spcBef>
                          <a:spcPts val="0"/>
                        </a:spcBef>
                        <a:spcAft>
                          <a:spcPts val="0"/>
                        </a:spcAft>
                        <a:buNone/>
                      </a:pPr>
                      <a:r>
                        <a:rPr lang="es-ES" sz="1800" u="none" strike="noStrike" cap="none">
                          <a:solidFill>
                            <a:srgbClr val="595959"/>
                          </a:solidFill>
                          <a:latin typeface="Arial"/>
                          <a:ea typeface="Arial"/>
                          <a:cs typeface="Arial"/>
                          <a:sym typeface="Arial"/>
                        </a:rPr>
                        <a:t>9.9%</a:t>
                      </a:r>
                      <a:endParaRPr/>
                    </a:p>
                  </a:txBody>
                  <a:tcPr marL="123825" marR="123825" marT="57150" marB="57150" anchor="ctr">
                    <a:lnR w="12700" cap="flat" cmpd="sng">
                      <a:solidFill>
                        <a:schemeClr val="dk1"/>
                      </a:solidFill>
                      <a:prstDash val="solid"/>
                      <a:round/>
                      <a:headEnd type="none" w="sm" len="sm"/>
                      <a:tailEnd type="none" w="sm" len="sm"/>
                    </a:lnR>
                  </a:tcPr>
                </a:tc>
                <a:tc>
                  <a:txBody>
                    <a:bodyPr/>
                    <a:lstStyle/>
                    <a:p>
                      <a:pPr marL="0" marR="0" lvl="0" indent="0" algn="ctr" rtl="0">
                        <a:spcBef>
                          <a:spcPts val="0"/>
                        </a:spcBef>
                        <a:spcAft>
                          <a:spcPts val="0"/>
                        </a:spcAft>
                        <a:buNone/>
                      </a:pPr>
                      <a:r>
                        <a:rPr lang="es-ES" sz="1800" u="none" strike="noStrike" cap="none">
                          <a:solidFill>
                            <a:srgbClr val="595959"/>
                          </a:solidFill>
                          <a:latin typeface="Arial"/>
                          <a:ea typeface="Arial"/>
                          <a:cs typeface="Arial"/>
                          <a:sym typeface="Arial"/>
                        </a:rPr>
                        <a:t>1,519</a:t>
                      </a:r>
                      <a:endParaRPr/>
                    </a:p>
                  </a:txBody>
                  <a:tcPr marL="123825" marR="123825" marT="57150" marB="57150" anchor="ctr">
                    <a:lnL w="12700" cap="flat" cmpd="sng">
                      <a:solidFill>
                        <a:schemeClr val="dk1"/>
                      </a:solidFill>
                      <a:prstDash val="solid"/>
                      <a:round/>
                      <a:headEnd type="none" w="sm" len="sm"/>
                      <a:tailEnd type="none" w="sm" len="sm"/>
                    </a:lnL>
                  </a:tcPr>
                </a:tc>
                <a:tc>
                  <a:txBody>
                    <a:bodyPr/>
                    <a:lstStyle/>
                    <a:p>
                      <a:pPr marL="0" marR="0" lvl="0" indent="0" algn="ctr" rtl="0">
                        <a:spcBef>
                          <a:spcPts val="0"/>
                        </a:spcBef>
                        <a:spcAft>
                          <a:spcPts val="0"/>
                        </a:spcAft>
                        <a:buNone/>
                      </a:pPr>
                      <a:endParaRPr sz="1800" u="none" strike="noStrike" cap="none">
                        <a:solidFill>
                          <a:srgbClr val="595959"/>
                        </a:solidFill>
                        <a:latin typeface="Arial"/>
                        <a:ea typeface="Arial"/>
                        <a:cs typeface="Arial"/>
                        <a:sym typeface="Arial"/>
                      </a:endParaRPr>
                    </a:p>
                  </a:txBody>
                  <a:tcPr marL="123825" marR="123825" marT="57150" marB="57150" anchor="ctr">
                    <a:lnR w="12700" cap="flat" cmpd="sng">
                      <a:solidFill>
                        <a:schemeClr val="dk1"/>
                      </a:solidFill>
                      <a:prstDash val="solid"/>
                      <a:round/>
                      <a:headEnd type="none" w="sm" len="sm"/>
                      <a:tailEnd type="none" w="sm" len="sm"/>
                    </a:lnR>
                  </a:tcPr>
                </a:tc>
                <a:extLst>
                  <a:ext uri="{0D108BD9-81ED-4DB2-BD59-A6C34878D82A}">
                    <a16:rowId xmlns:a16="http://schemas.microsoft.com/office/drawing/2014/main" val="10004"/>
                  </a:ext>
                </a:extLst>
              </a:tr>
              <a:tr h="228600">
                <a:tc>
                  <a:txBody>
                    <a:bodyPr/>
                    <a:lstStyle/>
                    <a:p>
                      <a:pPr marL="0" marR="0" lvl="0" indent="0" algn="ctr" rtl="0">
                        <a:spcBef>
                          <a:spcPts val="0"/>
                        </a:spcBef>
                        <a:spcAft>
                          <a:spcPts val="0"/>
                        </a:spcAft>
                        <a:buNone/>
                      </a:pPr>
                      <a:r>
                        <a:rPr lang="es-ES" sz="1800" u="none" strike="noStrike" cap="none">
                          <a:solidFill>
                            <a:srgbClr val="595959"/>
                          </a:solidFill>
                          <a:latin typeface="Arial"/>
                          <a:ea typeface="Arial"/>
                          <a:cs typeface="Arial"/>
                          <a:sym typeface="Arial"/>
                        </a:rPr>
                        <a:t>2019</a:t>
                      </a:r>
                      <a:endParaRPr sz="1800" b="1" u="none" strike="noStrike" cap="none">
                        <a:solidFill>
                          <a:srgbClr val="595959"/>
                        </a:solidFill>
                        <a:latin typeface="Arial"/>
                        <a:ea typeface="Arial"/>
                        <a:cs typeface="Arial"/>
                        <a:sym typeface="Arial"/>
                      </a:endParaRPr>
                    </a:p>
                  </a:txBody>
                  <a:tcPr marL="123825" marR="123825" marT="57150" marB="571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tcPr>
                </a:tc>
                <a:tc>
                  <a:txBody>
                    <a:bodyPr/>
                    <a:lstStyle/>
                    <a:p>
                      <a:pPr marL="0" marR="0" lvl="0" indent="0" algn="ctr" rtl="0">
                        <a:spcBef>
                          <a:spcPts val="0"/>
                        </a:spcBef>
                        <a:spcAft>
                          <a:spcPts val="0"/>
                        </a:spcAft>
                        <a:buNone/>
                      </a:pPr>
                      <a:r>
                        <a:rPr lang="es-ES" sz="1800" u="none" strike="noStrike" cap="none">
                          <a:solidFill>
                            <a:srgbClr val="595959"/>
                          </a:solidFill>
                          <a:latin typeface="Arial"/>
                          <a:ea typeface="Arial"/>
                          <a:cs typeface="Arial"/>
                          <a:sym typeface="Arial"/>
                        </a:rPr>
                        <a:t>2,153</a:t>
                      </a:r>
                      <a:endParaRPr/>
                    </a:p>
                  </a:txBody>
                  <a:tcPr marL="123825" marR="123825" marT="57150" marB="57150" anchor="ctr">
                    <a:lnL w="12700" cap="flat" cmpd="sng">
                      <a:solidFill>
                        <a:schemeClr val="dk1"/>
                      </a:solidFill>
                      <a:prstDash val="solid"/>
                      <a:round/>
                      <a:headEnd type="none" w="sm" len="sm"/>
                      <a:tailEnd type="none" w="sm" len="sm"/>
                    </a:lnL>
                  </a:tcPr>
                </a:tc>
                <a:tc>
                  <a:txBody>
                    <a:bodyPr/>
                    <a:lstStyle/>
                    <a:p>
                      <a:pPr marL="0" marR="0" lvl="0" indent="0" algn="ctr" rtl="0">
                        <a:spcBef>
                          <a:spcPts val="0"/>
                        </a:spcBef>
                        <a:spcAft>
                          <a:spcPts val="0"/>
                        </a:spcAft>
                        <a:buNone/>
                      </a:pPr>
                      <a:r>
                        <a:rPr lang="es-ES" sz="1800" u="none" strike="noStrike" cap="none">
                          <a:solidFill>
                            <a:srgbClr val="595959"/>
                          </a:solidFill>
                          <a:latin typeface="Arial"/>
                          <a:ea typeface="Arial"/>
                          <a:cs typeface="Arial"/>
                          <a:sym typeface="Arial"/>
                        </a:rPr>
                        <a:t>3.4%</a:t>
                      </a:r>
                      <a:endParaRPr/>
                    </a:p>
                  </a:txBody>
                  <a:tcPr marL="123825" marR="123825" marT="57150" marB="57150" anchor="ctr">
                    <a:lnR w="12700" cap="flat" cmpd="sng">
                      <a:solidFill>
                        <a:schemeClr val="dk1"/>
                      </a:solidFill>
                      <a:prstDash val="solid"/>
                      <a:round/>
                      <a:headEnd type="none" w="sm" len="sm"/>
                      <a:tailEnd type="none" w="sm" len="sm"/>
                    </a:lnR>
                  </a:tcPr>
                </a:tc>
                <a:tc>
                  <a:txBody>
                    <a:bodyPr/>
                    <a:lstStyle/>
                    <a:p>
                      <a:pPr marL="0" marR="0" lvl="0" indent="0" algn="ctr" rtl="0">
                        <a:spcBef>
                          <a:spcPts val="0"/>
                        </a:spcBef>
                        <a:spcAft>
                          <a:spcPts val="0"/>
                        </a:spcAft>
                        <a:buNone/>
                      </a:pPr>
                      <a:r>
                        <a:rPr lang="es-ES" sz="1800" u="none" strike="noStrike" cap="none">
                          <a:solidFill>
                            <a:srgbClr val="595959"/>
                          </a:solidFill>
                          <a:latin typeface="Arial"/>
                          <a:ea typeface="Arial"/>
                          <a:cs typeface="Arial"/>
                          <a:sym typeface="Arial"/>
                        </a:rPr>
                        <a:t>1,264</a:t>
                      </a:r>
                      <a:endParaRPr/>
                    </a:p>
                  </a:txBody>
                  <a:tcPr marL="123825" marR="123825" marT="57150" marB="57150" anchor="ctr">
                    <a:lnL w="12700" cap="flat" cmpd="sng">
                      <a:solidFill>
                        <a:schemeClr val="dk1"/>
                      </a:solidFill>
                      <a:prstDash val="solid"/>
                      <a:round/>
                      <a:headEnd type="none" w="sm" len="sm"/>
                      <a:tailEnd type="none" w="sm" len="sm"/>
                    </a:lnL>
                  </a:tcPr>
                </a:tc>
                <a:tc>
                  <a:txBody>
                    <a:bodyPr/>
                    <a:lstStyle/>
                    <a:p>
                      <a:pPr marL="0" marR="0" lvl="0" indent="0" algn="ctr" rtl="0">
                        <a:spcBef>
                          <a:spcPts val="0"/>
                        </a:spcBef>
                        <a:spcAft>
                          <a:spcPts val="0"/>
                        </a:spcAft>
                        <a:buNone/>
                      </a:pPr>
                      <a:r>
                        <a:rPr lang="es-ES" sz="1800" u="none" strike="noStrike" cap="none">
                          <a:solidFill>
                            <a:srgbClr val="595959"/>
                          </a:solidFill>
                          <a:latin typeface="Arial"/>
                          <a:ea typeface="Arial"/>
                          <a:cs typeface="Arial"/>
                          <a:sym typeface="Arial"/>
                        </a:rPr>
                        <a:t>16.8%</a:t>
                      </a:r>
                      <a:endParaRPr/>
                    </a:p>
                  </a:txBody>
                  <a:tcPr marL="123825" marR="123825" marT="57150" marB="57150" anchor="ctr">
                    <a:lnR w="12700" cap="flat" cmpd="sng">
                      <a:solidFill>
                        <a:schemeClr val="dk1"/>
                      </a:solidFill>
                      <a:prstDash val="solid"/>
                      <a:round/>
                      <a:headEnd type="none" w="sm" len="sm"/>
                      <a:tailEnd type="none" w="sm" len="sm"/>
                    </a:lnR>
                  </a:tcPr>
                </a:tc>
                <a:extLst>
                  <a:ext uri="{0D108BD9-81ED-4DB2-BD59-A6C34878D82A}">
                    <a16:rowId xmlns:a16="http://schemas.microsoft.com/office/drawing/2014/main" val="10005"/>
                  </a:ext>
                </a:extLst>
              </a:tr>
              <a:tr h="228600">
                <a:tc>
                  <a:txBody>
                    <a:bodyPr/>
                    <a:lstStyle/>
                    <a:p>
                      <a:pPr marL="0" marR="0" lvl="0" indent="0" algn="ctr" rtl="0">
                        <a:spcBef>
                          <a:spcPts val="0"/>
                        </a:spcBef>
                        <a:spcAft>
                          <a:spcPts val="0"/>
                        </a:spcAft>
                        <a:buNone/>
                      </a:pPr>
                      <a:r>
                        <a:rPr lang="es-ES" sz="1800" u="none" strike="noStrike" cap="none" dirty="0">
                          <a:solidFill>
                            <a:srgbClr val="595959"/>
                          </a:solidFill>
                          <a:latin typeface="Arial"/>
                          <a:ea typeface="Arial"/>
                          <a:cs typeface="Arial"/>
                          <a:sym typeface="Arial"/>
                        </a:rPr>
                        <a:t>2021</a:t>
                      </a:r>
                      <a:endParaRPr sz="1800" b="1" u="none" strike="noStrike" cap="none" dirty="0">
                        <a:solidFill>
                          <a:srgbClr val="595959"/>
                        </a:solidFill>
                        <a:latin typeface="Arial"/>
                        <a:ea typeface="Arial"/>
                        <a:cs typeface="Arial"/>
                        <a:sym typeface="Arial"/>
                      </a:endParaRPr>
                    </a:p>
                  </a:txBody>
                  <a:tcPr marL="123825" marR="123825" marT="57150" marB="571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tcPr>
                </a:tc>
                <a:tc>
                  <a:txBody>
                    <a:bodyPr/>
                    <a:lstStyle/>
                    <a:p>
                      <a:pPr marL="0" marR="0" lvl="0" indent="0" algn="ctr" rtl="0">
                        <a:spcBef>
                          <a:spcPts val="0"/>
                        </a:spcBef>
                        <a:spcAft>
                          <a:spcPts val="0"/>
                        </a:spcAft>
                        <a:buNone/>
                      </a:pPr>
                      <a:r>
                        <a:rPr lang="es-ES" sz="1800" u="none" strike="noStrike" cap="none">
                          <a:solidFill>
                            <a:srgbClr val="595959"/>
                          </a:solidFill>
                          <a:latin typeface="Arial"/>
                          <a:ea typeface="Arial"/>
                          <a:cs typeface="Arial"/>
                          <a:sym typeface="Arial"/>
                        </a:rPr>
                        <a:t>1,739</a:t>
                      </a:r>
                      <a:endParaRPr/>
                    </a:p>
                  </a:txBody>
                  <a:tcPr marL="123825" marR="123825" marT="57150" marB="57150" anchor="ctr">
                    <a:lnL w="12700" cap="flat" cmpd="sng">
                      <a:solidFill>
                        <a:schemeClr val="dk1"/>
                      </a:solidFill>
                      <a:prstDash val="solid"/>
                      <a:round/>
                      <a:headEnd type="none" w="sm" len="sm"/>
                      <a:tailEnd type="none" w="sm" len="sm"/>
                    </a:lnL>
                  </a:tcPr>
                </a:tc>
                <a:tc>
                  <a:txBody>
                    <a:bodyPr/>
                    <a:lstStyle/>
                    <a:p>
                      <a:pPr marL="0" marR="0" lvl="0" indent="0" algn="ctr" rtl="0">
                        <a:spcBef>
                          <a:spcPts val="0"/>
                        </a:spcBef>
                        <a:spcAft>
                          <a:spcPts val="0"/>
                        </a:spcAft>
                        <a:buNone/>
                      </a:pPr>
                      <a:r>
                        <a:rPr lang="es-ES" sz="1800" u="none" strike="noStrike" cap="none" dirty="0">
                          <a:solidFill>
                            <a:srgbClr val="595959"/>
                          </a:solidFill>
                          <a:latin typeface="Arial"/>
                          <a:ea typeface="Arial"/>
                          <a:cs typeface="Arial"/>
                          <a:sym typeface="Arial"/>
                        </a:rPr>
                        <a:t>19.2%</a:t>
                      </a:r>
                      <a:endParaRPr dirty="0"/>
                    </a:p>
                  </a:txBody>
                  <a:tcPr marL="123825" marR="123825" marT="57150" marB="57150" anchor="ctr">
                    <a:lnR w="12700" cap="flat" cmpd="sng">
                      <a:solidFill>
                        <a:schemeClr val="dk1"/>
                      </a:solidFill>
                      <a:prstDash val="solid"/>
                      <a:round/>
                      <a:headEnd type="none" w="sm" len="sm"/>
                      <a:tailEnd type="none" w="sm" len="sm"/>
                    </a:lnR>
                  </a:tcPr>
                </a:tc>
                <a:tc>
                  <a:txBody>
                    <a:bodyPr/>
                    <a:lstStyle/>
                    <a:p>
                      <a:pPr marL="0" marR="0" lvl="0" indent="0" algn="ctr" rtl="0">
                        <a:spcBef>
                          <a:spcPts val="0"/>
                        </a:spcBef>
                        <a:spcAft>
                          <a:spcPts val="0"/>
                        </a:spcAft>
                        <a:buNone/>
                      </a:pPr>
                      <a:r>
                        <a:rPr lang="es-ES" sz="1800" u="none" strike="noStrike" cap="none" dirty="0">
                          <a:solidFill>
                            <a:srgbClr val="595959"/>
                          </a:solidFill>
                          <a:latin typeface="Arial"/>
                          <a:ea typeface="Arial"/>
                          <a:cs typeface="Arial"/>
                          <a:sym typeface="Arial"/>
                        </a:rPr>
                        <a:t>1,001</a:t>
                      </a:r>
                      <a:endParaRPr dirty="0"/>
                    </a:p>
                  </a:txBody>
                  <a:tcPr marL="123825" marR="123825" marT="57150" marB="57150" anchor="ctr">
                    <a:lnL w="12700" cap="flat" cmpd="sng">
                      <a:solidFill>
                        <a:schemeClr val="dk1"/>
                      </a:solidFill>
                      <a:prstDash val="solid"/>
                      <a:round/>
                      <a:headEnd type="none" w="sm" len="sm"/>
                      <a:tailEnd type="none" w="sm" len="sm"/>
                    </a:lnL>
                  </a:tcPr>
                </a:tc>
                <a:tc>
                  <a:txBody>
                    <a:bodyPr/>
                    <a:lstStyle/>
                    <a:p>
                      <a:pPr marL="0" marR="0" lvl="0" indent="0" algn="ctr" rtl="0">
                        <a:spcBef>
                          <a:spcPts val="0"/>
                        </a:spcBef>
                        <a:spcAft>
                          <a:spcPts val="0"/>
                        </a:spcAft>
                        <a:buNone/>
                      </a:pPr>
                      <a:r>
                        <a:rPr lang="es-ES" sz="1800" u="none" strike="noStrike" cap="none" dirty="0">
                          <a:solidFill>
                            <a:srgbClr val="595959"/>
                          </a:solidFill>
                          <a:latin typeface="Arial"/>
                          <a:ea typeface="Arial"/>
                          <a:cs typeface="Arial"/>
                          <a:sym typeface="Arial"/>
                        </a:rPr>
                        <a:t>20.8%</a:t>
                      </a:r>
                      <a:endParaRPr dirty="0"/>
                    </a:p>
                  </a:txBody>
                  <a:tcPr marL="123825" marR="123825" marT="57150" marB="57150" anchor="ctr">
                    <a:lnR w="12700" cap="flat" cmpd="sng">
                      <a:solidFill>
                        <a:schemeClr val="dk1"/>
                      </a:solidFill>
                      <a:prstDash val="solid"/>
                      <a:round/>
                      <a:headEnd type="none" w="sm" len="sm"/>
                      <a:tailEnd type="none" w="sm" len="sm"/>
                    </a:lnR>
                  </a:tcPr>
                </a:tc>
                <a:extLst>
                  <a:ext uri="{0D108BD9-81ED-4DB2-BD59-A6C34878D82A}">
                    <a16:rowId xmlns:a16="http://schemas.microsoft.com/office/drawing/2014/main" val="10006"/>
                  </a:ext>
                </a:extLst>
              </a:tr>
              <a:tr h="228600">
                <a:tc>
                  <a:txBody>
                    <a:bodyPr/>
                    <a:lstStyle/>
                    <a:p>
                      <a:pPr marL="0" marR="0" lvl="0" indent="0" algn="ctr" rtl="0">
                        <a:spcBef>
                          <a:spcPts val="0"/>
                        </a:spcBef>
                        <a:spcAft>
                          <a:spcPts val="0"/>
                        </a:spcAft>
                        <a:buNone/>
                      </a:pPr>
                      <a:r>
                        <a:rPr lang="es-ES" sz="1800" b="0" u="none" strike="noStrike" cap="none">
                          <a:solidFill>
                            <a:srgbClr val="595959"/>
                          </a:solidFill>
                          <a:latin typeface="Arial"/>
                          <a:ea typeface="Arial"/>
                          <a:cs typeface="Arial"/>
                          <a:sym typeface="Arial"/>
                        </a:rPr>
                        <a:t>2022</a:t>
                      </a:r>
                      <a:endParaRPr/>
                    </a:p>
                  </a:txBody>
                  <a:tcPr marL="123825" marR="123825" marT="57150" marB="571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tcPr>
                </a:tc>
                <a:tc>
                  <a:txBody>
                    <a:bodyPr/>
                    <a:lstStyle/>
                    <a:p>
                      <a:pPr marL="0" marR="0" lvl="0" indent="0" algn="ctr" rtl="0">
                        <a:spcBef>
                          <a:spcPts val="0"/>
                        </a:spcBef>
                        <a:spcAft>
                          <a:spcPts val="0"/>
                        </a:spcAft>
                        <a:buNone/>
                      </a:pPr>
                      <a:r>
                        <a:rPr lang="es-ES" sz="1800" u="none" strike="noStrike" cap="none">
                          <a:solidFill>
                            <a:srgbClr val="595959"/>
                          </a:solidFill>
                          <a:latin typeface="Arial"/>
                          <a:ea typeface="Arial"/>
                          <a:cs typeface="Arial"/>
                          <a:sym typeface="Arial"/>
                        </a:rPr>
                        <a:t>1,728</a:t>
                      </a:r>
                      <a:endParaRPr/>
                    </a:p>
                  </a:txBody>
                  <a:tcPr marL="123825" marR="123825" marT="57150" marB="57150" anchor="ctr">
                    <a:lnL w="12700" cap="flat" cmpd="sng">
                      <a:solidFill>
                        <a:schemeClr val="dk1"/>
                      </a:solidFill>
                      <a:prstDash val="solid"/>
                      <a:round/>
                      <a:headEnd type="none" w="sm" len="sm"/>
                      <a:tailEnd type="none" w="sm" len="sm"/>
                    </a:lnL>
                  </a:tcPr>
                </a:tc>
                <a:tc>
                  <a:txBody>
                    <a:bodyPr/>
                    <a:lstStyle/>
                    <a:p>
                      <a:pPr marL="0" marR="0" lvl="0" indent="0" algn="ctr" rtl="0">
                        <a:spcBef>
                          <a:spcPts val="0"/>
                        </a:spcBef>
                        <a:spcAft>
                          <a:spcPts val="0"/>
                        </a:spcAft>
                        <a:buNone/>
                      </a:pPr>
                      <a:r>
                        <a:rPr lang="es-ES" sz="1800" u="none" strike="noStrike" cap="none">
                          <a:solidFill>
                            <a:srgbClr val="595959"/>
                          </a:solidFill>
                          <a:latin typeface="Arial"/>
                          <a:ea typeface="Arial"/>
                          <a:cs typeface="Arial"/>
                          <a:sym typeface="Arial"/>
                        </a:rPr>
                        <a:t>0.6%</a:t>
                      </a:r>
                      <a:endParaRPr/>
                    </a:p>
                  </a:txBody>
                  <a:tcPr marL="123825" marR="123825" marT="57150" marB="57150" anchor="ctr">
                    <a:lnR w="12700" cap="flat" cmpd="sng">
                      <a:solidFill>
                        <a:schemeClr val="dk1"/>
                      </a:solidFill>
                      <a:prstDash val="solid"/>
                      <a:round/>
                      <a:headEnd type="none" w="sm" len="sm"/>
                      <a:tailEnd type="none" w="sm" len="sm"/>
                    </a:lnR>
                  </a:tcPr>
                </a:tc>
                <a:tc>
                  <a:txBody>
                    <a:bodyPr/>
                    <a:lstStyle/>
                    <a:p>
                      <a:pPr marL="0" marR="0" lvl="0" indent="0" algn="ctr" rtl="0">
                        <a:spcBef>
                          <a:spcPts val="0"/>
                        </a:spcBef>
                        <a:spcAft>
                          <a:spcPts val="0"/>
                        </a:spcAft>
                        <a:buNone/>
                      </a:pPr>
                      <a:r>
                        <a:rPr lang="es-ES" sz="1800" u="none" strike="noStrike" cap="none">
                          <a:solidFill>
                            <a:srgbClr val="595959"/>
                          </a:solidFill>
                          <a:latin typeface="Arial"/>
                          <a:ea typeface="Arial"/>
                          <a:cs typeface="Arial"/>
                          <a:sym typeface="Arial"/>
                        </a:rPr>
                        <a:t>1,002</a:t>
                      </a:r>
                      <a:endParaRPr/>
                    </a:p>
                  </a:txBody>
                  <a:tcPr marL="123825" marR="123825" marT="57150" marB="57150" anchor="ctr">
                    <a:lnL w="12700" cap="flat" cmpd="sng">
                      <a:solidFill>
                        <a:schemeClr val="dk1"/>
                      </a:solidFill>
                      <a:prstDash val="solid"/>
                      <a:round/>
                      <a:headEnd type="none" w="sm" len="sm"/>
                      <a:tailEnd type="none" w="sm" len="sm"/>
                    </a:lnL>
                  </a:tcPr>
                </a:tc>
                <a:tc>
                  <a:txBody>
                    <a:bodyPr/>
                    <a:lstStyle/>
                    <a:p>
                      <a:pPr marL="0" marR="0" lvl="0" indent="0" algn="ctr" rtl="0">
                        <a:spcBef>
                          <a:spcPts val="0"/>
                        </a:spcBef>
                        <a:spcAft>
                          <a:spcPts val="0"/>
                        </a:spcAft>
                        <a:buNone/>
                      </a:pPr>
                      <a:r>
                        <a:rPr lang="es-ES" sz="1800" u="none" strike="noStrike" cap="none">
                          <a:solidFill>
                            <a:srgbClr val="595959"/>
                          </a:solidFill>
                          <a:latin typeface="Arial"/>
                          <a:ea typeface="Arial"/>
                          <a:cs typeface="Arial"/>
                          <a:sym typeface="Arial"/>
                        </a:rPr>
                        <a:t>- 0.1%</a:t>
                      </a:r>
                      <a:endParaRPr/>
                    </a:p>
                  </a:txBody>
                  <a:tcPr marL="123825" marR="123825" marT="57150" marB="57150" anchor="ctr">
                    <a:lnR w="12700" cap="flat" cmpd="sng">
                      <a:solidFill>
                        <a:schemeClr val="dk1"/>
                      </a:solidFill>
                      <a:prstDash val="solid"/>
                      <a:round/>
                      <a:headEnd type="none" w="sm" len="sm"/>
                      <a:tailEnd type="none" w="sm" len="sm"/>
                    </a:lnR>
                  </a:tcPr>
                </a:tc>
                <a:extLst>
                  <a:ext uri="{0D108BD9-81ED-4DB2-BD59-A6C34878D82A}">
                    <a16:rowId xmlns:a16="http://schemas.microsoft.com/office/drawing/2014/main" val="10007"/>
                  </a:ext>
                </a:extLst>
              </a:tr>
              <a:tr h="228600">
                <a:tc>
                  <a:txBody>
                    <a:bodyPr/>
                    <a:lstStyle/>
                    <a:p>
                      <a:pPr marL="0" marR="0" lvl="0" indent="0" algn="ctr" rtl="0">
                        <a:spcBef>
                          <a:spcPts val="0"/>
                        </a:spcBef>
                        <a:spcAft>
                          <a:spcPts val="0"/>
                        </a:spcAft>
                        <a:buNone/>
                      </a:pPr>
                      <a:r>
                        <a:rPr lang="es-ES" sz="1800" b="0" u="none" strike="noStrike" cap="none">
                          <a:solidFill>
                            <a:srgbClr val="595959"/>
                          </a:solidFill>
                          <a:latin typeface="Arial"/>
                          <a:ea typeface="Arial"/>
                          <a:cs typeface="Arial"/>
                          <a:sym typeface="Arial"/>
                        </a:rPr>
                        <a:t>2023</a:t>
                      </a:r>
                      <a:endParaRPr/>
                    </a:p>
                  </a:txBody>
                  <a:tcPr marL="123825" marR="123825" marT="57150" marB="571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tcPr>
                </a:tc>
                <a:tc>
                  <a:txBody>
                    <a:bodyPr/>
                    <a:lstStyle/>
                    <a:p>
                      <a:pPr marL="0" marR="0" lvl="0" indent="0" algn="ctr" rtl="0">
                        <a:spcBef>
                          <a:spcPts val="0"/>
                        </a:spcBef>
                        <a:spcAft>
                          <a:spcPts val="0"/>
                        </a:spcAft>
                        <a:buNone/>
                      </a:pPr>
                      <a:r>
                        <a:rPr lang="es-ES" sz="1800" u="none" strike="noStrike" cap="none" dirty="0">
                          <a:solidFill>
                            <a:srgbClr val="595959"/>
                          </a:solidFill>
                          <a:latin typeface="Arial"/>
                          <a:ea typeface="Arial"/>
                          <a:cs typeface="Arial"/>
                          <a:sym typeface="Arial"/>
                        </a:rPr>
                        <a:t>1,737</a:t>
                      </a:r>
                      <a:endParaRPr dirty="0"/>
                    </a:p>
                  </a:txBody>
                  <a:tcPr marL="123825" marR="123825" marT="57150" marB="57150" anchor="ctr">
                    <a:lnL w="12700" cap="flat" cmpd="sng">
                      <a:solidFill>
                        <a:schemeClr val="dk1"/>
                      </a:solidFill>
                      <a:prstDash val="solid"/>
                      <a:round/>
                      <a:headEnd type="none" w="sm" len="sm"/>
                      <a:tailEnd type="none" w="sm" len="sm"/>
                    </a:lnL>
                  </a:tcPr>
                </a:tc>
                <a:tc>
                  <a:txBody>
                    <a:bodyPr/>
                    <a:lstStyle/>
                    <a:p>
                      <a:pPr marL="0" marR="0" lvl="0" indent="0" algn="ctr" rtl="0">
                        <a:spcBef>
                          <a:spcPts val="0"/>
                        </a:spcBef>
                        <a:spcAft>
                          <a:spcPts val="0"/>
                        </a:spcAft>
                        <a:buNone/>
                      </a:pPr>
                      <a:r>
                        <a:rPr lang="es-ES" sz="1800" u="none" strike="noStrike" cap="none">
                          <a:solidFill>
                            <a:srgbClr val="595959"/>
                          </a:solidFill>
                          <a:latin typeface="Arial"/>
                          <a:ea typeface="Arial"/>
                          <a:cs typeface="Arial"/>
                          <a:sym typeface="Arial"/>
                        </a:rPr>
                        <a:t>- 0.5%</a:t>
                      </a:r>
                      <a:endParaRPr/>
                    </a:p>
                  </a:txBody>
                  <a:tcPr marL="123825" marR="123825" marT="57150" marB="57150" anchor="ctr">
                    <a:lnR w="12700" cap="flat" cmpd="sng">
                      <a:solidFill>
                        <a:schemeClr val="dk1"/>
                      </a:solidFill>
                      <a:prstDash val="solid"/>
                      <a:round/>
                      <a:headEnd type="none" w="sm" len="sm"/>
                      <a:tailEnd type="none" w="sm" len="sm"/>
                    </a:lnR>
                  </a:tcPr>
                </a:tc>
                <a:tc>
                  <a:txBody>
                    <a:bodyPr/>
                    <a:lstStyle/>
                    <a:p>
                      <a:pPr marL="0" marR="0" lvl="0" indent="0" algn="ctr" rtl="0">
                        <a:spcBef>
                          <a:spcPts val="0"/>
                        </a:spcBef>
                        <a:spcAft>
                          <a:spcPts val="0"/>
                        </a:spcAft>
                        <a:buNone/>
                      </a:pPr>
                      <a:r>
                        <a:rPr lang="es-ES" sz="1800" u="none" strike="noStrike" cap="none">
                          <a:solidFill>
                            <a:srgbClr val="595959"/>
                          </a:solidFill>
                          <a:latin typeface="Arial"/>
                          <a:ea typeface="Arial"/>
                          <a:cs typeface="Arial"/>
                          <a:sym typeface="Arial"/>
                        </a:rPr>
                        <a:t>989</a:t>
                      </a:r>
                      <a:endParaRPr/>
                    </a:p>
                  </a:txBody>
                  <a:tcPr marL="123825" marR="123825" marT="57150" marB="57150" anchor="ctr">
                    <a:lnL w="12700" cap="flat" cmpd="sng">
                      <a:solidFill>
                        <a:schemeClr val="dk1"/>
                      </a:solidFill>
                      <a:prstDash val="solid"/>
                      <a:round/>
                      <a:headEnd type="none" w="sm" len="sm"/>
                      <a:tailEnd type="none" w="sm" len="sm"/>
                    </a:lnL>
                  </a:tcPr>
                </a:tc>
                <a:tc>
                  <a:txBody>
                    <a:bodyPr/>
                    <a:lstStyle/>
                    <a:p>
                      <a:pPr marL="0" marR="0" lvl="0" indent="0" algn="ctr" rtl="0">
                        <a:spcBef>
                          <a:spcPts val="0"/>
                        </a:spcBef>
                        <a:spcAft>
                          <a:spcPts val="0"/>
                        </a:spcAft>
                        <a:buNone/>
                      </a:pPr>
                      <a:r>
                        <a:rPr lang="es-ES" sz="1800" u="none" strike="noStrike" cap="none" dirty="0">
                          <a:solidFill>
                            <a:srgbClr val="595959"/>
                          </a:solidFill>
                          <a:latin typeface="Arial"/>
                          <a:ea typeface="Arial"/>
                          <a:cs typeface="Arial"/>
                          <a:sym typeface="Arial"/>
                        </a:rPr>
                        <a:t>2.3%</a:t>
                      </a:r>
                      <a:endParaRPr dirty="0"/>
                    </a:p>
                  </a:txBody>
                  <a:tcPr marL="123825" marR="123825" marT="57150" marB="57150" anchor="ctr">
                    <a:lnR w="12700" cap="flat" cmpd="sng">
                      <a:solidFill>
                        <a:schemeClr val="dk1"/>
                      </a:solidFill>
                      <a:prstDash val="solid"/>
                      <a:round/>
                      <a:headEnd type="none" w="sm" len="sm"/>
                      <a:tailEnd type="none" w="sm" len="sm"/>
                    </a:lnR>
                  </a:tcPr>
                </a:tc>
                <a:extLst>
                  <a:ext uri="{0D108BD9-81ED-4DB2-BD59-A6C34878D82A}">
                    <a16:rowId xmlns:a16="http://schemas.microsoft.com/office/drawing/2014/main" val="10008"/>
                  </a:ext>
                </a:extLst>
              </a:tr>
            </a:tbl>
          </a:graphicData>
        </a:graphic>
      </p:graphicFrame>
      <p:sp>
        <p:nvSpPr>
          <p:cNvPr id="3" name="CuadroTexto 2">
            <a:extLst>
              <a:ext uri="{FF2B5EF4-FFF2-40B4-BE49-F238E27FC236}">
                <a16:creationId xmlns:a16="http://schemas.microsoft.com/office/drawing/2014/main" id="{8444A2B5-6365-F574-48F8-EF37C03DA795}"/>
              </a:ext>
            </a:extLst>
          </p:cNvPr>
          <p:cNvSpPr txBox="1"/>
          <p:nvPr/>
        </p:nvSpPr>
        <p:spPr>
          <a:xfrm>
            <a:off x="691229" y="5857172"/>
            <a:ext cx="10809515"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_tradnl" sz="1400" b="1" i="0" u="none" strike="noStrike" kern="0" cap="none" spc="0" normalizeH="0" baseline="0" noProof="0" dirty="0">
                <a:ln w="0"/>
                <a:solidFill>
                  <a:srgbClr val="595959"/>
                </a:solidFill>
                <a:effectLst/>
                <a:uLnTx/>
                <a:uFillTx/>
                <a:latin typeface="Montserrat" panose="00000500000000000000" pitchFamily="2" charset="0"/>
                <a:cs typeface="Times New Roman" panose="02020603050405020304" pitchFamily="18" charset="0"/>
                <a:sym typeface="Arial"/>
              </a:rPr>
              <a:t>Nota</a:t>
            </a:r>
            <a:r>
              <a:rPr kumimoji="0" lang="es-ES_tradnl" sz="1400" b="0" i="0" u="none" strike="noStrike" kern="0" cap="none" spc="0" normalizeH="0" baseline="0" noProof="0" dirty="0">
                <a:ln w="0"/>
                <a:solidFill>
                  <a:srgbClr val="595959"/>
                </a:solidFill>
                <a:effectLst/>
                <a:uLnTx/>
                <a:uFillTx/>
                <a:latin typeface="Montserrat" panose="00000500000000000000" pitchFamily="2" charset="0"/>
                <a:cs typeface="Times New Roman" panose="02020603050405020304" pitchFamily="18" charset="0"/>
                <a:sym typeface="Arial"/>
              </a:rPr>
              <a:t>: Para efecto de los análisis que se reportan a continuación, </a:t>
            </a:r>
            <a:r>
              <a:rPr kumimoji="0" lang="es-ES" sz="1400" b="0" i="0" u="none" strike="noStrike" kern="0" cap="none" spc="0" normalizeH="0" baseline="0" noProof="0" dirty="0">
                <a:ln w="0"/>
                <a:solidFill>
                  <a:srgbClr val="595959"/>
                </a:solidFill>
                <a:effectLst/>
                <a:uLnTx/>
                <a:uFillTx/>
                <a:latin typeface="Montserrat" panose="00000500000000000000" pitchFamily="2" charset="0"/>
                <a:cs typeface="Times New Roman" panose="02020603050405020304" pitchFamily="18" charset="0"/>
                <a:sym typeface="Arial"/>
              </a:rPr>
              <a:t>se seleccionaron 1.303 personas que participaron en las siete olas de la muestra original y 770 que participaron en las cinco olas </a:t>
            </a:r>
            <a:r>
              <a:rPr kumimoji="0" lang="es-ES_tradnl" sz="1400" b="0" i="0" u="none" strike="noStrike" kern="0" cap="none" spc="0" normalizeH="0" baseline="0" noProof="0" dirty="0">
                <a:ln w="0"/>
                <a:solidFill>
                  <a:srgbClr val="595959"/>
                </a:solidFill>
                <a:effectLst/>
                <a:uLnTx/>
                <a:uFillTx/>
                <a:latin typeface="Montserrat" panose="00000500000000000000" pitchFamily="2" charset="0"/>
                <a:cs typeface="Times New Roman" panose="02020603050405020304" pitchFamily="18" charset="0"/>
                <a:sym typeface="Arial"/>
              </a:rPr>
              <a:t>en la </a:t>
            </a:r>
            <a:r>
              <a:rPr kumimoji="0" lang="es-ES" sz="1400" b="0" i="0" u="none" strike="noStrike" kern="0" cap="none" spc="0" normalizeH="0" baseline="0" noProof="0" dirty="0">
                <a:ln w="0"/>
                <a:solidFill>
                  <a:srgbClr val="595959"/>
                </a:solidFill>
                <a:effectLst/>
                <a:uLnTx/>
                <a:uFillTx/>
                <a:latin typeface="Montserrat" panose="00000500000000000000" pitchFamily="2" charset="0"/>
                <a:cs typeface="Times New Roman" panose="02020603050405020304" pitchFamily="18" charset="0"/>
                <a:sym typeface="Arial"/>
              </a:rPr>
              <a:t>muestra refresco.</a:t>
            </a:r>
            <a:endParaRPr kumimoji="0" lang="en-US" sz="1400" b="0" i="0" u="none" strike="noStrike" kern="0" cap="none" spc="0" normalizeH="0" baseline="0" noProof="0" dirty="0">
              <a:ln w="0"/>
              <a:solidFill>
                <a:srgbClr val="595959"/>
              </a:solidFill>
              <a:effectLst/>
              <a:uLnTx/>
              <a:uFillTx/>
              <a:latin typeface="Montserrat" panose="00000500000000000000" pitchFamily="2" charset="0"/>
              <a:cs typeface="Times New Roman" panose="02020603050405020304" pitchFamily="18" charset="0"/>
              <a:sym typeface="Arial"/>
            </a:endParaRPr>
          </a:p>
        </p:txBody>
      </p:sp>
      <p:sp>
        <p:nvSpPr>
          <p:cNvPr id="5" name="Slide Number Placeholder 5">
            <a:extLst>
              <a:ext uri="{FF2B5EF4-FFF2-40B4-BE49-F238E27FC236}">
                <a16:creationId xmlns:a16="http://schemas.microsoft.com/office/drawing/2014/main" id="{43937A09-E547-4D3E-232A-ABC3A2A25427}"/>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s-CL"/>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9899EEF-128D-5149-85AB-A29305301F2C}" type="slidenum">
              <a:rPr lang="en-US" smtClean="0">
                <a:solidFill>
                  <a:prstClr val="black">
                    <a:tint val="82000"/>
                  </a:prstClr>
                </a:solidFill>
                <a:latin typeface="Aptos" panose="02110004020202020204"/>
              </a:rPr>
              <a:pPr/>
              <a:t>24</a:t>
            </a:fld>
            <a:endParaRPr lang="en-US">
              <a:solidFill>
                <a:prstClr val="black">
                  <a:tint val="82000"/>
                </a:prstClr>
              </a:solidFill>
              <a:latin typeface="Aptos" panose="02110004020202020204"/>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754"/>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47025BAF-2B3F-1504-0A64-52E87EF847B8}"/>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s-CL"/>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29899EEF-128D-5149-85AB-A29305301F2C}" type="slidenum">
              <a:rPr kumimoji="0" lang="en-US"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graphicFrame>
        <p:nvGraphicFramePr>
          <p:cNvPr id="7" name="Chart 6">
            <a:extLst>
              <a:ext uri="{FF2B5EF4-FFF2-40B4-BE49-F238E27FC236}">
                <a16:creationId xmlns:a16="http://schemas.microsoft.com/office/drawing/2014/main" id="{0CA67BCE-37DE-5130-2059-1BAADC43816B}"/>
              </a:ext>
            </a:extLst>
          </p:cNvPr>
          <p:cNvGraphicFramePr/>
          <p:nvPr/>
        </p:nvGraphicFramePr>
        <p:xfrm>
          <a:off x="1629508" y="136525"/>
          <a:ext cx="9381397" cy="658495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5391349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pic>
        <p:nvPicPr>
          <p:cNvPr id="201" name="Google Shape;201;p23" descr="Gráfico, Gráfico de líneas&#10;&#10;Descripción generada automáticamente"/>
          <p:cNvPicPr preferRelativeResize="0"/>
          <p:nvPr/>
        </p:nvPicPr>
        <p:blipFill rotWithShape="1">
          <a:blip r:embed="rId3">
            <a:alphaModFix/>
          </a:blip>
          <a:srcRect/>
          <a:stretch/>
        </p:blipFill>
        <p:spPr>
          <a:xfrm>
            <a:off x="609589" y="228593"/>
            <a:ext cx="10972822" cy="6400813"/>
          </a:xfrm>
          <a:prstGeom prst="rect">
            <a:avLst/>
          </a:prstGeom>
          <a:noFill/>
          <a:ln>
            <a:noFill/>
          </a:ln>
        </p:spPr>
      </p:pic>
      <p:sp>
        <p:nvSpPr>
          <p:cNvPr id="4" name="Slide Number Placeholder 5">
            <a:extLst>
              <a:ext uri="{FF2B5EF4-FFF2-40B4-BE49-F238E27FC236}">
                <a16:creationId xmlns:a16="http://schemas.microsoft.com/office/drawing/2014/main" id="{9E038F9B-2735-B804-2DB1-8C11DBD29F94}"/>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s-CL"/>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9899EEF-128D-5149-85AB-A29305301F2C}" type="slidenum">
              <a:rPr lang="en-US" smtClean="0">
                <a:solidFill>
                  <a:prstClr val="black">
                    <a:tint val="82000"/>
                  </a:prstClr>
                </a:solidFill>
                <a:latin typeface="Aptos" panose="02110004020202020204"/>
              </a:rPr>
              <a:pPr/>
              <a:t>26</a:t>
            </a:fld>
            <a:endParaRPr lang="en-US">
              <a:solidFill>
                <a:prstClr val="black">
                  <a:tint val="82000"/>
                </a:prstClr>
              </a:solidFill>
              <a:latin typeface="Aptos" panose="02110004020202020204"/>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754"/>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47025BAF-2B3F-1504-0A64-52E87EF847B8}"/>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s-CL"/>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29899EEF-128D-5149-85AB-A29305301F2C}" type="slidenum">
              <a:rPr kumimoji="0" lang="en-US"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graphicFrame>
        <p:nvGraphicFramePr>
          <p:cNvPr id="7" name="Chart 6">
            <a:extLst>
              <a:ext uri="{FF2B5EF4-FFF2-40B4-BE49-F238E27FC236}">
                <a16:creationId xmlns:a16="http://schemas.microsoft.com/office/drawing/2014/main" id="{0CA67BCE-37DE-5130-2059-1BAADC43816B}"/>
              </a:ext>
            </a:extLst>
          </p:cNvPr>
          <p:cNvGraphicFramePr/>
          <p:nvPr/>
        </p:nvGraphicFramePr>
        <p:xfrm>
          <a:off x="1629508" y="136525"/>
          <a:ext cx="9381397" cy="658495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910768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pic>
        <p:nvPicPr>
          <p:cNvPr id="6" name="Picture 5" descr="A graph with numbers and lines&#10;&#10;Description automatically generated">
            <a:extLst>
              <a:ext uri="{FF2B5EF4-FFF2-40B4-BE49-F238E27FC236}">
                <a16:creationId xmlns:a16="http://schemas.microsoft.com/office/drawing/2014/main" id="{7973AFBB-45AB-E991-2D8C-343963FA69A2}"/>
              </a:ext>
            </a:extLst>
          </p:cNvPr>
          <p:cNvPicPr>
            <a:picLocks noChangeAspect="1"/>
          </p:cNvPicPr>
          <p:nvPr/>
        </p:nvPicPr>
        <p:blipFill>
          <a:blip r:embed="rId3"/>
          <a:stretch>
            <a:fillRect/>
          </a:stretch>
        </p:blipFill>
        <p:spPr>
          <a:xfrm>
            <a:off x="609600" y="228600"/>
            <a:ext cx="10972800" cy="6400800"/>
          </a:xfrm>
          <a:prstGeom prst="rect">
            <a:avLst/>
          </a:prstGeom>
        </p:spPr>
      </p:pic>
      <p:sp>
        <p:nvSpPr>
          <p:cNvPr id="4" name="Slide Number Placeholder 5">
            <a:extLst>
              <a:ext uri="{FF2B5EF4-FFF2-40B4-BE49-F238E27FC236}">
                <a16:creationId xmlns:a16="http://schemas.microsoft.com/office/drawing/2014/main" id="{D9EDB7CC-7966-A6EB-E1D1-8AD3530D18A5}"/>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s-CL"/>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9899EEF-128D-5149-85AB-A29305301F2C}" type="slidenum">
              <a:rPr lang="en-US" smtClean="0">
                <a:solidFill>
                  <a:prstClr val="black">
                    <a:tint val="82000"/>
                  </a:prstClr>
                </a:solidFill>
                <a:latin typeface="Aptos" panose="02110004020202020204"/>
              </a:rPr>
              <a:pPr/>
              <a:t>28</a:t>
            </a:fld>
            <a:endParaRPr lang="en-US">
              <a:solidFill>
                <a:prstClr val="black">
                  <a:tint val="82000"/>
                </a:prstClr>
              </a:solidFill>
              <a:latin typeface="Aptos" panose="02110004020202020204"/>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754"/>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47025BAF-2B3F-1504-0A64-52E87EF847B8}"/>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s-CL"/>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29899EEF-128D-5149-85AB-A29305301F2C}" type="slidenum">
              <a:rPr kumimoji="0" lang="en-US"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graphicFrame>
        <p:nvGraphicFramePr>
          <p:cNvPr id="7" name="Chart 6">
            <a:extLst>
              <a:ext uri="{FF2B5EF4-FFF2-40B4-BE49-F238E27FC236}">
                <a16:creationId xmlns:a16="http://schemas.microsoft.com/office/drawing/2014/main" id="{0CA67BCE-37DE-5130-2059-1BAADC43816B}"/>
              </a:ext>
            </a:extLst>
          </p:cNvPr>
          <p:cNvGraphicFramePr/>
          <p:nvPr/>
        </p:nvGraphicFramePr>
        <p:xfrm>
          <a:off x="1629508" y="136525"/>
          <a:ext cx="9381397" cy="658495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2221252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897"/>
        <p:cNvGrpSpPr/>
        <p:nvPr/>
      </p:nvGrpSpPr>
      <p:grpSpPr>
        <a:xfrm>
          <a:off x="0" y="0"/>
          <a:ext cx="0" cy="0"/>
          <a:chOff x="0" y="0"/>
          <a:chExt cx="0" cy="0"/>
        </a:xfrm>
      </p:grpSpPr>
      <p:sp>
        <p:nvSpPr>
          <p:cNvPr id="898" name="Google Shape;898;p14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2"/>
              </a:buClr>
              <a:buSzPts val="3200"/>
              <a:buFont typeface="Montserrat"/>
              <a:buNone/>
            </a:pPr>
            <a:endParaRPr/>
          </a:p>
        </p:txBody>
      </p:sp>
      <p:pic>
        <p:nvPicPr>
          <p:cNvPr id="899" name="Google Shape;899;p144" descr="Gráfico&#10;&#10;Descripción generada automáticamente"/>
          <p:cNvPicPr preferRelativeResize="0"/>
          <p:nvPr/>
        </p:nvPicPr>
        <p:blipFill rotWithShape="1">
          <a:blip r:embed="rId3">
            <a:alphaModFix/>
          </a:blip>
          <a:srcRect/>
          <a:stretch/>
        </p:blipFill>
        <p:spPr>
          <a:xfrm>
            <a:off x="1523990" y="228593"/>
            <a:ext cx="9144019" cy="6400813"/>
          </a:xfrm>
          <a:prstGeom prst="rect">
            <a:avLst/>
          </a:prstGeom>
          <a:noFill/>
          <a:ln>
            <a:noFill/>
          </a:ln>
        </p:spPr>
      </p:pic>
      <p:sp>
        <p:nvSpPr>
          <p:cNvPr id="4" name="Slide Number Placeholder 5">
            <a:extLst>
              <a:ext uri="{FF2B5EF4-FFF2-40B4-BE49-F238E27FC236}">
                <a16:creationId xmlns:a16="http://schemas.microsoft.com/office/drawing/2014/main" id="{72624D80-A274-6BF1-5FE5-DDAADA6FF407}"/>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s-CL"/>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9899EEF-128D-5149-85AB-A29305301F2C}" type="slidenum">
              <a:rPr lang="en-US" smtClean="0">
                <a:solidFill>
                  <a:prstClr val="black">
                    <a:tint val="82000"/>
                  </a:prstClr>
                </a:solidFill>
                <a:latin typeface="Aptos" panose="02110004020202020204"/>
              </a:rPr>
              <a:pPr/>
              <a:t>30</a:t>
            </a:fld>
            <a:endParaRPr lang="en-US">
              <a:solidFill>
                <a:prstClr val="black">
                  <a:tint val="82000"/>
                </a:prstClr>
              </a:solidFill>
              <a:latin typeface="Aptos" panose="02110004020202020204"/>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754"/>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47025BAF-2B3F-1504-0A64-52E87EF847B8}"/>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s-CL"/>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29899EEF-128D-5149-85AB-A29305301F2C}" type="slidenum">
              <a:rPr kumimoji="0" lang="en-US"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graphicFrame>
        <p:nvGraphicFramePr>
          <p:cNvPr id="7" name="Chart 6">
            <a:extLst>
              <a:ext uri="{FF2B5EF4-FFF2-40B4-BE49-F238E27FC236}">
                <a16:creationId xmlns:a16="http://schemas.microsoft.com/office/drawing/2014/main" id="{0CA67BCE-37DE-5130-2059-1BAADC43816B}"/>
              </a:ext>
            </a:extLst>
          </p:cNvPr>
          <p:cNvGraphicFramePr/>
          <p:nvPr/>
        </p:nvGraphicFramePr>
        <p:xfrm>
          <a:off x="1405301" y="136525"/>
          <a:ext cx="9381397" cy="658495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882609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909"/>
        <p:cNvGrpSpPr/>
        <p:nvPr/>
      </p:nvGrpSpPr>
      <p:grpSpPr>
        <a:xfrm>
          <a:off x="0" y="0"/>
          <a:ext cx="0" cy="0"/>
          <a:chOff x="0" y="0"/>
          <a:chExt cx="0" cy="0"/>
        </a:xfrm>
      </p:grpSpPr>
      <p:sp>
        <p:nvSpPr>
          <p:cNvPr id="910" name="Google Shape;910;p146"/>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2"/>
              </a:buClr>
              <a:buSzPts val="3200"/>
              <a:buFont typeface="Montserrat"/>
              <a:buNone/>
            </a:pPr>
            <a:endParaRPr/>
          </a:p>
        </p:txBody>
      </p:sp>
      <p:pic>
        <p:nvPicPr>
          <p:cNvPr id="911" name="Google Shape;911;p146" descr="Gráfico&#10;&#10;Descripción generada automáticamente"/>
          <p:cNvPicPr preferRelativeResize="0"/>
          <p:nvPr/>
        </p:nvPicPr>
        <p:blipFill rotWithShape="1">
          <a:blip r:embed="rId3">
            <a:alphaModFix/>
          </a:blip>
          <a:srcRect/>
          <a:stretch/>
        </p:blipFill>
        <p:spPr>
          <a:xfrm>
            <a:off x="1523990" y="228593"/>
            <a:ext cx="9144019" cy="6400813"/>
          </a:xfrm>
          <a:prstGeom prst="rect">
            <a:avLst/>
          </a:prstGeom>
          <a:noFill/>
          <a:ln>
            <a:noFill/>
          </a:ln>
        </p:spPr>
      </p:pic>
      <p:sp>
        <p:nvSpPr>
          <p:cNvPr id="5" name="Slide Number Placeholder 5">
            <a:extLst>
              <a:ext uri="{FF2B5EF4-FFF2-40B4-BE49-F238E27FC236}">
                <a16:creationId xmlns:a16="http://schemas.microsoft.com/office/drawing/2014/main" id="{1D6DC3F3-892B-A627-E1DB-EBFB6EA2F9B1}"/>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s-CL"/>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9899EEF-128D-5149-85AB-A29305301F2C}" type="slidenum">
              <a:rPr lang="en-US" smtClean="0">
                <a:solidFill>
                  <a:prstClr val="black">
                    <a:tint val="82000"/>
                  </a:prstClr>
                </a:solidFill>
                <a:latin typeface="Aptos" panose="02110004020202020204"/>
              </a:rPr>
              <a:pPr/>
              <a:t>32</a:t>
            </a:fld>
            <a:endParaRPr lang="en-US">
              <a:solidFill>
                <a:prstClr val="black">
                  <a:tint val="82000"/>
                </a:prstClr>
              </a:solidFill>
              <a:latin typeface="Aptos" panose="02110004020202020204"/>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BB2CED-EEDF-0F83-B9F0-73BD29B1CC53}"/>
              </a:ext>
            </a:extLst>
          </p:cNvPr>
          <p:cNvPicPr>
            <a:picLocks noChangeAspect="1"/>
          </p:cNvPicPr>
          <p:nvPr/>
        </p:nvPicPr>
        <p:blipFill>
          <a:blip r:embed="rId2"/>
          <a:stretch>
            <a:fillRect/>
          </a:stretch>
        </p:blipFill>
        <p:spPr>
          <a:xfrm>
            <a:off x="222738" y="196011"/>
            <a:ext cx="11558954" cy="6362727"/>
          </a:xfrm>
          <a:prstGeom prst="rect">
            <a:avLst/>
          </a:prstGeom>
        </p:spPr>
      </p:pic>
    </p:spTree>
    <p:extLst>
      <p:ext uri="{BB962C8B-B14F-4D97-AF65-F5344CB8AC3E}">
        <p14:creationId xmlns:p14="http://schemas.microsoft.com/office/powerpoint/2010/main" val="13675257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B63BF0D-42E4-131B-8BF6-0B0D0465A42F}"/>
              </a:ext>
            </a:extLst>
          </p:cNvPr>
          <p:cNvPicPr>
            <a:picLocks noChangeAspect="1"/>
          </p:cNvPicPr>
          <p:nvPr/>
        </p:nvPicPr>
        <p:blipFill>
          <a:blip r:embed="rId2"/>
          <a:stretch>
            <a:fillRect/>
          </a:stretch>
        </p:blipFill>
        <p:spPr>
          <a:xfrm>
            <a:off x="351692" y="226757"/>
            <a:ext cx="11054210" cy="6162320"/>
          </a:xfrm>
          <a:prstGeom prst="rect">
            <a:avLst/>
          </a:prstGeom>
        </p:spPr>
      </p:pic>
    </p:spTree>
    <p:extLst>
      <p:ext uri="{BB962C8B-B14F-4D97-AF65-F5344CB8AC3E}">
        <p14:creationId xmlns:p14="http://schemas.microsoft.com/office/powerpoint/2010/main" val="41593692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D1CCFA3-015E-9739-5220-F0087146FFB0}"/>
              </a:ext>
            </a:extLst>
          </p:cNvPr>
          <p:cNvPicPr>
            <a:picLocks noChangeAspect="1"/>
          </p:cNvPicPr>
          <p:nvPr/>
        </p:nvPicPr>
        <p:blipFill>
          <a:blip r:embed="rId2"/>
          <a:stretch>
            <a:fillRect/>
          </a:stretch>
        </p:blipFill>
        <p:spPr>
          <a:xfrm>
            <a:off x="234462" y="253362"/>
            <a:ext cx="11418276" cy="6186141"/>
          </a:xfrm>
          <a:prstGeom prst="rect">
            <a:avLst/>
          </a:prstGeom>
        </p:spPr>
      </p:pic>
    </p:spTree>
    <p:extLst>
      <p:ext uri="{BB962C8B-B14F-4D97-AF65-F5344CB8AC3E}">
        <p14:creationId xmlns:p14="http://schemas.microsoft.com/office/powerpoint/2010/main" val="5964596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DC783-96C9-4F1A-BFAB-E8C595CEF2E8}"/>
              </a:ext>
            </a:extLst>
          </p:cNvPr>
          <p:cNvSpPr>
            <a:spLocks noGrp="1"/>
          </p:cNvSpPr>
          <p:nvPr>
            <p:ph type="title"/>
          </p:nvPr>
        </p:nvSpPr>
        <p:spPr/>
        <p:txBody>
          <a:bodyPr/>
          <a:lstStyle/>
          <a:p>
            <a:r>
              <a:rPr lang="es-ES" dirty="0"/>
              <a:t>Una métrica sensible para registrar el tiempo</a:t>
            </a:r>
            <a:endParaRPr lang="en-US" dirty="0"/>
          </a:p>
        </p:txBody>
      </p:sp>
      <p:sp>
        <p:nvSpPr>
          <p:cNvPr id="8" name="Content Placeholder 4">
            <a:extLst>
              <a:ext uri="{FF2B5EF4-FFF2-40B4-BE49-F238E27FC236}">
                <a16:creationId xmlns:a16="http://schemas.microsoft.com/office/drawing/2014/main" id="{B00BE3ED-FBED-434F-9326-2715CD59FEAF}"/>
              </a:ext>
            </a:extLst>
          </p:cNvPr>
          <p:cNvSpPr txBox="1">
            <a:spLocks/>
          </p:cNvSpPr>
          <p:nvPr/>
        </p:nvSpPr>
        <p:spPr>
          <a:xfrm>
            <a:off x="603682" y="1189611"/>
            <a:ext cx="6889072" cy="5160146"/>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800"/>
              </a:spcBef>
              <a:buClr>
                <a:schemeClr val="accent1">
                  <a:lumMod val="50000"/>
                </a:schemeClr>
              </a:buClr>
              <a:buSzPct val="100000"/>
              <a:buFont typeface="Arial" pitchFamily="34" charset="0"/>
              <a:buNone/>
              <a:defRPr sz="1600" kern="1200">
                <a:solidFill>
                  <a:schemeClr val="bg1"/>
                </a:solidFill>
                <a:latin typeface="+mn-lt"/>
                <a:ea typeface="+mn-ea"/>
                <a:cs typeface="+mn-cs"/>
              </a:defRPr>
            </a:lvl1pPr>
            <a:lvl2pPr marL="457200" indent="0" algn="l" defTabSz="914400" rtl="0" eaLnBrk="1" latinLnBrk="0" hangingPunct="1">
              <a:lnSpc>
                <a:spcPct val="90000"/>
              </a:lnSpc>
              <a:spcBef>
                <a:spcPts val="800"/>
              </a:spcBef>
              <a:buClr>
                <a:schemeClr val="accent1">
                  <a:lumMod val="50000"/>
                </a:schemeClr>
              </a:buClr>
              <a:buSzPct val="100000"/>
              <a:buFont typeface="Arial"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800"/>
              </a:spcBef>
              <a:buClr>
                <a:schemeClr val="accent1">
                  <a:lumMod val="50000"/>
                </a:schemeClr>
              </a:buClr>
              <a:buSzPct val="100000"/>
              <a:buFont typeface="Arial"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800"/>
              </a:spcBef>
              <a:buClr>
                <a:schemeClr val="accent1">
                  <a:lumMod val="50000"/>
                </a:schemeClr>
              </a:buClr>
              <a:buSzPct val="100000"/>
              <a:buFont typeface="Arial" pitchFamily="34" charset="0"/>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800"/>
              </a:spcBef>
              <a:buClr>
                <a:schemeClr val="accent1">
                  <a:lumMod val="50000"/>
                </a:schemeClr>
              </a:buClr>
              <a:buSzPct val="100000"/>
              <a:buFont typeface="Arial" pitchFamily="34" charset="0"/>
              <a:buNone/>
              <a:defRPr sz="1000" kern="1200">
                <a:solidFill>
                  <a:schemeClr val="tx1"/>
                </a:solidFill>
                <a:latin typeface="+mn-lt"/>
                <a:ea typeface="+mn-ea"/>
                <a:cs typeface="+mn-cs"/>
              </a:defRPr>
            </a:lvl5pPr>
            <a:lvl6pPr marL="2286000" indent="0" algn="l" defTabSz="914400" rtl="0" eaLnBrk="1" latinLnBrk="0" hangingPunct="1">
              <a:lnSpc>
                <a:spcPct val="90000"/>
              </a:lnSpc>
              <a:spcBef>
                <a:spcPts val="800"/>
              </a:spcBef>
              <a:buClr>
                <a:schemeClr val="accent1">
                  <a:lumMod val="50000"/>
                </a:schemeClr>
              </a:buClr>
              <a:buSzPct val="100000"/>
              <a:buFont typeface="Arial"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800"/>
              </a:spcBef>
              <a:buClr>
                <a:schemeClr val="accent1">
                  <a:lumMod val="50000"/>
                </a:schemeClr>
              </a:buClr>
              <a:buSzPct val="100000"/>
              <a:buFont typeface="Arial"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800"/>
              </a:spcBef>
              <a:buClr>
                <a:schemeClr val="accent1">
                  <a:lumMod val="50000"/>
                </a:schemeClr>
              </a:buClr>
              <a:buSzPct val="100000"/>
              <a:buFont typeface="Arial"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800"/>
              </a:spcBef>
              <a:buClr>
                <a:schemeClr val="accent1">
                  <a:lumMod val="50000"/>
                </a:schemeClr>
              </a:buClr>
              <a:buSzPct val="100000"/>
              <a:buFont typeface="Arial" pitchFamily="34" charset="0"/>
              <a:buNone/>
              <a:defRPr sz="1000" kern="1200">
                <a:solidFill>
                  <a:schemeClr val="tx1"/>
                </a:solidFill>
                <a:latin typeface="+mn-lt"/>
                <a:ea typeface="+mn-ea"/>
                <a:cs typeface="+mn-cs"/>
              </a:defRPr>
            </a:lvl9pPr>
          </a:lstStyle>
          <a:p>
            <a:r>
              <a:rPr lang="en-US"/>
              <a:t>Descriptiva</a:t>
            </a:r>
            <a:endParaRPr lang="en-US" dirty="0"/>
          </a:p>
        </p:txBody>
      </p:sp>
      <p:sp>
        <p:nvSpPr>
          <p:cNvPr id="4" name="Content Placeholder 4">
            <a:extLst>
              <a:ext uri="{FF2B5EF4-FFF2-40B4-BE49-F238E27FC236}">
                <a16:creationId xmlns:a16="http://schemas.microsoft.com/office/drawing/2014/main" id="{803578A2-8F9E-4B0F-8ACF-90FB87DC0369}"/>
              </a:ext>
            </a:extLst>
          </p:cNvPr>
          <p:cNvSpPr txBox="1">
            <a:spLocks/>
          </p:cNvSpPr>
          <p:nvPr/>
        </p:nvSpPr>
        <p:spPr>
          <a:xfrm>
            <a:off x="395830" y="897758"/>
            <a:ext cx="7616954" cy="5743852"/>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800"/>
              </a:spcBef>
              <a:buClr>
                <a:schemeClr val="accent1">
                  <a:lumMod val="50000"/>
                </a:schemeClr>
              </a:buClr>
              <a:buSzPct val="100000"/>
              <a:buFont typeface="Arial" pitchFamily="34" charset="0"/>
              <a:buNone/>
              <a:defRPr sz="1600" kern="1200">
                <a:solidFill>
                  <a:schemeClr val="bg1"/>
                </a:solidFill>
                <a:latin typeface="+mn-lt"/>
                <a:ea typeface="+mn-ea"/>
                <a:cs typeface="+mn-cs"/>
              </a:defRPr>
            </a:lvl1pPr>
            <a:lvl2pPr marL="457200" indent="0" algn="l" defTabSz="914400" rtl="0" eaLnBrk="1" latinLnBrk="0" hangingPunct="1">
              <a:lnSpc>
                <a:spcPct val="90000"/>
              </a:lnSpc>
              <a:spcBef>
                <a:spcPts val="800"/>
              </a:spcBef>
              <a:buClr>
                <a:schemeClr val="accent1">
                  <a:lumMod val="50000"/>
                </a:schemeClr>
              </a:buClr>
              <a:buSzPct val="100000"/>
              <a:buFont typeface="Arial"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800"/>
              </a:spcBef>
              <a:buClr>
                <a:schemeClr val="accent1">
                  <a:lumMod val="50000"/>
                </a:schemeClr>
              </a:buClr>
              <a:buSzPct val="100000"/>
              <a:buFont typeface="Arial"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800"/>
              </a:spcBef>
              <a:buClr>
                <a:schemeClr val="accent1">
                  <a:lumMod val="50000"/>
                </a:schemeClr>
              </a:buClr>
              <a:buSzPct val="100000"/>
              <a:buFont typeface="Arial" pitchFamily="34" charset="0"/>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800"/>
              </a:spcBef>
              <a:buClr>
                <a:schemeClr val="accent1">
                  <a:lumMod val="50000"/>
                </a:schemeClr>
              </a:buClr>
              <a:buSzPct val="100000"/>
              <a:buFont typeface="Arial" pitchFamily="34" charset="0"/>
              <a:buNone/>
              <a:defRPr sz="1000" kern="1200">
                <a:solidFill>
                  <a:schemeClr val="tx1"/>
                </a:solidFill>
                <a:latin typeface="+mn-lt"/>
                <a:ea typeface="+mn-ea"/>
                <a:cs typeface="+mn-cs"/>
              </a:defRPr>
            </a:lvl5pPr>
            <a:lvl6pPr marL="2286000" indent="0" algn="l" defTabSz="914400" rtl="0" eaLnBrk="1" latinLnBrk="0" hangingPunct="1">
              <a:lnSpc>
                <a:spcPct val="90000"/>
              </a:lnSpc>
              <a:spcBef>
                <a:spcPts val="800"/>
              </a:spcBef>
              <a:buClr>
                <a:schemeClr val="accent1">
                  <a:lumMod val="50000"/>
                </a:schemeClr>
              </a:buClr>
              <a:buSzPct val="100000"/>
              <a:buFont typeface="Arial"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800"/>
              </a:spcBef>
              <a:buClr>
                <a:schemeClr val="accent1">
                  <a:lumMod val="50000"/>
                </a:schemeClr>
              </a:buClr>
              <a:buSzPct val="100000"/>
              <a:buFont typeface="Arial"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800"/>
              </a:spcBef>
              <a:buClr>
                <a:schemeClr val="accent1">
                  <a:lumMod val="50000"/>
                </a:schemeClr>
              </a:buClr>
              <a:buSzPct val="100000"/>
              <a:buFont typeface="Arial"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800"/>
              </a:spcBef>
              <a:buClr>
                <a:schemeClr val="accent1">
                  <a:lumMod val="50000"/>
                </a:schemeClr>
              </a:buClr>
              <a:buSzPct val="100000"/>
              <a:buFont typeface="Arial" pitchFamily="34" charset="0"/>
              <a:buNone/>
              <a:defRPr sz="1000" kern="1200">
                <a:solidFill>
                  <a:schemeClr val="tx1"/>
                </a:solidFill>
                <a:latin typeface="+mn-lt"/>
                <a:ea typeface="+mn-ea"/>
                <a:cs typeface="+mn-cs"/>
              </a:defRPr>
            </a:lvl9pPr>
          </a:lstStyle>
          <a:p>
            <a:pPr marL="45720" algn="ctr"/>
            <a:r>
              <a:rPr lang="es-ES" sz="2200" b="1" dirty="0">
                <a:solidFill>
                  <a:srgbClr val="333399"/>
                </a:solidFill>
                <a:latin typeface="+mj-lt"/>
              </a:rPr>
              <a:t>El tiempo es el predictor fundamental en cada estudio del cambio; debe medirse de forma confiable y válida.</a:t>
            </a:r>
          </a:p>
          <a:p>
            <a:pPr marL="45720"/>
            <a:r>
              <a:rPr lang="es-ES" sz="2200" dirty="0">
                <a:solidFill>
                  <a:schemeClr val="tx1"/>
                </a:solidFill>
                <a:latin typeface="+mj-lt"/>
              </a:rPr>
              <a:t>Ejemplos de métricas:</a:t>
            </a:r>
          </a:p>
          <a:p>
            <a:pPr marL="331470" indent="-285750">
              <a:buFont typeface="Arial" panose="020B0604020202020204" pitchFamily="34" charset="0"/>
              <a:buChar char="•"/>
            </a:pPr>
            <a:r>
              <a:rPr lang="es-ES" sz="2200" dirty="0">
                <a:solidFill>
                  <a:schemeClr val="tx1"/>
                </a:solidFill>
                <a:latin typeface="+mj-lt"/>
              </a:rPr>
              <a:t>Edades particulares</a:t>
            </a:r>
          </a:p>
          <a:p>
            <a:pPr marL="331470" indent="-285750">
              <a:buFont typeface="Arial" panose="020B0604020202020204" pitchFamily="34" charset="0"/>
              <a:buChar char="•"/>
            </a:pPr>
            <a:r>
              <a:rPr lang="es-ES" sz="2200" dirty="0">
                <a:solidFill>
                  <a:schemeClr val="tx1"/>
                </a:solidFill>
                <a:latin typeface="+mj-lt"/>
              </a:rPr>
              <a:t>Niveles escolares</a:t>
            </a:r>
          </a:p>
          <a:p>
            <a:pPr marL="331470" indent="-285750">
              <a:buFont typeface="Arial" panose="020B0604020202020204" pitchFamily="34" charset="0"/>
              <a:buChar char="•"/>
            </a:pPr>
            <a:endParaRPr lang="es-ES" sz="2200" dirty="0">
              <a:solidFill>
                <a:schemeClr val="tx1"/>
              </a:solidFill>
              <a:latin typeface="+mj-lt"/>
            </a:endParaRPr>
          </a:p>
          <a:p>
            <a:pPr marL="45720" algn="ctr"/>
            <a:r>
              <a:rPr lang="es-ES" sz="2200" b="1" dirty="0">
                <a:solidFill>
                  <a:srgbClr val="333399"/>
                </a:solidFill>
                <a:latin typeface="+mj-lt"/>
              </a:rPr>
              <a:t>Un estudio puede poseer varias métricas plausibles para el tiempo. </a:t>
            </a:r>
          </a:p>
          <a:p>
            <a:pPr marL="45720"/>
            <a:r>
              <a:rPr lang="es-ES" sz="2200" dirty="0">
                <a:solidFill>
                  <a:schemeClr val="tx1"/>
                </a:solidFill>
                <a:latin typeface="+mj-lt"/>
              </a:rPr>
              <a:t>Por ejemplo, respecto a la longevidad de un automóvil…</a:t>
            </a:r>
          </a:p>
          <a:p>
            <a:pPr marL="331470" indent="-285750">
              <a:buFont typeface="Arial" panose="020B0604020202020204" pitchFamily="34" charset="0"/>
              <a:buChar char="•"/>
            </a:pPr>
            <a:r>
              <a:rPr lang="es-ES" sz="2200" dirty="0">
                <a:solidFill>
                  <a:schemeClr val="tx1"/>
                </a:solidFill>
                <a:latin typeface="+mj-lt"/>
              </a:rPr>
              <a:t>Cantidad de meses del vehículo</a:t>
            </a:r>
          </a:p>
          <a:p>
            <a:pPr marL="331470" indent="-285750">
              <a:buFont typeface="Arial" panose="020B0604020202020204" pitchFamily="34" charset="0"/>
              <a:buChar char="•"/>
            </a:pPr>
            <a:r>
              <a:rPr lang="es-ES" sz="2200" dirty="0">
                <a:solidFill>
                  <a:schemeClr val="tx1"/>
                </a:solidFill>
                <a:latin typeface="+mj-lt"/>
              </a:rPr>
              <a:t>Cantidad de viajes realizados con el vehículo</a:t>
            </a:r>
          </a:p>
          <a:p>
            <a:pPr marL="331470" indent="-285750">
              <a:buFont typeface="Arial" panose="020B0604020202020204" pitchFamily="34" charset="0"/>
              <a:buChar char="•"/>
            </a:pPr>
            <a:r>
              <a:rPr lang="es-ES" sz="2200" dirty="0">
                <a:solidFill>
                  <a:schemeClr val="tx1"/>
                </a:solidFill>
                <a:latin typeface="+mj-lt"/>
              </a:rPr>
              <a:t>Cantidad de kilómetro realizados con el vehículo</a:t>
            </a:r>
          </a:p>
          <a:p>
            <a:pPr marL="331470" indent="-285750">
              <a:buFont typeface="Arial" panose="020B0604020202020204" pitchFamily="34" charset="0"/>
              <a:buChar char="•"/>
            </a:pPr>
            <a:r>
              <a:rPr lang="es-ES" sz="2200" dirty="0">
                <a:solidFill>
                  <a:schemeClr val="tx1"/>
                </a:solidFill>
                <a:latin typeface="+mj-lt"/>
              </a:rPr>
              <a:t>Cantidad de cambios de aceite realizados al vehículo</a:t>
            </a:r>
          </a:p>
          <a:p>
            <a:pPr marL="331470" indent="-285750">
              <a:buFont typeface="Arial" panose="020B0604020202020204" pitchFamily="34" charset="0"/>
              <a:buChar char="•"/>
            </a:pPr>
            <a:r>
              <a:rPr lang="es-ES" sz="2200" dirty="0">
                <a:solidFill>
                  <a:schemeClr val="tx1"/>
                </a:solidFill>
                <a:latin typeface="+mj-lt"/>
              </a:rPr>
              <a:t>Cantidad de veces que se ha encendido el vehículo</a:t>
            </a:r>
          </a:p>
        </p:txBody>
      </p:sp>
    </p:spTree>
    <p:extLst>
      <p:ext uri="{BB962C8B-B14F-4D97-AF65-F5344CB8AC3E}">
        <p14:creationId xmlns:p14="http://schemas.microsoft.com/office/powerpoint/2010/main" val="12423249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DC783-96C9-4F1A-BFAB-E8C595CEF2E8}"/>
              </a:ext>
            </a:extLst>
          </p:cNvPr>
          <p:cNvSpPr>
            <a:spLocks noGrp="1"/>
          </p:cNvSpPr>
          <p:nvPr>
            <p:ph type="title"/>
          </p:nvPr>
        </p:nvSpPr>
        <p:spPr/>
        <p:txBody>
          <a:bodyPr/>
          <a:lstStyle/>
          <a:p>
            <a:r>
              <a:rPr lang="es-ES" dirty="0"/>
              <a:t>Una métrica sensible para registrar el tiempo</a:t>
            </a:r>
            <a:endParaRPr lang="en-US" dirty="0"/>
          </a:p>
        </p:txBody>
      </p:sp>
      <p:sp>
        <p:nvSpPr>
          <p:cNvPr id="8" name="Content Placeholder 4">
            <a:extLst>
              <a:ext uri="{FF2B5EF4-FFF2-40B4-BE49-F238E27FC236}">
                <a16:creationId xmlns:a16="http://schemas.microsoft.com/office/drawing/2014/main" id="{B00BE3ED-FBED-434F-9326-2715CD59FEAF}"/>
              </a:ext>
            </a:extLst>
          </p:cNvPr>
          <p:cNvSpPr txBox="1">
            <a:spLocks/>
          </p:cNvSpPr>
          <p:nvPr/>
        </p:nvSpPr>
        <p:spPr>
          <a:xfrm>
            <a:off x="603682" y="1189611"/>
            <a:ext cx="6889072" cy="5160146"/>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800"/>
              </a:spcBef>
              <a:buClr>
                <a:schemeClr val="accent1">
                  <a:lumMod val="50000"/>
                </a:schemeClr>
              </a:buClr>
              <a:buSzPct val="100000"/>
              <a:buFont typeface="Arial" pitchFamily="34" charset="0"/>
              <a:buNone/>
              <a:defRPr sz="1600" kern="1200">
                <a:solidFill>
                  <a:schemeClr val="bg1"/>
                </a:solidFill>
                <a:latin typeface="+mn-lt"/>
                <a:ea typeface="+mn-ea"/>
                <a:cs typeface="+mn-cs"/>
              </a:defRPr>
            </a:lvl1pPr>
            <a:lvl2pPr marL="457200" indent="0" algn="l" defTabSz="914400" rtl="0" eaLnBrk="1" latinLnBrk="0" hangingPunct="1">
              <a:lnSpc>
                <a:spcPct val="90000"/>
              </a:lnSpc>
              <a:spcBef>
                <a:spcPts val="800"/>
              </a:spcBef>
              <a:buClr>
                <a:schemeClr val="accent1">
                  <a:lumMod val="50000"/>
                </a:schemeClr>
              </a:buClr>
              <a:buSzPct val="100000"/>
              <a:buFont typeface="Arial"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800"/>
              </a:spcBef>
              <a:buClr>
                <a:schemeClr val="accent1">
                  <a:lumMod val="50000"/>
                </a:schemeClr>
              </a:buClr>
              <a:buSzPct val="100000"/>
              <a:buFont typeface="Arial"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800"/>
              </a:spcBef>
              <a:buClr>
                <a:schemeClr val="accent1">
                  <a:lumMod val="50000"/>
                </a:schemeClr>
              </a:buClr>
              <a:buSzPct val="100000"/>
              <a:buFont typeface="Arial" pitchFamily="34" charset="0"/>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800"/>
              </a:spcBef>
              <a:buClr>
                <a:schemeClr val="accent1">
                  <a:lumMod val="50000"/>
                </a:schemeClr>
              </a:buClr>
              <a:buSzPct val="100000"/>
              <a:buFont typeface="Arial" pitchFamily="34" charset="0"/>
              <a:buNone/>
              <a:defRPr sz="1000" kern="1200">
                <a:solidFill>
                  <a:schemeClr val="tx1"/>
                </a:solidFill>
                <a:latin typeface="+mn-lt"/>
                <a:ea typeface="+mn-ea"/>
                <a:cs typeface="+mn-cs"/>
              </a:defRPr>
            </a:lvl5pPr>
            <a:lvl6pPr marL="2286000" indent="0" algn="l" defTabSz="914400" rtl="0" eaLnBrk="1" latinLnBrk="0" hangingPunct="1">
              <a:lnSpc>
                <a:spcPct val="90000"/>
              </a:lnSpc>
              <a:spcBef>
                <a:spcPts val="800"/>
              </a:spcBef>
              <a:buClr>
                <a:schemeClr val="accent1">
                  <a:lumMod val="50000"/>
                </a:schemeClr>
              </a:buClr>
              <a:buSzPct val="100000"/>
              <a:buFont typeface="Arial"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800"/>
              </a:spcBef>
              <a:buClr>
                <a:schemeClr val="accent1">
                  <a:lumMod val="50000"/>
                </a:schemeClr>
              </a:buClr>
              <a:buSzPct val="100000"/>
              <a:buFont typeface="Arial"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800"/>
              </a:spcBef>
              <a:buClr>
                <a:schemeClr val="accent1">
                  <a:lumMod val="50000"/>
                </a:schemeClr>
              </a:buClr>
              <a:buSzPct val="100000"/>
              <a:buFont typeface="Arial"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800"/>
              </a:spcBef>
              <a:buClr>
                <a:schemeClr val="accent1">
                  <a:lumMod val="50000"/>
                </a:schemeClr>
              </a:buClr>
              <a:buSzPct val="100000"/>
              <a:buFont typeface="Arial" pitchFamily="34" charset="0"/>
              <a:buNone/>
              <a:defRPr sz="1000" kern="1200">
                <a:solidFill>
                  <a:schemeClr val="tx1"/>
                </a:solidFill>
                <a:latin typeface="+mn-lt"/>
                <a:ea typeface="+mn-ea"/>
                <a:cs typeface="+mn-cs"/>
              </a:defRPr>
            </a:lvl9pPr>
          </a:lstStyle>
          <a:p>
            <a:r>
              <a:rPr lang="en-US"/>
              <a:t>Descriptiva</a:t>
            </a:r>
            <a:endParaRPr lang="en-US" dirty="0"/>
          </a:p>
        </p:txBody>
      </p:sp>
      <p:sp>
        <p:nvSpPr>
          <p:cNvPr id="4" name="Content Placeholder 4">
            <a:extLst>
              <a:ext uri="{FF2B5EF4-FFF2-40B4-BE49-F238E27FC236}">
                <a16:creationId xmlns:a16="http://schemas.microsoft.com/office/drawing/2014/main" id="{803578A2-8F9E-4B0F-8ACF-90FB87DC0369}"/>
              </a:ext>
            </a:extLst>
          </p:cNvPr>
          <p:cNvSpPr txBox="1">
            <a:spLocks/>
          </p:cNvSpPr>
          <p:nvPr/>
        </p:nvSpPr>
        <p:spPr>
          <a:xfrm>
            <a:off x="395830" y="705955"/>
            <a:ext cx="7616954" cy="5743852"/>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800"/>
              </a:spcBef>
              <a:buClr>
                <a:schemeClr val="accent1">
                  <a:lumMod val="50000"/>
                </a:schemeClr>
              </a:buClr>
              <a:buSzPct val="100000"/>
              <a:buFont typeface="Arial" pitchFamily="34" charset="0"/>
              <a:buNone/>
              <a:defRPr sz="1600" kern="1200">
                <a:solidFill>
                  <a:schemeClr val="bg1"/>
                </a:solidFill>
                <a:latin typeface="+mn-lt"/>
                <a:ea typeface="+mn-ea"/>
                <a:cs typeface="+mn-cs"/>
              </a:defRPr>
            </a:lvl1pPr>
            <a:lvl2pPr marL="457200" indent="0" algn="l" defTabSz="914400" rtl="0" eaLnBrk="1" latinLnBrk="0" hangingPunct="1">
              <a:lnSpc>
                <a:spcPct val="90000"/>
              </a:lnSpc>
              <a:spcBef>
                <a:spcPts val="800"/>
              </a:spcBef>
              <a:buClr>
                <a:schemeClr val="accent1">
                  <a:lumMod val="50000"/>
                </a:schemeClr>
              </a:buClr>
              <a:buSzPct val="100000"/>
              <a:buFont typeface="Arial"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800"/>
              </a:spcBef>
              <a:buClr>
                <a:schemeClr val="accent1">
                  <a:lumMod val="50000"/>
                </a:schemeClr>
              </a:buClr>
              <a:buSzPct val="100000"/>
              <a:buFont typeface="Arial"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800"/>
              </a:spcBef>
              <a:buClr>
                <a:schemeClr val="accent1">
                  <a:lumMod val="50000"/>
                </a:schemeClr>
              </a:buClr>
              <a:buSzPct val="100000"/>
              <a:buFont typeface="Arial" pitchFamily="34" charset="0"/>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800"/>
              </a:spcBef>
              <a:buClr>
                <a:schemeClr val="accent1">
                  <a:lumMod val="50000"/>
                </a:schemeClr>
              </a:buClr>
              <a:buSzPct val="100000"/>
              <a:buFont typeface="Arial" pitchFamily="34" charset="0"/>
              <a:buNone/>
              <a:defRPr sz="1000" kern="1200">
                <a:solidFill>
                  <a:schemeClr val="tx1"/>
                </a:solidFill>
                <a:latin typeface="+mn-lt"/>
                <a:ea typeface="+mn-ea"/>
                <a:cs typeface="+mn-cs"/>
              </a:defRPr>
            </a:lvl5pPr>
            <a:lvl6pPr marL="2286000" indent="0" algn="l" defTabSz="914400" rtl="0" eaLnBrk="1" latinLnBrk="0" hangingPunct="1">
              <a:lnSpc>
                <a:spcPct val="90000"/>
              </a:lnSpc>
              <a:spcBef>
                <a:spcPts val="800"/>
              </a:spcBef>
              <a:buClr>
                <a:schemeClr val="accent1">
                  <a:lumMod val="50000"/>
                </a:schemeClr>
              </a:buClr>
              <a:buSzPct val="100000"/>
              <a:buFont typeface="Arial"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800"/>
              </a:spcBef>
              <a:buClr>
                <a:schemeClr val="accent1">
                  <a:lumMod val="50000"/>
                </a:schemeClr>
              </a:buClr>
              <a:buSzPct val="100000"/>
              <a:buFont typeface="Arial"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800"/>
              </a:spcBef>
              <a:buClr>
                <a:schemeClr val="accent1">
                  <a:lumMod val="50000"/>
                </a:schemeClr>
              </a:buClr>
              <a:buSzPct val="100000"/>
              <a:buFont typeface="Arial"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800"/>
              </a:spcBef>
              <a:buClr>
                <a:schemeClr val="accent1">
                  <a:lumMod val="50000"/>
                </a:schemeClr>
              </a:buClr>
              <a:buSzPct val="100000"/>
              <a:buFont typeface="Arial" pitchFamily="34" charset="0"/>
              <a:buNone/>
              <a:defRPr sz="1000" kern="1200">
                <a:solidFill>
                  <a:schemeClr val="tx1"/>
                </a:solidFill>
                <a:latin typeface="+mn-lt"/>
                <a:ea typeface="+mn-ea"/>
                <a:cs typeface="+mn-cs"/>
              </a:defRPr>
            </a:lvl9pPr>
          </a:lstStyle>
          <a:p>
            <a:pPr marL="45720" algn="ctr"/>
            <a:r>
              <a:rPr lang="es-ES" sz="2400" b="1" dirty="0">
                <a:solidFill>
                  <a:srgbClr val="333399"/>
                </a:solidFill>
                <a:latin typeface="+mj-lt"/>
              </a:rPr>
              <a:t>Es importante elegir una métrica para el tiempo que refleje la cadencia que se espera sea más útil para la variable de interés que se va a medir de modo repetido.</a:t>
            </a:r>
          </a:p>
          <a:p>
            <a:pPr marL="45720"/>
            <a:endParaRPr lang="es-ES" sz="2400" dirty="0">
              <a:solidFill>
                <a:schemeClr val="tx1"/>
              </a:solidFill>
              <a:latin typeface="+mj-lt"/>
            </a:endParaRPr>
          </a:p>
          <a:p>
            <a:pPr marL="45720"/>
            <a:r>
              <a:rPr lang="es-ES" sz="2400" dirty="0">
                <a:solidFill>
                  <a:schemeClr val="tx1"/>
                </a:solidFill>
                <a:latin typeface="+mj-lt"/>
              </a:rPr>
              <a:t>Las olas (puntos de medición) pueden estar espaciadas (separadas) por interválos iguales o diferentes de tiempo. </a:t>
            </a:r>
          </a:p>
          <a:p>
            <a:pPr marL="45720"/>
            <a:endParaRPr lang="es-ES" sz="2400" dirty="0">
              <a:solidFill>
                <a:schemeClr val="tx1"/>
              </a:solidFill>
              <a:latin typeface="+mj-lt"/>
            </a:endParaRPr>
          </a:p>
          <a:p>
            <a:pPr marL="331470" indent="-285750">
              <a:buFont typeface="Arial" panose="020B0604020202020204" pitchFamily="34" charset="0"/>
              <a:buChar char="•"/>
            </a:pPr>
            <a:r>
              <a:rPr lang="es-ES" sz="2400" dirty="0">
                <a:solidFill>
                  <a:schemeClr val="tx1"/>
                </a:solidFill>
                <a:latin typeface="+mj-lt"/>
              </a:rPr>
              <a:t>Si espera un cambio rápido durante algunos períodos de tiempo, debe recopilar más datos en esos momentos. Si espera poco cambio durante otros períodos, separe más las mediciones.</a:t>
            </a:r>
          </a:p>
          <a:p>
            <a:pPr marL="331470" indent="-285750">
              <a:buFont typeface="Arial" panose="020B0604020202020204" pitchFamily="34" charset="0"/>
              <a:buChar char="•"/>
            </a:pPr>
            <a:r>
              <a:rPr lang="es-ES" sz="2400" dirty="0">
                <a:solidFill>
                  <a:schemeClr val="tx1"/>
                </a:solidFill>
                <a:latin typeface="+mj-lt"/>
              </a:rPr>
              <a:t>No es necesario que cada persona tenga registrado el mismo número de olas (puntos de medición). </a:t>
            </a:r>
          </a:p>
        </p:txBody>
      </p:sp>
    </p:spTree>
    <p:extLst>
      <p:ext uri="{BB962C8B-B14F-4D97-AF65-F5344CB8AC3E}">
        <p14:creationId xmlns:p14="http://schemas.microsoft.com/office/powerpoint/2010/main" val="22001886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DC783-96C9-4F1A-BFAB-E8C595CEF2E8}"/>
              </a:ext>
            </a:extLst>
          </p:cNvPr>
          <p:cNvSpPr>
            <a:spLocks noGrp="1"/>
          </p:cNvSpPr>
          <p:nvPr>
            <p:ph type="title"/>
          </p:nvPr>
        </p:nvSpPr>
        <p:spPr>
          <a:xfrm>
            <a:off x="8532813" y="1683327"/>
            <a:ext cx="3417887" cy="2877260"/>
          </a:xfrm>
        </p:spPr>
        <p:txBody>
          <a:bodyPr/>
          <a:lstStyle/>
          <a:p>
            <a:r>
              <a:rPr lang="es-ES" b="1" dirty="0"/>
              <a:t>Un resultado cuyos valores cambian sistemáticamente con el tiempo</a:t>
            </a:r>
            <a:endParaRPr lang="en-US" b="1" dirty="0"/>
          </a:p>
        </p:txBody>
      </p:sp>
      <p:sp>
        <p:nvSpPr>
          <p:cNvPr id="8" name="Content Placeholder 4">
            <a:extLst>
              <a:ext uri="{FF2B5EF4-FFF2-40B4-BE49-F238E27FC236}">
                <a16:creationId xmlns:a16="http://schemas.microsoft.com/office/drawing/2014/main" id="{B00BE3ED-FBED-434F-9326-2715CD59FEAF}"/>
              </a:ext>
            </a:extLst>
          </p:cNvPr>
          <p:cNvSpPr txBox="1">
            <a:spLocks/>
          </p:cNvSpPr>
          <p:nvPr/>
        </p:nvSpPr>
        <p:spPr>
          <a:xfrm>
            <a:off x="603682" y="1189611"/>
            <a:ext cx="6889072" cy="5160146"/>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800"/>
              </a:spcBef>
              <a:buClr>
                <a:schemeClr val="accent1">
                  <a:lumMod val="50000"/>
                </a:schemeClr>
              </a:buClr>
              <a:buSzPct val="100000"/>
              <a:buFont typeface="Arial" pitchFamily="34" charset="0"/>
              <a:buNone/>
              <a:defRPr sz="1600" kern="1200">
                <a:solidFill>
                  <a:schemeClr val="bg1"/>
                </a:solidFill>
                <a:latin typeface="+mn-lt"/>
                <a:ea typeface="+mn-ea"/>
                <a:cs typeface="+mn-cs"/>
              </a:defRPr>
            </a:lvl1pPr>
            <a:lvl2pPr marL="457200" indent="0" algn="l" defTabSz="914400" rtl="0" eaLnBrk="1" latinLnBrk="0" hangingPunct="1">
              <a:lnSpc>
                <a:spcPct val="90000"/>
              </a:lnSpc>
              <a:spcBef>
                <a:spcPts val="800"/>
              </a:spcBef>
              <a:buClr>
                <a:schemeClr val="accent1">
                  <a:lumMod val="50000"/>
                </a:schemeClr>
              </a:buClr>
              <a:buSzPct val="100000"/>
              <a:buFont typeface="Arial"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800"/>
              </a:spcBef>
              <a:buClr>
                <a:schemeClr val="accent1">
                  <a:lumMod val="50000"/>
                </a:schemeClr>
              </a:buClr>
              <a:buSzPct val="100000"/>
              <a:buFont typeface="Arial"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800"/>
              </a:spcBef>
              <a:buClr>
                <a:schemeClr val="accent1">
                  <a:lumMod val="50000"/>
                </a:schemeClr>
              </a:buClr>
              <a:buSzPct val="100000"/>
              <a:buFont typeface="Arial" pitchFamily="34" charset="0"/>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800"/>
              </a:spcBef>
              <a:buClr>
                <a:schemeClr val="accent1">
                  <a:lumMod val="50000"/>
                </a:schemeClr>
              </a:buClr>
              <a:buSzPct val="100000"/>
              <a:buFont typeface="Arial" pitchFamily="34" charset="0"/>
              <a:buNone/>
              <a:defRPr sz="1000" kern="1200">
                <a:solidFill>
                  <a:schemeClr val="tx1"/>
                </a:solidFill>
                <a:latin typeface="+mn-lt"/>
                <a:ea typeface="+mn-ea"/>
                <a:cs typeface="+mn-cs"/>
              </a:defRPr>
            </a:lvl5pPr>
            <a:lvl6pPr marL="2286000" indent="0" algn="l" defTabSz="914400" rtl="0" eaLnBrk="1" latinLnBrk="0" hangingPunct="1">
              <a:lnSpc>
                <a:spcPct val="90000"/>
              </a:lnSpc>
              <a:spcBef>
                <a:spcPts val="800"/>
              </a:spcBef>
              <a:buClr>
                <a:schemeClr val="accent1">
                  <a:lumMod val="50000"/>
                </a:schemeClr>
              </a:buClr>
              <a:buSzPct val="100000"/>
              <a:buFont typeface="Arial"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800"/>
              </a:spcBef>
              <a:buClr>
                <a:schemeClr val="accent1">
                  <a:lumMod val="50000"/>
                </a:schemeClr>
              </a:buClr>
              <a:buSzPct val="100000"/>
              <a:buFont typeface="Arial"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800"/>
              </a:spcBef>
              <a:buClr>
                <a:schemeClr val="accent1">
                  <a:lumMod val="50000"/>
                </a:schemeClr>
              </a:buClr>
              <a:buSzPct val="100000"/>
              <a:buFont typeface="Arial"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800"/>
              </a:spcBef>
              <a:buClr>
                <a:schemeClr val="accent1">
                  <a:lumMod val="50000"/>
                </a:schemeClr>
              </a:buClr>
              <a:buSzPct val="100000"/>
              <a:buFont typeface="Arial" pitchFamily="34" charset="0"/>
              <a:buNone/>
              <a:defRPr sz="1000" kern="1200">
                <a:solidFill>
                  <a:schemeClr val="tx1"/>
                </a:solidFill>
                <a:latin typeface="+mn-lt"/>
                <a:ea typeface="+mn-ea"/>
                <a:cs typeface="+mn-cs"/>
              </a:defRPr>
            </a:lvl9pPr>
          </a:lstStyle>
          <a:p>
            <a:r>
              <a:rPr lang="en-US"/>
              <a:t>Descriptiva</a:t>
            </a:r>
            <a:endParaRPr lang="en-US" dirty="0"/>
          </a:p>
        </p:txBody>
      </p:sp>
      <p:sp>
        <p:nvSpPr>
          <p:cNvPr id="4" name="Content Placeholder 4">
            <a:extLst>
              <a:ext uri="{FF2B5EF4-FFF2-40B4-BE49-F238E27FC236}">
                <a16:creationId xmlns:a16="http://schemas.microsoft.com/office/drawing/2014/main" id="{959EF210-6C9F-420A-9AD5-A2ECBDF57B1D}"/>
              </a:ext>
            </a:extLst>
          </p:cNvPr>
          <p:cNvSpPr txBox="1">
            <a:spLocks/>
          </p:cNvSpPr>
          <p:nvPr/>
        </p:nvSpPr>
        <p:spPr>
          <a:xfrm>
            <a:off x="395830" y="605905"/>
            <a:ext cx="7616954" cy="5743852"/>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800"/>
              </a:spcBef>
              <a:buClr>
                <a:schemeClr val="accent1">
                  <a:lumMod val="50000"/>
                </a:schemeClr>
              </a:buClr>
              <a:buSzPct val="100000"/>
              <a:buFont typeface="Arial" pitchFamily="34" charset="0"/>
              <a:buNone/>
              <a:defRPr sz="1600" kern="1200">
                <a:solidFill>
                  <a:schemeClr val="bg1"/>
                </a:solidFill>
                <a:latin typeface="+mn-lt"/>
                <a:ea typeface="+mn-ea"/>
                <a:cs typeface="+mn-cs"/>
              </a:defRPr>
            </a:lvl1pPr>
            <a:lvl2pPr marL="457200" indent="0" algn="l" defTabSz="914400" rtl="0" eaLnBrk="1" latinLnBrk="0" hangingPunct="1">
              <a:lnSpc>
                <a:spcPct val="90000"/>
              </a:lnSpc>
              <a:spcBef>
                <a:spcPts val="800"/>
              </a:spcBef>
              <a:buClr>
                <a:schemeClr val="accent1">
                  <a:lumMod val="50000"/>
                </a:schemeClr>
              </a:buClr>
              <a:buSzPct val="100000"/>
              <a:buFont typeface="Arial"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800"/>
              </a:spcBef>
              <a:buClr>
                <a:schemeClr val="accent1">
                  <a:lumMod val="50000"/>
                </a:schemeClr>
              </a:buClr>
              <a:buSzPct val="100000"/>
              <a:buFont typeface="Arial"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800"/>
              </a:spcBef>
              <a:buClr>
                <a:schemeClr val="accent1">
                  <a:lumMod val="50000"/>
                </a:schemeClr>
              </a:buClr>
              <a:buSzPct val="100000"/>
              <a:buFont typeface="Arial" pitchFamily="34" charset="0"/>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800"/>
              </a:spcBef>
              <a:buClr>
                <a:schemeClr val="accent1">
                  <a:lumMod val="50000"/>
                </a:schemeClr>
              </a:buClr>
              <a:buSzPct val="100000"/>
              <a:buFont typeface="Arial" pitchFamily="34" charset="0"/>
              <a:buNone/>
              <a:defRPr sz="1000" kern="1200">
                <a:solidFill>
                  <a:schemeClr val="tx1"/>
                </a:solidFill>
                <a:latin typeface="+mn-lt"/>
                <a:ea typeface="+mn-ea"/>
                <a:cs typeface="+mn-cs"/>
              </a:defRPr>
            </a:lvl5pPr>
            <a:lvl6pPr marL="2286000" indent="0" algn="l" defTabSz="914400" rtl="0" eaLnBrk="1" latinLnBrk="0" hangingPunct="1">
              <a:lnSpc>
                <a:spcPct val="90000"/>
              </a:lnSpc>
              <a:spcBef>
                <a:spcPts val="800"/>
              </a:spcBef>
              <a:buClr>
                <a:schemeClr val="accent1">
                  <a:lumMod val="50000"/>
                </a:schemeClr>
              </a:buClr>
              <a:buSzPct val="100000"/>
              <a:buFont typeface="Arial"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800"/>
              </a:spcBef>
              <a:buClr>
                <a:schemeClr val="accent1">
                  <a:lumMod val="50000"/>
                </a:schemeClr>
              </a:buClr>
              <a:buSzPct val="100000"/>
              <a:buFont typeface="Arial"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800"/>
              </a:spcBef>
              <a:buClr>
                <a:schemeClr val="accent1">
                  <a:lumMod val="50000"/>
                </a:schemeClr>
              </a:buClr>
              <a:buSzPct val="100000"/>
              <a:buFont typeface="Arial"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800"/>
              </a:spcBef>
              <a:buClr>
                <a:schemeClr val="accent1">
                  <a:lumMod val="50000"/>
                </a:schemeClr>
              </a:buClr>
              <a:buSzPct val="100000"/>
              <a:buFont typeface="Arial" pitchFamily="34" charset="0"/>
              <a:buNone/>
              <a:defRPr sz="1000" kern="1200">
                <a:solidFill>
                  <a:schemeClr val="tx1"/>
                </a:solidFill>
                <a:latin typeface="+mn-lt"/>
                <a:ea typeface="+mn-ea"/>
                <a:cs typeface="+mn-cs"/>
              </a:defRPr>
            </a:lvl9pPr>
          </a:lstStyle>
          <a:p>
            <a:endParaRPr lang="es-ES" sz="2400" dirty="0">
              <a:solidFill>
                <a:schemeClr val="tx1"/>
              </a:solidFill>
              <a:latin typeface="+mj-lt"/>
            </a:endParaRPr>
          </a:p>
          <a:p>
            <a:r>
              <a:rPr lang="es-ES" sz="2400" b="1" dirty="0">
                <a:solidFill>
                  <a:srgbClr val="333399"/>
                </a:solidFill>
                <a:latin typeface="+mj-lt"/>
              </a:rPr>
              <a:t>Equiparabilidad </a:t>
            </a:r>
          </a:p>
          <a:p>
            <a:pPr marL="285750" indent="-285750">
              <a:buFont typeface="Arial" panose="020B0604020202020204" pitchFamily="34" charset="0"/>
              <a:buChar char="•"/>
            </a:pPr>
            <a:r>
              <a:rPr lang="es-ES" sz="2400" dirty="0">
                <a:solidFill>
                  <a:schemeClr val="tx1"/>
                </a:solidFill>
                <a:latin typeface="+mj-lt"/>
              </a:rPr>
              <a:t>Las puntuaciones de resultados deben ser comparables a lo largo del tiempo, un valor dado del resultado en cualquier ocasión debe representar la misma "cantidad" del resultado en cada ocasión. </a:t>
            </a:r>
          </a:p>
          <a:p>
            <a:endParaRPr lang="es-ES" sz="2400" dirty="0">
              <a:solidFill>
                <a:schemeClr val="tx1"/>
              </a:solidFill>
              <a:latin typeface="+mj-lt"/>
            </a:endParaRPr>
          </a:p>
          <a:p>
            <a:r>
              <a:rPr lang="es-ES" sz="2400" b="1" dirty="0">
                <a:solidFill>
                  <a:srgbClr val="333399"/>
                </a:solidFill>
                <a:latin typeface="+mj-lt"/>
              </a:rPr>
              <a:t>Los resultados deben ser igualmente válidos en todas las ocasiones de medición. </a:t>
            </a:r>
          </a:p>
          <a:p>
            <a:pPr marL="285750" indent="-285750">
              <a:buFont typeface="Arial" panose="020B0604020202020204" pitchFamily="34" charset="0"/>
              <a:buChar char="•"/>
            </a:pPr>
            <a:r>
              <a:rPr lang="es-ES" sz="2400" dirty="0">
                <a:solidFill>
                  <a:schemeClr val="tx1"/>
                </a:solidFill>
                <a:latin typeface="+mj-lt"/>
              </a:rPr>
              <a:t>Por ejemplo, una medida válida de habilidad matemática entre niños pequeños se puede convertir en una medida de memoria entre adolescentes.</a:t>
            </a:r>
          </a:p>
        </p:txBody>
      </p:sp>
    </p:spTree>
    <p:extLst>
      <p:ext uri="{BB962C8B-B14F-4D97-AF65-F5344CB8AC3E}">
        <p14:creationId xmlns:p14="http://schemas.microsoft.com/office/powerpoint/2010/main" val="1437965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81BB6B-C23F-4E4D-BC2F-61AA5117CF68}"/>
              </a:ext>
            </a:extLst>
          </p:cNvPr>
          <p:cNvSpPr>
            <a:spLocks noGrp="1"/>
          </p:cNvSpPr>
          <p:nvPr>
            <p:ph type="title"/>
          </p:nvPr>
        </p:nvSpPr>
        <p:spPr>
          <a:xfrm>
            <a:off x="888077" y="990848"/>
            <a:ext cx="10515600" cy="1564783"/>
          </a:xfrm>
        </p:spPr>
        <p:txBody>
          <a:bodyPr>
            <a:normAutofit/>
          </a:bodyPr>
          <a:lstStyle/>
          <a:p>
            <a:br>
              <a:rPr lang="es-CL" dirty="0"/>
            </a:br>
            <a:endParaRPr lang="es-CL" dirty="0"/>
          </a:p>
        </p:txBody>
      </p:sp>
      <p:sp>
        <p:nvSpPr>
          <p:cNvPr id="3" name="Título 1">
            <a:extLst>
              <a:ext uri="{FF2B5EF4-FFF2-40B4-BE49-F238E27FC236}">
                <a16:creationId xmlns:a16="http://schemas.microsoft.com/office/drawing/2014/main" id="{E33D8B2E-5DD5-4F31-9036-A9EBC0AAFF67}"/>
              </a:ext>
            </a:extLst>
          </p:cNvPr>
          <p:cNvSpPr txBox="1">
            <a:spLocks/>
          </p:cNvSpPr>
          <p:nvPr/>
        </p:nvSpPr>
        <p:spPr>
          <a:xfrm>
            <a:off x="720969" y="2178964"/>
            <a:ext cx="11125200" cy="2123405"/>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4400" kern="1200" cap="all" spc="-50" baseline="0">
                <a:solidFill>
                  <a:schemeClr val="bg1"/>
                </a:solidFill>
                <a:latin typeface="+mj-lt"/>
                <a:ea typeface="+mj-ea"/>
                <a:cs typeface="+mj-cs"/>
              </a:defRPr>
            </a:lvl1pPr>
          </a:lstStyle>
          <a:p>
            <a:endParaRPr lang="es-ES" sz="4400" b="0" i="0" u="none" strike="noStrike" baseline="0" dirty="0">
              <a:latin typeface="Calibri" panose="020F0502020204030204" pitchFamily="34" charset="0"/>
            </a:endParaRPr>
          </a:p>
          <a:p>
            <a:endParaRPr lang="es-ES" dirty="0">
              <a:latin typeface="Calibri" panose="020F0502020204030204" pitchFamily="34" charset="0"/>
            </a:endParaRPr>
          </a:p>
          <a:p>
            <a:r>
              <a:rPr lang="es-ES" sz="4400" b="0" i="0" u="none" strike="noStrike" baseline="0" dirty="0">
                <a:latin typeface="Calibri" panose="020F0502020204030204" pitchFamily="34" charset="0"/>
              </a:rPr>
              <a:t>Breve ejercicio</a:t>
            </a:r>
          </a:p>
          <a:p>
            <a:endParaRPr lang="es-CL" dirty="0"/>
          </a:p>
        </p:txBody>
      </p:sp>
    </p:spTree>
    <p:extLst>
      <p:ext uri="{BB962C8B-B14F-4D97-AF65-F5344CB8AC3E}">
        <p14:creationId xmlns:p14="http://schemas.microsoft.com/office/powerpoint/2010/main" val="1098072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1695B680-0EA4-4A87-A93F-5F2546291A47}"/>
              </a:ext>
            </a:extLst>
          </p:cNvPr>
          <p:cNvSpPr>
            <a:spLocks noGrp="1"/>
          </p:cNvSpPr>
          <p:nvPr>
            <p:ph idx="1"/>
          </p:nvPr>
        </p:nvSpPr>
        <p:spPr>
          <a:xfrm>
            <a:off x="568171" y="754600"/>
            <a:ext cx="11150353" cy="5912529"/>
          </a:xfrm>
        </p:spPr>
        <p:txBody>
          <a:bodyPr>
            <a:normAutofit fontScale="70000" lnSpcReduction="20000"/>
          </a:bodyPr>
          <a:lstStyle/>
          <a:p>
            <a:pPr marL="45720" indent="0">
              <a:lnSpc>
                <a:spcPct val="120000"/>
              </a:lnSpc>
              <a:buNone/>
            </a:pPr>
            <a:r>
              <a:rPr lang="es-ES" sz="3800" b="1" dirty="0"/>
              <a:t>¿Qué diseño de investigación (transversal o longitudinal) se describe en cada uno de los siguientes ejemplos?</a:t>
            </a:r>
          </a:p>
          <a:p>
            <a:pPr marL="45720" indent="0">
              <a:lnSpc>
                <a:spcPct val="120000"/>
              </a:lnSpc>
              <a:buNone/>
            </a:pPr>
            <a:endParaRPr lang="es-ES" sz="3200" dirty="0"/>
          </a:p>
          <a:p>
            <a:pPr marL="45720" indent="0">
              <a:lnSpc>
                <a:spcPct val="120000"/>
              </a:lnSpc>
              <a:buNone/>
            </a:pPr>
            <a:r>
              <a:rPr lang="es-ES" sz="3200" dirty="0"/>
              <a:t>1. Un estudio de los cambios en la inteligencia durante la edad adulta que examina las habilidades intelectuales en los mismos 1.500 individuos cada década desde los 50 a los 80 años</a:t>
            </a:r>
          </a:p>
          <a:p>
            <a:pPr marL="45720" indent="0">
              <a:lnSpc>
                <a:spcPct val="120000"/>
              </a:lnSpc>
              <a:buNone/>
            </a:pPr>
            <a:r>
              <a:rPr lang="es-ES" sz="3200" i="1" dirty="0"/>
              <a:t>	</a:t>
            </a:r>
          </a:p>
          <a:p>
            <a:pPr marL="45720" indent="0">
              <a:lnSpc>
                <a:spcPct val="120000"/>
              </a:lnSpc>
              <a:buNone/>
            </a:pPr>
            <a:endParaRPr lang="es-ES" sz="3200" i="1" dirty="0"/>
          </a:p>
          <a:p>
            <a:pPr marL="45720" indent="0">
              <a:lnSpc>
                <a:spcPct val="120000"/>
              </a:lnSpc>
              <a:buNone/>
            </a:pPr>
            <a:r>
              <a:rPr lang="es-ES" sz="3200" dirty="0"/>
              <a:t>2. Un examen de los cambios de la niñez en el desarrollo social que muestrea de manera representativa y luego compara a 18,000 participantes asignados a grupos de niños de 4, 8 y 12 años</a:t>
            </a:r>
          </a:p>
          <a:p>
            <a:pPr marL="45720" indent="0">
              <a:lnSpc>
                <a:spcPct val="120000"/>
              </a:lnSpc>
              <a:buNone/>
            </a:pPr>
            <a:r>
              <a:rPr lang="es-ES" sz="3200" i="1" dirty="0"/>
              <a:t>	</a:t>
            </a:r>
          </a:p>
        </p:txBody>
      </p:sp>
      <p:sp>
        <p:nvSpPr>
          <p:cNvPr id="4" name="Marcador de contenido 2">
            <a:extLst>
              <a:ext uri="{FF2B5EF4-FFF2-40B4-BE49-F238E27FC236}">
                <a16:creationId xmlns:a16="http://schemas.microsoft.com/office/drawing/2014/main" id="{5542A8B9-08CB-469A-B5C9-C50187108EC3}"/>
              </a:ext>
            </a:extLst>
          </p:cNvPr>
          <p:cNvSpPr txBox="1">
            <a:spLocks/>
          </p:cNvSpPr>
          <p:nvPr/>
        </p:nvSpPr>
        <p:spPr>
          <a:xfrm>
            <a:off x="9722528" y="71761"/>
            <a:ext cx="1995996" cy="646591"/>
          </a:xfrm>
          <a:prstGeom prst="rect">
            <a:avLst/>
          </a:prstGeom>
        </p:spPr>
        <p:txBody>
          <a:bodyPr vert="horz" lIns="91440" tIns="45720" rIns="91440" bIns="45720" rtlCol="0">
            <a:normAutofit fontScale="92500"/>
          </a:bodyPr>
          <a:lstStyle>
            <a:lvl1pPr marL="274320" indent="-228600" algn="l" defTabSz="914400" rtl="0" eaLnBrk="1" latinLnBrk="0" hangingPunct="1">
              <a:lnSpc>
                <a:spcPct val="90000"/>
              </a:lnSpc>
              <a:spcBef>
                <a:spcPts val="1800"/>
              </a:spcBef>
              <a:buClr>
                <a:schemeClr val="accent1">
                  <a:lumMod val="50000"/>
                </a:schemeClr>
              </a:buClr>
              <a:buSzPct val="100000"/>
              <a:buFont typeface="Arial" pitchFamily="34" charset="0"/>
              <a:buChar char="▪"/>
              <a:defRPr sz="2000" kern="1200">
                <a:solidFill>
                  <a:schemeClr val="tx1"/>
                </a:solidFill>
                <a:latin typeface="+mn-lt"/>
                <a:ea typeface="+mn-ea"/>
                <a:cs typeface="+mn-cs"/>
              </a:defRPr>
            </a:lvl1pPr>
            <a:lvl2pPr marL="594360" indent="-228600" algn="l" defTabSz="914400" rtl="0" eaLnBrk="1" latinLnBrk="0" hangingPunct="1">
              <a:lnSpc>
                <a:spcPct val="90000"/>
              </a:lnSpc>
              <a:spcBef>
                <a:spcPts val="800"/>
              </a:spcBef>
              <a:buClr>
                <a:schemeClr val="accent1">
                  <a:lumMod val="50000"/>
                </a:schemeClr>
              </a:buClr>
              <a:buSzPct val="100000"/>
              <a:buFont typeface="Arial" pitchFamily="34" charset="0"/>
              <a:buChar char="▪"/>
              <a:defRPr sz="1800" kern="1200">
                <a:solidFill>
                  <a:schemeClr val="tx1"/>
                </a:solidFill>
                <a:latin typeface="+mn-lt"/>
                <a:ea typeface="+mn-ea"/>
                <a:cs typeface="+mn-cs"/>
              </a:defRPr>
            </a:lvl2pPr>
            <a:lvl3pPr marL="914400" indent="-228600" algn="l" defTabSz="914400" rtl="0" eaLnBrk="1" latinLnBrk="0" hangingPunct="1">
              <a:lnSpc>
                <a:spcPct val="90000"/>
              </a:lnSpc>
              <a:spcBef>
                <a:spcPts val="800"/>
              </a:spcBef>
              <a:buClr>
                <a:schemeClr val="accent1">
                  <a:lumMod val="50000"/>
                </a:schemeClr>
              </a:buClr>
              <a:buSzPct val="100000"/>
              <a:buFont typeface="Arial" pitchFamily="34" charset="0"/>
              <a:buChar char="▪"/>
              <a:defRPr sz="1600" kern="1200">
                <a:solidFill>
                  <a:schemeClr val="tx1"/>
                </a:solidFill>
                <a:latin typeface="+mn-lt"/>
                <a:ea typeface="+mn-ea"/>
                <a:cs typeface="+mn-cs"/>
              </a:defRPr>
            </a:lvl3pPr>
            <a:lvl4pPr marL="1188720" indent="-182880" algn="l" defTabSz="914400" rtl="0" eaLnBrk="1" latinLnBrk="0" hangingPunct="1">
              <a:lnSpc>
                <a:spcPct val="90000"/>
              </a:lnSpc>
              <a:spcBef>
                <a:spcPts val="800"/>
              </a:spcBef>
              <a:buClr>
                <a:schemeClr val="accent1">
                  <a:lumMod val="50000"/>
                </a:schemeClr>
              </a:buClr>
              <a:buSzPct val="100000"/>
              <a:buFont typeface="Arial" pitchFamily="34" charset="0"/>
              <a:buChar char="▪"/>
              <a:defRPr sz="1400" kern="1200">
                <a:solidFill>
                  <a:schemeClr val="tx1"/>
                </a:solidFill>
                <a:latin typeface="+mn-lt"/>
                <a:ea typeface="+mn-ea"/>
                <a:cs typeface="+mn-cs"/>
              </a:defRPr>
            </a:lvl4pPr>
            <a:lvl5pPr marL="1463040" indent="-182880" algn="l" defTabSz="914400" rtl="0" eaLnBrk="1" latinLnBrk="0" hangingPunct="1">
              <a:lnSpc>
                <a:spcPct val="90000"/>
              </a:lnSpc>
              <a:spcBef>
                <a:spcPts val="800"/>
              </a:spcBef>
              <a:buClr>
                <a:schemeClr val="accent1">
                  <a:lumMod val="50000"/>
                </a:schemeClr>
              </a:buClr>
              <a:buSzPct val="100000"/>
              <a:buFont typeface="Arial" pitchFamily="34" charset="0"/>
              <a:buChar char="▪"/>
              <a:defRPr sz="1400" kern="1200">
                <a:solidFill>
                  <a:schemeClr val="tx1"/>
                </a:solidFill>
                <a:latin typeface="+mn-lt"/>
                <a:ea typeface="+mn-ea"/>
                <a:cs typeface="+mn-cs"/>
              </a:defRPr>
            </a:lvl5pPr>
            <a:lvl6pPr marL="1691640" indent="-182880" algn="l" defTabSz="914400" rtl="0" eaLnBrk="1" latinLnBrk="0" hangingPunct="1">
              <a:lnSpc>
                <a:spcPct val="90000"/>
              </a:lnSpc>
              <a:spcBef>
                <a:spcPts val="800"/>
              </a:spcBef>
              <a:buClr>
                <a:schemeClr val="accent1">
                  <a:lumMod val="50000"/>
                </a:schemeClr>
              </a:buClr>
              <a:buSzPct val="100000"/>
              <a:buFont typeface="Arial" pitchFamily="34" charset="0"/>
              <a:buChar char="▪"/>
              <a:defRPr sz="1400" kern="1200">
                <a:solidFill>
                  <a:schemeClr val="tx1"/>
                </a:solidFill>
                <a:latin typeface="+mn-lt"/>
                <a:ea typeface="+mn-ea"/>
                <a:cs typeface="+mn-cs"/>
              </a:defRPr>
            </a:lvl6pPr>
            <a:lvl7pPr marL="1920240" indent="-182880" algn="l" defTabSz="914400" rtl="0" eaLnBrk="1" latinLnBrk="0" hangingPunct="1">
              <a:lnSpc>
                <a:spcPct val="90000"/>
              </a:lnSpc>
              <a:spcBef>
                <a:spcPts val="800"/>
              </a:spcBef>
              <a:buClr>
                <a:schemeClr val="accent1">
                  <a:lumMod val="50000"/>
                </a:schemeClr>
              </a:buClr>
              <a:buSzPct val="100000"/>
              <a:buFont typeface="Arial" pitchFamily="34" charset="0"/>
              <a:buChar char="▪"/>
              <a:defRPr sz="1400" kern="1200">
                <a:solidFill>
                  <a:schemeClr val="tx1"/>
                </a:solidFill>
                <a:latin typeface="+mn-lt"/>
                <a:ea typeface="+mn-ea"/>
                <a:cs typeface="+mn-cs"/>
              </a:defRPr>
            </a:lvl7pPr>
            <a:lvl8pPr marL="2148840" indent="-182880" algn="l" defTabSz="914400" rtl="0" eaLnBrk="1" latinLnBrk="0" hangingPunct="1">
              <a:lnSpc>
                <a:spcPct val="90000"/>
              </a:lnSpc>
              <a:spcBef>
                <a:spcPts val="800"/>
              </a:spcBef>
              <a:buClr>
                <a:schemeClr val="accent1">
                  <a:lumMod val="50000"/>
                </a:schemeClr>
              </a:buClr>
              <a:buSzPct val="100000"/>
              <a:buFont typeface="Arial" pitchFamily="34" charset="0"/>
              <a:buChar char="▪"/>
              <a:defRPr sz="1400" kern="1200">
                <a:solidFill>
                  <a:schemeClr val="tx1"/>
                </a:solidFill>
                <a:latin typeface="+mn-lt"/>
                <a:ea typeface="+mn-ea"/>
                <a:cs typeface="+mn-cs"/>
              </a:defRPr>
            </a:lvl8pPr>
            <a:lvl9pPr marL="2377440" indent="-182880" algn="l" defTabSz="914400" rtl="0" eaLnBrk="1" latinLnBrk="0" hangingPunct="1">
              <a:lnSpc>
                <a:spcPct val="90000"/>
              </a:lnSpc>
              <a:spcBef>
                <a:spcPts val="800"/>
              </a:spcBef>
              <a:buClr>
                <a:schemeClr val="accent1">
                  <a:lumMod val="50000"/>
                </a:schemeClr>
              </a:buClr>
              <a:buSzPct val="100000"/>
              <a:buFont typeface="Arial" pitchFamily="34" charset="0"/>
              <a:buChar char="▪"/>
              <a:defRPr sz="1400" kern="1200">
                <a:solidFill>
                  <a:schemeClr val="tx1"/>
                </a:solidFill>
                <a:latin typeface="+mn-lt"/>
                <a:ea typeface="+mn-ea"/>
                <a:cs typeface="+mn-cs"/>
              </a:defRPr>
            </a:lvl9pPr>
          </a:lstStyle>
          <a:p>
            <a:pPr marL="45720" indent="0">
              <a:buFont typeface="Arial" pitchFamily="34" charset="0"/>
              <a:buNone/>
            </a:pPr>
            <a:r>
              <a:rPr lang="es-ES" sz="3200" b="1" dirty="0"/>
              <a:t>Ejercicio</a:t>
            </a:r>
            <a:endParaRPr lang="es-CL" sz="3200" dirty="0"/>
          </a:p>
        </p:txBody>
      </p:sp>
    </p:spTree>
    <p:extLst>
      <p:ext uri="{BB962C8B-B14F-4D97-AF65-F5344CB8AC3E}">
        <p14:creationId xmlns:p14="http://schemas.microsoft.com/office/powerpoint/2010/main" val="3396369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contenido 2">
            <a:extLst>
              <a:ext uri="{FF2B5EF4-FFF2-40B4-BE49-F238E27FC236}">
                <a16:creationId xmlns:a16="http://schemas.microsoft.com/office/drawing/2014/main" id="{5542A8B9-08CB-469A-B5C9-C50187108EC3}"/>
              </a:ext>
            </a:extLst>
          </p:cNvPr>
          <p:cNvSpPr txBox="1">
            <a:spLocks/>
          </p:cNvSpPr>
          <p:nvPr/>
        </p:nvSpPr>
        <p:spPr>
          <a:xfrm>
            <a:off x="9722528" y="71761"/>
            <a:ext cx="1995996" cy="646591"/>
          </a:xfrm>
          <a:prstGeom prst="rect">
            <a:avLst/>
          </a:prstGeom>
        </p:spPr>
        <p:txBody>
          <a:bodyPr vert="horz" lIns="91440" tIns="45720" rIns="91440" bIns="45720" rtlCol="0">
            <a:normAutofit fontScale="92500"/>
          </a:bodyPr>
          <a:lstStyle>
            <a:lvl1pPr marL="274320" indent="-228600" algn="l" defTabSz="914400" rtl="0" eaLnBrk="1" latinLnBrk="0" hangingPunct="1">
              <a:lnSpc>
                <a:spcPct val="90000"/>
              </a:lnSpc>
              <a:spcBef>
                <a:spcPts val="1800"/>
              </a:spcBef>
              <a:buClr>
                <a:schemeClr val="accent1">
                  <a:lumMod val="50000"/>
                </a:schemeClr>
              </a:buClr>
              <a:buSzPct val="100000"/>
              <a:buFont typeface="Arial" pitchFamily="34" charset="0"/>
              <a:buChar char="▪"/>
              <a:defRPr sz="2000" kern="1200">
                <a:solidFill>
                  <a:schemeClr val="tx1"/>
                </a:solidFill>
                <a:latin typeface="+mn-lt"/>
                <a:ea typeface="+mn-ea"/>
                <a:cs typeface="+mn-cs"/>
              </a:defRPr>
            </a:lvl1pPr>
            <a:lvl2pPr marL="594360" indent="-228600" algn="l" defTabSz="914400" rtl="0" eaLnBrk="1" latinLnBrk="0" hangingPunct="1">
              <a:lnSpc>
                <a:spcPct val="90000"/>
              </a:lnSpc>
              <a:spcBef>
                <a:spcPts val="800"/>
              </a:spcBef>
              <a:buClr>
                <a:schemeClr val="accent1">
                  <a:lumMod val="50000"/>
                </a:schemeClr>
              </a:buClr>
              <a:buSzPct val="100000"/>
              <a:buFont typeface="Arial" pitchFamily="34" charset="0"/>
              <a:buChar char="▪"/>
              <a:defRPr sz="1800" kern="1200">
                <a:solidFill>
                  <a:schemeClr val="tx1"/>
                </a:solidFill>
                <a:latin typeface="+mn-lt"/>
                <a:ea typeface="+mn-ea"/>
                <a:cs typeface="+mn-cs"/>
              </a:defRPr>
            </a:lvl2pPr>
            <a:lvl3pPr marL="914400" indent="-228600" algn="l" defTabSz="914400" rtl="0" eaLnBrk="1" latinLnBrk="0" hangingPunct="1">
              <a:lnSpc>
                <a:spcPct val="90000"/>
              </a:lnSpc>
              <a:spcBef>
                <a:spcPts val="800"/>
              </a:spcBef>
              <a:buClr>
                <a:schemeClr val="accent1">
                  <a:lumMod val="50000"/>
                </a:schemeClr>
              </a:buClr>
              <a:buSzPct val="100000"/>
              <a:buFont typeface="Arial" pitchFamily="34" charset="0"/>
              <a:buChar char="▪"/>
              <a:defRPr sz="1600" kern="1200">
                <a:solidFill>
                  <a:schemeClr val="tx1"/>
                </a:solidFill>
                <a:latin typeface="+mn-lt"/>
                <a:ea typeface="+mn-ea"/>
                <a:cs typeface="+mn-cs"/>
              </a:defRPr>
            </a:lvl3pPr>
            <a:lvl4pPr marL="1188720" indent="-182880" algn="l" defTabSz="914400" rtl="0" eaLnBrk="1" latinLnBrk="0" hangingPunct="1">
              <a:lnSpc>
                <a:spcPct val="90000"/>
              </a:lnSpc>
              <a:spcBef>
                <a:spcPts val="800"/>
              </a:spcBef>
              <a:buClr>
                <a:schemeClr val="accent1">
                  <a:lumMod val="50000"/>
                </a:schemeClr>
              </a:buClr>
              <a:buSzPct val="100000"/>
              <a:buFont typeface="Arial" pitchFamily="34" charset="0"/>
              <a:buChar char="▪"/>
              <a:defRPr sz="1400" kern="1200">
                <a:solidFill>
                  <a:schemeClr val="tx1"/>
                </a:solidFill>
                <a:latin typeface="+mn-lt"/>
                <a:ea typeface="+mn-ea"/>
                <a:cs typeface="+mn-cs"/>
              </a:defRPr>
            </a:lvl4pPr>
            <a:lvl5pPr marL="1463040" indent="-182880" algn="l" defTabSz="914400" rtl="0" eaLnBrk="1" latinLnBrk="0" hangingPunct="1">
              <a:lnSpc>
                <a:spcPct val="90000"/>
              </a:lnSpc>
              <a:spcBef>
                <a:spcPts val="800"/>
              </a:spcBef>
              <a:buClr>
                <a:schemeClr val="accent1">
                  <a:lumMod val="50000"/>
                </a:schemeClr>
              </a:buClr>
              <a:buSzPct val="100000"/>
              <a:buFont typeface="Arial" pitchFamily="34" charset="0"/>
              <a:buChar char="▪"/>
              <a:defRPr sz="1400" kern="1200">
                <a:solidFill>
                  <a:schemeClr val="tx1"/>
                </a:solidFill>
                <a:latin typeface="+mn-lt"/>
                <a:ea typeface="+mn-ea"/>
                <a:cs typeface="+mn-cs"/>
              </a:defRPr>
            </a:lvl5pPr>
            <a:lvl6pPr marL="1691640" indent="-182880" algn="l" defTabSz="914400" rtl="0" eaLnBrk="1" latinLnBrk="0" hangingPunct="1">
              <a:lnSpc>
                <a:spcPct val="90000"/>
              </a:lnSpc>
              <a:spcBef>
                <a:spcPts val="800"/>
              </a:spcBef>
              <a:buClr>
                <a:schemeClr val="accent1">
                  <a:lumMod val="50000"/>
                </a:schemeClr>
              </a:buClr>
              <a:buSzPct val="100000"/>
              <a:buFont typeface="Arial" pitchFamily="34" charset="0"/>
              <a:buChar char="▪"/>
              <a:defRPr sz="1400" kern="1200">
                <a:solidFill>
                  <a:schemeClr val="tx1"/>
                </a:solidFill>
                <a:latin typeface="+mn-lt"/>
                <a:ea typeface="+mn-ea"/>
                <a:cs typeface="+mn-cs"/>
              </a:defRPr>
            </a:lvl6pPr>
            <a:lvl7pPr marL="1920240" indent="-182880" algn="l" defTabSz="914400" rtl="0" eaLnBrk="1" latinLnBrk="0" hangingPunct="1">
              <a:lnSpc>
                <a:spcPct val="90000"/>
              </a:lnSpc>
              <a:spcBef>
                <a:spcPts val="800"/>
              </a:spcBef>
              <a:buClr>
                <a:schemeClr val="accent1">
                  <a:lumMod val="50000"/>
                </a:schemeClr>
              </a:buClr>
              <a:buSzPct val="100000"/>
              <a:buFont typeface="Arial" pitchFamily="34" charset="0"/>
              <a:buChar char="▪"/>
              <a:defRPr sz="1400" kern="1200">
                <a:solidFill>
                  <a:schemeClr val="tx1"/>
                </a:solidFill>
                <a:latin typeface="+mn-lt"/>
                <a:ea typeface="+mn-ea"/>
                <a:cs typeface="+mn-cs"/>
              </a:defRPr>
            </a:lvl7pPr>
            <a:lvl8pPr marL="2148840" indent="-182880" algn="l" defTabSz="914400" rtl="0" eaLnBrk="1" latinLnBrk="0" hangingPunct="1">
              <a:lnSpc>
                <a:spcPct val="90000"/>
              </a:lnSpc>
              <a:spcBef>
                <a:spcPts val="800"/>
              </a:spcBef>
              <a:buClr>
                <a:schemeClr val="accent1">
                  <a:lumMod val="50000"/>
                </a:schemeClr>
              </a:buClr>
              <a:buSzPct val="100000"/>
              <a:buFont typeface="Arial" pitchFamily="34" charset="0"/>
              <a:buChar char="▪"/>
              <a:defRPr sz="1400" kern="1200">
                <a:solidFill>
                  <a:schemeClr val="tx1"/>
                </a:solidFill>
                <a:latin typeface="+mn-lt"/>
                <a:ea typeface="+mn-ea"/>
                <a:cs typeface="+mn-cs"/>
              </a:defRPr>
            </a:lvl8pPr>
            <a:lvl9pPr marL="2377440" indent="-182880" algn="l" defTabSz="914400" rtl="0" eaLnBrk="1" latinLnBrk="0" hangingPunct="1">
              <a:lnSpc>
                <a:spcPct val="90000"/>
              </a:lnSpc>
              <a:spcBef>
                <a:spcPts val="800"/>
              </a:spcBef>
              <a:buClr>
                <a:schemeClr val="accent1">
                  <a:lumMod val="50000"/>
                </a:schemeClr>
              </a:buClr>
              <a:buSzPct val="100000"/>
              <a:buFont typeface="Arial" pitchFamily="34" charset="0"/>
              <a:buChar char="▪"/>
              <a:defRPr sz="1400" kern="1200">
                <a:solidFill>
                  <a:schemeClr val="tx1"/>
                </a:solidFill>
                <a:latin typeface="+mn-lt"/>
                <a:ea typeface="+mn-ea"/>
                <a:cs typeface="+mn-cs"/>
              </a:defRPr>
            </a:lvl9pPr>
          </a:lstStyle>
          <a:p>
            <a:pPr marL="45720" indent="0">
              <a:buFont typeface="Arial" pitchFamily="34" charset="0"/>
              <a:buNone/>
            </a:pPr>
            <a:r>
              <a:rPr lang="es-ES" sz="3200" b="1" dirty="0"/>
              <a:t>Ejercicio</a:t>
            </a:r>
            <a:endParaRPr lang="es-CL" sz="3200" dirty="0"/>
          </a:p>
        </p:txBody>
      </p:sp>
      <p:sp>
        <p:nvSpPr>
          <p:cNvPr id="10" name="Marcador de contenido 2">
            <a:extLst>
              <a:ext uri="{FF2B5EF4-FFF2-40B4-BE49-F238E27FC236}">
                <a16:creationId xmlns:a16="http://schemas.microsoft.com/office/drawing/2014/main" id="{95502830-78A2-436C-AA5B-16E3F255CD93}"/>
              </a:ext>
            </a:extLst>
          </p:cNvPr>
          <p:cNvSpPr>
            <a:spLocks noGrp="1"/>
          </p:cNvSpPr>
          <p:nvPr>
            <p:ph idx="1"/>
          </p:nvPr>
        </p:nvSpPr>
        <p:spPr>
          <a:xfrm>
            <a:off x="568171" y="754600"/>
            <a:ext cx="11150353" cy="5912529"/>
          </a:xfrm>
        </p:spPr>
        <p:txBody>
          <a:bodyPr>
            <a:normAutofit fontScale="70000" lnSpcReduction="20000"/>
          </a:bodyPr>
          <a:lstStyle/>
          <a:p>
            <a:pPr marL="45720" indent="0">
              <a:lnSpc>
                <a:spcPct val="120000"/>
              </a:lnSpc>
              <a:buNone/>
            </a:pPr>
            <a:r>
              <a:rPr lang="es-ES" sz="3800" b="1" dirty="0"/>
              <a:t>¿Qué diseño de investigación (transversal o longitudinal) se describe en cada uno de los siguientes ejemplos?</a:t>
            </a:r>
          </a:p>
          <a:p>
            <a:pPr marL="45720" indent="0">
              <a:lnSpc>
                <a:spcPct val="120000"/>
              </a:lnSpc>
              <a:buNone/>
            </a:pPr>
            <a:endParaRPr lang="es-ES" sz="3200" dirty="0"/>
          </a:p>
          <a:p>
            <a:pPr marL="45720" indent="0">
              <a:lnSpc>
                <a:spcPct val="120000"/>
              </a:lnSpc>
              <a:buNone/>
            </a:pPr>
            <a:r>
              <a:rPr lang="es-ES" sz="3200" dirty="0"/>
              <a:t>1. Un estudio de los cambios en la inteligencia durante la edad adulta que </a:t>
            </a:r>
            <a:r>
              <a:rPr lang="es-ES" sz="3200" u="sng" dirty="0"/>
              <a:t>examina</a:t>
            </a:r>
            <a:r>
              <a:rPr lang="es-ES" sz="3200" dirty="0"/>
              <a:t> las habilidades intelectuales en </a:t>
            </a:r>
            <a:r>
              <a:rPr lang="es-ES" sz="3200" u="sng" dirty="0"/>
              <a:t>los mismos 1.500 individuos cada década </a:t>
            </a:r>
            <a:r>
              <a:rPr lang="es-ES" sz="3200" dirty="0"/>
              <a:t>desde los 50 a los 80 años</a:t>
            </a:r>
          </a:p>
          <a:p>
            <a:pPr marL="45720" indent="0">
              <a:lnSpc>
                <a:spcPct val="120000"/>
              </a:lnSpc>
              <a:buNone/>
            </a:pPr>
            <a:r>
              <a:rPr lang="es-ES" sz="3200" i="1" dirty="0"/>
              <a:t>	Longitudinal</a:t>
            </a:r>
          </a:p>
          <a:p>
            <a:pPr marL="45720" indent="0">
              <a:lnSpc>
                <a:spcPct val="120000"/>
              </a:lnSpc>
              <a:buNone/>
            </a:pPr>
            <a:endParaRPr lang="es-ES" sz="3200" i="1" dirty="0"/>
          </a:p>
          <a:p>
            <a:pPr marL="45720" indent="0">
              <a:lnSpc>
                <a:spcPct val="120000"/>
              </a:lnSpc>
              <a:buNone/>
            </a:pPr>
            <a:r>
              <a:rPr lang="es-ES" sz="3200" dirty="0"/>
              <a:t>2. Un examen de los cambios de la niñez en el desarrollo social que </a:t>
            </a:r>
            <a:r>
              <a:rPr lang="es-ES" sz="3200" u="sng" dirty="0"/>
              <a:t>muestrea de manera representativa y luego compara</a:t>
            </a:r>
            <a:r>
              <a:rPr lang="es-ES" sz="3200" dirty="0"/>
              <a:t> a 18,000 participantes asignados a grupos de niños de 4, 8 y 12 años</a:t>
            </a:r>
          </a:p>
          <a:p>
            <a:pPr marL="45720" indent="0">
              <a:lnSpc>
                <a:spcPct val="120000"/>
              </a:lnSpc>
              <a:buNone/>
            </a:pPr>
            <a:r>
              <a:rPr lang="es-ES" sz="3200" i="1" dirty="0"/>
              <a:t>	Transversal</a:t>
            </a:r>
          </a:p>
        </p:txBody>
      </p:sp>
    </p:spTree>
    <p:extLst>
      <p:ext uri="{BB962C8B-B14F-4D97-AF65-F5344CB8AC3E}">
        <p14:creationId xmlns:p14="http://schemas.microsoft.com/office/powerpoint/2010/main" val="32615926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2967039" y="3605401"/>
            <a:ext cx="6257925" cy="514350"/>
          </a:xfrm>
        </p:spPr>
        <p:txBody>
          <a:bodyPr rtlCol="0">
            <a:normAutofit fontScale="90000"/>
          </a:bodyPr>
          <a:lstStyle/>
          <a:p>
            <a:pPr rtl="0"/>
            <a:r>
              <a:rPr lang="es-ES" sz="4125" b="1" spc="125" dirty="0">
                <a:solidFill>
                  <a:schemeClr val="tx1"/>
                </a:solidFill>
                <a:latin typeface="+mn-lt"/>
              </a:rPr>
              <a:t>Ética de la investigación social</a:t>
            </a:r>
            <a:br>
              <a:rPr lang="es-ES" sz="4125" b="1" spc="125" dirty="0">
                <a:solidFill>
                  <a:schemeClr val="tx1"/>
                </a:solidFill>
                <a:latin typeface="+mn-lt"/>
              </a:rPr>
            </a:br>
            <a:br>
              <a:rPr lang="es-ES" sz="4125" b="1" spc="125" dirty="0">
                <a:solidFill>
                  <a:schemeClr val="tx1"/>
                </a:solidFill>
                <a:latin typeface="+mn-lt"/>
              </a:rPr>
            </a:br>
            <a:r>
              <a:rPr lang="es-ES" sz="2700" b="1" spc="125" dirty="0">
                <a:solidFill>
                  <a:schemeClr val="tx1"/>
                </a:solidFill>
                <a:latin typeface="+mn-lt"/>
              </a:rPr>
              <a:t> </a:t>
            </a:r>
            <a:endParaRPr lang="es-ES" sz="4125" b="1" spc="125" dirty="0">
              <a:solidFill>
                <a:schemeClr val="tx1"/>
              </a:solidFill>
              <a:latin typeface="+mn-lt"/>
            </a:endParaRPr>
          </a:p>
        </p:txBody>
      </p:sp>
      <p:sp>
        <p:nvSpPr>
          <p:cNvPr id="3" name="Subtítulo 2"/>
          <p:cNvSpPr>
            <a:spLocks noGrp="1"/>
          </p:cNvSpPr>
          <p:nvPr>
            <p:ph type="subTitle" idx="1"/>
          </p:nvPr>
        </p:nvSpPr>
        <p:spPr>
          <a:xfrm>
            <a:off x="2561108" y="2839851"/>
            <a:ext cx="6804756" cy="1279900"/>
          </a:xfrm>
        </p:spPr>
        <p:txBody>
          <a:bodyPr rtlCol="0">
            <a:normAutofit/>
          </a:bodyPr>
          <a:lstStyle/>
          <a:p>
            <a:pPr rtl="0"/>
            <a:endParaRPr lang="es-ES" b="1" dirty="0">
              <a:solidFill>
                <a:srgbClr val="0070C0"/>
              </a:solidFill>
              <a:latin typeface="Segoe UI Light" panose="020B0502040204020203" pitchFamily="34" charset="0"/>
              <a:cs typeface="Segoe UI Light" panose="020B0502040204020203" pitchFamily="34" charset="0"/>
            </a:endParaRPr>
          </a:p>
          <a:p>
            <a:pPr rtl="0"/>
            <a:endParaRPr lang="es-ES" b="1" dirty="0">
              <a:solidFill>
                <a:srgbClr val="0070C0"/>
              </a:solidFill>
              <a:latin typeface="Segoe UI Light" panose="020B0502040204020203" pitchFamily="34" charset="0"/>
              <a:cs typeface="Segoe UI Light" panose="020B0502040204020203" pitchFamily="34" charset="0"/>
            </a:endParaRPr>
          </a:p>
          <a:p>
            <a:endParaRPr lang="es-ES" sz="1350" b="1" dirty="0">
              <a:solidFill>
                <a:srgbClr val="0070C0"/>
              </a:solidFill>
              <a:latin typeface="Segoe UI Light" panose="020B0502040204020203" pitchFamily="34" charset="0"/>
              <a:cs typeface="Segoe UI Light" panose="020B0502040204020203" pitchFamily="34" charset="0"/>
            </a:endParaRPr>
          </a:p>
          <a:p>
            <a:pPr marL="5776">
              <a:lnSpc>
                <a:spcPct val="100000"/>
              </a:lnSpc>
              <a:spcBef>
                <a:spcPts val="5"/>
              </a:spcBef>
            </a:pPr>
            <a:endParaRPr lang="es-MX" sz="1350" b="1" dirty="0">
              <a:solidFill>
                <a:srgbClr val="0070C0"/>
              </a:solidFill>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25059216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normAutofit/>
          </a:bodyPr>
          <a:lstStyle/>
          <a:p>
            <a:pPr>
              <a:buNone/>
            </a:pPr>
            <a:endParaRPr lang="es-ES" dirty="0"/>
          </a:p>
          <a:p>
            <a:pPr>
              <a:buNone/>
            </a:pPr>
            <a:endParaRPr lang="es-ES" dirty="0"/>
          </a:p>
          <a:p>
            <a:pPr>
              <a:buNone/>
            </a:pPr>
            <a:endParaRPr lang="es-ES" dirty="0"/>
          </a:p>
          <a:p>
            <a:pPr>
              <a:buNone/>
            </a:pPr>
            <a:endParaRPr lang="es-ES" dirty="0"/>
          </a:p>
          <a:p>
            <a:pPr>
              <a:buNone/>
            </a:pPr>
            <a:endParaRPr lang="es-ES" dirty="0"/>
          </a:p>
          <a:p>
            <a:pPr>
              <a:buNone/>
            </a:pPr>
            <a:endParaRPr lang="es-ES" dirty="0"/>
          </a:p>
          <a:p>
            <a:pPr algn="ctr">
              <a:buNone/>
            </a:pPr>
            <a:r>
              <a:rPr lang="es-ES" dirty="0">
                <a:latin typeface="+mj-lt"/>
              </a:rPr>
              <a:t>¿Realmente lo vale?</a:t>
            </a:r>
          </a:p>
        </p:txBody>
      </p:sp>
      <p:pic>
        <p:nvPicPr>
          <p:cNvPr id="4" name="Picture 2" descr="C:\Users\Daniela S\Desktop\descarga.jpg"/>
          <p:cNvPicPr>
            <a:picLocks noChangeAspect="1" noChangeArrowheads="1"/>
          </p:cNvPicPr>
          <p:nvPr/>
        </p:nvPicPr>
        <p:blipFill>
          <a:blip r:embed="rId2" cstate="print"/>
          <a:srcRect/>
          <a:stretch>
            <a:fillRect/>
          </a:stretch>
        </p:blipFill>
        <p:spPr bwMode="auto">
          <a:xfrm>
            <a:off x="3575721" y="1340768"/>
            <a:ext cx="5247685" cy="3312368"/>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2063552" y="1412776"/>
            <a:ext cx="7886700" cy="4351338"/>
          </a:xfrm>
        </p:spPr>
        <p:txBody>
          <a:bodyPr>
            <a:normAutofit/>
          </a:bodyPr>
          <a:lstStyle/>
          <a:p>
            <a:pPr algn="ctr">
              <a:buNone/>
            </a:pPr>
            <a:r>
              <a:rPr lang="es-ES" b="1" dirty="0">
                <a:latin typeface="+mj-lt"/>
              </a:rPr>
              <a:t>¿Los/as participantes están en riesgo?</a:t>
            </a:r>
          </a:p>
          <a:p>
            <a:pPr algn="ctr">
              <a:buNone/>
            </a:pPr>
            <a:endParaRPr lang="es-ES" b="1" dirty="0">
              <a:latin typeface="+mj-lt"/>
            </a:endParaRPr>
          </a:p>
          <a:p>
            <a:pPr algn="ctr">
              <a:buNone/>
            </a:pPr>
            <a:endParaRPr lang="es-ES" b="1" dirty="0">
              <a:latin typeface="+mj-lt"/>
            </a:endParaRPr>
          </a:p>
          <a:p>
            <a:pPr algn="ctr">
              <a:buNone/>
            </a:pPr>
            <a:endParaRPr lang="es-ES" b="1" dirty="0">
              <a:latin typeface="+mj-lt"/>
            </a:endParaRPr>
          </a:p>
          <a:p>
            <a:pPr algn="ctr">
              <a:buNone/>
            </a:pPr>
            <a:r>
              <a:rPr lang="es-ES" b="1" dirty="0">
                <a:latin typeface="+mj-lt"/>
              </a:rPr>
              <a:t>¿Qué tipo de riesgo?</a:t>
            </a:r>
          </a:p>
          <a:p>
            <a:pPr algn="ctr">
              <a:buNone/>
            </a:pPr>
            <a:r>
              <a:rPr lang="es-ES" dirty="0">
                <a:latin typeface="+mj-lt"/>
              </a:rPr>
              <a:t>Daños físicos, sociales, emocionales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Usuario\Desktop\Descargas\Milgram_Experiment_advertising.png"/>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6384032" y="764704"/>
            <a:ext cx="2785032" cy="4351338"/>
          </a:xfrm>
          <a:prstGeom prst="rect">
            <a:avLst/>
          </a:prstGeom>
          <a:noFill/>
          <a:extLst>
            <a:ext uri="{909E8E84-426E-40dd-AFC4-6F175D3DCCD1}">
              <a14:hiddenFill xmlns="" xmlns:a14="http://schemas.microsoft.com/office/drawing/2010/main">
                <a:solidFill>
                  <a:srgbClr val="FFFFFF"/>
                </a:solidFill>
              </a14:hiddenFill>
            </a:ext>
          </a:extLst>
        </p:spPr>
      </p:pic>
      <p:pic>
        <p:nvPicPr>
          <p:cNvPr id="5" name="Picture 3" descr="C:\Users\Daniela S\Desktop\Imagen-3-El-experimento-Milgram.jpg"/>
          <p:cNvPicPr>
            <a:picLocks noChangeAspect="1" noChangeArrowheads="1"/>
          </p:cNvPicPr>
          <p:nvPr/>
        </p:nvPicPr>
        <p:blipFill>
          <a:blip r:embed="rId3" cstate="print"/>
          <a:srcRect/>
          <a:stretch>
            <a:fillRect/>
          </a:stretch>
        </p:blipFill>
        <p:spPr bwMode="auto">
          <a:xfrm>
            <a:off x="2711624" y="3212976"/>
            <a:ext cx="2605658" cy="1872208"/>
          </a:xfrm>
          <a:prstGeom prst="rect">
            <a:avLst/>
          </a:prstGeom>
          <a:noFill/>
        </p:spPr>
      </p:pic>
      <p:pic>
        <p:nvPicPr>
          <p:cNvPr id="3074" name="Picture 2" descr="C:\Users\Daniela S\Desktop\Stanley Milgram Experiment.jpg"/>
          <p:cNvPicPr>
            <a:picLocks noChangeAspect="1" noChangeArrowheads="1"/>
          </p:cNvPicPr>
          <p:nvPr/>
        </p:nvPicPr>
        <p:blipFill>
          <a:blip r:embed="rId4" cstate="print"/>
          <a:srcRect/>
          <a:stretch>
            <a:fillRect/>
          </a:stretch>
        </p:blipFill>
        <p:spPr bwMode="auto">
          <a:xfrm>
            <a:off x="2711625" y="980728"/>
            <a:ext cx="2592289" cy="1944216"/>
          </a:xfrm>
          <a:prstGeom prst="rect">
            <a:avLst/>
          </a:prstGeom>
          <a:noFill/>
        </p:spPr>
      </p:pic>
      <p:sp>
        <p:nvSpPr>
          <p:cNvPr id="7" name="2 Marcador de contenido"/>
          <p:cNvSpPr txBox="1">
            <a:spLocks/>
          </p:cNvSpPr>
          <p:nvPr/>
        </p:nvSpPr>
        <p:spPr>
          <a:xfrm>
            <a:off x="1631504" y="5301208"/>
            <a:ext cx="4788024" cy="562298"/>
          </a:xfrm>
          <a:prstGeom prst="rect">
            <a:avLst/>
          </a:prstGeom>
        </p:spPr>
        <p:txBody>
          <a:bodyPr vert="horz" lIns="91440" tIns="45720" rIns="91440" bIns="45720" rtlCol="0">
            <a:normAutofit/>
          </a:bodyPr>
          <a:lstStyle/>
          <a:p>
            <a:pPr marL="228600" indent="-228600" algn="ctr">
              <a:lnSpc>
                <a:spcPct val="90000"/>
              </a:lnSpc>
              <a:spcBef>
                <a:spcPts val="1000"/>
              </a:spcBef>
              <a:defRPr/>
            </a:pPr>
            <a:r>
              <a:rPr lang="es-ES" sz="2000" dirty="0" err="1">
                <a:latin typeface="+mj-lt"/>
              </a:rPr>
              <a:t>Milgram</a:t>
            </a:r>
            <a:r>
              <a:rPr lang="es-ES" sz="2000" dirty="0">
                <a:latin typeface="+mj-lt"/>
              </a:rPr>
              <a:t> (1963)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35560" y="692697"/>
            <a:ext cx="7886700" cy="1325563"/>
          </a:xfrm>
        </p:spPr>
        <p:txBody>
          <a:bodyPr>
            <a:noAutofit/>
          </a:bodyPr>
          <a:lstStyle/>
          <a:p>
            <a:pPr algn="ctr"/>
            <a:r>
              <a:rPr lang="es-CL" sz="3000" b="1" dirty="0">
                <a:solidFill>
                  <a:schemeClr val="tx1"/>
                </a:solidFill>
              </a:rPr>
              <a:t>El experimento original ciertamente causó estrés, pero no daño</a:t>
            </a:r>
            <a:endParaRPr lang="en-US" sz="3000" b="1" dirty="0">
              <a:solidFill>
                <a:schemeClr val="tx1"/>
              </a:solidFill>
            </a:endParaRPr>
          </a:p>
        </p:txBody>
      </p:sp>
      <p:sp>
        <p:nvSpPr>
          <p:cNvPr id="3" name="Content Placeholder 2"/>
          <p:cNvSpPr>
            <a:spLocks noGrp="1"/>
          </p:cNvSpPr>
          <p:nvPr>
            <p:ph idx="1"/>
          </p:nvPr>
        </p:nvSpPr>
        <p:spPr>
          <a:xfrm>
            <a:off x="2135560" y="1988840"/>
            <a:ext cx="7886700" cy="4351338"/>
          </a:xfrm>
        </p:spPr>
        <p:txBody>
          <a:bodyPr>
            <a:normAutofit/>
          </a:bodyPr>
          <a:lstStyle/>
          <a:p>
            <a:endParaRPr lang="es-CL" sz="2400" dirty="0">
              <a:latin typeface="+mj-lt"/>
            </a:endParaRPr>
          </a:p>
          <a:p>
            <a:r>
              <a:rPr lang="es-CL" sz="2400" dirty="0">
                <a:latin typeface="+mj-lt"/>
              </a:rPr>
              <a:t>84% de los/as participantes dijo estar «contento» o «muy contento» con haber participado</a:t>
            </a:r>
          </a:p>
          <a:p>
            <a:endParaRPr lang="es-CL" sz="2400" dirty="0">
              <a:latin typeface="+mj-lt"/>
            </a:endParaRPr>
          </a:p>
          <a:p>
            <a:r>
              <a:rPr lang="es-CL" sz="2400" dirty="0">
                <a:latin typeface="+mj-lt"/>
              </a:rPr>
              <a:t>Una evaluación de los/as 40 participantes que sufrieron más estrés no encontró evidencia de daños psicológicos</a:t>
            </a:r>
          </a:p>
        </p:txBody>
      </p:sp>
    </p:spTree>
    <p:extLst>
      <p:ext uri="{BB962C8B-B14F-4D97-AF65-F5344CB8AC3E}">
        <p14:creationId xmlns:p14="http://schemas.microsoft.com/office/powerpoint/2010/main" val="31360877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4" name="Picture 4" descr="C:\Users\Daniela S\Desktop\pygmalion_effect1.jpg"/>
          <p:cNvPicPr>
            <a:picLocks noChangeAspect="1" noChangeArrowheads="1"/>
          </p:cNvPicPr>
          <p:nvPr/>
        </p:nvPicPr>
        <p:blipFill>
          <a:blip r:embed="rId2" cstate="print"/>
          <a:srcRect/>
          <a:stretch>
            <a:fillRect/>
          </a:stretch>
        </p:blipFill>
        <p:spPr bwMode="auto">
          <a:xfrm>
            <a:off x="3215680" y="980728"/>
            <a:ext cx="5787726" cy="4472334"/>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2 Marcador de contenido"/>
          <p:cNvSpPr txBox="1">
            <a:spLocks/>
          </p:cNvSpPr>
          <p:nvPr/>
        </p:nvSpPr>
        <p:spPr>
          <a:xfrm>
            <a:off x="1775520" y="5517232"/>
            <a:ext cx="4788024" cy="562298"/>
          </a:xfrm>
          <a:prstGeom prst="rect">
            <a:avLst/>
          </a:prstGeom>
        </p:spPr>
        <p:txBody>
          <a:bodyPr vert="horz" lIns="91440" tIns="45720" rIns="91440" bIns="45720" rtlCol="0">
            <a:normAutofit/>
          </a:bodyPr>
          <a:lstStyle/>
          <a:p>
            <a:pPr marL="228600" indent="-228600" algn="ctr">
              <a:lnSpc>
                <a:spcPct val="90000"/>
              </a:lnSpc>
              <a:spcBef>
                <a:spcPts val="1000"/>
              </a:spcBef>
              <a:defRPr/>
            </a:pPr>
            <a:r>
              <a:rPr lang="es-ES" sz="2000" dirty="0" err="1">
                <a:latin typeface="+mj-lt"/>
              </a:rPr>
              <a:t>Roshental</a:t>
            </a:r>
            <a:r>
              <a:rPr lang="es-ES" sz="2000" dirty="0">
                <a:latin typeface="+mj-lt"/>
              </a:rPr>
              <a:t> &amp; Jacobson (1966)</a:t>
            </a:r>
          </a:p>
        </p:txBody>
      </p:sp>
      <p:pic>
        <p:nvPicPr>
          <p:cNvPr id="9" name="Marcador de contenido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783633" y="908720"/>
            <a:ext cx="6215097" cy="4351338"/>
          </a:xfr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010567" y="620689"/>
            <a:ext cx="8170867" cy="4741987"/>
          </a:xfrm>
        </p:spPr>
      </p:pic>
    </p:spTree>
    <p:extLst>
      <p:ext uri="{BB962C8B-B14F-4D97-AF65-F5344CB8AC3E}">
        <p14:creationId xmlns:p14="http://schemas.microsoft.com/office/powerpoint/2010/main" val="41335077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135560" y="332657"/>
            <a:ext cx="7886700" cy="1325563"/>
          </a:xfrm>
        </p:spPr>
        <p:txBody>
          <a:bodyPr>
            <a:normAutofit/>
          </a:bodyPr>
          <a:lstStyle/>
          <a:p>
            <a:pPr algn="ctr"/>
            <a:r>
              <a:rPr lang="es-ES" sz="3200" b="1" dirty="0">
                <a:solidFill>
                  <a:schemeClr val="tx1"/>
                </a:solidFill>
              </a:rPr>
              <a:t>¿Qué determina si realmente lo vale? </a:t>
            </a:r>
          </a:p>
        </p:txBody>
      </p:sp>
      <p:sp>
        <p:nvSpPr>
          <p:cNvPr id="3" name="2 Marcador de contenido"/>
          <p:cNvSpPr>
            <a:spLocks noGrp="1"/>
          </p:cNvSpPr>
          <p:nvPr>
            <p:ph idx="1"/>
          </p:nvPr>
        </p:nvSpPr>
        <p:spPr>
          <a:xfrm>
            <a:off x="2152650" y="1916832"/>
            <a:ext cx="7886700" cy="4351338"/>
          </a:xfrm>
        </p:spPr>
        <p:txBody>
          <a:bodyPr>
            <a:normAutofit/>
          </a:bodyPr>
          <a:lstStyle/>
          <a:p>
            <a:pPr algn="ctr">
              <a:buNone/>
            </a:pPr>
            <a:r>
              <a:rPr lang="es-ES" dirty="0">
                <a:latin typeface="+mj-lt"/>
                <a:cs typeface="Adobe Arabic" pitchFamily="18" charset="-78"/>
              </a:rPr>
              <a:t>¿Hay algún otro procedimiento para comprobar la hipótesis?</a:t>
            </a:r>
          </a:p>
          <a:p>
            <a:pPr algn="ctr">
              <a:buNone/>
            </a:pPr>
            <a:endParaRPr lang="es-ES" dirty="0">
              <a:latin typeface="+mj-lt"/>
              <a:cs typeface="Adobe Arabic" pitchFamily="18" charset="-78"/>
            </a:endParaRPr>
          </a:p>
          <a:p>
            <a:pPr algn="ctr">
              <a:buNone/>
            </a:pPr>
            <a:r>
              <a:rPr lang="es-ES" dirty="0">
                <a:latin typeface="+mj-lt"/>
                <a:cs typeface="Adobe Arabic" pitchFamily="18" charset="-78"/>
              </a:rPr>
              <a:t>¿Cuál es la relación entre el riesgo y el beneficio del estudio?</a:t>
            </a:r>
          </a:p>
          <a:p>
            <a:pPr algn="ctr">
              <a:buNone/>
            </a:pPr>
            <a:endParaRPr lang="es-ES" sz="2400" dirty="0">
              <a:latin typeface="Abadi Extra Light"/>
              <a:cs typeface="Adobe Arabic" pitchFamily="18" charset="-78"/>
            </a:endParaRPr>
          </a:p>
          <a:p>
            <a:pPr algn="ctr">
              <a:buNone/>
            </a:pPr>
            <a:endParaRPr lang="es-ES" sz="2400" dirty="0">
              <a:latin typeface="Abadi Extra Light"/>
              <a:cs typeface="Adobe Arabic" pitchFamily="18" charset="-78"/>
            </a:endParaRPr>
          </a:p>
          <a:p>
            <a:pPr algn="ctr">
              <a:buNone/>
            </a:pPr>
            <a:r>
              <a:rPr lang="es-ES" sz="3200" b="1" dirty="0">
                <a:latin typeface="+mj-lt"/>
                <a:cs typeface="Adobe Arabic" pitchFamily="18" charset="-78"/>
              </a:rPr>
              <a:t>Comités de Ética</a:t>
            </a:r>
          </a:p>
        </p:txBody>
      </p:sp>
      <p:sp>
        <p:nvSpPr>
          <p:cNvPr id="4" name="3 Flecha abajo"/>
          <p:cNvSpPr/>
          <p:nvPr/>
        </p:nvSpPr>
        <p:spPr>
          <a:xfrm>
            <a:off x="5862886" y="3804469"/>
            <a:ext cx="432048" cy="576064"/>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pPr algn="ctr"/>
            <a:r>
              <a:rPr lang="es-ES" sz="3200" b="1" dirty="0">
                <a:solidFill>
                  <a:schemeClr val="tx1"/>
                </a:solidFill>
              </a:rPr>
              <a:t>¿Engañar o no engañar?</a:t>
            </a:r>
          </a:p>
        </p:txBody>
      </p:sp>
      <p:sp>
        <p:nvSpPr>
          <p:cNvPr id="3" name="2 Marcador de contenido"/>
          <p:cNvSpPr>
            <a:spLocks noGrp="1"/>
          </p:cNvSpPr>
          <p:nvPr>
            <p:ph idx="1"/>
          </p:nvPr>
        </p:nvSpPr>
        <p:spPr>
          <a:xfrm>
            <a:off x="2135560" y="1700808"/>
            <a:ext cx="7886700" cy="4351338"/>
          </a:xfrm>
        </p:spPr>
        <p:txBody>
          <a:bodyPr>
            <a:normAutofit/>
          </a:bodyPr>
          <a:lstStyle/>
          <a:p>
            <a:pPr algn="ctr">
              <a:lnSpc>
                <a:spcPct val="100000"/>
              </a:lnSpc>
              <a:spcBef>
                <a:spcPts val="0"/>
              </a:spcBef>
              <a:buNone/>
            </a:pPr>
            <a:endParaRPr lang="es-ES" dirty="0">
              <a:latin typeface="+mj-lt"/>
            </a:endParaRPr>
          </a:p>
          <a:p>
            <a:pPr>
              <a:lnSpc>
                <a:spcPct val="100000"/>
              </a:lnSpc>
              <a:spcBef>
                <a:spcPts val="0"/>
              </a:spcBef>
              <a:buNone/>
            </a:pPr>
            <a:r>
              <a:rPr lang="es-ES" dirty="0" err="1">
                <a:latin typeface="+mj-lt"/>
              </a:rPr>
              <a:t>Baumrind</a:t>
            </a:r>
            <a:r>
              <a:rPr lang="es-ES" dirty="0">
                <a:latin typeface="+mj-lt"/>
              </a:rPr>
              <a:t> (1985):</a:t>
            </a:r>
          </a:p>
          <a:p>
            <a:pPr>
              <a:lnSpc>
                <a:spcPct val="100000"/>
              </a:lnSpc>
              <a:spcBef>
                <a:spcPts val="0"/>
              </a:spcBef>
              <a:buNone/>
            </a:pPr>
            <a:endParaRPr lang="es-ES" dirty="0">
              <a:latin typeface="+mj-lt"/>
            </a:endParaRPr>
          </a:p>
          <a:p>
            <a:pPr>
              <a:lnSpc>
                <a:spcPct val="100000"/>
              </a:lnSpc>
              <a:spcBef>
                <a:spcPts val="0"/>
              </a:spcBef>
              <a:buFontTx/>
              <a:buChar char="-"/>
            </a:pPr>
            <a:r>
              <a:rPr lang="es-ES" dirty="0">
                <a:latin typeface="+mj-lt"/>
              </a:rPr>
              <a:t>Socava la confianza de los participante en su propio juicio</a:t>
            </a:r>
          </a:p>
          <a:p>
            <a:pPr>
              <a:lnSpc>
                <a:spcPct val="100000"/>
              </a:lnSpc>
              <a:spcBef>
                <a:spcPts val="0"/>
              </a:spcBef>
              <a:buFontTx/>
              <a:buChar char="-"/>
            </a:pPr>
            <a:r>
              <a:rPr lang="es-ES" dirty="0">
                <a:latin typeface="+mj-lt"/>
              </a:rPr>
              <a:t>Genera la creencia de que los/as psicólogos/as son engañosos/as</a:t>
            </a:r>
          </a:p>
          <a:p>
            <a:pPr>
              <a:lnSpc>
                <a:spcPct val="100000"/>
              </a:lnSpc>
              <a:spcBef>
                <a:spcPts val="0"/>
              </a:spcBef>
              <a:buFontTx/>
              <a:buChar char="-"/>
            </a:pPr>
            <a:r>
              <a:rPr lang="es-ES" dirty="0">
                <a:latin typeface="+mj-lt"/>
              </a:rPr>
              <a:t>Disminuye la confianza hacia los/as expertos/as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1 Título"/>
          <p:cNvSpPr>
            <a:spLocks noGrp="1"/>
          </p:cNvSpPr>
          <p:nvPr>
            <p:ph type="title"/>
          </p:nvPr>
        </p:nvSpPr>
        <p:spPr/>
        <p:txBody>
          <a:bodyPr>
            <a:normAutofit/>
          </a:bodyPr>
          <a:lstStyle/>
          <a:p>
            <a:pPr algn="ctr"/>
            <a:r>
              <a:rPr lang="es-ES" sz="3200" b="1" dirty="0">
                <a:solidFill>
                  <a:schemeClr val="tx1"/>
                </a:solidFill>
              </a:rPr>
              <a:t>¿Engañar o no engañar?</a:t>
            </a:r>
          </a:p>
        </p:txBody>
      </p:sp>
      <p:sp>
        <p:nvSpPr>
          <p:cNvPr id="3" name="2 Marcador de contenido"/>
          <p:cNvSpPr>
            <a:spLocks noGrp="1"/>
          </p:cNvSpPr>
          <p:nvPr>
            <p:ph idx="1"/>
          </p:nvPr>
        </p:nvSpPr>
        <p:spPr>
          <a:xfrm>
            <a:off x="2135560" y="1700808"/>
            <a:ext cx="7886700" cy="4351338"/>
          </a:xfrm>
        </p:spPr>
        <p:txBody>
          <a:bodyPr>
            <a:normAutofit/>
          </a:bodyPr>
          <a:lstStyle/>
          <a:p>
            <a:pPr algn="ctr">
              <a:lnSpc>
                <a:spcPct val="100000"/>
              </a:lnSpc>
              <a:spcBef>
                <a:spcPts val="0"/>
              </a:spcBef>
              <a:buNone/>
            </a:pPr>
            <a:r>
              <a:rPr lang="es-ES" sz="2600" dirty="0">
                <a:latin typeface="+mj-lt"/>
              </a:rPr>
              <a:t>En realidad, los engaños no parecen molestar a los/as participantes</a:t>
            </a:r>
          </a:p>
          <a:p>
            <a:pPr algn="ctr">
              <a:lnSpc>
                <a:spcPct val="100000"/>
              </a:lnSpc>
              <a:spcBef>
                <a:spcPts val="0"/>
              </a:spcBef>
              <a:buNone/>
            </a:pPr>
            <a:endParaRPr lang="es-ES" sz="2600" dirty="0">
              <a:latin typeface="+mj-lt"/>
            </a:endParaRPr>
          </a:p>
          <a:p>
            <a:pPr algn="ctr">
              <a:lnSpc>
                <a:spcPct val="100000"/>
              </a:lnSpc>
              <a:spcBef>
                <a:spcPts val="0"/>
              </a:spcBef>
              <a:buNone/>
            </a:pPr>
            <a:endParaRPr lang="es-ES" sz="2600" dirty="0">
              <a:latin typeface="+mj-lt"/>
            </a:endParaRPr>
          </a:p>
          <a:p>
            <a:pPr algn="ctr">
              <a:lnSpc>
                <a:spcPct val="100000"/>
              </a:lnSpc>
              <a:spcBef>
                <a:spcPts val="0"/>
              </a:spcBef>
              <a:buNone/>
            </a:pPr>
            <a:r>
              <a:rPr lang="es-ES" sz="2600" dirty="0">
                <a:latin typeface="+mj-lt"/>
              </a:rPr>
              <a:t>“Una regla absoluta que prohíba el uso del engaño en toda investigación psicológica tendría las atroces consecuencias de impedir a los investigadores el llevar a cabo una amplia gama de importantes estudios”</a:t>
            </a:r>
          </a:p>
          <a:p>
            <a:pPr algn="ctr">
              <a:lnSpc>
                <a:spcPct val="100000"/>
              </a:lnSpc>
              <a:spcBef>
                <a:spcPts val="0"/>
              </a:spcBef>
              <a:buNone/>
            </a:pPr>
            <a:r>
              <a:rPr lang="es-ES" sz="2600" dirty="0">
                <a:latin typeface="+mj-lt"/>
              </a:rPr>
              <a:t> </a:t>
            </a:r>
          </a:p>
          <a:p>
            <a:pPr algn="ctr">
              <a:lnSpc>
                <a:spcPct val="100000"/>
              </a:lnSpc>
              <a:spcBef>
                <a:spcPts val="0"/>
              </a:spcBef>
              <a:buNone/>
            </a:pPr>
            <a:r>
              <a:rPr lang="es-ES" sz="2600" dirty="0" err="1">
                <a:latin typeface="+mj-lt"/>
              </a:rPr>
              <a:t>Kimmel</a:t>
            </a:r>
            <a:r>
              <a:rPr lang="es-ES" sz="2600" dirty="0">
                <a:latin typeface="+mj-lt"/>
              </a:rPr>
              <a:t> (1998)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1 Título"/>
          <p:cNvSpPr>
            <a:spLocks noGrp="1"/>
          </p:cNvSpPr>
          <p:nvPr>
            <p:ph type="title"/>
          </p:nvPr>
        </p:nvSpPr>
        <p:spPr/>
        <p:txBody>
          <a:bodyPr>
            <a:normAutofit/>
          </a:bodyPr>
          <a:lstStyle/>
          <a:p>
            <a:pPr algn="ctr"/>
            <a:r>
              <a:rPr lang="es-ES" sz="3200" dirty="0"/>
              <a:t>¿Engañar o no engañar?</a:t>
            </a:r>
          </a:p>
        </p:txBody>
      </p:sp>
      <p:sp>
        <p:nvSpPr>
          <p:cNvPr id="3" name="2 Marcador de contenido"/>
          <p:cNvSpPr>
            <a:spLocks noGrp="1"/>
          </p:cNvSpPr>
          <p:nvPr>
            <p:ph idx="1"/>
          </p:nvPr>
        </p:nvSpPr>
        <p:spPr>
          <a:xfrm>
            <a:off x="2135560" y="1700808"/>
            <a:ext cx="7886700" cy="4351338"/>
          </a:xfrm>
        </p:spPr>
        <p:txBody>
          <a:bodyPr>
            <a:normAutofit/>
          </a:bodyPr>
          <a:lstStyle/>
          <a:p>
            <a:pPr algn="ctr">
              <a:lnSpc>
                <a:spcPct val="100000"/>
              </a:lnSpc>
              <a:spcBef>
                <a:spcPts val="0"/>
              </a:spcBef>
              <a:buNone/>
            </a:pPr>
            <a:r>
              <a:rPr lang="es-ES" sz="2600" b="1" dirty="0">
                <a:latin typeface="+mj-lt"/>
              </a:rPr>
              <a:t>¿Supone un beneficio para la sociedad o viola los principios morales?</a:t>
            </a:r>
          </a:p>
          <a:p>
            <a:pPr algn="ctr">
              <a:lnSpc>
                <a:spcPct val="100000"/>
              </a:lnSpc>
              <a:spcBef>
                <a:spcPts val="0"/>
              </a:spcBef>
              <a:buNone/>
            </a:pPr>
            <a:endParaRPr lang="es-ES" sz="2600" dirty="0">
              <a:latin typeface="+mj-lt"/>
            </a:endParaRPr>
          </a:p>
          <a:p>
            <a:pPr algn="ctr">
              <a:lnSpc>
                <a:spcPct val="100000"/>
              </a:lnSpc>
              <a:spcBef>
                <a:spcPts val="0"/>
              </a:spcBef>
              <a:buNone/>
            </a:pPr>
            <a:endParaRPr lang="es-ES" sz="2600" dirty="0">
              <a:latin typeface="+mj-lt"/>
            </a:endParaRPr>
          </a:p>
          <a:p>
            <a:pPr algn="ctr">
              <a:lnSpc>
                <a:spcPct val="100000"/>
              </a:lnSpc>
              <a:spcBef>
                <a:spcPts val="0"/>
              </a:spcBef>
              <a:buNone/>
            </a:pPr>
            <a:r>
              <a:rPr lang="es-ES" sz="2600" dirty="0">
                <a:latin typeface="+mj-lt"/>
              </a:rPr>
              <a:t>Pregunta de investigación: </a:t>
            </a:r>
          </a:p>
          <a:p>
            <a:pPr algn="ctr">
              <a:lnSpc>
                <a:spcPct val="100000"/>
              </a:lnSpc>
              <a:spcBef>
                <a:spcPts val="0"/>
              </a:spcBef>
              <a:buNone/>
            </a:pPr>
            <a:r>
              <a:rPr lang="es-ES" sz="2600" dirty="0">
                <a:solidFill>
                  <a:srgbClr val="CC0099"/>
                </a:solidFill>
                <a:latin typeface="+mj-lt"/>
              </a:rPr>
              <a:t>¿La identidad de las personas con el grupo aumenta su participación en acciones colectivas?</a:t>
            </a:r>
          </a:p>
          <a:p>
            <a:pPr algn="ctr">
              <a:lnSpc>
                <a:spcPct val="100000"/>
              </a:lnSpc>
              <a:spcBef>
                <a:spcPts val="0"/>
              </a:spcBef>
              <a:buNone/>
            </a:pPr>
            <a:endParaRPr lang="es-ES" sz="2400" dirty="0">
              <a:latin typeface="Abadi Extra Light"/>
            </a:endParaRPr>
          </a:p>
        </p:txBody>
      </p:sp>
      <p:sp>
        <p:nvSpPr>
          <p:cNvPr id="4" name="3 Rectángulo"/>
          <p:cNvSpPr/>
          <p:nvPr/>
        </p:nvSpPr>
        <p:spPr>
          <a:xfrm>
            <a:off x="2927648" y="5157192"/>
            <a:ext cx="2016224" cy="576064"/>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IDENTIDAD</a:t>
            </a:r>
          </a:p>
        </p:txBody>
      </p:sp>
      <p:sp>
        <p:nvSpPr>
          <p:cNvPr id="5" name="4 Rectángulo"/>
          <p:cNvSpPr/>
          <p:nvPr/>
        </p:nvSpPr>
        <p:spPr>
          <a:xfrm>
            <a:off x="7176120" y="5157192"/>
            <a:ext cx="2016224" cy="576064"/>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ACCIONES COLECTIVAS</a:t>
            </a:r>
          </a:p>
        </p:txBody>
      </p:sp>
      <p:cxnSp>
        <p:nvCxnSpPr>
          <p:cNvPr id="7" name="6 Conector recto de flecha"/>
          <p:cNvCxnSpPr/>
          <p:nvPr/>
        </p:nvCxnSpPr>
        <p:spPr>
          <a:xfrm>
            <a:off x="5231904" y="5445224"/>
            <a:ext cx="1512168" cy="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146" name="Picture 2" descr="C:\Users\Daniela S\Desktop\Sin título.png"/>
          <p:cNvPicPr>
            <a:picLocks noGrp="1" noChangeAspect="1" noChangeArrowheads="1"/>
          </p:cNvPicPr>
          <p:nvPr>
            <p:ph idx="1"/>
          </p:nvPr>
        </p:nvPicPr>
        <p:blipFill>
          <a:blip r:embed="rId2" cstate="print"/>
          <a:srcRect/>
          <a:stretch>
            <a:fillRect/>
          </a:stretch>
        </p:blipFill>
        <p:spPr bwMode="auto">
          <a:xfrm>
            <a:off x="2423593" y="620688"/>
            <a:ext cx="6770719" cy="4986246"/>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410" name="Title 1"/>
          <p:cNvSpPr>
            <a:spLocks noGrp="1"/>
          </p:cNvSpPr>
          <p:nvPr>
            <p:ph type="ctrTitle"/>
          </p:nvPr>
        </p:nvSpPr>
        <p:spPr>
          <a:xfrm>
            <a:off x="2024063" y="714375"/>
            <a:ext cx="7960369" cy="4730849"/>
          </a:xfrm>
        </p:spPr>
        <p:txBody>
          <a:bodyPr>
            <a:normAutofit fontScale="90000"/>
          </a:bodyPr>
          <a:lstStyle/>
          <a:p>
            <a:pPr algn="l" eaLnBrk="1" hangingPunct="1">
              <a:defRPr/>
            </a:pPr>
            <a:r>
              <a:rPr lang="nl-NL" sz="2600" b="1" dirty="0">
                <a:solidFill>
                  <a:srgbClr val="0070C0"/>
                </a:solidFill>
                <a:ea typeface="+mn-ea"/>
                <a:cs typeface="+mn-cs"/>
              </a:rPr>
              <a:t>                         ¿Cómo manipular la identidad?</a:t>
            </a:r>
            <a:br>
              <a:rPr lang="nl-NL" sz="2600" dirty="0">
                <a:solidFill>
                  <a:srgbClr val="CC0099"/>
                </a:solidFill>
                <a:ea typeface="+mn-ea"/>
                <a:cs typeface="+mn-cs"/>
              </a:rPr>
            </a:br>
            <a:br>
              <a:rPr lang="nl-NL" sz="2600" dirty="0">
                <a:ea typeface="+mn-ea"/>
                <a:cs typeface="+mn-cs"/>
              </a:rPr>
            </a:br>
            <a:br>
              <a:rPr lang="nl-NL" sz="2600" dirty="0">
                <a:ea typeface="+mn-ea"/>
                <a:cs typeface="+mn-cs"/>
              </a:rPr>
            </a:br>
            <a:r>
              <a:rPr lang="nl-NL" sz="2600" dirty="0">
                <a:ea typeface="+mn-ea"/>
                <a:cs typeface="+mn-cs"/>
              </a:rPr>
              <a:t>- CREAR UN GRUPO ARTIFICIAL: </a:t>
            </a:r>
            <a:br>
              <a:rPr lang="nl-NL" sz="2600" dirty="0">
                <a:ea typeface="+mn-ea"/>
                <a:cs typeface="+mn-cs"/>
              </a:rPr>
            </a:br>
            <a:r>
              <a:rPr lang="nl-NL" sz="2600" dirty="0">
                <a:ea typeface="+mn-ea"/>
                <a:cs typeface="+mn-cs"/>
              </a:rPr>
              <a:t>Pensadores/as Deductivos vs. Inductivos – todos los y las participantes fueron categorizados/as como inductivos /as</a:t>
            </a:r>
            <a:br>
              <a:rPr lang="nl-NL" sz="2600" dirty="0">
                <a:ea typeface="+mn-ea"/>
                <a:cs typeface="+mn-cs"/>
              </a:rPr>
            </a:br>
            <a:br>
              <a:rPr lang="nl-NL" sz="2600" dirty="0">
                <a:ea typeface="+mn-ea"/>
                <a:cs typeface="+mn-cs"/>
              </a:rPr>
            </a:br>
            <a:br>
              <a:rPr lang="en-GB" sz="2600" dirty="0">
                <a:ea typeface="+mn-ea"/>
                <a:cs typeface="+mn-cs"/>
              </a:rPr>
            </a:br>
            <a:br>
              <a:rPr lang="nl-NL" sz="2600" dirty="0">
                <a:ea typeface="+mn-ea"/>
                <a:cs typeface="+mn-cs"/>
              </a:rPr>
            </a:br>
            <a:r>
              <a:rPr lang="nl-NL" sz="2600" dirty="0">
                <a:ea typeface="+mn-ea"/>
                <a:cs typeface="+mn-cs"/>
              </a:rPr>
              <a:t>- MANIPULACIÓN DEL NIVEL DE IDENTIDAD:</a:t>
            </a:r>
            <a:br>
              <a:rPr lang="nl-NL" sz="2600" dirty="0">
                <a:ea typeface="+mn-ea"/>
                <a:cs typeface="+mn-cs"/>
              </a:rPr>
            </a:br>
            <a:r>
              <a:rPr lang="en-US" sz="2600" dirty="0">
                <a:ea typeface="+mn-ea"/>
                <a:cs typeface="+mn-cs"/>
              </a:rPr>
              <a:t>Bogus Pipeline – </a:t>
            </a:r>
            <a:r>
              <a:rPr lang="en-US" sz="2600" dirty="0" err="1">
                <a:ea typeface="+mn-ea"/>
                <a:cs typeface="+mn-cs"/>
              </a:rPr>
              <a:t>tomamos</a:t>
            </a:r>
            <a:r>
              <a:rPr lang="en-US" sz="2600" dirty="0">
                <a:ea typeface="+mn-ea"/>
                <a:cs typeface="+mn-cs"/>
              </a:rPr>
              <a:t> </a:t>
            </a:r>
            <a:r>
              <a:rPr lang="en-US" sz="2600" dirty="0" err="1">
                <a:ea typeface="+mn-ea"/>
                <a:cs typeface="+mn-cs"/>
              </a:rPr>
              <a:t>muestras</a:t>
            </a:r>
            <a:r>
              <a:rPr lang="en-US" sz="2600" dirty="0">
                <a:ea typeface="+mn-ea"/>
                <a:cs typeface="+mn-cs"/>
              </a:rPr>
              <a:t> de saliva para, </a:t>
            </a:r>
            <a:r>
              <a:rPr lang="en-US" sz="2600" dirty="0" err="1">
                <a:ea typeface="+mn-ea"/>
                <a:cs typeface="+mn-cs"/>
              </a:rPr>
              <a:t>supuestamente</a:t>
            </a:r>
            <a:r>
              <a:rPr lang="en-US" sz="2600" dirty="0">
                <a:ea typeface="+mn-ea"/>
                <a:cs typeface="+mn-cs"/>
              </a:rPr>
              <a:t>, </a:t>
            </a:r>
            <a:r>
              <a:rPr lang="en-US" sz="2600" dirty="0" err="1">
                <a:ea typeface="+mn-ea"/>
                <a:cs typeface="+mn-cs"/>
              </a:rPr>
              <a:t>medir</a:t>
            </a:r>
            <a:r>
              <a:rPr lang="en-US" sz="2600" dirty="0">
                <a:ea typeface="+mn-ea"/>
                <a:cs typeface="+mn-cs"/>
              </a:rPr>
              <a:t> el </a:t>
            </a:r>
            <a:r>
              <a:rPr lang="en-US" sz="2600" dirty="0" err="1">
                <a:ea typeface="+mn-ea"/>
                <a:cs typeface="+mn-cs"/>
              </a:rPr>
              <a:t>nivel</a:t>
            </a:r>
            <a:r>
              <a:rPr lang="en-US" sz="2600" dirty="0">
                <a:ea typeface="+mn-ea"/>
                <a:cs typeface="+mn-cs"/>
              </a:rPr>
              <a:t> de cortisol</a:t>
            </a:r>
            <a:br>
              <a:rPr lang="en-US" sz="2400" dirty="0">
                <a:latin typeface="Abadi Extra Light"/>
                <a:ea typeface="+mn-ea"/>
                <a:cs typeface="+mn-cs"/>
              </a:rPr>
            </a:br>
            <a:endParaRPr lang="en-US" sz="2400" dirty="0">
              <a:latin typeface="Abadi Extra Light"/>
              <a:ea typeface="+mn-ea"/>
              <a:cs typeface="+mn-c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7410"/>
                                        </p:tgtEl>
                                        <p:attrNameLst>
                                          <p:attrName>style.visibility</p:attrName>
                                        </p:attrNameLst>
                                      </p:cBhvr>
                                      <p:to>
                                        <p:strVal val="visible"/>
                                      </p:to>
                                    </p:set>
                                    <p:animEffect transition="in" filter="box(in)">
                                      <p:cBhvr>
                                        <p:cTn id="7" dur="500"/>
                                        <p:tgtEl>
                                          <p:spTgt spid="17410"/>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1" nodeType="clickEffect">
                                  <p:stCondLst>
                                    <p:cond delay="0"/>
                                  </p:stCondLst>
                                  <p:childTnLst>
                                    <p:set>
                                      <p:cBhvr>
                                        <p:cTn id="11" dur="1" fill="hold">
                                          <p:stCondLst>
                                            <p:cond delay="0"/>
                                          </p:stCondLst>
                                        </p:cTn>
                                        <p:tgtEl>
                                          <p:spTgt spid="17410"/>
                                        </p:tgtEl>
                                        <p:attrNameLst>
                                          <p:attrName>style.visibility</p:attrName>
                                        </p:attrNameLst>
                                      </p:cBhvr>
                                      <p:to>
                                        <p:strVal val="visible"/>
                                      </p:to>
                                    </p:set>
                                    <p:animEffect transition="in" filter="box(in)">
                                      <p:cBhvr>
                                        <p:cTn id="12" dur="500"/>
                                        <p:tgtEl>
                                          <p:spTgt spid="174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0" grpId="0"/>
      <p:bldP spid="17410" grpId="1"/>
    </p:bldLst>
  </p:timing>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Picture 5" descr="C:\Users\Gloria\Desktop\IMAG0668.jpg"/>
          <p:cNvPicPr>
            <a:picLocks noChangeAspect="1" noChangeArrowheads="1"/>
          </p:cNvPicPr>
          <p:nvPr/>
        </p:nvPicPr>
        <p:blipFill>
          <a:blip r:embed="rId2" cstate="print"/>
          <a:srcRect/>
          <a:stretch>
            <a:fillRect/>
          </a:stretch>
        </p:blipFill>
        <p:spPr bwMode="auto">
          <a:xfrm>
            <a:off x="2135560" y="260648"/>
            <a:ext cx="2687638" cy="2808288"/>
          </a:xfrm>
          <a:prstGeom prst="rect">
            <a:avLst/>
          </a:prstGeom>
          <a:noFill/>
          <a:ln w="9525">
            <a:noFill/>
            <a:miter lim="800000"/>
            <a:headEnd/>
            <a:tailEnd/>
          </a:ln>
        </p:spPr>
      </p:pic>
      <p:pic>
        <p:nvPicPr>
          <p:cNvPr id="5" name="Picture 6" descr="C:\Users\Gloria\Desktop\IMAG0689.jpg"/>
          <p:cNvPicPr>
            <a:picLocks noChangeAspect="1" noChangeArrowheads="1"/>
          </p:cNvPicPr>
          <p:nvPr/>
        </p:nvPicPr>
        <p:blipFill>
          <a:blip r:embed="rId3" cstate="print"/>
          <a:srcRect/>
          <a:stretch>
            <a:fillRect/>
          </a:stretch>
        </p:blipFill>
        <p:spPr bwMode="auto">
          <a:xfrm>
            <a:off x="4583486" y="2205336"/>
            <a:ext cx="2843213" cy="2476500"/>
          </a:xfrm>
          <a:prstGeom prst="rect">
            <a:avLst/>
          </a:prstGeom>
          <a:noFill/>
          <a:ln w="9525">
            <a:noFill/>
            <a:miter lim="800000"/>
            <a:headEnd/>
            <a:tailEnd/>
          </a:ln>
        </p:spPr>
      </p:pic>
      <p:pic>
        <p:nvPicPr>
          <p:cNvPr id="6" name="Picture 7" descr="C:\Users\Gloria\Desktop\IMAG0688.jpg"/>
          <p:cNvPicPr>
            <a:picLocks noChangeAspect="1" noChangeArrowheads="1"/>
          </p:cNvPicPr>
          <p:nvPr/>
        </p:nvPicPr>
        <p:blipFill>
          <a:blip r:embed="rId4" cstate="print"/>
          <a:srcRect/>
          <a:stretch>
            <a:fillRect/>
          </a:stretch>
        </p:blipFill>
        <p:spPr bwMode="auto">
          <a:xfrm>
            <a:off x="7247310" y="3500737"/>
            <a:ext cx="2681288" cy="3100387"/>
          </a:xfrm>
          <a:prstGeom prst="rect">
            <a:avLst/>
          </a:prstGeom>
          <a:noFill/>
          <a:ln w="9525">
            <a:noFill/>
            <a:miter lim="800000"/>
            <a:headEnd/>
            <a:tailEnd/>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i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ox(in)">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ox(in)">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pPr algn="ctr"/>
            <a:r>
              <a:rPr lang="es-ES" sz="2800" b="1" dirty="0">
                <a:solidFill>
                  <a:schemeClr val="tx1"/>
                </a:solidFill>
              </a:rPr>
              <a:t>Obligaciones con los/as participantes</a:t>
            </a:r>
          </a:p>
        </p:txBody>
      </p:sp>
      <p:sp>
        <p:nvSpPr>
          <p:cNvPr id="3" name="2 Marcador de contenido"/>
          <p:cNvSpPr>
            <a:spLocks noGrp="1"/>
          </p:cNvSpPr>
          <p:nvPr>
            <p:ph idx="1"/>
          </p:nvPr>
        </p:nvSpPr>
        <p:spPr/>
        <p:txBody>
          <a:bodyPr>
            <a:normAutofit/>
          </a:bodyPr>
          <a:lstStyle/>
          <a:p>
            <a:r>
              <a:rPr lang="es-ES" sz="2600" dirty="0">
                <a:latin typeface="+mj-lt"/>
              </a:rPr>
              <a:t>Consentimiento informado</a:t>
            </a:r>
          </a:p>
          <a:p>
            <a:r>
              <a:rPr lang="es-ES" sz="2600" dirty="0">
                <a:latin typeface="+mj-lt"/>
              </a:rPr>
              <a:t>Anonimato y confidencialidad</a:t>
            </a:r>
          </a:p>
          <a:p>
            <a:r>
              <a:rPr lang="es-ES" sz="2600" dirty="0">
                <a:latin typeface="+mj-lt"/>
              </a:rPr>
              <a:t>Incentivos: ¿cuál es su relación con la motivación intrínseca?</a:t>
            </a:r>
          </a:p>
          <a:p>
            <a:r>
              <a:rPr lang="es-ES" sz="2600" i="1" dirty="0" err="1">
                <a:latin typeface="+mj-lt"/>
              </a:rPr>
              <a:t>Debriefing</a:t>
            </a:r>
            <a:endParaRPr lang="es-ES" sz="2600" i="1" dirty="0">
              <a:latin typeface="+mj-lt"/>
            </a:endParaRPr>
          </a:p>
          <a:p>
            <a:r>
              <a:rPr lang="es-ES" sz="2600" dirty="0">
                <a:latin typeface="+mj-lt"/>
              </a:rPr>
              <a:t>Reporte de los resultados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54FF7C-EA05-41E6-996B-1987A4D866FA}"/>
              </a:ext>
            </a:extLst>
          </p:cNvPr>
          <p:cNvSpPr>
            <a:spLocks noGrp="1"/>
          </p:cNvSpPr>
          <p:nvPr>
            <p:ph type="title"/>
          </p:nvPr>
        </p:nvSpPr>
        <p:spPr>
          <a:xfrm>
            <a:off x="2152650" y="591270"/>
            <a:ext cx="7886700" cy="1325563"/>
          </a:xfrm>
        </p:spPr>
        <p:txBody>
          <a:bodyPr/>
          <a:lstStyle/>
          <a:p>
            <a:pPr algn="ctr"/>
            <a:r>
              <a:rPr lang="es-ES" sz="3600" b="1" dirty="0">
                <a:solidFill>
                  <a:schemeClr val="tx1"/>
                </a:solidFill>
              </a:rPr>
              <a:t>Ciencia Psicológica en Crisis</a:t>
            </a:r>
            <a:br>
              <a:rPr lang="es-ES" b="1" dirty="0">
                <a:solidFill>
                  <a:schemeClr val="tx1"/>
                </a:solidFill>
              </a:rPr>
            </a:br>
            <a:endParaRPr lang="es-ES" b="1" dirty="0">
              <a:solidFill>
                <a:schemeClr val="tx1"/>
              </a:solidFill>
            </a:endParaRPr>
          </a:p>
        </p:txBody>
      </p:sp>
      <p:sp>
        <p:nvSpPr>
          <p:cNvPr id="3" name="Marcador de contenido 2">
            <a:extLst>
              <a:ext uri="{FF2B5EF4-FFF2-40B4-BE49-F238E27FC236}">
                <a16:creationId xmlns:a16="http://schemas.microsoft.com/office/drawing/2014/main" id="{E92034A0-200F-484B-A96B-80E3FEE22D82}"/>
              </a:ext>
            </a:extLst>
          </p:cNvPr>
          <p:cNvSpPr>
            <a:spLocks noGrp="1"/>
          </p:cNvSpPr>
          <p:nvPr>
            <p:ph idx="1"/>
          </p:nvPr>
        </p:nvSpPr>
        <p:spPr>
          <a:xfrm>
            <a:off x="2152650" y="1916832"/>
            <a:ext cx="7886700" cy="4351338"/>
          </a:xfrm>
        </p:spPr>
        <p:txBody>
          <a:bodyPr>
            <a:normAutofit/>
          </a:bodyPr>
          <a:lstStyle/>
          <a:p>
            <a:r>
              <a:rPr lang="es-ES" sz="2600" dirty="0">
                <a:latin typeface="+mj-lt"/>
              </a:rPr>
              <a:t>Resultados no Replicados</a:t>
            </a:r>
          </a:p>
          <a:p>
            <a:r>
              <a:rPr lang="es-ES" sz="2600" dirty="0">
                <a:latin typeface="+mj-lt"/>
              </a:rPr>
              <a:t>Fraude</a:t>
            </a:r>
          </a:p>
          <a:p>
            <a:r>
              <a:rPr lang="es-MX" sz="2600" dirty="0">
                <a:latin typeface="+mj-lt"/>
              </a:rPr>
              <a:t>(In)Credibilidad de los Resultados de Investigación</a:t>
            </a:r>
          </a:p>
          <a:p>
            <a:r>
              <a:rPr lang="es-ES" sz="2600" dirty="0">
                <a:latin typeface="+mj-lt"/>
              </a:rPr>
              <a:t>Prácticas de Investigación Cuestionables</a:t>
            </a:r>
          </a:p>
          <a:p>
            <a:r>
              <a:rPr lang="es-ES" sz="2600" i="1" dirty="0">
                <a:latin typeface="+mj-lt"/>
              </a:rPr>
              <a:t>p</a:t>
            </a:r>
            <a:r>
              <a:rPr lang="es-ES" sz="2600" dirty="0">
                <a:latin typeface="+mj-lt"/>
              </a:rPr>
              <a:t>-Hacking</a:t>
            </a:r>
          </a:p>
          <a:p>
            <a:r>
              <a:rPr lang="es-MX" sz="2600" dirty="0">
                <a:latin typeface="+mj-lt"/>
              </a:rPr>
              <a:t>Descuido en los Reportes de Investigación</a:t>
            </a:r>
          </a:p>
          <a:p>
            <a:pPr marL="0" indent="0">
              <a:buNone/>
            </a:pPr>
            <a:endParaRPr lang="es-ES" dirty="0">
              <a:latin typeface="+mj-lt"/>
            </a:endParaRPr>
          </a:p>
        </p:txBody>
      </p:sp>
    </p:spTree>
    <p:extLst>
      <p:ext uri="{BB962C8B-B14F-4D97-AF65-F5344CB8AC3E}">
        <p14:creationId xmlns:p14="http://schemas.microsoft.com/office/powerpoint/2010/main" val="15334918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5" name="Título 1">
            <a:extLst>
              <a:ext uri="{FF2B5EF4-FFF2-40B4-BE49-F238E27FC236}">
                <a16:creationId xmlns:a16="http://schemas.microsoft.com/office/drawing/2014/main" id="{A9B289AA-E6F0-44AC-BB79-06492592C589}"/>
              </a:ext>
            </a:extLst>
          </p:cNvPr>
          <p:cNvSpPr>
            <a:spLocks noGrp="1"/>
          </p:cNvSpPr>
          <p:nvPr>
            <p:ph type="title"/>
          </p:nvPr>
        </p:nvSpPr>
        <p:spPr/>
        <p:txBody>
          <a:bodyPr>
            <a:normAutofit/>
          </a:bodyPr>
          <a:lstStyle/>
          <a:p>
            <a:r>
              <a:rPr lang="es-ES" sz="3200" b="1" dirty="0">
                <a:solidFill>
                  <a:srgbClr val="0070C0"/>
                </a:solidFill>
                <a:ea typeface="+mn-ea"/>
                <a:cs typeface="+mn-cs"/>
              </a:rPr>
              <a:t>El Problema de la Replicabilidad:</a:t>
            </a:r>
          </a:p>
        </p:txBody>
      </p:sp>
      <p:sp>
        <p:nvSpPr>
          <p:cNvPr id="3" name="2 Marcador de contenido"/>
          <p:cNvSpPr>
            <a:spLocks noGrp="1"/>
          </p:cNvSpPr>
          <p:nvPr>
            <p:ph idx="1"/>
          </p:nvPr>
        </p:nvSpPr>
        <p:spPr>
          <a:xfrm>
            <a:off x="2214840" y="1052736"/>
            <a:ext cx="7886700" cy="4207322"/>
          </a:xfrm>
        </p:spPr>
        <p:txBody>
          <a:bodyPr>
            <a:normAutofit/>
          </a:bodyPr>
          <a:lstStyle/>
          <a:p>
            <a:endParaRPr lang="es-ES" sz="2400" dirty="0">
              <a:solidFill>
                <a:srgbClr val="CC0099"/>
              </a:solidFill>
              <a:latin typeface="+mj-lt"/>
            </a:endParaRPr>
          </a:p>
          <a:p>
            <a:pPr marL="0" indent="0">
              <a:buNone/>
            </a:pPr>
            <a:endParaRPr lang="es-ES" sz="2400" dirty="0">
              <a:solidFill>
                <a:srgbClr val="CC0099"/>
              </a:solidFill>
              <a:latin typeface="+mj-lt"/>
            </a:endParaRPr>
          </a:p>
          <a:p>
            <a:pPr marL="0" indent="0">
              <a:buNone/>
            </a:pPr>
            <a:r>
              <a:rPr lang="es-ES" sz="2400" dirty="0">
                <a:latin typeface="+mj-lt"/>
              </a:rPr>
              <a:t>El experimento del a prisión de Stanford (Zimbardo, 1971)</a:t>
            </a:r>
          </a:p>
        </p:txBody>
      </p:sp>
      <p:grpSp>
        <p:nvGrpSpPr>
          <p:cNvPr id="4" name="7 Grupo">
            <a:extLst>
              <a:ext uri="{FF2B5EF4-FFF2-40B4-BE49-F238E27FC236}">
                <a16:creationId xmlns:a16="http://schemas.microsoft.com/office/drawing/2014/main" id="{628F3A9F-BA3F-4031-B0B7-CF443CD1F507}"/>
              </a:ext>
            </a:extLst>
          </p:cNvPr>
          <p:cNvGrpSpPr/>
          <p:nvPr/>
        </p:nvGrpSpPr>
        <p:grpSpPr>
          <a:xfrm>
            <a:off x="3934036" y="2780929"/>
            <a:ext cx="4323928" cy="2962247"/>
            <a:chOff x="1252984" y="1559894"/>
            <a:chExt cx="6924939" cy="5095052"/>
          </a:xfrm>
        </p:grpSpPr>
        <p:pic>
          <p:nvPicPr>
            <p:cNvPr id="5" name="3 Imagen" descr="Stanford prison experiment.avi">
              <a:extLst>
                <a:ext uri="{FF2B5EF4-FFF2-40B4-BE49-F238E27FC236}">
                  <a16:creationId xmlns:a16="http://schemas.microsoft.com/office/drawing/2014/main" id="{D0BCFEFA-ABCA-498A-A23B-7E45FA57AF7E}"/>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5852" t="17884" r="9430" b="19945"/>
            <a:stretch/>
          </p:blipFill>
          <p:spPr>
            <a:xfrm>
              <a:off x="1252984" y="1700808"/>
              <a:ext cx="3357350" cy="2511188"/>
            </a:xfrm>
            <a:prstGeom prst="rect">
              <a:avLst/>
            </a:prstGeom>
          </p:spPr>
        </p:pic>
        <p:pic>
          <p:nvPicPr>
            <p:cNvPr id="6" name="4 Imagen" descr="Stanford prison experiment.avi">
              <a:extLst>
                <a:ext uri="{FF2B5EF4-FFF2-40B4-BE49-F238E27FC236}">
                  <a16:creationId xmlns:a16="http://schemas.microsoft.com/office/drawing/2014/main" id="{F7571AF2-3FFF-4366-8DEC-AA775DB320C3}"/>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5574" t="12748" r="4542" b="21026"/>
            <a:stretch/>
          </p:blipFill>
          <p:spPr>
            <a:xfrm>
              <a:off x="4610334" y="1712152"/>
              <a:ext cx="3562065" cy="2674962"/>
            </a:xfrm>
            <a:prstGeom prst="rect">
              <a:avLst/>
            </a:prstGeom>
          </p:spPr>
        </p:pic>
        <p:pic>
          <p:nvPicPr>
            <p:cNvPr id="7" name="5 Imagen" descr="Stanford prison experiment.avi">
              <a:extLst>
                <a:ext uri="{FF2B5EF4-FFF2-40B4-BE49-F238E27FC236}">
                  <a16:creationId xmlns:a16="http://schemas.microsoft.com/office/drawing/2014/main" id="{414B2B55-5AD8-4641-AEB8-5E20B253661C}"/>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851" t="14775" r="11429" b="24743"/>
            <a:stretch/>
          </p:blipFill>
          <p:spPr>
            <a:xfrm>
              <a:off x="1252984" y="4211996"/>
              <a:ext cx="3357350" cy="2442950"/>
            </a:xfrm>
            <a:prstGeom prst="rect">
              <a:avLst/>
            </a:prstGeom>
          </p:spPr>
        </p:pic>
        <p:pic>
          <p:nvPicPr>
            <p:cNvPr id="8" name="6 Imagen" descr="Stanford prison experiment.avi">
              <a:extLst>
                <a:ext uri="{FF2B5EF4-FFF2-40B4-BE49-F238E27FC236}">
                  <a16:creationId xmlns:a16="http://schemas.microsoft.com/office/drawing/2014/main" id="{69613AC0-95E9-474D-853C-EB9A1C22B7A7}"/>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6666" t="15428" r="3450" b="24089"/>
            <a:stretch/>
          </p:blipFill>
          <p:spPr>
            <a:xfrm>
              <a:off x="4610334" y="4211996"/>
              <a:ext cx="3562066" cy="2442950"/>
            </a:xfrm>
            <a:prstGeom prst="rect">
              <a:avLst/>
            </a:prstGeom>
          </p:spPr>
        </p:pic>
        <p:pic>
          <p:nvPicPr>
            <p:cNvPr id="9" name="3 Imagen" descr="Stanford prison experiment.avi">
              <a:extLst>
                <a:ext uri="{FF2B5EF4-FFF2-40B4-BE49-F238E27FC236}">
                  <a16:creationId xmlns:a16="http://schemas.microsoft.com/office/drawing/2014/main" id="{07A633B6-0FC3-49B3-AF3D-4FE8B91D2C4B}"/>
                </a:ext>
              </a:extLst>
            </p:cNvPr>
            <p:cNvPicPr>
              <a:picLocks noChangeAspect="1"/>
            </p:cNvPicPr>
            <p:nvPr/>
          </p:nvPicPr>
          <p:blipFill rotWithShape="1">
            <a:blip r:embed="rId6" cstate="print">
              <a:extLst>
                <a:ext uri="{BEBA8EAE-BF5A-486C-A8C5-ECC9F3942E4B}">
                  <a14:imgProps xmlns:a14="http://schemas.microsoft.com/office/drawing/2010/main">
                    <a14:imgLayer r:embed="rId7">
                      <a14:imgEffect>
                        <a14:saturation sat="0"/>
                      </a14:imgEffect>
                    </a14:imgLayer>
                  </a14:imgProps>
                </a:ext>
                <a:ext uri="{28A0092B-C50C-407E-A947-70E740481C1C}">
                  <a14:useLocalDpi xmlns:a14="http://schemas.microsoft.com/office/drawing/2010/main" val="0"/>
                </a:ext>
              </a:extLst>
            </a:blip>
            <a:srcRect l="5852" t="17884" r="9430" b="19945"/>
            <a:stretch/>
          </p:blipFill>
          <p:spPr>
            <a:xfrm>
              <a:off x="1258506" y="1559894"/>
              <a:ext cx="3357351" cy="2511188"/>
            </a:xfrm>
            <a:prstGeom prst="rect">
              <a:avLst/>
            </a:prstGeom>
          </p:spPr>
        </p:pic>
        <p:pic>
          <p:nvPicPr>
            <p:cNvPr id="10" name="4 Imagen" descr="Stanford prison experiment.avi">
              <a:extLst>
                <a:ext uri="{FF2B5EF4-FFF2-40B4-BE49-F238E27FC236}">
                  <a16:creationId xmlns:a16="http://schemas.microsoft.com/office/drawing/2014/main" id="{3A277F1B-7A9A-4C4F-BC94-A9571654FC91}"/>
                </a:ext>
              </a:extLst>
            </p:cNvPr>
            <p:cNvPicPr>
              <a:picLocks noChangeAspect="1"/>
            </p:cNvPicPr>
            <p:nvPr/>
          </p:nvPicPr>
          <p:blipFill rotWithShape="1">
            <a:blip r:embed="rId8" cstate="print">
              <a:extLst>
                <a:ext uri="{BEBA8EAE-BF5A-486C-A8C5-ECC9F3942E4B}">
                  <a14:imgProps xmlns:a14="http://schemas.microsoft.com/office/drawing/2010/main">
                    <a14:imgLayer r:embed="rId9">
                      <a14:imgEffect>
                        <a14:saturation sat="0"/>
                      </a14:imgEffect>
                    </a14:imgLayer>
                  </a14:imgProps>
                </a:ext>
                <a:ext uri="{28A0092B-C50C-407E-A947-70E740481C1C}">
                  <a14:useLocalDpi xmlns:a14="http://schemas.microsoft.com/office/drawing/2010/main" val="0"/>
                </a:ext>
              </a:extLst>
            </a:blip>
            <a:srcRect l="5574" t="12748" r="4542" b="21026"/>
            <a:stretch/>
          </p:blipFill>
          <p:spPr>
            <a:xfrm>
              <a:off x="4615857" y="1571237"/>
              <a:ext cx="3562066" cy="2674961"/>
            </a:xfrm>
            <a:prstGeom prst="rect">
              <a:avLst/>
            </a:prstGeom>
          </p:spPr>
        </p:pic>
        <p:pic>
          <p:nvPicPr>
            <p:cNvPr id="11" name="5 Imagen" descr="Stanford prison experiment.avi">
              <a:extLst>
                <a:ext uri="{FF2B5EF4-FFF2-40B4-BE49-F238E27FC236}">
                  <a16:creationId xmlns:a16="http://schemas.microsoft.com/office/drawing/2014/main" id="{2718563A-6839-4DC2-8991-1F52B3616E75}"/>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851" t="14775" r="11429" b="24743"/>
            <a:stretch/>
          </p:blipFill>
          <p:spPr>
            <a:xfrm>
              <a:off x="1258506" y="4071083"/>
              <a:ext cx="3357351" cy="2442949"/>
            </a:xfrm>
            <a:prstGeom prst="rect">
              <a:avLst/>
            </a:prstGeom>
          </p:spPr>
        </p:pic>
        <p:pic>
          <p:nvPicPr>
            <p:cNvPr id="12" name="6 Imagen" descr="Stanford prison experiment.avi">
              <a:extLst>
                <a:ext uri="{FF2B5EF4-FFF2-40B4-BE49-F238E27FC236}">
                  <a16:creationId xmlns:a16="http://schemas.microsoft.com/office/drawing/2014/main" id="{612608A8-E425-4F99-ADD2-E0BCA10C4A87}"/>
                </a:ext>
              </a:extLst>
            </p:cNvPr>
            <p:cNvPicPr>
              <a:picLocks noChangeAspect="1"/>
            </p:cNvPicPr>
            <p:nvPr/>
          </p:nvPicPr>
          <p:blipFill rotWithShape="1">
            <a:blip r:embed="rId10" cstate="print">
              <a:extLst>
                <a:ext uri="{BEBA8EAE-BF5A-486C-A8C5-ECC9F3942E4B}">
                  <a14:imgProps xmlns:a14="http://schemas.microsoft.com/office/drawing/2010/main">
                    <a14:imgLayer r:embed="rId11">
                      <a14:imgEffect>
                        <a14:saturation sat="0"/>
                      </a14:imgEffect>
                    </a14:imgLayer>
                  </a14:imgProps>
                </a:ext>
                <a:ext uri="{28A0092B-C50C-407E-A947-70E740481C1C}">
                  <a14:useLocalDpi xmlns:a14="http://schemas.microsoft.com/office/drawing/2010/main" val="0"/>
                </a:ext>
              </a:extLst>
            </a:blip>
            <a:srcRect l="6666" t="15428" r="3450" b="24089"/>
            <a:stretch/>
          </p:blipFill>
          <p:spPr>
            <a:xfrm>
              <a:off x="4615857" y="4071083"/>
              <a:ext cx="3562066" cy="2442949"/>
            </a:xfrm>
            <a:prstGeom prst="rect">
              <a:avLst/>
            </a:prstGeom>
          </p:spPr>
        </p:pic>
      </p:grpSp>
    </p:spTree>
    <p:extLst>
      <p:ext uri="{BB962C8B-B14F-4D97-AF65-F5344CB8AC3E}">
        <p14:creationId xmlns:p14="http://schemas.microsoft.com/office/powerpoint/2010/main" val="1827014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2 Rectángulo"/>
          <p:cNvSpPr/>
          <p:nvPr/>
        </p:nvSpPr>
        <p:spPr>
          <a:xfrm>
            <a:off x="6493875" y="836712"/>
            <a:ext cx="4019406" cy="4339650"/>
          </a:xfrm>
          <a:prstGeom prst="rect">
            <a:avLst/>
          </a:prstGeom>
        </p:spPr>
        <p:txBody>
          <a:bodyPr wrap="square">
            <a:spAutoFit/>
          </a:bodyPr>
          <a:lstStyle/>
          <a:p>
            <a:r>
              <a:rPr lang="es-CL" sz="2000" dirty="0">
                <a:latin typeface="+mj-lt"/>
              </a:rPr>
              <a:t>24 participantes fueron asignados aleatoriamente a ser prisioneros o guardias</a:t>
            </a:r>
          </a:p>
          <a:p>
            <a:endParaRPr lang="es-CL" sz="2000" dirty="0">
              <a:latin typeface="+mj-lt"/>
            </a:endParaRPr>
          </a:p>
          <a:p>
            <a:endParaRPr lang="es-CL" sz="2000" dirty="0">
              <a:latin typeface="+mj-lt"/>
            </a:endParaRPr>
          </a:p>
          <a:p>
            <a:endParaRPr lang="es-CL" sz="2000" dirty="0">
              <a:latin typeface="+mj-lt"/>
            </a:endParaRPr>
          </a:p>
          <a:p>
            <a:r>
              <a:rPr lang="es-CL" sz="2000" dirty="0">
                <a:latin typeface="+mj-lt"/>
              </a:rPr>
              <a:t>Se creó una prisión ficticia en un sótano de la universidad de Stanford, donde los participantes estuvieron por 6 días, aunque el experimento estaba programado para dos semanas…</a:t>
            </a:r>
          </a:p>
          <a:p>
            <a:endParaRPr lang="es-CL" dirty="0"/>
          </a:p>
          <a:p>
            <a:endParaRPr lang="es-CL" dirty="0"/>
          </a:p>
        </p:txBody>
      </p:sp>
      <p:grpSp>
        <p:nvGrpSpPr>
          <p:cNvPr id="11" name="7 Grupo">
            <a:extLst>
              <a:ext uri="{FF2B5EF4-FFF2-40B4-BE49-F238E27FC236}">
                <a16:creationId xmlns:a16="http://schemas.microsoft.com/office/drawing/2014/main" id="{F3555586-7BAD-42CC-BFBA-9CE168EA856E}"/>
              </a:ext>
            </a:extLst>
          </p:cNvPr>
          <p:cNvGrpSpPr/>
          <p:nvPr/>
        </p:nvGrpSpPr>
        <p:grpSpPr>
          <a:xfrm>
            <a:off x="2007712" y="952165"/>
            <a:ext cx="4323928" cy="2962247"/>
            <a:chOff x="1252984" y="1559894"/>
            <a:chExt cx="6924939" cy="5095052"/>
          </a:xfrm>
        </p:grpSpPr>
        <p:pic>
          <p:nvPicPr>
            <p:cNvPr id="12" name="3 Imagen" descr="Stanford prison experiment.avi">
              <a:extLst>
                <a:ext uri="{FF2B5EF4-FFF2-40B4-BE49-F238E27FC236}">
                  <a16:creationId xmlns:a16="http://schemas.microsoft.com/office/drawing/2014/main" id="{D0B00587-2DC7-4B56-9F0E-8E031625CE3C}"/>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5852" t="17884" r="9430" b="19945"/>
            <a:stretch/>
          </p:blipFill>
          <p:spPr>
            <a:xfrm>
              <a:off x="1252984" y="1700808"/>
              <a:ext cx="3357350" cy="2511188"/>
            </a:xfrm>
            <a:prstGeom prst="rect">
              <a:avLst/>
            </a:prstGeom>
          </p:spPr>
        </p:pic>
        <p:pic>
          <p:nvPicPr>
            <p:cNvPr id="13" name="4 Imagen" descr="Stanford prison experiment.avi">
              <a:extLst>
                <a:ext uri="{FF2B5EF4-FFF2-40B4-BE49-F238E27FC236}">
                  <a16:creationId xmlns:a16="http://schemas.microsoft.com/office/drawing/2014/main" id="{5D3C9647-9F15-4285-A72B-6EF5D04B79D5}"/>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5574" t="12748" r="4542" b="21026"/>
            <a:stretch/>
          </p:blipFill>
          <p:spPr>
            <a:xfrm>
              <a:off x="4610334" y="1712152"/>
              <a:ext cx="3562065" cy="2674962"/>
            </a:xfrm>
            <a:prstGeom prst="rect">
              <a:avLst/>
            </a:prstGeom>
          </p:spPr>
        </p:pic>
        <p:pic>
          <p:nvPicPr>
            <p:cNvPr id="14" name="5 Imagen" descr="Stanford prison experiment.avi">
              <a:extLst>
                <a:ext uri="{FF2B5EF4-FFF2-40B4-BE49-F238E27FC236}">
                  <a16:creationId xmlns:a16="http://schemas.microsoft.com/office/drawing/2014/main" id="{39107FB0-B9E7-42F8-8177-48459B7F3D35}"/>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3851" t="14775" r="11429" b="24743"/>
            <a:stretch/>
          </p:blipFill>
          <p:spPr>
            <a:xfrm>
              <a:off x="1252984" y="4211996"/>
              <a:ext cx="3357350" cy="2442950"/>
            </a:xfrm>
            <a:prstGeom prst="rect">
              <a:avLst/>
            </a:prstGeom>
          </p:spPr>
        </p:pic>
        <p:pic>
          <p:nvPicPr>
            <p:cNvPr id="15" name="6 Imagen" descr="Stanford prison experiment.avi">
              <a:extLst>
                <a:ext uri="{FF2B5EF4-FFF2-40B4-BE49-F238E27FC236}">
                  <a16:creationId xmlns:a16="http://schemas.microsoft.com/office/drawing/2014/main" id="{8C23CCC4-DA68-4A32-BFEF-9401CC0E672C}"/>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6666" t="15428" r="3450" b="24089"/>
            <a:stretch/>
          </p:blipFill>
          <p:spPr>
            <a:xfrm>
              <a:off x="4610334" y="4211996"/>
              <a:ext cx="3562066" cy="2442950"/>
            </a:xfrm>
            <a:prstGeom prst="rect">
              <a:avLst/>
            </a:prstGeom>
          </p:spPr>
        </p:pic>
        <p:pic>
          <p:nvPicPr>
            <p:cNvPr id="16" name="3 Imagen" descr="Stanford prison experiment.avi">
              <a:extLst>
                <a:ext uri="{FF2B5EF4-FFF2-40B4-BE49-F238E27FC236}">
                  <a16:creationId xmlns:a16="http://schemas.microsoft.com/office/drawing/2014/main" id="{15DA6999-ECB3-4BBD-93C0-41FF36277AB7}"/>
                </a:ext>
              </a:extLst>
            </p:cNvPr>
            <p:cNvPicPr>
              <a:picLocks noChangeAspect="1"/>
            </p:cNvPicPr>
            <p:nvPr/>
          </p:nvPicPr>
          <p:blipFill rotWithShape="1">
            <a:blip r:embed="rId7" cstate="print">
              <a:extLst>
                <a:ext uri="{BEBA8EAE-BF5A-486C-A8C5-ECC9F3942E4B}">
                  <a14:imgProps xmlns:a14="http://schemas.microsoft.com/office/drawing/2010/main">
                    <a14:imgLayer r:embed="rId8">
                      <a14:imgEffect>
                        <a14:saturation sat="0"/>
                      </a14:imgEffect>
                    </a14:imgLayer>
                  </a14:imgProps>
                </a:ext>
                <a:ext uri="{28A0092B-C50C-407E-A947-70E740481C1C}">
                  <a14:useLocalDpi xmlns:a14="http://schemas.microsoft.com/office/drawing/2010/main" val="0"/>
                </a:ext>
              </a:extLst>
            </a:blip>
            <a:srcRect l="5852" t="17884" r="9430" b="19945"/>
            <a:stretch/>
          </p:blipFill>
          <p:spPr>
            <a:xfrm>
              <a:off x="1258506" y="1559894"/>
              <a:ext cx="3357351" cy="2511188"/>
            </a:xfrm>
            <a:prstGeom prst="rect">
              <a:avLst/>
            </a:prstGeom>
          </p:spPr>
        </p:pic>
        <p:pic>
          <p:nvPicPr>
            <p:cNvPr id="17" name="4 Imagen" descr="Stanford prison experiment.avi">
              <a:extLst>
                <a:ext uri="{FF2B5EF4-FFF2-40B4-BE49-F238E27FC236}">
                  <a16:creationId xmlns:a16="http://schemas.microsoft.com/office/drawing/2014/main" id="{82C3CB00-C1F2-4EEA-9088-EE80E365E90D}"/>
                </a:ext>
              </a:extLst>
            </p:cNvPr>
            <p:cNvPicPr>
              <a:picLocks noChangeAspect="1"/>
            </p:cNvPicPr>
            <p:nvPr/>
          </p:nvPicPr>
          <p:blipFill rotWithShape="1">
            <a:blip r:embed="rId9" cstate="print">
              <a:extLst>
                <a:ext uri="{BEBA8EAE-BF5A-486C-A8C5-ECC9F3942E4B}">
                  <a14:imgProps xmlns:a14="http://schemas.microsoft.com/office/drawing/2010/main">
                    <a14:imgLayer r:embed="rId10">
                      <a14:imgEffect>
                        <a14:saturation sat="0"/>
                      </a14:imgEffect>
                    </a14:imgLayer>
                  </a14:imgProps>
                </a:ext>
                <a:ext uri="{28A0092B-C50C-407E-A947-70E740481C1C}">
                  <a14:useLocalDpi xmlns:a14="http://schemas.microsoft.com/office/drawing/2010/main" val="0"/>
                </a:ext>
              </a:extLst>
            </a:blip>
            <a:srcRect l="5574" t="12748" r="4542" b="21026"/>
            <a:stretch/>
          </p:blipFill>
          <p:spPr>
            <a:xfrm>
              <a:off x="4615857" y="1571237"/>
              <a:ext cx="3562066" cy="2674961"/>
            </a:xfrm>
            <a:prstGeom prst="rect">
              <a:avLst/>
            </a:prstGeom>
          </p:spPr>
        </p:pic>
        <p:pic>
          <p:nvPicPr>
            <p:cNvPr id="18" name="5 Imagen" descr="Stanford prison experiment.avi">
              <a:extLst>
                <a:ext uri="{FF2B5EF4-FFF2-40B4-BE49-F238E27FC236}">
                  <a16:creationId xmlns:a16="http://schemas.microsoft.com/office/drawing/2014/main" id="{C8068491-E1F2-4BDA-9B33-6B7ACCEA9BC4}"/>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3851" t="14775" r="11429" b="24743"/>
            <a:stretch/>
          </p:blipFill>
          <p:spPr>
            <a:xfrm>
              <a:off x="1258506" y="4071083"/>
              <a:ext cx="3357351" cy="2442949"/>
            </a:xfrm>
            <a:prstGeom prst="rect">
              <a:avLst/>
            </a:prstGeom>
          </p:spPr>
        </p:pic>
        <p:pic>
          <p:nvPicPr>
            <p:cNvPr id="19" name="6 Imagen" descr="Stanford prison experiment.avi">
              <a:extLst>
                <a:ext uri="{FF2B5EF4-FFF2-40B4-BE49-F238E27FC236}">
                  <a16:creationId xmlns:a16="http://schemas.microsoft.com/office/drawing/2014/main" id="{58CE3638-0684-4D8B-AF08-354CC5718D57}"/>
                </a:ext>
              </a:extLst>
            </p:cNvPr>
            <p:cNvPicPr>
              <a:picLocks noChangeAspect="1"/>
            </p:cNvPicPr>
            <p:nvPr/>
          </p:nvPicPr>
          <p:blipFill rotWithShape="1">
            <a:blip r:embed="rId11" cstate="print">
              <a:extLst>
                <a:ext uri="{BEBA8EAE-BF5A-486C-A8C5-ECC9F3942E4B}">
                  <a14:imgProps xmlns:a14="http://schemas.microsoft.com/office/drawing/2010/main">
                    <a14:imgLayer r:embed="rId12">
                      <a14:imgEffect>
                        <a14:saturation sat="0"/>
                      </a14:imgEffect>
                    </a14:imgLayer>
                  </a14:imgProps>
                </a:ext>
                <a:ext uri="{28A0092B-C50C-407E-A947-70E740481C1C}">
                  <a14:useLocalDpi xmlns:a14="http://schemas.microsoft.com/office/drawing/2010/main" val="0"/>
                </a:ext>
              </a:extLst>
            </a:blip>
            <a:srcRect l="6666" t="15428" r="3450" b="24089"/>
            <a:stretch/>
          </p:blipFill>
          <p:spPr>
            <a:xfrm>
              <a:off x="4615857" y="4071083"/>
              <a:ext cx="3562066" cy="2442949"/>
            </a:xfrm>
            <a:prstGeom prst="rect">
              <a:avLst/>
            </a:prstGeom>
          </p:spPr>
        </p:pic>
      </p:grpSp>
      <p:sp>
        <p:nvSpPr>
          <p:cNvPr id="20" name="2 Rectángulo">
            <a:extLst>
              <a:ext uri="{FF2B5EF4-FFF2-40B4-BE49-F238E27FC236}">
                <a16:creationId xmlns:a16="http://schemas.microsoft.com/office/drawing/2014/main" id="{ECF35B8C-C715-4A1D-8F19-A64EE08BCD09}"/>
              </a:ext>
            </a:extLst>
          </p:cNvPr>
          <p:cNvSpPr/>
          <p:nvPr/>
        </p:nvSpPr>
        <p:spPr>
          <a:xfrm>
            <a:off x="2561034" y="3646240"/>
            <a:ext cx="7790012" cy="954107"/>
          </a:xfrm>
          <a:prstGeom prst="rect">
            <a:avLst/>
          </a:prstGeom>
        </p:spPr>
        <p:txBody>
          <a:bodyPr wrap="square">
            <a:spAutoFit/>
          </a:bodyPr>
          <a:lstStyle/>
          <a:p>
            <a:endParaRPr lang="es-CL" sz="2000" dirty="0">
              <a:latin typeface="Abadi Extra Light" panose="020B0204020104020204" pitchFamily="34" charset="0"/>
            </a:endParaRPr>
          </a:p>
          <a:p>
            <a:endParaRPr lang="es-CL" dirty="0"/>
          </a:p>
          <a:p>
            <a:endParaRPr lang="es-CL" dirty="0"/>
          </a:p>
        </p:txBody>
      </p:sp>
      <p:sp>
        <p:nvSpPr>
          <p:cNvPr id="21" name="2 Rectángulo">
            <a:extLst>
              <a:ext uri="{FF2B5EF4-FFF2-40B4-BE49-F238E27FC236}">
                <a16:creationId xmlns:a16="http://schemas.microsoft.com/office/drawing/2014/main" id="{047E0136-D423-48CA-B650-154569113205}"/>
              </a:ext>
            </a:extLst>
          </p:cNvPr>
          <p:cNvSpPr/>
          <p:nvPr/>
        </p:nvSpPr>
        <p:spPr>
          <a:xfrm>
            <a:off x="2026648" y="4932334"/>
            <a:ext cx="7979846" cy="2215991"/>
          </a:xfrm>
          <a:prstGeom prst="rect">
            <a:avLst/>
          </a:prstGeom>
        </p:spPr>
        <p:txBody>
          <a:bodyPr wrap="square">
            <a:spAutoFit/>
          </a:bodyPr>
          <a:lstStyle/>
          <a:p>
            <a:pPr marL="342900" indent="-342900">
              <a:buFontTx/>
              <a:buChar char="-"/>
            </a:pPr>
            <a:r>
              <a:rPr lang="es-CL" sz="2400" b="1" dirty="0">
                <a:latin typeface="+mj-lt"/>
              </a:rPr>
              <a:t>Se produjo despersonalización, desorientación, y </a:t>
            </a:r>
            <a:r>
              <a:rPr lang="es-CL" sz="2400" b="1" dirty="0" err="1">
                <a:latin typeface="+mj-lt"/>
              </a:rPr>
              <a:t>desindividuación</a:t>
            </a:r>
            <a:endParaRPr lang="es-CL" sz="2400" b="1" dirty="0">
              <a:latin typeface="+mj-lt"/>
            </a:endParaRPr>
          </a:p>
          <a:p>
            <a:pPr marL="342900" indent="-342900">
              <a:buFontTx/>
              <a:buChar char="-"/>
            </a:pPr>
            <a:endParaRPr lang="es-CL" sz="2000" b="1" dirty="0">
              <a:latin typeface="Abadi Extra Light" panose="020B0204020104020204" pitchFamily="34" charset="0"/>
            </a:endParaRPr>
          </a:p>
          <a:p>
            <a:pPr marL="342900" indent="-342900">
              <a:buFontTx/>
              <a:buChar char="-"/>
            </a:pPr>
            <a:endParaRPr lang="es-CL" sz="2000" b="1" dirty="0">
              <a:latin typeface="Abadi Extra Light" panose="020B0204020104020204" pitchFamily="34" charset="0"/>
            </a:endParaRPr>
          </a:p>
          <a:p>
            <a:pPr marL="342900" indent="-342900">
              <a:buFontTx/>
              <a:buChar char="-"/>
            </a:pPr>
            <a:endParaRPr lang="es-CL" sz="1600" b="1" dirty="0">
              <a:latin typeface="Abadi Extra Light" panose="020B0204020104020204" pitchFamily="34" charset="0"/>
            </a:endParaRPr>
          </a:p>
          <a:p>
            <a:endParaRPr lang="es-CL" sz="1600" dirty="0"/>
          </a:p>
          <a:p>
            <a:endParaRPr lang="es-CL" dirty="0"/>
          </a:p>
        </p:txBody>
      </p:sp>
    </p:spTree>
    <p:extLst>
      <p:ext uri="{BB962C8B-B14F-4D97-AF65-F5344CB8AC3E}">
        <p14:creationId xmlns:p14="http://schemas.microsoft.com/office/powerpoint/2010/main" val="7317137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3 Imagen" descr="www.bbcprisonstudy.org/pdfs/BJSP(2006)Tyrannny.pdf - Google Chrome"/>
          <p:cNvPicPr>
            <a:picLocks noChangeAspect="1"/>
          </p:cNvPicPr>
          <p:nvPr/>
        </p:nvPicPr>
        <p:blipFill rotWithShape="1">
          <a:blip r:embed="rId3" cstate="print">
            <a:extLst>
              <a:ext uri="{28A0092B-C50C-407E-A947-70E740481C1C}">
                <a14:useLocalDpi xmlns:a14="http://schemas.microsoft.com/office/drawing/2010/main" val="0"/>
              </a:ext>
            </a:extLst>
          </a:blip>
          <a:srcRect l="22836" t="10563" r="23283" b="2939"/>
          <a:stretch/>
        </p:blipFill>
        <p:spPr>
          <a:xfrm>
            <a:off x="3359696" y="404664"/>
            <a:ext cx="5698004" cy="4924590"/>
          </a:xfrm>
          <a:prstGeom prst="rect">
            <a:avLst/>
          </a:prstGeom>
        </p:spPr>
      </p:pic>
      <p:sp>
        <p:nvSpPr>
          <p:cNvPr id="3" name="2 Rectángulo"/>
          <p:cNvSpPr/>
          <p:nvPr/>
        </p:nvSpPr>
        <p:spPr>
          <a:xfrm>
            <a:off x="1809688" y="5877272"/>
            <a:ext cx="3251146" cy="338554"/>
          </a:xfrm>
          <a:prstGeom prst="rect">
            <a:avLst/>
          </a:prstGeom>
        </p:spPr>
        <p:txBody>
          <a:bodyPr wrap="none">
            <a:spAutoFit/>
          </a:bodyPr>
          <a:lstStyle/>
          <a:p>
            <a:r>
              <a:rPr lang="es-ES" sz="1600" dirty="0"/>
              <a:t>http://www.bbcprisonstudy.org/</a:t>
            </a:r>
          </a:p>
        </p:txBody>
      </p:sp>
    </p:spTree>
    <p:extLst>
      <p:ext uri="{BB962C8B-B14F-4D97-AF65-F5344CB8AC3E}">
        <p14:creationId xmlns:p14="http://schemas.microsoft.com/office/powerpoint/2010/main" val="21002208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1 Título"/>
          <p:cNvSpPr>
            <a:spLocks noGrp="1"/>
          </p:cNvSpPr>
          <p:nvPr>
            <p:ph type="title"/>
          </p:nvPr>
        </p:nvSpPr>
        <p:spPr>
          <a:xfrm>
            <a:off x="1981200" y="476672"/>
            <a:ext cx="8229600" cy="1143000"/>
          </a:xfrm>
        </p:spPr>
        <p:txBody>
          <a:bodyPr>
            <a:normAutofit/>
          </a:bodyPr>
          <a:lstStyle/>
          <a:p>
            <a:r>
              <a:rPr lang="es-CL" sz="2600" dirty="0"/>
              <a:t>Experimento de la prisión de BBC </a:t>
            </a:r>
            <a:br>
              <a:rPr lang="es-CL" sz="2600" dirty="0"/>
            </a:br>
            <a:r>
              <a:rPr lang="es-CL" sz="2600" dirty="0"/>
              <a:t>(</a:t>
            </a:r>
            <a:r>
              <a:rPr lang="es-CL" sz="2600" dirty="0" err="1"/>
              <a:t>Reicher</a:t>
            </a:r>
            <a:r>
              <a:rPr lang="es-CL" sz="2600" dirty="0"/>
              <a:t> &amp; </a:t>
            </a:r>
            <a:r>
              <a:rPr lang="es-CL" sz="2600" dirty="0" err="1"/>
              <a:t>Haslam</a:t>
            </a:r>
            <a:r>
              <a:rPr lang="es-CL" sz="2600" dirty="0"/>
              <a:t>, 2006)</a:t>
            </a:r>
            <a:endParaRPr lang="en-GB" sz="2600" dirty="0"/>
          </a:p>
        </p:txBody>
      </p:sp>
      <p:pic>
        <p:nvPicPr>
          <p:cNvPr id="2050" name="Picture 2" descr="http://www.bbcprisonstudy.org/images/cache/37_640x480.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1968"/>
          <a:stretch/>
        </p:blipFill>
        <p:spPr bwMode="auto">
          <a:xfrm>
            <a:off x="2063553" y="2348881"/>
            <a:ext cx="4104457" cy="3017735"/>
          </a:xfrm>
          <a:prstGeom prst="rect">
            <a:avLst/>
          </a:prstGeom>
          <a:noFill/>
          <a:extLst>
            <a:ext uri="{909E8E84-426E-40dd-AFC4-6F175D3DCCD1}">
              <a14:hiddenFill xmlns:a14="http://schemas.microsoft.com/office/drawing/2010/main" xmlns="">
                <a:solidFill>
                  <a:srgbClr val="FFFFFF"/>
                </a:solidFill>
              </a14:hiddenFill>
            </a:ext>
          </a:extLst>
        </p:spPr>
      </p:pic>
      <p:pic>
        <p:nvPicPr>
          <p:cNvPr id="2052" name="Picture 4" descr="http://www.bbcprisonstudy.org/images/cache/38_640x480.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187373" y="2348881"/>
            <a:ext cx="4023646" cy="3017735"/>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14249125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3 Marcador de contenido" descr="On rethinking the psychology of tyranny: The BBC prison study - Zimbardo - 2011 - British Journal of Social Psychology - Wiley Online Library - Google Chrome"/>
          <p:cNvPicPr>
            <a:picLocks noGrp="1" noChangeAspect="1"/>
          </p:cNvPicPr>
          <p:nvPr>
            <p:ph idx="1"/>
          </p:nvPr>
        </p:nvPicPr>
        <p:blipFill rotWithShape="1">
          <a:blip r:embed="rId3" cstate="print">
            <a:extLst>
              <a:ext uri="{28A0092B-C50C-407E-A947-70E740481C1C}">
                <a14:useLocalDpi xmlns:a14="http://schemas.microsoft.com/office/drawing/2010/main" val="0"/>
              </a:ext>
            </a:extLst>
          </a:blip>
          <a:srcRect l="21974" t="23797" r="24295" b="1348"/>
          <a:stretch/>
        </p:blipFill>
        <p:spPr>
          <a:xfrm>
            <a:off x="3071665" y="620688"/>
            <a:ext cx="6336705" cy="4752528"/>
          </a:xfrm>
        </p:spPr>
      </p:pic>
    </p:spTree>
    <p:extLst>
      <p:ext uri="{BB962C8B-B14F-4D97-AF65-F5344CB8AC3E}">
        <p14:creationId xmlns:p14="http://schemas.microsoft.com/office/powerpoint/2010/main" val="35439933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F23DAA-9F8B-42C5-8804-86982F8EA3AB}"/>
              </a:ext>
            </a:extLst>
          </p:cNvPr>
          <p:cNvSpPr>
            <a:spLocks noGrp="1"/>
          </p:cNvSpPr>
          <p:nvPr>
            <p:ph type="title"/>
          </p:nvPr>
        </p:nvSpPr>
        <p:spPr/>
        <p:txBody>
          <a:bodyPr>
            <a:normAutofit/>
          </a:bodyPr>
          <a:lstStyle/>
          <a:p>
            <a:pPr algn="ctr"/>
            <a:r>
              <a:rPr lang="es-ES" sz="3600" b="1" dirty="0">
                <a:solidFill>
                  <a:srgbClr val="0070C0"/>
                </a:solidFill>
              </a:rPr>
              <a:t>¿Qué significa replicar?</a:t>
            </a:r>
          </a:p>
        </p:txBody>
      </p:sp>
      <p:sp>
        <p:nvSpPr>
          <p:cNvPr id="3" name="Marcador de contenido 2">
            <a:extLst>
              <a:ext uri="{FF2B5EF4-FFF2-40B4-BE49-F238E27FC236}">
                <a16:creationId xmlns:a16="http://schemas.microsoft.com/office/drawing/2014/main" id="{26FBD388-7363-4F25-AC3C-BD6238DFF95C}"/>
              </a:ext>
            </a:extLst>
          </p:cNvPr>
          <p:cNvSpPr>
            <a:spLocks noGrp="1"/>
          </p:cNvSpPr>
          <p:nvPr>
            <p:ph idx="1"/>
          </p:nvPr>
        </p:nvSpPr>
        <p:spPr/>
        <p:txBody>
          <a:bodyPr>
            <a:normAutofit fontScale="92500"/>
          </a:bodyPr>
          <a:lstStyle/>
          <a:p>
            <a:pPr marL="0" indent="0">
              <a:buNone/>
            </a:pPr>
            <a:r>
              <a:rPr lang="es-MX" sz="2400" dirty="0">
                <a:latin typeface="Abadi Extra Light" panose="020B0204020104020204" pitchFamily="34" charset="0"/>
              </a:rPr>
              <a:t>•</a:t>
            </a:r>
            <a:r>
              <a:rPr lang="es-MX" sz="2400" b="1" dirty="0">
                <a:latin typeface="+mj-lt"/>
              </a:rPr>
              <a:t>Reproducibilidad</a:t>
            </a:r>
            <a:r>
              <a:rPr lang="es-MX" sz="2400" dirty="0">
                <a:latin typeface="+mj-lt"/>
              </a:rPr>
              <a:t>: Un estudio puede ser duplicado en método y/o análisis.</a:t>
            </a:r>
          </a:p>
          <a:p>
            <a:pPr marL="0" indent="0">
              <a:buNone/>
            </a:pPr>
            <a:r>
              <a:rPr lang="es-MX" sz="2400" dirty="0">
                <a:latin typeface="+mj-lt"/>
              </a:rPr>
              <a:t>•</a:t>
            </a:r>
            <a:r>
              <a:rPr lang="es-MX" sz="2400" b="1" dirty="0">
                <a:latin typeface="+mj-lt"/>
              </a:rPr>
              <a:t>Replicabilidad</a:t>
            </a:r>
            <a:r>
              <a:rPr lang="es-MX" sz="2400" dirty="0">
                <a:latin typeface="+mj-lt"/>
              </a:rPr>
              <a:t>: Un estudio sobre un fenómeno produce resultados similares en relación a un estudio previo del mismo fenómeno. </a:t>
            </a:r>
          </a:p>
          <a:p>
            <a:pPr marL="0" indent="0">
              <a:buNone/>
            </a:pPr>
            <a:r>
              <a:rPr lang="es-MX" sz="2400" dirty="0">
                <a:latin typeface="+mj-lt"/>
              </a:rPr>
              <a:t>•</a:t>
            </a:r>
            <a:r>
              <a:rPr lang="es-MX" sz="2400" b="1" dirty="0">
                <a:latin typeface="+mj-lt"/>
              </a:rPr>
              <a:t>Replicación Exacta</a:t>
            </a:r>
            <a:r>
              <a:rPr lang="es-MX" sz="2400" dirty="0">
                <a:latin typeface="+mj-lt"/>
              </a:rPr>
              <a:t>: Nuevo estudio que utiliza el mismo procedimiento, materiales, medidas y población que el estudio original.</a:t>
            </a:r>
          </a:p>
          <a:p>
            <a:pPr marL="0" indent="0">
              <a:buNone/>
            </a:pPr>
            <a:r>
              <a:rPr lang="es-MX" sz="2400" dirty="0">
                <a:latin typeface="+mj-lt"/>
              </a:rPr>
              <a:t>•</a:t>
            </a:r>
            <a:r>
              <a:rPr lang="es-MX" sz="2400" b="1" dirty="0">
                <a:latin typeface="+mj-lt"/>
              </a:rPr>
              <a:t>Replicación Sistemática</a:t>
            </a:r>
            <a:r>
              <a:rPr lang="es-MX" sz="2400" dirty="0">
                <a:latin typeface="+mj-lt"/>
              </a:rPr>
              <a:t>: Replicación exacta en que algunas características secundarias, tales como el orden de presentación de estímulos, son distintas del estudio original.</a:t>
            </a:r>
          </a:p>
          <a:p>
            <a:pPr marL="0" indent="0">
              <a:buNone/>
            </a:pPr>
            <a:r>
              <a:rPr lang="es-MX" sz="2400" dirty="0">
                <a:latin typeface="+mj-lt"/>
              </a:rPr>
              <a:t>•</a:t>
            </a:r>
            <a:r>
              <a:rPr lang="es-MX" sz="2400" b="1" dirty="0">
                <a:latin typeface="+mj-lt"/>
              </a:rPr>
              <a:t>Replicación Conceptual</a:t>
            </a:r>
            <a:r>
              <a:rPr lang="es-MX" sz="2400" dirty="0">
                <a:latin typeface="+mj-lt"/>
              </a:rPr>
              <a:t>: Replicación intencionalmente distinta del estudio original, con el fin de evaluar </a:t>
            </a:r>
            <a:r>
              <a:rPr lang="es-MX" sz="2400" dirty="0" err="1">
                <a:latin typeface="+mj-lt"/>
              </a:rPr>
              <a:t>generalizabilidad</a:t>
            </a:r>
            <a:r>
              <a:rPr lang="es-MX" sz="2400" dirty="0">
                <a:latin typeface="+mj-lt"/>
              </a:rPr>
              <a:t> de los resultados.</a:t>
            </a:r>
          </a:p>
          <a:p>
            <a:endParaRPr lang="es-ES" dirty="0"/>
          </a:p>
        </p:txBody>
      </p:sp>
    </p:spTree>
    <p:extLst>
      <p:ext uri="{BB962C8B-B14F-4D97-AF65-F5344CB8AC3E}">
        <p14:creationId xmlns:p14="http://schemas.microsoft.com/office/powerpoint/2010/main" val="13604644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F23DAA-9F8B-42C5-8804-86982F8EA3AB}"/>
              </a:ext>
            </a:extLst>
          </p:cNvPr>
          <p:cNvSpPr>
            <a:spLocks noGrp="1"/>
          </p:cNvSpPr>
          <p:nvPr>
            <p:ph type="title"/>
          </p:nvPr>
        </p:nvSpPr>
        <p:spPr/>
        <p:txBody>
          <a:bodyPr>
            <a:normAutofit/>
          </a:bodyPr>
          <a:lstStyle/>
          <a:p>
            <a:r>
              <a:rPr lang="es-ES" sz="3600" b="1" dirty="0">
                <a:solidFill>
                  <a:schemeClr val="tx1"/>
                </a:solidFill>
              </a:rPr>
              <a:t>¿Cómo replicar?</a:t>
            </a:r>
          </a:p>
        </p:txBody>
      </p:sp>
      <p:sp>
        <p:nvSpPr>
          <p:cNvPr id="3" name="Marcador de contenido 2">
            <a:extLst>
              <a:ext uri="{FF2B5EF4-FFF2-40B4-BE49-F238E27FC236}">
                <a16:creationId xmlns:a16="http://schemas.microsoft.com/office/drawing/2014/main" id="{26FBD388-7363-4F25-AC3C-BD6238DFF95C}"/>
              </a:ext>
            </a:extLst>
          </p:cNvPr>
          <p:cNvSpPr>
            <a:spLocks noGrp="1"/>
          </p:cNvSpPr>
          <p:nvPr>
            <p:ph idx="1"/>
          </p:nvPr>
        </p:nvSpPr>
        <p:spPr/>
        <p:txBody>
          <a:bodyPr>
            <a:normAutofit/>
          </a:bodyPr>
          <a:lstStyle/>
          <a:p>
            <a:r>
              <a:rPr lang="es-MX" sz="2400" dirty="0">
                <a:latin typeface="+mj-lt"/>
              </a:rPr>
              <a:t>Los/as autores/as de los estudios originales comparten materiales, métodos y datos.</a:t>
            </a:r>
          </a:p>
          <a:p>
            <a:endParaRPr lang="es-MX" sz="2400" dirty="0">
              <a:latin typeface="+mj-lt"/>
            </a:endParaRPr>
          </a:p>
          <a:p>
            <a:r>
              <a:rPr lang="es-MX" sz="2400" dirty="0">
                <a:latin typeface="+mj-lt"/>
              </a:rPr>
              <a:t>Los equipos de replicación </a:t>
            </a:r>
            <a:r>
              <a:rPr lang="es-MX" sz="2400" dirty="0" err="1">
                <a:latin typeface="+mj-lt"/>
              </a:rPr>
              <a:t>pre-registran</a:t>
            </a:r>
            <a:r>
              <a:rPr lang="es-MX" sz="2400" dirty="0">
                <a:latin typeface="+mj-lt"/>
              </a:rPr>
              <a:t> sus protocolos abiertamente.</a:t>
            </a:r>
          </a:p>
          <a:p>
            <a:endParaRPr lang="es-MX" sz="2400" dirty="0">
              <a:latin typeface="+mj-lt"/>
            </a:endParaRPr>
          </a:p>
          <a:p>
            <a:r>
              <a:rPr lang="es-MX" sz="2400" dirty="0">
                <a:latin typeface="+mj-lt"/>
              </a:rPr>
              <a:t>Los datos, materiales y código de los estudios de replicación están disponibles abiertamente. </a:t>
            </a:r>
          </a:p>
          <a:p>
            <a:endParaRPr lang="es-ES" dirty="0"/>
          </a:p>
        </p:txBody>
      </p:sp>
      <p:pic>
        <p:nvPicPr>
          <p:cNvPr id="4" name="Imagen 3">
            <a:extLst>
              <a:ext uri="{FF2B5EF4-FFF2-40B4-BE49-F238E27FC236}">
                <a16:creationId xmlns:a16="http://schemas.microsoft.com/office/drawing/2014/main" id="{6D6C6EBE-9DA9-408F-BFF0-F7F259F3E466}"/>
              </a:ext>
            </a:extLst>
          </p:cNvPr>
          <p:cNvPicPr>
            <a:picLocks noChangeAspect="1"/>
          </p:cNvPicPr>
          <p:nvPr/>
        </p:nvPicPr>
        <p:blipFill>
          <a:blip r:embed="rId2"/>
          <a:stretch>
            <a:fillRect/>
          </a:stretch>
        </p:blipFill>
        <p:spPr>
          <a:xfrm>
            <a:off x="7407500" y="353564"/>
            <a:ext cx="3285450" cy="1248500"/>
          </a:xfrm>
          <a:prstGeom prst="rect">
            <a:avLst/>
          </a:prstGeom>
        </p:spPr>
      </p:pic>
    </p:spTree>
    <p:extLst>
      <p:ext uri="{BB962C8B-B14F-4D97-AF65-F5344CB8AC3E}">
        <p14:creationId xmlns:p14="http://schemas.microsoft.com/office/powerpoint/2010/main" val="22352676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F23DAA-9F8B-42C5-8804-86982F8EA3AB}"/>
              </a:ext>
            </a:extLst>
          </p:cNvPr>
          <p:cNvSpPr>
            <a:spLocks noGrp="1"/>
          </p:cNvSpPr>
          <p:nvPr>
            <p:ph type="title"/>
          </p:nvPr>
        </p:nvSpPr>
        <p:spPr/>
        <p:txBody>
          <a:bodyPr>
            <a:normAutofit/>
          </a:bodyPr>
          <a:lstStyle/>
          <a:p>
            <a:r>
              <a:rPr lang="es-ES" b="1" dirty="0">
                <a:solidFill>
                  <a:schemeClr val="tx1"/>
                </a:solidFill>
              </a:rPr>
              <a:t>¿Qué implica que un estudio no se replique?</a:t>
            </a:r>
          </a:p>
        </p:txBody>
      </p:sp>
      <p:sp>
        <p:nvSpPr>
          <p:cNvPr id="3" name="Marcador de contenido 2">
            <a:extLst>
              <a:ext uri="{FF2B5EF4-FFF2-40B4-BE49-F238E27FC236}">
                <a16:creationId xmlns:a16="http://schemas.microsoft.com/office/drawing/2014/main" id="{26FBD388-7363-4F25-AC3C-BD6238DFF95C}"/>
              </a:ext>
            </a:extLst>
          </p:cNvPr>
          <p:cNvSpPr>
            <a:spLocks noGrp="1"/>
          </p:cNvSpPr>
          <p:nvPr>
            <p:ph idx="1"/>
          </p:nvPr>
        </p:nvSpPr>
        <p:spPr/>
        <p:txBody>
          <a:bodyPr>
            <a:normAutofit/>
          </a:bodyPr>
          <a:lstStyle/>
          <a:p>
            <a:pPr marL="0" indent="0">
              <a:buNone/>
            </a:pPr>
            <a:r>
              <a:rPr lang="es-MX" sz="2600" dirty="0">
                <a:latin typeface="+mj-lt"/>
              </a:rPr>
              <a:t>•Es prácticamente </a:t>
            </a:r>
            <a:r>
              <a:rPr lang="es-MX" sz="2600" b="1" dirty="0">
                <a:latin typeface="+mj-lt"/>
              </a:rPr>
              <a:t>imposible replicar cada detalle de un estudio </a:t>
            </a:r>
            <a:r>
              <a:rPr lang="es-MX" sz="2600" dirty="0">
                <a:latin typeface="+mj-lt"/>
              </a:rPr>
              <a:t>con exactitud.</a:t>
            </a:r>
          </a:p>
          <a:p>
            <a:pPr marL="0" indent="0">
              <a:buNone/>
            </a:pPr>
            <a:endParaRPr lang="es-MX" sz="2600" dirty="0">
              <a:latin typeface="+mj-lt"/>
            </a:endParaRPr>
          </a:p>
          <a:p>
            <a:pPr marL="0" indent="0">
              <a:buNone/>
            </a:pPr>
            <a:r>
              <a:rPr lang="es-MX" sz="2600" dirty="0">
                <a:latin typeface="+mj-lt"/>
              </a:rPr>
              <a:t>•Incluso el paso del tiempo puede hacer que una población cambie en relación a aspectos de interés para un estudio.</a:t>
            </a:r>
          </a:p>
          <a:p>
            <a:pPr marL="0" indent="0">
              <a:buNone/>
            </a:pPr>
            <a:endParaRPr lang="es-MX" sz="2600" dirty="0">
              <a:latin typeface="+mj-lt"/>
            </a:endParaRPr>
          </a:p>
          <a:p>
            <a:pPr marL="0" indent="0">
              <a:buNone/>
            </a:pPr>
            <a:r>
              <a:rPr lang="es-MX" sz="2600" dirty="0">
                <a:latin typeface="+mj-lt"/>
              </a:rPr>
              <a:t>•Los/as investigadores/as debieran ser capaces de especificar las condiciones bajo las cuales se esperaría que el efecto sea replicable.</a:t>
            </a:r>
          </a:p>
          <a:p>
            <a:pPr marL="0" indent="0">
              <a:buNone/>
            </a:pPr>
            <a:endParaRPr lang="es-ES" dirty="0"/>
          </a:p>
        </p:txBody>
      </p:sp>
    </p:spTree>
    <p:extLst>
      <p:ext uri="{BB962C8B-B14F-4D97-AF65-F5344CB8AC3E}">
        <p14:creationId xmlns:p14="http://schemas.microsoft.com/office/powerpoint/2010/main" val="1894999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5F560A-96DC-44EE-98B7-FE68C08CC299}"/>
              </a:ext>
            </a:extLst>
          </p:cNvPr>
          <p:cNvSpPr>
            <a:spLocks noGrp="1"/>
          </p:cNvSpPr>
          <p:nvPr>
            <p:ph type="title"/>
          </p:nvPr>
        </p:nvSpPr>
        <p:spPr/>
        <p:txBody>
          <a:bodyPr>
            <a:normAutofit/>
          </a:bodyPr>
          <a:lstStyle/>
          <a:p>
            <a:r>
              <a:rPr lang="es-ES" sz="3200" b="1" dirty="0">
                <a:solidFill>
                  <a:schemeClr val="tx1"/>
                </a:solidFill>
                <a:ea typeface="+mn-ea"/>
                <a:cs typeface="+mn-cs"/>
              </a:rPr>
              <a:t>Fraude en Psicología:</a:t>
            </a:r>
          </a:p>
        </p:txBody>
      </p:sp>
      <p:sp>
        <p:nvSpPr>
          <p:cNvPr id="3" name="Marcador de contenido 2">
            <a:extLst>
              <a:ext uri="{FF2B5EF4-FFF2-40B4-BE49-F238E27FC236}">
                <a16:creationId xmlns:a16="http://schemas.microsoft.com/office/drawing/2014/main" id="{063A9C2F-A906-4E46-A6A1-04B344FF913B}"/>
              </a:ext>
            </a:extLst>
          </p:cNvPr>
          <p:cNvSpPr>
            <a:spLocks noGrp="1"/>
          </p:cNvSpPr>
          <p:nvPr>
            <p:ph idx="1"/>
          </p:nvPr>
        </p:nvSpPr>
        <p:spPr>
          <a:xfrm>
            <a:off x="2152650" y="1484784"/>
            <a:ext cx="7886700" cy="4351338"/>
          </a:xfrm>
        </p:spPr>
        <p:txBody>
          <a:bodyPr>
            <a:normAutofit lnSpcReduction="10000"/>
          </a:bodyPr>
          <a:lstStyle/>
          <a:p>
            <a:endParaRPr lang="es-ES" sz="2600" dirty="0">
              <a:latin typeface="Abadi Extra Light" panose="020B0204020104020204" pitchFamily="34" charset="0"/>
            </a:endParaRPr>
          </a:p>
          <a:p>
            <a:r>
              <a:rPr lang="es-MX" sz="2600" dirty="0">
                <a:latin typeface="+mj-lt"/>
              </a:rPr>
              <a:t>En 2001, </a:t>
            </a:r>
            <a:r>
              <a:rPr lang="es-MX" sz="2600" b="1" dirty="0">
                <a:latin typeface="+mj-lt"/>
              </a:rPr>
              <a:t>Karen </a:t>
            </a:r>
            <a:r>
              <a:rPr lang="es-MX" sz="2600" b="1" dirty="0" err="1">
                <a:latin typeface="+mj-lt"/>
              </a:rPr>
              <a:t>Ruggiero</a:t>
            </a:r>
            <a:r>
              <a:rPr lang="es-MX" sz="2600" b="1" dirty="0">
                <a:latin typeface="+mj-lt"/>
              </a:rPr>
              <a:t> </a:t>
            </a:r>
            <a:r>
              <a:rPr lang="es-MX" sz="2600" dirty="0">
                <a:latin typeface="+mj-lt"/>
              </a:rPr>
              <a:t>(</a:t>
            </a:r>
            <a:r>
              <a:rPr lang="es-MX" sz="2600" dirty="0" err="1">
                <a:latin typeface="+mj-lt"/>
              </a:rPr>
              <a:t>University</a:t>
            </a:r>
            <a:r>
              <a:rPr lang="es-MX" sz="2600" dirty="0">
                <a:latin typeface="+mj-lt"/>
              </a:rPr>
              <a:t> of Texas, previamente Harvard </a:t>
            </a:r>
            <a:r>
              <a:rPr lang="es-MX" sz="2600" dirty="0" err="1">
                <a:latin typeface="+mj-lt"/>
              </a:rPr>
              <a:t>University</a:t>
            </a:r>
            <a:r>
              <a:rPr lang="es-MX" sz="2600" dirty="0">
                <a:latin typeface="+mj-lt"/>
              </a:rPr>
              <a:t>) fue denunciada por un estudiante y encontrada culpable de fabricación de datos.</a:t>
            </a:r>
          </a:p>
          <a:p>
            <a:r>
              <a:rPr lang="es-MX" sz="2600" dirty="0">
                <a:latin typeface="+mj-lt"/>
              </a:rPr>
              <a:t>En 2010, </a:t>
            </a:r>
            <a:r>
              <a:rPr lang="es-MX" sz="2600" b="1" dirty="0">
                <a:latin typeface="+mj-lt"/>
              </a:rPr>
              <a:t>Marc </a:t>
            </a:r>
            <a:r>
              <a:rPr lang="es-MX" sz="2600" b="1" dirty="0" err="1">
                <a:latin typeface="+mj-lt"/>
              </a:rPr>
              <a:t>Hauser</a:t>
            </a:r>
            <a:r>
              <a:rPr lang="es-MX" sz="2600" b="1" dirty="0">
                <a:latin typeface="+mj-lt"/>
              </a:rPr>
              <a:t> </a:t>
            </a:r>
            <a:r>
              <a:rPr lang="es-MX" sz="2600" dirty="0">
                <a:latin typeface="+mj-lt"/>
              </a:rPr>
              <a:t>(Harvard </a:t>
            </a:r>
            <a:r>
              <a:rPr lang="es-MX" sz="2600" dirty="0" err="1">
                <a:latin typeface="+mj-lt"/>
              </a:rPr>
              <a:t>University</a:t>
            </a:r>
            <a:r>
              <a:rPr lang="es-MX" sz="2600" dirty="0">
                <a:latin typeface="+mj-lt"/>
              </a:rPr>
              <a:t>) fue encontrado culpable de fabricar, manipular y describir incorrectamente datos para sus publicaciones.</a:t>
            </a:r>
          </a:p>
          <a:p>
            <a:r>
              <a:rPr lang="es-ES" sz="2600" dirty="0">
                <a:latin typeface="+mj-lt"/>
              </a:rPr>
              <a:t>En 2010 </a:t>
            </a:r>
            <a:r>
              <a:rPr lang="es-ES" sz="2600" b="1" dirty="0">
                <a:latin typeface="+mj-lt"/>
              </a:rPr>
              <a:t>William Fals-Stewart </a:t>
            </a:r>
            <a:r>
              <a:rPr lang="es-ES" sz="2600" dirty="0">
                <a:latin typeface="+mj-lt"/>
              </a:rPr>
              <a:t>(</a:t>
            </a:r>
            <a:r>
              <a:rPr lang="es-ES" sz="2600" dirty="0" err="1">
                <a:latin typeface="+mj-lt"/>
              </a:rPr>
              <a:t>University</a:t>
            </a:r>
            <a:r>
              <a:rPr lang="es-ES" sz="2600" dirty="0">
                <a:latin typeface="+mj-lt"/>
              </a:rPr>
              <a:t> </a:t>
            </a:r>
            <a:r>
              <a:rPr lang="es-ES" sz="2600" dirty="0" err="1">
                <a:latin typeface="+mj-lt"/>
              </a:rPr>
              <a:t>of</a:t>
            </a:r>
            <a:r>
              <a:rPr lang="es-ES" sz="2600" dirty="0">
                <a:latin typeface="+mj-lt"/>
              </a:rPr>
              <a:t> </a:t>
            </a:r>
            <a:r>
              <a:rPr lang="es-ES" sz="2600" dirty="0" err="1">
                <a:latin typeface="+mj-lt"/>
              </a:rPr>
              <a:t>Buffalo</a:t>
            </a:r>
            <a:r>
              <a:rPr lang="es-ES" sz="2600" dirty="0">
                <a:latin typeface="+mj-lt"/>
              </a:rPr>
              <a:t>) fue encontrado culpable de fabricar datos y contratar actores para que testificaran a su favor.</a:t>
            </a:r>
          </a:p>
          <a:p>
            <a:endParaRPr lang="es-ES" dirty="0"/>
          </a:p>
        </p:txBody>
      </p:sp>
    </p:spTree>
    <p:extLst>
      <p:ext uri="{BB962C8B-B14F-4D97-AF65-F5344CB8AC3E}">
        <p14:creationId xmlns:p14="http://schemas.microsoft.com/office/powerpoint/2010/main" val="12441806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5F560A-96DC-44EE-98B7-FE68C08CC299}"/>
              </a:ext>
            </a:extLst>
          </p:cNvPr>
          <p:cNvSpPr>
            <a:spLocks noGrp="1"/>
          </p:cNvSpPr>
          <p:nvPr>
            <p:ph type="title"/>
          </p:nvPr>
        </p:nvSpPr>
        <p:spPr/>
        <p:txBody>
          <a:bodyPr>
            <a:normAutofit/>
          </a:bodyPr>
          <a:lstStyle/>
          <a:p>
            <a:r>
              <a:rPr lang="es-ES" sz="3200" b="1" dirty="0">
                <a:solidFill>
                  <a:schemeClr val="tx1"/>
                </a:solidFill>
                <a:ea typeface="+mn-ea"/>
                <a:cs typeface="+mn-cs"/>
              </a:rPr>
              <a:t>Fraude en Psicología:</a:t>
            </a:r>
          </a:p>
        </p:txBody>
      </p:sp>
      <p:sp>
        <p:nvSpPr>
          <p:cNvPr id="3" name="Marcador de contenido 2">
            <a:extLst>
              <a:ext uri="{FF2B5EF4-FFF2-40B4-BE49-F238E27FC236}">
                <a16:creationId xmlns:a16="http://schemas.microsoft.com/office/drawing/2014/main" id="{063A9C2F-A906-4E46-A6A1-04B344FF913B}"/>
              </a:ext>
            </a:extLst>
          </p:cNvPr>
          <p:cNvSpPr>
            <a:spLocks noGrp="1"/>
          </p:cNvSpPr>
          <p:nvPr>
            <p:ph idx="1"/>
          </p:nvPr>
        </p:nvSpPr>
        <p:spPr>
          <a:xfrm>
            <a:off x="2152650" y="1253331"/>
            <a:ext cx="7886700" cy="4351338"/>
          </a:xfrm>
        </p:spPr>
        <p:txBody>
          <a:bodyPr>
            <a:normAutofit/>
          </a:bodyPr>
          <a:lstStyle/>
          <a:p>
            <a:endParaRPr lang="es-ES" sz="2400" dirty="0">
              <a:latin typeface="+mj-lt"/>
            </a:endParaRPr>
          </a:p>
          <a:p>
            <a:r>
              <a:rPr lang="es-MX" sz="2400" dirty="0">
                <a:latin typeface="+mj-lt"/>
              </a:rPr>
              <a:t>En 2011, </a:t>
            </a:r>
            <a:r>
              <a:rPr lang="es-MX" sz="2400" b="1" dirty="0" err="1">
                <a:latin typeface="+mj-lt"/>
              </a:rPr>
              <a:t>Diederik</a:t>
            </a:r>
            <a:r>
              <a:rPr lang="es-MX" sz="2400" b="1" dirty="0">
                <a:latin typeface="+mj-lt"/>
              </a:rPr>
              <a:t> </a:t>
            </a:r>
            <a:r>
              <a:rPr lang="es-MX" sz="2400" b="1" dirty="0" err="1">
                <a:latin typeface="+mj-lt"/>
              </a:rPr>
              <a:t>Stapel</a:t>
            </a:r>
            <a:r>
              <a:rPr lang="es-MX" sz="2400" b="1" dirty="0">
                <a:latin typeface="+mj-lt"/>
              </a:rPr>
              <a:t> </a:t>
            </a:r>
            <a:r>
              <a:rPr lang="es-MX" sz="2400" dirty="0">
                <a:latin typeface="+mj-lt"/>
              </a:rPr>
              <a:t>(</a:t>
            </a:r>
            <a:r>
              <a:rPr lang="es-MX" sz="2400" dirty="0" err="1">
                <a:latin typeface="+mj-lt"/>
              </a:rPr>
              <a:t>Tilburg</a:t>
            </a:r>
            <a:r>
              <a:rPr lang="es-MX" sz="2400" dirty="0">
                <a:latin typeface="+mj-lt"/>
              </a:rPr>
              <a:t> </a:t>
            </a:r>
            <a:r>
              <a:rPr lang="es-MX" sz="2400" dirty="0" err="1">
                <a:latin typeface="+mj-lt"/>
              </a:rPr>
              <a:t>University</a:t>
            </a:r>
            <a:r>
              <a:rPr lang="es-MX" sz="2400" dirty="0">
                <a:latin typeface="+mj-lt"/>
              </a:rPr>
              <a:t>) confesó haber fabricado y manipulado datos en al menos 55 publicaciones. </a:t>
            </a:r>
          </a:p>
          <a:p>
            <a:endParaRPr lang="es-ES" dirty="0"/>
          </a:p>
        </p:txBody>
      </p:sp>
      <p:pic>
        <p:nvPicPr>
          <p:cNvPr id="7" name="Imagen 6">
            <a:extLst>
              <a:ext uri="{FF2B5EF4-FFF2-40B4-BE49-F238E27FC236}">
                <a16:creationId xmlns:a16="http://schemas.microsoft.com/office/drawing/2014/main" id="{E4399DA9-6506-41D0-8688-20C3BE74467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33392" y="2852937"/>
            <a:ext cx="5472608" cy="2546455"/>
          </a:xfrm>
          <a:prstGeom prst="rect">
            <a:avLst/>
          </a:prstGeom>
        </p:spPr>
      </p:pic>
      <p:pic>
        <p:nvPicPr>
          <p:cNvPr id="9" name="Imagen 8">
            <a:extLst>
              <a:ext uri="{FF2B5EF4-FFF2-40B4-BE49-F238E27FC236}">
                <a16:creationId xmlns:a16="http://schemas.microsoft.com/office/drawing/2014/main" id="{73315EEE-C1C3-4B73-BD7D-BD7C5DEBA6C0}"/>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tretch>
            <a:fillRect/>
          </a:stretch>
        </p:blipFill>
        <p:spPr>
          <a:xfrm>
            <a:off x="7176121" y="3501009"/>
            <a:ext cx="3071813" cy="1685925"/>
          </a:xfrm>
          <a:prstGeom prst="rect">
            <a:avLst/>
          </a:prstGeom>
        </p:spPr>
      </p:pic>
    </p:spTree>
    <p:extLst>
      <p:ext uri="{BB962C8B-B14F-4D97-AF65-F5344CB8AC3E}">
        <p14:creationId xmlns:p14="http://schemas.microsoft.com/office/powerpoint/2010/main" val="13705413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FD0ABEE5-487C-45E6-8DA0-F10AD11FD260}"/>
              </a:ext>
            </a:extLst>
          </p:cNvPr>
          <p:cNvSpPr>
            <a:spLocks noGrp="1"/>
          </p:cNvSpPr>
          <p:nvPr>
            <p:ph type="title"/>
          </p:nvPr>
        </p:nvSpPr>
        <p:spPr/>
        <p:txBody>
          <a:bodyPr>
            <a:normAutofit/>
          </a:bodyPr>
          <a:lstStyle/>
          <a:p>
            <a:r>
              <a:rPr lang="es-ES" sz="3200" b="1" dirty="0">
                <a:solidFill>
                  <a:schemeClr val="tx1"/>
                </a:solidFill>
                <a:ea typeface="+mn-ea"/>
                <a:cs typeface="+mn-cs"/>
              </a:rPr>
              <a:t>(In)credibilidad de los Resultados:</a:t>
            </a:r>
          </a:p>
        </p:txBody>
      </p:sp>
      <p:sp>
        <p:nvSpPr>
          <p:cNvPr id="3" name="Marcador de contenido 2">
            <a:extLst>
              <a:ext uri="{FF2B5EF4-FFF2-40B4-BE49-F238E27FC236}">
                <a16:creationId xmlns:a16="http://schemas.microsoft.com/office/drawing/2014/main" id="{E8B23DC2-7FE9-4B5F-943B-41F5458EED47}"/>
              </a:ext>
            </a:extLst>
          </p:cNvPr>
          <p:cNvSpPr>
            <a:spLocks noGrp="1"/>
          </p:cNvSpPr>
          <p:nvPr>
            <p:ph idx="1"/>
          </p:nvPr>
        </p:nvSpPr>
        <p:spPr/>
        <p:txBody>
          <a:bodyPr>
            <a:normAutofit/>
          </a:bodyPr>
          <a:lstStyle/>
          <a:p>
            <a:pPr marL="0" indent="0">
              <a:buNone/>
            </a:pPr>
            <a:r>
              <a:rPr lang="es-MX" sz="2600" dirty="0">
                <a:latin typeface="+mj-lt"/>
              </a:rPr>
              <a:t>•En 2011, </a:t>
            </a:r>
            <a:r>
              <a:rPr lang="es-MX" sz="2600" i="1" dirty="0" err="1">
                <a:latin typeface="+mj-lt"/>
              </a:rPr>
              <a:t>Journal</a:t>
            </a:r>
            <a:r>
              <a:rPr lang="es-MX" sz="2600" i="1" dirty="0">
                <a:latin typeface="+mj-lt"/>
              </a:rPr>
              <a:t> of </a:t>
            </a:r>
            <a:r>
              <a:rPr lang="es-MX" sz="2600" i="1" dirty="0" err="1">
                <a:latin typeface="+mj-lt"/>
              </a:rPr>
              <a:t>Personality</a:t>
            </a:r>
            <a:r>
              <a:rPr lang="es-MX" sz="2600" i="1" dirty="0">
                <a:latin typeface="+mj-lt"/>
              </a:rPr>
              <a:t> and Social </a:t>
            </a:r>
            <a:r>
              <a:rPr lang="es-MX" sz="2600" i="1" dirty="0" err="1">
                <a:latin typeface="+mj-lt"/>
              </a:rPr>
              <a:t>Psychology</a:t>
            </a:r>
            <a:r>
              <a:rPr lang="es-MX" sz="2600" i="1" dirty="0">
                <a:latin typeface="+mj-lt"/>
              </a:rPr>
              <a:t> </a:t>
            </a:r>
            <a:r>
              <a:rPr lang="es-MX" sz="2600" dirty="0">
                <a:latin typeface="+mj-lt"/>
              </a:rPr>
              <a:t>publicó un artículo del renombrado psicólogo social </a:t>
            </a:r>
            <a:r>
              <a:rPr lang="es-MX" sz="2600" b="1" dirty="0" err="1">
                <a:latin typeface="+mj-lt"/>
              </a:rPr>
              <a:t>Daryl</a:t>
            </a:r>
            <a:r>
              <a:rPr lang="es-MX" sz="2600" b="1" dirty="0">
                <a:latin typeface="+mj-lt"/>
              </a:rPr>
              <a:t> </a:t>
            </a:r>
            <a:r>
              <a:rPr lang="es-MX" sz="2600" b="1" dirty="0" err="1">
                <a:latin typeface="+mj-lt"/>
              </a:rPr>
              <a:t>Bem</a:t>
            </a:r>
            <a:r>
              <a:rPr lang="es-MX" sz="2600" b="1" dirty="0">
                <a:latin typeface="+mj-lt"/>
              </a:rPr>
              <a:t>.</a:t>
            </a:r>
            <a:endParaRPr lang="es-MX" sz="2600" dirty="0">
              <a:latin typeface="+mj-lt"/>
            </a:endParaRPr>
          </a:p>
          <a:p>
            <a:pPr marL="0" indent="0">
              <a:buNone/>
            </a:pPr>
            <a:r>
              <a:rPr lang="es-MX" sz="2600" dirty="0">
                <a:latin typeface="+mj-lt"/>
              </a:rPr>
              <a:t>•Evidencia de nueve experimentos apoyando la noción de que </a:t>
            </a:r>
            <a:r>
              <a:rPr lang="es-MX" sz="2600" b="1" dirty="0">
                <a:latin typeface="+mj-lt"/>
              </a:rPr>
              <a:t>las respuestas de las personas pueden ser influenciadas por eventos futuros que desconocen</a:t>
            </a:r>
            <a:r>
              <a:rPr lang="es-MX" sz="2600" dirty="0">
                <a:latin typeface="+mj-lt"/>
              </a:rPr>
              <a:t>.</a:t>
            </a:r>
          </a:p>
          <a:p>
            <a:pPr marL="0" indent="0">
              <a:buNone/>
            </a:pPr>
            <a:r>
              <a:rPr lang="es-MX" sz="2600" dirty="0">
                <a:latin typeface="+mj-lt"/>
              </a:rPr>
              <a:t>•El artículo generó una oleada de cuestionamientos, incluida una serie de estudios que no replicaron sus resultados.</a:t>
            </a:r>
          </a:p>
          <a:p>
            <a:endParaRPr lang="es-ES" dirty="0"/>
          </a:p>
        </p:txBody>
      </p:sp>
    </p:spTree>
    <p:extLst>
      <p:ext uri="{BB962C8B-B14F-4D97-AF65-F5344CB8AC3E}">
        <p14:creationId xmlns:p14="http://schemas.microsoft.com/office/powerpoint/2010/main" val="26430695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ítulo 1">
            <a:extLst>
              <a:ext uri="{FF2B5EF4-FFF2-40B4-BE49-F238E27FC236}">
                <a16:creationId xmlns:a16="http://schemas.microsoft.com/office/drawing/2014/main" id="{5CFC8720-DE2D-4619-964A-3EDD1D752AF4}"/>
              </a:ext>
            </a:extLst>
          </p:cNvPr>
          <p:cNvSpPr>
            <a:spLocks noGrp="1"/>
          </p:cNvSpPr>
          <p:nvPr>
            <p:ph type="title"/>
          </p:nvPr>
        </p:nvSpPr>
        <p:spPr>
          <a:xfrm>
            <a:off x="2152650" y="332657"/>
            <a:ext cx="7886700" cy="1325563"/>
          </a:xfrm>
        </p:spPr>
        <p:txBody>
          <a:bodyPr>
            <a:normAutofit/>
          </a:bodyPr>
          <a:lstStyle/>
          <a:p>
            <a:r>
              <a:rPr lang="es-ES" sz="3200" b="1" dirty="0">
                <a:solidFill>
                  <a:schemeClr val="tx1"/>
                </a:solidFill>
                <a:ea typeface="+mn-ea"/>
                <a:cs typeface="+mn-cs"/>
              </a:rPr>
              <a:t>Prácticas de Investigación Cuestionables:</a:t>
            </a:r>
          </a:p>
        </p:txBody>
      </p:sp>
      <p:sp>
        <p:nvSpPr>
          <p:cNvPr id="3" name="Marcador de contenido 2">
            <a:extLst>
              <a:ext uri="{FF2B5EF4-FFF2-40B4-BE49-F238E27FC236}">
                <a16:creationId xmlns:a16="http://schemas.microsoft.com/office/drawing/2014/main" id="{B2AED3C8-BBC9-4B8C-AC5B-DD5DDFE22F19}"/>
              </a:ext>
            </a:extLst>
          </p:cNvPr>
          <p:cNvSpPr>
            <a:spLocks noGrp="1"/>
          </p:cNvSpPr>
          <p:nvPr>
            <p:ph idx="1"/>
          </p:nvPr>
        </p:nvSpPr>
        <p:spPr/>
        <p:txBody>
          <a:bodyPr/>
          <a:lstStyle/>
          <a:p>
            <a:r>
              <a:rPr lang="es-ES" sz="2600" dirty="0">
                <a:latin typeface="+mj-lt"/>
              </a:rPr>
              <a:t>Prácticas de Investigación Cuestionables.</a:t>
            </a:r>
          </a:p>
          <a:p>
            <a:r>
              <a:rPr lang="es-ES" sz="2600" dirty="0" err="1">
                <a:latin typeface="+mj-lt"/>
              </a:rPr>
              <a:t>HARKing</a:t>
            </a:r>
            <a:r>
              <a:rPr lang="es-ES" sz="2600" dirty="0">
                <a:latin typeface="+mj-lt"/>
              </a:rPr>
              <a:t>: </a:t>
            </a:r>
            <a:r>
              <a:rPr lang="es-ES" sz="2600" b="1" dirty="0" err="1">
                <a:latin typeface="+mj-lt"/>
              </a:rPr>
              <a:t>Hypothesizing</a:t>
            </a:r>
            <a:r>
              <a:rPr lang="es-ES" sz="2600" b="1" dirty="0">
                <a:latin typeface="+mj-lt"/>
              </a:rPr>
              <a:t> After </a:t>
            </a:r>
            <a:r>
              <a:rPr lang="es-ES" sz="2600" b="1" dirty="0" err="1">
                <a:latin typeface="+mj-lt"/>
              </a:rPr>
              <a:t>the</a:t>
            </a:r>
            <a:r>
              <a:rPr lang="es-ES" sz="2600" b="1" dirty="0">
                <a:latin typeface="+mj-lt"/>
              </a:rPr>
              <a:t> </a:t>
            </a:r>
            <a:r>
              <a:rPr lang="es-ES" sz="2600" b="1" dirty="0" err="1">
                <a:latin typeface="+mj-lt"/>
              </a:rPr>
              <a:t>Results</a:t>
            </a:r>
            <a:r>
              <a:rPr lang="es-ES" sz="2600" b="1" dirty="0">
                <a:latin typeface="+mj-lt"/>
              </a:rPr>
              <a:t> are </a:t>
            </a:r>
            <a:r>
              <a:rPr lang="es-ES" sz="2600" b="1" dirty="0" err="1">
                <a:latin typeface="+mj-lt"/>
              </a:rPr>
              <a:t>Known</a:t>
            </a:r>
            <a:r>
              <a:rPr lang="es-ES" sz="2600" b="1" dirty="0">
                <a:latin typeface="+mj-lt"/>
              </a:rPr>
              <a:t>.</a:t>
            </a:r>
          </a:p>
          <a:p>
            <a:r>
              <a:rPr lang="es-ES" sz="2600" dirty="0">
                <a:latin typeface="+mj-lt"/>
              </a:rPr>
              <a:t>Práctica que aparecía a veces justificada explícitamente (</a:t>
            </a:r>
            <a:r>
              <a:rPr lang="es-ES" sz="2600" dirty="0" err="1">
                <a:latin typeface="+mj-lt"/>
              </a:rPr>
              <a:t>e.g</a:t>
            </a:r>
            <a:r>
              <a:rPr lang="es-ES" sz="2600" dirty="0">
                <a:latin typeface="+mj-lt"/>
              </a:rPr>
              <a:t>., </a:t>
            </a:r>
            <a:r>
              <a:rPr lang="es-ES" sz="2600" dirty="0" err="1">
                <a:latin typeface="+mj-lt"/>
              </a:rPr>
              <a:t>Bem</a:t>
            </a:r>
            <a:r>
              <a:rPr lang="es-ES" sz="2600" dirty="0">
                <a:latin typeface="+mj-lt"/>
              </a:rPr>
              <a:t>, 1987).</a:t>
            </a:r>
          </a:p>
          <a:p>
            <a:endParaRPr lang="es-ES" dirty="0"/>
          </a:p>
        </p:txBody>
      </p:sp>
      <p:pic>
        <p:nvPicPr>
          <p:cNvPr id="4" name="Imagen 3">
            <a:extLst>
              <a:ext uri="{FF2B5EF4-FFF2-40B4-BE49-F238E27FC236}">
                <a16:creationId xmlns:a16="http://schemas.microsoft.com/office/drawing/2014/main" id="{3947A0B8-3827-46C1-AD02-2FAC67371BBA}"/>
              </a:ext>
            </a:extLst>
          </p:cNvPr>
          <p:cNvPicPr>
            <a:picLocks noChangeAspect="1"/>
          </p:cNvPicPr>
          <p:nvPr/>
        </p:nvPicPr>
        <p:blipFill>
          <a:blip r:embed="rId2"/>
          <a:stretch>
            <a:fillRect/>
          </a:stretch>
        </p:blipFill>
        <p:spPr>
          <a:xfrm>
            <a:off x="3791744" y="3919425"/>
            <a:ext cx="4248472" cy="2264498"/>
          </a:xfrm>
          <a:prstGeom prst="rect">
            <a:avLst/>
          </a:prstGeom>
        </p:spPr>
      </p:pic>
    </p:spTree>
    <p:extLst>
      <p:ext uri="{BB962C8B-B14F-4D97-AF65-F5344CB8AC3E}">
        <p14:creationId xmlns:p14="http://schemas.microsoft.com/office/powerpoint/2010/main" val="1291706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ítulo 1">
            <a:extLst>
              <a:ext uri="{FF2B5EF4-FFF2-40B4-BE49-F238E27FC236}">
                <a16:creationId xmlns:a16="http://schemas.microsoft.com/office/drawing/2014/main" id="{5CFC8720-DE2D-4619-964A-3EDD1D752AF4}"/>
              </a:ext>
            </a:extLst>
          </p:cNvPr>
          <p:cNvSpPr>
            <a:spLocks noGrp="1"/>
          </p:cNvSpPr>
          <p:nvPr>
            <p:ph type="title"/>
          </p:nvPr>
        </p:nvSpPr>
        <p:spPr>
          <a:xfrm>
            <a:off x="2152650" y="332657"/>
            <a:ext cx="7886700" cy="1325563"/>
          </a:xfrm>
        </p:spPr>
        <p:txBody>
          <a:bodyPr>
            <a:normAutofit/>
          </a:bodyPr>
          <a:lstStyle/>
          <a:p>
            <a:r>
              <a:rPr lang="es-ES" sz="3200" b="1" dirty="0">
                <a:solidFill>
                  <a:schemeClr val="tx1"/>
                </a:solidFill>
                <a:ea typeface="+mn-ea"/>
                <a:cs typeface="+mn-cs"/>
              </a:rPr>
              <a:t>Prácticas de Investigación Cuestionables:</a:t>
            </a:r>
          </a:p>
        </p:txBody>
      </p:sp>
      <p:sp>
        <p:nvSpPr>
          <p:cNvPr id="3" name="Marcador de contenido 2">
            <a:extLst>
              <a:ext uri="{FF2B5EF4-FFF2-40B4-BE49-F238E27FC236}">
                <a16:creationId xmlns:a16="http://schemas.microsoft.com/office/drawing/2014/main" id="{95E10046-7E95-4AFC-ABDD-5C2E0BCF7233}"/>
              </a:ext>
            </a:extLst>
          </p:cNvPr>
          <p:cNvSpPr>
            <a:spLocks noGrp="1"/>
          </p:cNvSpPr>
          <p:nvPr>
            <p:ph idx="1"/>
          </p:nvPr>
        </p:nvSpPr>
        <p:spPr>
          <a:xfrm>
            <a:off x="1530350" y="1658220"/>
            <a:ext cx="9366250" cy="4351338"/>
          </a:xfrm>
        </p:spPr>
        <p:txBody>
          <a:bodyPr>
            <a:normAutofit/>
          </a:bodyPr>
          <a:lstStyle/>
          <a:p>
            <a:pPr marL="0" indent="0">
              <a:buNone/>
            </a:pPr>
            <a:r>
              <a:rPr lang="es-MX" sz="2400" dirty="0">
                <a:latin typeface="+mj-lt"/>
              </a:rPr>
              <a:t>La probabilidad de que los resultados de investigación sean falsos positivos aumenta en función de:</a:t>
            </a:r>
          </a:p>
          <a:p>
            <a:pPr marL="0" indent="0">
              <a:buNone/>
            </a:pPr>
            <a:r>
              <a:rPr lang="es-MX" sz="2400" dirty="0">
                <a:latin typeface="+mj-lt"/>
              </a:rPr>
              <a:t>•Tamaños de la muestra pequeños</a:t>
            </a:r>
          </a:p>
          <a:p>
            <a:pPr marL="0" indent="0">
              <a:buNone/>
            </a:pPr>
            <a:r>
              <a:rPr lang="es-ES" sz="2400" dirty="0">
                <a:latin typeface="+mj-lt"/>
              </a:rPr>
              <a:t>•Tamaños de efecto pequeños</a:t>
            </a:r>
          </a:p>
          <a:p>
            <a:pPr marL="0" indent="0">
              <a:buNone/>
            </a:pPr>
            <a:r>
              <a:rPr lang="es-MX" sz="2400" dirty="0">
                <a:latin typeface="+mj-lt"/>
              </a:rPr>
              <a:t>•Número y falta de selectividad de los </a:t>
            </a:r>
            <a:r>
              <a:rPr lang="es-MX" sz="2400" dirty="0" err="1">
                <a:latin typeface="+mj-lt"/>
              </a:rPr>
              <a:t>tests</a:t>
            </a:r>
            <a:r>
              <a:rPr lang="es-MX" sz="2400" dirty="0">
                <a:latin typeface="+mj-lt"/>
              </a:rPr>
              <a:t> estadísticos</a:t>
            </a:r>
          </a:p>
          <a:p>
            <a:pPr marL="0" indent="0">
              <a:buNone/>
            </a:pPr>
            <a:r>
              <a:rPr lang="es-MX" sz="2400" dirty="0">
                <a:latin typeface="+mj-lt"/>
              </a:rPr>
              <a:t>•Flexibilidad (i.e., falta de estandarización) de los diseños, definiciones, </a:t>
            </a:r>
            <a:r>
              <a:rPr lang="es-MX" sz="2400" i="1" dirty="0" err="1">
                <a:latin typeface="+mj-lt"/>
              </a:rPr>
              <a:t>outcomes</a:t>
            </a:r>
            <a:r>
              <a:rPr lang="es-MX" sz="2400" dirty="0">
                <a:latin typeface="+mj-lt"/>
              </a:rPr>
              <a:t>, y formas de analizar datos</a:t>
            </a:r>
          </a:p>
          <a:p>
            <a:pPr marL="0" indent="0">
              <a:buNone/>
            </a:pPr>
            <a:r>
              <a:rPr lang="es-MX" sz="2400" dirty="0">
                <a:latin typeface="+mj-lt"/>
              </a:rPr>
              <a:t>•Intereses financieros, otros intereses, y prejuicios</a:t>
            </a:r>
          </a:p>
          <a:p>
            <a:pPr marL="0" indent="0">
              <a:buNone/>
            </a:pPr>
            <a:endParaRPr lang="es-ES" dirty="0"/>
          </a:p>
        </p:txBody>
      </p:sp>
      <p:pic>
        <p:nvPicPr>
          <p:cNvPr id="4" name="Imagen 3">
            <a:extLst>
              <a:ext uri="{FF2B5EF4-FFF2-40B4-BE49-F238E27FC236}">
                <a16:creationId xmlns:a16="http://schemas.microsoft.com/office/drawing/2014/main" id="{42AFED6C-8BAA-4AE5-A535-6BCBF4A90DE2}"/>
              </a:ext>
            </a:extLst>
          </p:cNvPr>
          <p:cNvPicPr>
            <a:picLocks noChangeAspect="1"/>
          </p:cNvPicPr>
          <p:nvPr/>
        </p:nvPicPr>
        <p:blipFill>
          <a:blip r:embed="rId2"/>
          <a:stretch>
            <a:fillRect/>
          </a:stretch>
        </p:blipFill>
        <p:spPr>
          <a:xfrm>
            <a:off x="7183115" y="5414089"/>
            <a:ext cx="4747943" cy="1111254"/>
          </a:xfrm>
          <a:prstGeom prst="rect">
            <a:avLst/>
          </a:prstGeom>
        </p:spPr>
      </p:pic>
    </p:spTree>
    <p:extLst>
      <p:ext uri="{BB962C8B-B14F-4D97-AF65-F5344CB8AC3E}">
        <p14:creationId xmlns:p14="http://schemas.microsoft.com/office/powerpoint/2010/main" val="16362863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447648DF-4E47-4106-AFC9-EAC3AF99174B}"/>
              </a:ext>
            </a:extLst>
          </p:cNvPr>
          <p:cNvSpPr>
            <a:spLocks noGrp="1"/>
          </p:cNvSpPr>
          <p:nvPr>
            <p:ph type="title"/>
          </p:nvPr>
        </p:nvSpPr>
        <p:spPr/>
        <p:txBody>
          <a:bodyPr>
            <a:normAutofit/>
          </a:bodyPr>
          <a:lstStyle/>
          <a:p>
            <a:r>
              <a:rPr lang="es-ES" sz="3200" b="1" i="1" dirty="0">
                <a:solidFill>
                  <a:schemeClr val="tx1"/>
                </a:solidFill>
                <a:ea typeface="+mn-ea"/>
                <a:cs typeface="+mn-cs"/>
              </a:rPr>
              <a:t>P</a:t>
            </a:r>
            <a:r>
              <a:rPr lang="es-ES" sz="3200" b="1" dirty="0">
                <a:solidFill>
                  <a:schemeClr val="tx1"/>
                </a:solidFill>
                <a:ea typeface="+mn-ea"/>
                <a:cs typeface="+mn-cs"/>
              </a:rPr>
              <a:t>-Hacking</a:t>
            </a:r>
          </a:p>
        </p:txBody>
      </p:sp>
      <p:pic>
        <p:nvPicPr>
          <p:cNvPr id="4" name="Marcador de contenido 3">
            <a:extLst>
              <a:ext uri="{FF2B5EF4-FFF2-40B4-BE49-F238E27FC236}">
                <a16:creationId xmlns:a16="http://schemas.microsoft.com/office/drawing/2014/main" id="{FC77EFEA-A7EB-4CB7-B451-E24EC8608D78}"/>
              </a:ext>
            </a:extLst>
          </p:cNvPr>
          <p:cNvPicPr>
            <a:picLocks noGrp="1" noChangeAspect="1"/>
          </p:cNvPicPr>
          <p:nvPr>
            <p:ph idx="1"/>
          </p:nvPr>
        </p:nvPicPr>
        <p:blipFill>
          <a:blip r:embed="rId2"/>
          <a:stretch>
            <a:fillRect/>
          </a:stretch>
        </p:blipFill>
        <p:spPr>
          <a:xfrm>
            <a:off x="4723242" y="3727077"/>
            <a:ext cx="2279288" cy="2747894"/>
          </a:xfrm>
          <a:prstGeom prst="rect">
            <a:avLst/>
          </a:prstGeom>
        </p:spPr>
      </p:pic>
      <p:sp>
        <p:nvSpPr>
          <p:cNvPr id="5" name="Rectángulo 4">
            <a:extLst>
              <a:ext uri="{FF2B5EF4-FFF2-40B4-BE49-F238E27FC236}">
                <a16:creationId xmlns:a16="http://schemas.microsoft.com/office/drawing/2014/main" id="{CC00E2F2-E603-445C-8A65-6F2D8C2DF2F8}"/>
              </a:ext>
            </a:extLst>
          </p:cNvPr>
          <p:cNvSpPr/>
          <p:nvPr/>
        </p:nvSpPr>
        <p:spPr>
          <a:xfrm>
            <a:off x="1373436" y="1736229"/>
            <a:ext cx="8978900" cy="1692771"/>
          </a:xfrm>
          <a:prstGeom prst="rect">
            <a:avLst/>
          </a:prstGeom>
        </p:spPr>
        <p:txBody>
          <a:bodyPr wrap="square">
            <a:spAutoFit/>
          </a:bodyPr>
          <a:lstStyle/>
          <a:p>
            <a:r>
              <a:rPr lang="es-MX" sz="2600" dirty="0">
                <a:latin typeface="+mj-lt"/>
              </a:rPr>
              <a:t>•La gran mayoría de los estudios en psicología tienen potencia insuficiente</a:t>
            </a:r>
          </a:p>
          <a:p>
            <a:r>
              <a:rPr lang="es-MX" sz="2600" dirty="0">
                <a:latin typeface="+mj-lt"/>
              </a:rPr>
              <a:t>•Sin embargo, la gran mayoría de los estudios en psicología reportan resultados estadísticamente significativos</a:t>
            </a:r>
          </a:p>
        </p:txBody>
      </p:sp>
    </p:spTree>
    <p:extLst>
      <p:ext uri="{BB962C8B-B14F-4D97-AF65-F5344CB8AC3E}">
        <p14:creationId xmlns:p14="http://schemas.microsoft.com/office/powerpoint/2010/main" val="1396577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DBF8A15D-FFF8-4120-8159-AE4265049E9F}"/>
              </a:ext>
            </a:extLst>
          </p:cNvPr>
          <p:cNvSpPr>
            <a:spLocks noGrp="1"/>
          </p:cNvSpPr>
          <p:nvPr>
            <p:ph type="title"/>
          </p:nvPr>
        </p:nvSpPr>
        <p:spPr/>
        <p:txBody>
          <a:bodyPr>
            <a:normAutofit/>
          </a:bodyPr>
          <a:lstStyle/>
          <a:p>
            <a:r>
              <a:rPr lang="es-ES" sz="3200" b="1" dirty="0">
                <a:solidFill>
                  <a:schemeClr val="tx1"/>
                </a:solidFill>
                <a:ea typeface="+mn-ea"/>
                <a:cs typeface="+mn-cs"/>
              </a:rPr>
              <a:t>¿Cómo prevenir el p-Hacking?</a:t>
            </a:r>
          </a:p>
        </p:txBody>
      </p:sp>
      <p:sp>
        <p:nvSpPr>
          <p:cNvPr id="3" name="Marcador de contenido 2">
            <a:extLst>
              <a:ext uri="{FF2B5EF4-FFF2-40B4-BE49-F238E27FC236}">
                <a16:creationId xmlns:a16="http://schemas.microsoft.com/office/drawing/2014/main" id="{A0C5BF91-59A7-4C14-9345-94F1E681666A}"/>
              </a:ext>
            </a:extLst>
          </p:cNvPr>
          <p:cNvSpPr>
            <a:spLocks noGrp="1"/>
          </p:cNvSpPr>
          <p:nvPr>
            <p:ph idx="1"/>
          </p:nvPr>
        </p:nvSpPr>
        <p:spPr/>
        <p:txBody>
          <a:bodyPr/>
          <a:lstStyle/>
          <a:p>
            <a:pPr marL="0" indent="0">
              <a:buNone/>
            </a:pPr>
            <a:r>
              <a:rPr lang="es-ES" sz="2600" dirty="0">
                <a:latin typeface="+mj-lt"/>
              </a:rPr>
              <a:t>•</a:t>
            </a:r>
            <a:r>
              <a:rPr lang="es-ES" sz="2600" b="1" dirty="0">
                <a:latin typeface="+mj-lt"/>
              </a:rPr>
              <a:t>Pre-Registros</a:t>
            </a:r>
            <a:r>
              <a:rPr lang="es-ES" sz="2600" dirty="0">
                <a:latin typeface="+mj-lt"/>
              </a:rPr>
              <a:t>:</a:t>
            </a:r>
          </a:p>
          <a:p>
            <a:pPr marL="0" indent="0">
              <a:buNone/>
            </a:pPr>
            <a:r>
              <a:rPr lang="es-MX" sz="2600" dirty="0">
                <a:latin typeface="+mj-lt"/>
              </a:rPr>
              <a:t>- Permiten certificar el carácter confirmatorio de los análisis</a:t>
            </a:r>
          </a:p>
          <a:p>
            <a:pPr marL="0" indent="0">
              <a:buNone/>
            </a:pPr>
            <a:r>
              <a:rPr lang="es-ES" sz="2600" dirty="0">
                <a:latin typeface="+mj-lt"/>
              </a:rPr>
              <a:t>- Permiten distinguir claramente entre análisis confirmatorios y exploratorios</a:t>
            </a:r>
          </a:p>
          <a:p>
            <a:pPr marL="0" indent="0">
              <a:buNone/>
            </a:pPr>
            <a:r>
              <a:rPr lang="es-MX" sz="2600" dirty="0">
                <a:latin typeface="+mj-lt"/>
              </a:rPr>
              <a:t>- Constituyen la mejor forma de demostrar que no se ha incurrido en </a:t>
            </a:r>
            <a:r>
              <a:rPr lang="es-MX" sz="2600" i="1" dirty="0">
                <a:latin typeface="+mj-lt"/>
              </a:rPr>
              <a:t>p</a:t>
            </a:r>
            <a:r>
              <a:rPr lang="es-MX" sz="2600" dirty="0">
                <a:latin typeface="+mj-lt"/>
              </a:rPr>
              <a:t>-hacking</a:t>
            </a:r>
          </a:p>
          <a:p>
            <a:endParaRPr lang="es-ES" dirty="0"/>
          </a:p>
        </p:txBody>
      </p:sp>
    </p:spTree>
    <p:extLst>
      <p:ext uri="{BB962C8B-B14F-4D97-AF65-F5344CB8AC3E}">
        <p14:creationId xmlns:p14="http://schemas.microsoft.com/office/powerpoint/2010/main" val="382145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73EAEC84-6791-4458-A6AA-9202E4C22499}"/>
              </a:ext>
            </a:extLst>
          </p:cNvPr>
          <p:cNvPicPr>
            <a:picLocks noChangeAspect="1"/>
          </p:cNvPicPr>
          <p:nvPr/>
        </p:nvPicPr>
        <p:blipFill>
          <a:blip r:embed="rId2"/>
          <a:stretch>
            <a:fillRect/>
          </a:stretch>
        </p:blipFill>
        <p:spPr>
          <a:xfrm>
            <a:off x="2152650" y="1473199"/>
            <a:ext cx="4375398" cy="1595761"/>
          </a:xfrm>
          <a:prstGeom prst="rect">
            <a:avLst/>
          </a:prstGeom>
        </p:spPr>
      </p:pic>
      <p:sp>
        <p:nvSpPr>
          <p:cNvPr id="7" name="Título 1">
            <a:extLst>
              <a:ext uri="{FF2B5EF4-FFF2-40B4-BE49-F238E27FC236}">
                <a16:creationId xmlns:a16="http://schemas.microsoft.com/office/drawing/2014/main" id="{2A6FD44C-A581-493A-A3D5-19A20C4E7842}"/>
              </a:ext>
            </a:extLst>
          </p:cNvPr>
          <p:cNvSpPr>
            <a:spLocks noGrp="1"/>
          </p:cNvSpPr>
          <p:nvPr>
            <p:ph type="title"/>
          </p:nvPr>
        </p:nvSpPr>
        <p:spPr/>
        <p:txBody>
          <a:bodyPr>
            <a:normAutofit/>
          </a:bodyPr>
          <a:lstStyle/>
          <a:p>
            <a:r>
              <a:rPr lang="es-ES" sz="3200" b="1" dirty="0">
                <a:solidFill>
                  <a:schemeClr val="tx1"/>
                </a:solidFill>
                <a:ea typeface="+mn-ea"/>
                <a:cs typeface="+mn-cs"/>
              </a:rPr>
              <a:t>Descuido en los Reportes de Investigación</a:t>
            </a:r>
          </a:p>
        </p:txBody>
      </p:sp>
      <p:pic>
        <p:nvPicPr>
          <p:cNvPr id="6" name="Marcador de contenido 5">
            <a:extLst>
              <a:ext uri="{FF2B5EF4-FFF2-40B4-BE49-F238E27FC236}">
                <a16:creationId xmlns:a16="http://schemas.microsoft.com/office/drawing/2014/main" id="{8E77DDBB-FCC2-4307-881D-B64BF73048B5}"/>
              </a:ext>
            </a:extLst>
          </p:cNvPr>
          <p:cNvPicPr>
            <a:picLocks noGrp="1" noChangeAspect="1"/>
          </p:cNvPicPr>
          <p:nvPr>
            <p:ph idx="1"/>
          </p:nvPr>
        </p:nvPicPr>
        <p:blipFill>
          <a:blip r:embed="rId3"/>
          <a:stretch>
            <a:fillRect/>
          </a:stretch>
        </p:blipFill>
        <p:spPr>
          <a:xfrm>
            <a:off x="2063552" y="3068961"/>
            <a:ext cx="7628194" cy="3389503"/>
          </a:xfrm>
          <a:prstGeom prst="rect">
            <a:avLst/>
          </a:prstGeom>
        </p:spPr>
      </p:pic>
    </p:spTree>
    <p:extLst>
      <p:ext uri="{BB962C8B-B14F-4D97-AF65-F5344CB8AC3E}">
        <p14:creationId xmlns:p14="http://schemas.microsoft.com/office/powerpoint/2010/main" val="1175204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1">
            <a:extLst>
              <a:ext uri="{FF2B5EF4-FFF2-40B4-BE49-F238E27FC236}">
                <a16:creationId xmlns:a16="http://schemas.microsoft.com/office/drawing/2014/main" id="{2A6FD44C-A581-493A-A3D5-19A20C4E7842}"/>
              </a:ext>
            </a:extLst>
          </p:cNvPr>
          <p:cNvSpPr>
            <a:spLocks noGrp="1"/>
          </p:cNvSpPr>
          <p:nvPr>
            <p:ph type="title"/>
          </p:nvPr>
        </p:nvSpPr>
        <p:spPr/>
        <p:txBody>
          <a:bodyPr>
            <a:normAutofit/>
          </a:bodyPr>
          <a:lstStyle/>
          <a:p>
            <a:r>
              <a:rPr lang="es-ES" sz="3200" b="1" dirty="0">
                <a:solidFill>
                  <a:schemeClr val="tx1"/>
                </a:solidFill>
                <a:ea typeface="+mn-ea"/>
                <a:cs typeface="+mn-cs"/>
              </a:rPr>
              <a:t>Hacia una ciencia social abierta</a:t>
            </a:r>
          </a:p>
        </p:txBody>
      </p:sp>
      <p:sp>
        <p:nvSpPr>
          <p:cNvPr id="3" name="Content Placeholder 2">
            <a:extLst>
              <a:ext uri="{FF2B5EF4-FFF2-40B4-BE49-F238E27FC236}">
                <a16:creationId xmlns:a16="http://schemas.microsoft.com/office/drawing/2014/main" id="{6591113A-FF03-1A94-6EF9-FDC7C85EAF9B}"/>
              </a:ext>
            </a:extLst>
          </p:cNvPr>
          <p:cNvSpPr>
            <a:spLocks noGrp="1"/>
          </p:cNvSpPr>
          <p:nvPr>
            <p:ph idx="1"/>
          </p:nvPr>
        </p:nvSpPr>
        <p:spPr/>
        <p:txBody>
          <a:bodyPr/>
          <a:lstStyle/>
          <a:p>
            <a:r>
              <a:rPr lang="en-US" dirty="0"/>
              <a:t>https://</a:t>
            </a:r>
            <a:r>
              <a:rPr lang="en-US" dirty="0" err="1"/>
              <a:t>lisa-coes.netlify.app</a:t>
            </a:r>
            <a:r>
              <a:rPr lang="en-US" dirty="0"/>
              <a:t>/</a:t>
            </a:r>
          </a:p>
        </p:txBody>
      </p:sp>
      <p:pic>
        <p:nvPicPr>
          <p:cNvPr id="8" name="Picture 7">
            <a:extLst>
              <a:ext uri="{FF2B5EF4-FFF2-40B4-BE49-F238E27FC236}">
                <a16:creationId xmlns:a16="http://schemas.microsoft.com/office/drawing/2014/main" id="{D5138647-A50B-26A6-D89D-1DA746370EAF}"/>
              </a:ext>
            </a:extLst>
          </p:cNvPr>
          <p:cNvPicPr>
            <a:picLocks noChangeAspect="1"/>
          </p:cNvPicPr>
          <p:nvPr/>
        </p:nvPicPr>
        <p:blipFill>
          <a:blip r:embed="rId2"/>
          <a:stretch>
            <a:fillRect/>
          </a:stretch>
        </p:blipFill>
        <p:spPr>
          <a:xfrm>
            <a:off x="452047" y="2488172"/>
            <a:ext cx="11287906" cy="2769628"/>
          </a:xfrm>
          <a:prstGeom prst="rect">
            <a:avLst/>
          </a:prstGeom>
        </p:spPr>
      </p:pic>
    </p:spTree>
    <p:extLst>
      <p:ext uri="{BB962C8B-B14F-4D97-AF65-F5344CB8AC3E}">
        <p14:creationId xmlns:p14="http://schemas.microsoft.com/office/powerpoint/2010/main" val="33665608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1">
            <a:extLst>
              <a:ext uri="{FF2B5EF4-FFF2-40B4-BE49-F238E27FC236}">
                <a16:creationId xmlns:a16="http://schemas.microsoft.com/office/drawing/2014/main" id="{2A6FD44C-A581-493A-A3D5-19A20C4E7842}"/>
              </a:ext>
            </a:extLst>
          </p:cNvPr>
          <p:cNvSpPr>
            <a:spLocks noGrp="1"/>
          </p:cNvSpPr>
          <p:nvPr>
            <p:ph type="title"/>
          </p:nvPr>
        </p:nvSpPr>
        <p:spPr/>
        <p:txBody>
          <a:bodyPr>
            <a:normAutofit/>
          </a:bodyPr>
          <a:lstStyle/>
          <a:p>
            <a:r>
              <a:rPr lang="es-ES" sz="3200" b="1" dirty="0">
                <a:solidFill>
                  <a:schemeClr val="tx1"/>
                </a:solidFill>
                <a:ea typeface="+mn-ea"/>
                <a:cs typeface="+mn-cs"/>
              </a:rPr>
              <a:t>Hacia una ciencia social abierta</a:t>
            </a:r>
          </a:p>
        </p:txBody>
      </p:sp>
      <p:sp>
        <p:nvSpPr>
          <p:cNvPr id="3" name="Content Placeholder 2">
            <a:extLst>
              <a:ext uri="{FF2B5EF4-FFF2-40B4-BE49-F238E27FC236}">
                <a16:creationId xmlns:a16="http://schemas.microsoft.com/office/drawing/2014/main" id="{6591113A-FF03-1A94-6EF9-FDC7C85EAF9B}"/>
              </a:ext>
            </a:extLst>
          </p:cNvPr>
          <p:cNvSpPr>
            <a:spLocks noGrp="1"/>
          </p:cNvSpPr>
          <p:nvPr>
            <p:ph idx="1"/>
          </p:nvPr>
        </p:nvSpPr>
        <p:spPr/>
        <p:txBody>
          <a:bodyPr/>
          <a:lstStyle/>
          <a:p>
            <a:endParaRPr lang="en-US" dirty="0"/>
          </a:p>
        </p:txBody>
      </p:sp>
      <p:pic>
        <p:nvPicPr>
          <p:cNvPr id="4" name="Picture 3">
            <a:extLst>
              <a:ext uri="{FF2B5EF4-FFF2-40B4-BE49-F238E27FC236}">
                <a16:creationId xmlns:a16="http://schemas.microsoft.com/office/drawing/2014/main" id="{3ADBFC4B-A420-BDA1-5BC9-7E787FFC5A38}"/>
              </a:ext>
            </a:extLst>
          </p:cNvPr>
          <p:cNvPicPr>
            <a:picLocks noChangeAspect="1"/>
          </p:cNvPicPr>
          <p:nvPr/>
        </p:nvPicPr>
        <p:blipFill>
          <a:blip r:embed="rId2"/>
          <a:stretch>
            <a:fillRect/>
          </a:stretch>
        </p:blipFill>
        <p:spPr>
          <a:xfrm>
            <a:off x="756119" y="1714500"/>
            <a:ext cx="10679761" cy="4875305"/>
          </a:xfrm>
          <a:prstGeom prst="rect">
            <a:avLst/>
          </a:prstGeom>
        </p:spPr>
      </p:pic>
    </p:spTree>
    <p:extLst>
      <p:ext uri="{BB962C8B-B14F-4D97-AF65-F5344CB8AC3E}">
        <p14:creationId xmlns:p14="http://schemas.microsoft.com/office/powerpoint/2010/main" val="22641191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9A8880C-F633-4314-A80E-41A86784857D}"/>
              </a:ext>
            </a:extLst>
          </p:cNvPr>
          <p:cNvSpPr>
            <a:spLocks noGrp="1"/>
          </p:cNvSpPr>
          <p:nvPr>
            <p:ph type="title"/>
          </p:nvPr>
        </p:nvSpPr>
        <p:spPr>
          <a:xfrm>
            <a:off x="2152650" y="116633"/>
            <a:ext cx="7886700" cy="1325563"/>
          </a:xfrm>
        </p:spPr>
        <p:txBody>
          <a:bodyPr>
            <a:normAutofit/>
          </a:bodyPr>
          <a:lstStyle/>
          <a:p>
            <a:pPr algn="ctr"/>
            <a:r>
              <a:rPr lang="es-ES" sz="3600" dirty="0">
                <a:solidFill>
                  <a:srgbClr val="0070C0"/>
                </a:solidFill>
              </a:rPr>
              <a:t>Hacia una ciencia “abierta”</a:t>
            </a:r>
          </a:p>
        </p:txBody>
      </p:sp>
      <p:pic>
        <p:nvPicPr>
          <p:cNvPr id="4" name="Marcador de contenido 3">
            <a:extLst>
              <a:ext uri="{FF2B5EF4-FFF2-40B4-BE49-F238E27FC236}">
                <a16:creationId xmlns:a16="http://schemas.microsoft.com/office/drawing/2014/main" id="{86E10E6E-AA06-41D2-9E3D-57B1B3E436D9}"/>
              </a:ext>
            </a:extLst>
          </p:cNvPr>
          <p:cNvPicPr>
            <a:picLocks noGrp="1" noChangeAspect="1"/>
          </p:cNvPicPr>
          <p:nvPr>
            <p:ph idx="1"/>
          </p:nvPr>
        </p:nvPicPr>
        <p:blipFill>
          <a:blip r:embed="rId2"/>
          <a:stretch>
            <a:fillRect/>
          </a:stretch>
        </p:blipFill>
        <p:spPr>
          <a:xfrm>
            <a:off x="2152650" y="1442196"/>
            <a:ext cx="6042093" cy="2082174"/>
          </a:xfrm>
          <a:prstGeom prst="rect">
            <a:avLst/>
          </a:prstGeom>
        </p:spPr>
      </p:pic>
      <p:sp>
        <p:nvSpPr>
          <p:cNvPr id="5" name="Rectángulo 4">
            <a:extLst>
              <a:ext uri="{FF2B5EF4-FFF2-40B4-BE49-F238E27FC236}">
                <a16:creationId xmlns:a16="http://schemas.microsoft.com/office/drawing/2014/main" id="{3433F97D-E071-4A59-9E2C-071BB125B8D7}"/>
              </a:ext>
            </a:extLst>
          </p:cNvPr>
          <p:cNvSpPr/>
          <p:nvPr/>
        </p:nvSpPr>
        <p:spPr>
          <a:xfrm>
            <a:off x="2279577" y="3645025"/>
            <a:ext cx="7272807" cy="2215991"/>
          </a:xfrm>
          <a:prstGeom prst="rect">
            <a:avLst/>
          </a:prstGeom>
        </p:spPr>
        <p:txBody>
          <a:bodyPr wrap="square">
            <a:spAutoFit/>
          </a:bodyPr>
          <a:lstStyle/>
          <a:p>
            <a:r>
              <a:rPr lang="es-ES" sz="2400" b="1" dirty="0">
                <a:solidFill>
                  <a:srgbClr val="000000"/>
                </a:solidFill>
                <a:latin typeface="+mj-lt"/>
              </a:rPr>
              <a:t>¿Qué Significa “Abierta”?</a:t>
            </a:r>
            <a:endParaRPr lang="es-ES" sz="2400" dirty="0">
              <a:solidFill>
                <a:srgbClr val="000000"/>
              </a:solidFill>
              <a:latin typeface="+mj-lt"/>
            </a:endParaRPr>
          </a:p>
          <a:p>
            <a:r>
              <a:rPr lang="es-MX" sz="2400" dirty="0">
                <a:solidFill>
                  <a:srgbClr val="000000"/>
                </a:solidFill>
                <a:latin typeface="+mj-lt"/>
              </a:rPr>
              <a:t>“Los datos y contenido abierto pueden ser usados, modificados y compartidos libremente por cualquiera, con cualquier propósito”</a:t>
            </a:r>
          </a:p>
          <a:p>
            <a:endParaRPr lang="es-MX" sz="2400" dirty="0">
              <a:solidFill>
                <a:srgbClr val="000000"/>
              </a:solidFill>
              <a:latin typeface="+mj-lt"/>
            </a:endParaRPr>
          </a:p>
          <a:p>
            <a:r>
              <a:rPr lang="es-ES" dirty="0">
                <a:solidFill>
                  <a:srgbClr val="000000"/>
                </a:solidFill>
                <a:latin typeface="+mj-lt"/>
              </a:rPr>
              <a:t>https://opendefinition.org/</a:t>
            </a:r>
            <a:endParaRPr lang="es-ES" dirty="0">
              <a:latin typeface="+mj-lt"/>
            </a:endParaRPr>
          </a:p>
        </p:txBody>
      </p:sp>
    </p:spTree>
    <p:extLst>
      <p:ext uri="{BB962C8B-B14F-4D97-AF65-F5344CB8AC3E}">
        <p14:creationId xmlns:p14="http://schemas.microsoft.com/office/powerpoint/2010/main" val="873452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0790B8CB-C68D-4EA4-B888-1535CA9AD24C}"/>
              </a:ext>
            </a:extLst>
          </p:cNvPr>
          <p:cNvSpPr>
            <a:spLocks noGrp="1"/>
          </p:cNvSpPr>
          <p:nvPr>
            <p:ph idx="1"/>
          </p:nvPr>
        </p:nvSpPr>
        <p:spPr>
          <a:xfrm>
            <a:off x="2152650" y="908720"/>
            <a:ext cx="7886700" cy="4351338"/>
          </a:xfrm>
        </p:spPr>
        <p:txBody>
          <a:bodyPr/>
          <a:lstStyle/>
          <a:p>
            <a:pPr marL="0" indent="0" algn="ctr">
              <a:buNone/>
            </a:pPr>
            <a:r>
              <a:rPr lang="es-MX" b="1" dirty="0">
                <a:solidFill>
                  <a:srgbClr val="0070C0"/>
                </a:solidFill>
                <a:latin typeface="+mj-lt"/>
              </a:rPr>
              <a:t>“La ciencia abierta describe la práctica de llevar a cabo investigación científica de una manera completamente transparente, y hacer que los resultados de esa investigación estén disponibles para todos.</a:t>
            </a:r>
          </a:p>
          <a:p>
            <a:pPr marL="0" indent="0" algn="ctr">
              <a:buNone/>
            </a:pPr>
            <a:r>
              <a:rPr lang="es-MX" b="1" dirty="0">
                <a:solidFill>
                  <a:srgbClr val="0070C0"/>
                </a:solidFill>
                <a:latin typeface="+mj-lt"/>
              </a:rPr>
              <a:t> ¿No es eso simplemente “ciencia”?</a:t>
            </a:r>
            <a:endParaRPr lang="es-ES" b="1" dirty="0">
              <a:solidFill>
                <a:srgbClr val="0070C0"/>
              </a:solidFill>
              <a:latin typeface="+mj-lt"/>
            </a:endParaRPr>
          </a:p>
        </p:txBody>
      </p:sp>
      <p:pic>
        <p:nvPicPr>
          <p:cNvPr id="4" name="Imagen 3">
            <a:extLst>
              <a:ext uri="{FF2B5EF4-FFF2-40B4-BE49-F238E27FC236}">
                <a16:creationId xmlns:a16="http://schemas.microsoft.com/office/drawing/2014/main" id="{77069B9A-4372-48F6-9DCE-9D3A2FBF83DD}"/>
              </a:ext>
            </a:extLst>
          </p:cNvPr>
          <p:cNvPicPr>
            <a:picLocks noChangeAspect="1"/>
          </p:cNvPicPr>
          <p:nvPr/>
        </p:nvPicPr>
        <p:blipFill>
          <a:blip r:embed="rId2"/>
          <a:stretch>
            <a:fillRect/>
          </a:stretch>
        </p:blipFill>
        <p:spPr>
          <a:xfrm>
            <a:off x="2406399" y="4077073"/>
            <a:ext cx="7379203" cy="2147387"/>
          </a:xfrm>
          <a:prstGeom prst="rect">
            <a:avLst/>
          </a:prstGeom>
        </p:spPr>
      </p:pic>
    </p:spTree>
    <p:extLst>
      <p:ext uri="{BB962C8B-B14F-4D97-AF65-F5344CB8AC3E}">
        <p14:creationId xmlns:p14="http://schemas.microsoft.com/office/powerpoint/2010/main" val="36183952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Título 1">
            <a:extLst>
              <a:ext uri="{FF2B5EF4-FFF2-40B4-BE49-F238E27FC236}">
                <a16:creationId xmlns:a16="http://schemas.microsoft.com/office/drawing/2014/main" id="{873CFD58-7042-44CA-87E7-116806316E3D}"/>
              </a:ext>
            </a:extLst>
          </p:cNvPr>
          <p:cNvSpPr>
            <a:spLocks noGrp="1"/>
          </p:cNvSpPr>
          <p:nvPr>
            <p:ph type="title"/>
          </p:nvPr>
        </p:nvSpPr>
        <p:spPr>
          <a:xfrm>
            <a:off x="2152650" y="173931"/>
            <a:ext cx="7886700" cy="1325563"/>
          </a:xfrm>
        </p:spPr>
        <p:txBody>
          <a:bodyPr>
            <a:normAutofit/>
          </a:bodyPr>
          <a:lstStyle/>
          <a:p>
            <a:r>
              <a:rPr lang="es-ES" sz="2600" b="1" dirty="0">
                <a:latin typeface="Abadi Extra Light" panose="020B0204020104020204" pitchFamily="34" charset="0"/>
              </a:rPr>
              <a:t>Argumentos en contra:</a:t>
            </a:r>
          </a:p>
        </p:txBody>
      </p:sp>
      <p:sp>
        <p:nvSpPr>
          <p:cNvPr id="3" name="Marcador de contenido 2">
            <a:extLst>
              <a:ext uri="{FF2B5EF4-FFF2-40B4-BE49-F238E27FC236}">
                <a16:creationId xmlns:a16="http://schemas.microsoft.com/office/drawing/2014/main" id="{87A781DA-FD17-4D6E-8A65-1C76C58A9407}"/>
              </a:ext>
            </a:extLst>
          </p:cNvPr>
          <p:cNvSpPr>
            <a:spLocks noGrp="1"/>
          </p:cNvSpPr>
          <p:nvPr>
            <p:ph idx="1"/>
          </p:nvPr>
        </p:nvSpPr>
        <p:spPr>
          <a:xfrm>
            <a:off x="2152650" y="1065312"/>
            <a:ext cx="7886700" cy="5184576"/>
          </a:xfrm>
        </p:spPr>
        <p:txBody>
          <a:bodyPr>
            <a:noAutofit/>
          </a:bodyPr>
          <a:lstStyle/>
          <a:p>
            <a:endParaRPr lang="es-ES" dirty="0">
              <a:latin typeface="+mj-lt"/>
            </a:endParaRPr>
          </a:p>
          <a:p>
            <a:r>
              <a:rPr lang="es-MX" dirty="0">
                <a:latin typeface="+mj-lt"/>
              </a:rPr>
              <a:t>Existen datos sensibles que no se pueden compartir</a:t>
            </a:r>
          </a:p>
          <a:p>
            <a:r>
              <a:rPr lang="es-MX" dirty="0">
                <a:latin typeface="+mj-lt"/>
              </a:rPr>
              <a:t>Laboratorios pequeños recolectando grandes cantidades de datos deberían tener derecho a mantener exclusividad por un tiempo</a:t>
            </a:r>
            <a:endParaRPr lang="es-ES" dirty="0">
              <a:latin typeface="+mj-lt"/>
            </a:endParaRPr>
          </a:p>
          <a:p>
            <a:r>
              <a:rPr lang="es-MX" dirty="0">
                <a:latin typeface="+mj-lt"/>
              </a:rPr>
              <a:t>El proceso de exploración de datos es un proceso creativo que puede dar lugar a hipótesis que de otro modo no surgirían</a:t>
            </a:r>
          </a:p>
          <a:p>
            <a:r>
              <a:rPr lang="es-MX" dirty="0">
                <a:latin typeface="+mj-lt"/>
              </a:rPr>
              <a:t>Los ataques extremos a la reputación de investigadores/as destacados/as pueden generar temor a liderar líneas de investigación potentes o pueden motivar la salida de investigadores/as jóvenes</a:t>
            </a:r>
          </a:p>
          <a:p>
            <a:r>
              <a:rPr lang="es-MX" dirty="0">
                <a:latin typeface="+mj-lt"/>
              </a:rPr>
              <a:t>Las nuevas prácticas de investigación pueden incentivar saltos pequeños en términos de creatividad, inhibiendo saltos grandes</a:t>
            </a:r>
          </a:p>
          <a:p>
            <a:endParaRPr lang="es-MX" dirty="0"/>
          </a:p>
          <a:p>
            <a:endParaRPr lang="es-ES" dirty="0"/>
          </a:p>
        </p:txBody>
      </p:sp>
    </p:spTree>
    <p:extLst>
      <p:ext uri="{BB962C8B-B14F-4D97-AF65-F5344CB8AC3E}">
        <p14:creationId xmlns:p14="http://schemas.microsoft.com/office/powerpoint/2010/main" val="3529268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Salud y forma física 16x9">
  <a:themeElements>
    <a:clrScheme name="Escala de grises">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Tw Cen MT-Rockwell">
      <a:majorFont>
        <a:latin typeface="Tw Cen MT" panose="020B0602020104020603"/>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16064253_TF02922391.potx" id="{9CC8F11D-4903-4974-8199-631754F1E5BE}" vid="{2F01A7E0-C48F-4240-A8E0-3733B54D6BA9}"/>
    </a:ext>
  </a:extLst>
</a:theme>
</file>

<file path=ppt/theme/theme2.xml><?xml version="1.0" encoding="utf-8"?>
<a:theme xmlns:a="http://schemas.openxmlformats.org/drawingml/2006/main" name="Tema de Office">
  <a:themeElements>
    <a:clrScheme name="HealthFitness">
      <a:dk1>
        <a:srgbClr val="595959"/>
      </a:dk1>
      <a:lt1>
        <a:sysClr val="window" lastClr="FFFFFF"/>
      </a:lt1>
      <a:dk2>
        <a:srgbClr val="000000"/>
      </a:dk2>
      <a:lt2>
        <a:srgbClr val="DDDDDD"/>
      </a:lt2>
      <a:accent1>
        <a:srgbClr val="87A91B"/>
      </a:accent1>
      <a:accent2>
        <a:srgbClr val="FBCE11"/>
      </a:accent2>
      <a:accent3>
        <a:srgbClr val="446ED8"/>
      </a:accent3>
      <a:accent4>
        <a:srgbClr val="9D22E2"/>
      </a:accent4>
      <a:accent5>
        <a:srgbClr val="FE9E00"/>
      </a:accent5>
      <a:accent6>
        <a:srgbClr val="DF5327"/>
      </a:accent6>
      <a:hlink>
        <a:srgbClr val="446ED8"/>
      </a:hlink>
      <a:folHlink>
        <a:srgbClr val="828282"/>
      </a:folHlink>
    </a:clrScheme>
    <a:fontScheme name="Calibri Light">
      <a:majorFont>
        <a:latin typeface="Calibri Light"/>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HealthFitness">
      <a:dk1>
        <a:srgbClr val="595959"/>
      </a:dk1>
      <a:lt1>
        <a:sysClr val="window" lastClr="FFFFFF"/>
      </a:lt1>
      <a:dk2>
        <a:srgbClr val="000000"/>
      </a:dk2>
      <a:lt2>
        <a:srgbClr val="DDDDDD"/>
      </a:lt2>
      <a:accent1>
        <a:srgbClr val="87A91B"/>
      </a:accent1>
      <a:accent2>
        <a:srgbClr val="FBCE11"/>
      </a:accent2>
      <a:accent3>
        <a:srgbClr val="446ED8"/>
      </a:accent3>
      <a:accent4>
        <a:srgbClr val="9D22E2"/>
      </a:accent4>
      <a:accent5>
        <a:srgbClr val="FE9E00"/>
      </a:accent5>
      <a:accent6>
        <a:srgbClr val="DF5327"/>
      </a:accent6>
      <a:hlink>
        <a:srgbClr val="446ED8"/>
      </a:hlink>
      <a:folHlink>
        <a:srgbClr val="828282"/>
      </a:folHlink>
    </a:clrScheme>
    <a:fontScheme name="Calibri Light">
      <a:majorFont>
        <a:latin typeface="Calibri Light"/>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{F5A416F6-C314-1D41-A1FA-02AC282C77F1}tf10001073</Template>
  <TotalTime>1284</TotalTime>
  <Words>3433</Words>
  <Application>Microsoft Macintosh PowerPoint</Application>
  <PresentationFormat>Widescreen</PresentationFormat>
  <Paragraphs>480</Paragraphs>
  <Slides>79</Slides>
  <Notes>34</Notes>
  <HiddenSlides>23</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79</vt:i4>
      </vt:variant>
    </vt:vector>
  </HeadingPairs>
  <TitlesOfParts>
    <vt:vector size="93" baseType="lpstr">
      <vt:lpstr>Abadi</vt:lpstr>
      <vt:lpstr>Abadi Extra Light</vt:lpstr>
      <vt:lpstr>Agency FB</vt:lpstr>
      <vt:lpstr>Aptos</vt:lpstr>
      <vt:lpstr>Arial</vt:lpstr>
      <vt:lpstr>Calibri</vt:lpstr>
      <vt:lpstr>Calibri Light</vt:lpstr>
      <vt:lpstr>Cambria</vt:lpstr>
      <vt:lpstr>Montserrat</vt:lpstr>
      <vt:lpstr>Rockwell</vt:lpstr>
      <vt:lpstr>Segoe UI Light</vt:lpstr>
      <vt:lpstr>Times New Roman</vt:lpstr>
      <vt:lpstr>Tw Cen MT</vt:lpstr>
      <vt:lpstr>Salud y forma física 16x9</vt:lpstr>
      <vt:lpstr>MÉtodos de la Investigación SOCIAL   </vt:lpstr>
      <vt:lpstr>El proceso de investigación</vt:lpstr>
      <vt:lpstr>PowerPoint Presentation</vt:lpstr>
      <vt:lpstr>PowerPoint Presentation</vt:lpstr>
      <vt:lpstr>La metodología longitudinal estudia la novedad, el cambio, individual y colectivo</vt:lpstr>
      <vt:lpstr>PowerPoint Presentation</vt:lpstr>
      <vt:lpstr> </vt:lpstr>
      <vt:lpstr>tipos de preguntas</vt:lpstr>
      <vt:lpstr>tipos de preguntas</vt:lpstr>
      <vt:lpstr>PowerPoint Presentation</vt:lpstr>
      <vt:lpstr>PowerPoint Presentation</vt:lpstr>
      <vt:lpstr>PowerPoint Presentation</vt:lpstr>
      <vt:lpstr>OBJETIVOS DE LAS PREGUNTAS</vt:lpstr>
      <vt:lpstr>NIVELES DE INTERÉS DE LA pregunta</vt:lpstr>
      <vt:lpstr> </vt:lpstr>
      <vt:lpstr>Diseños de investigación según cantidad de oleadas de datos (puntos de medición)</vt:lpstr>
      <vt:lpstr>Diseños de investigación según cantidad de oleadas de datos (puntos de medición)</vt:lpstr>
      <vt:lpstr>Diseños de investigación según cantidad de oleadas de datos (puntos de medición)</vt:lpstr>
      <vt:lpstr> </vt:lpstr>
      <vt:lpstr>Equipo</vt:lpstr>
      <vt:lpstr>Datos de la muestra</vt:lpstr>
      <vt:lpstr>Dimensión longitudinal del diseño</vt:lpstr>
      <vt:lpstr>Etapas de selección en el diseño muestral</vt:lpstr>
      <vt:lpstr>Atrición de la muestra original y de la muestra de refresco.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Una métrica sensible para registrar el tiempo</vt:lpstr>
      <vt:lpstr>Una métrica sensible para registrar el tiempo</vt:lpstr>
      <vt:lpstr>Un resultado cuyos valores cambian sistemáticamente con el tiempo</vt:lpstr>
      <vt:lpstr> </vt:lpstr>
      <vt:lpstr>PowerPoint Presentation</vt:lpstr>
      <vt:lpstr>PowerPoint Presentation</vt:lpstr>
      <vt:lpstr>Ética de la investigación social   </vt:lpstr>
      <vt:lpstr>PowerPoint Presentation</vt:lpstr>
      <vt:lpstr>PowerPoint Presentation</vt:lpstr>
      <vt:lpstr>PowerPoint Presentation</vt:lpstr>
      <vt:lpstr>El experimento original ciertamente causó estrés, pero no daño</vt:lpstr>
      <vt:lpstr>PowerPoint Presentation</vt:lpstr>
      <vt:lpstr>PowerPoint Presentation</vt:lpstr>
      <vt:lpstr>PowerPoint Presentation</vt:lpstr>
      <vt:lpstr>¿Qué determina si realmente lo vale? </vt:lpstr>
      <vt:lpstr>¿Engañar o no engañar?</vt:lpstr>
      <vt:lpstr>¿Engañar o no engañar?</vt:lpstr>
      <vt:lpstr>¿Engañar o no engañar?</vt:lpstr>
      <vt:lpstr>PowerPoint Presentation</vt:lpstr>
      <vt:lpstr>                         ¿Cómo manipular la identidad?   - CREAR UN GRUPO ARTIFICIAL:  Pensadores/as Deductivos vs. Inductivos – todos los y las participantes fueron categorizados/as como inductivos /as    - MANIPULACIÓN DEL NIVEL DE IDENTIDAD: Bogus Pipeline – tomamos muestras de saliva para, supuestamente, medir el nivel de cortisol </vt:lpstr>
      <vt:lpstr>PowerPoint Presentation</vt:lpstr>
      <vt:lpstr>Obligaciones con los/as participantes</vt:lpstr>
      <vt:lpstr>Ciencia Psicológica en Crisis </vt:lpstr>
      <vt:lpstr>El Problema de la Replicabilidad:</vt:lpstr>
      <vt:lpstr>PowerPoint Presentation</vt:lpstr>
      <vt:lpstr>PowerPoint Presentation</vt:lpstr>
      <vt:lpstr>Experimento de la prisión de BBC  (Reicher &amp; Haslam, 2006)</vt:lpstr>
      <vt:lpstr>PowerPoint Presentation</vt:lpstr>
      <vt:lpstr>¿Qué significa replicar?</vt:lpstr>
      <vt:lpstr>¿Cómo replicar?</vt:lpstr>
      <vt:lpstr>¿Qué implica que un estudio no se replique?</vt:lpstr>
      <vt:lpstr>Fraude en Psicología:</vt:lpstr>
      <vt:lpstr>Fraude en Psicología:</vt:lpstr>
      <vt:lpstr>(In)credibilidad de los Resultados:</vt:lpstr>
      <vt:lpstr>Prácticas de Investigación Cuestionables:</vt:lpstr>
      <vt:lpstr>Prácticas de Investigación Cuestionables:</vt:lpstr>
      <vt:lpstr>P-Hacking</vt:lpstr>
      <vt:lpstr>¿Cómo prevenir el p-Hacking?</vt:lpstr>
      <vt:lpstr>Descuido en los Reportes de Investigación</vt:lpstr>
      <vt:lpstr>Hacia una ciencia social abierta</vt:lpstr>
      <vt:lpstr>Hacia una ciencia social abierta</vt:lpstr>
      <vt:lpstr>Hacia una ciencia “abierta”</vt:lpstr>
      <vt:lpstr>PowerPoint Presentation</vt:lpstr>
      <vt:lpstr>Argumentos en contra: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Más allá de una causa y un efecto:  mecanismos complejos en psicología</dc:title>
  <dc:creator>Agustin Molina</dc:creator>
  <cp:lastModifiedBy>Daniel Andrés Miranda Fuenzalida</cp:lastModifiedBy>
  <cp:revision>25</cp:revision>
  <dcterms:created xsi:type="dcterms:W3CDTF">2020-10-27T22:15:25Z</dcterms:created>
  <dcterms:modified xsi:type="dcterms:W3CDTF">2026-06-09T10:44:22Z</dcterms:modified>
</cp:coreProperties>
</file>